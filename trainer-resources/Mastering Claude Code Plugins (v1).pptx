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Arial"/>
                <a:ea typeface="Arial"/>
                <a:cs typeface="Arial"/>
                <a:sym typeface="Arial"/>
              </a:rPr>
              <a:t>Welcome to Mastering Claude Code Plugins training. This instructor-led course is for technical developers new to Claude Code but familiar with CLI tools. The course runs 6-8 hours and covers the complete plugin lifecycle: discovering, installing, creating, and converting. Structure: Discover &amp; Install (Modules 1-5), Create &amp; Test (6-7), Convert &amp; Share (8-9).</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Version 1.0.33 is critical—it introduced the /plugin command. Pause here for everyone to verify with 'claude --version'. Direct anyone on older versions to docs.claude.com/en/troubleshooting. Other prerequisites: CLI familiarity (cd, mkdir, npm, git) and understanding JSON/directory structures for creating plugin manifests.</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Three progressive sections. Discover &amp; Install: fundamentals, marketplaces, and installation scopes with labs. Create &amp; Test: build custom plugins from scratch. Convert &amp; Share: migrate existing .claude/ configs to shareable plugins. Each section includes conceptual modules and hands-on labs.</a:t>
            </a:r>
            <a:endParaRPr/>
          </a:p>
        </p:txBody>
      </p:sp>
      <p:sp>
        <p:nvSpPr>
          <p:cNvPr id="107" name="Google Shape;107;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This module lays critical foundation. Key takeaway: plugins are packages that bundle related functionality for sharing and reuse. Understanding this distinction helps with architectural decisions later when creating plugins. Participants familiar with VS Code extensions or npm will recognize patterns.</a:t>
            </a:r>
            <a:endParaRPr/>
          </a:p>
        </p:txBody>
      </p:sp>
      <p:sp>
        <p:nvSpPr>
          <p:cNvPr id="131" name="Google Shape;131;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This shows WHY plugins exist. The git workflow example resonates—developers do this manually daily. Plugins bundle related automation (skill, hook, command) into one shareable unit that saves 15 minutes per commit while maintaining consistency across the team.</a:t>
            </a:r>
            <a:endParaRPr/>
          </a:p>
        </p:txBody>
      </p:sp>
      <p:sp>
        <p:nvSpPr>
          <p:cNvPr id="140" name="Google Shape;140;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Understanding when to use each approach is critical. Plugins: share with teams (consistency, version-controlled updates). Standalone: personal workflows and quick iteration (no packaging overhead). Best practice: start standalone for experiments, convert to plugin when ready to share.</a:t>
            </a:r>
            <a:endParaRPr/>
          </a:p>
        </p:txBody>
      </p:sp>
      <p:sp>
        <p:nvSpPr>
          <p:cNvPr id="150" name="Google Shape;150;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Plugin namespacing prevents conflicts. Without it, if two plugins both provide /review, Claude Code wouldn't know which to use. Namespacing ensures coexistence: /plugin-a:review and /plugin-b:review work independently. The namespace comes from the 'name' field in plugin.json.</a:t>
            </a:r>
            <a:endParaRPr/>
          </a:p>
        </p:txBody>
      </p:sp>
      <p:sp>
        <p:nvSpPr>
          <p:cNvPr id="160" name="Google Shape;160;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Knowledge check with 2 questions. Correct answers highlighted in green. Pause for participants to respond before revealing. Use this to gauge understanding before moving forward. Common confusion: thinking plugins are just for features vs understanding they're for sharing/distribution.</a:t>
            </a:r>
            <a:endParaRPr/>
          </a:p>
        </p:txBody>
      </p:sp>
      <p:sp>
        <p:nvSpPr>
          <p:cNvPr id="178" name="Google Shape;17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Reinforce key points before moving to next module. Emphasize: plugins are packaged extensions, namespacing prevents conflicts, use plugins when sharing. If anyone seems unclear on fundamentals, address now before building on this foundation in Module 2.</a:t>
            </a:r>
            <a:endParaRPr/>
          </a:p>
        </p:txBody>
      </p:sp>
      <p:sp>
        <p:nvSpPr>
          <p:cNvPr id="196" name="Google Shape;196;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Module 2 builds on plugin fundamentals by explaining how to discover them. Marketplaces are catalogs for centralized discovery. Understanding the four-tab interface is essential for all future work. Security evaluation comes before every installation.</a:t>
            </a:r>
            <a:endParaRPr/>
          </a:p>
        </p:txBody>
      </p:sp>
      <p:sp>
        <p:nvSpPr>
          <p:cNvPr id="207" name="Google Shape;207;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Marketplaces are catalogs providing centralized discovery and version tracking. Two-step process: add marketplace (registers catalog), install individual plugins (choose what you want). Think app store analogy: adding store lets you browse, you choose which apps to download.</a:t>
            </a:r>
            <a:endParaRPr/>
          </a:p>
        </p:txBody>
      </p:sp>
      <p:sp>
        <p:nvSpPr>
          <p:cNvPr id="216" name="Google Shape;216;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The /plugin command opens four-tab interface. Discover: browse available plugins. Installed: manage your plugins. Marketplaces: add/remove/update marketplaces. Errors: troubleshooting (critical when things don't work). Navigate with Tab/Shift+Tab.</a:t>
            </a:r>
            <a:endParaRPr/>
          </a:p>
        </p:txBody>
      </p:sp>
      <p:sp>
        <p:nvSpPr>
          <p:cNvPr id="227" name="Google Shape;227;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Critical: Anthropic does not control what's in plugins. Always check plugin homepage before installing to understand functionality. Official marketplace is curated by Anthropic. Community marketplaces vary—evaluate each plugin individually. Trust is key for security.</a:t>
            </a:r>
            <a:endParaRPr/>
          </a:p>
        </p:txBody>
      </p:sp>
      <p:sp>
        <p:nvSpPr>
          <p:cNvPr id="250" name="Google Shape;250;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Knowledge check. Pause for responses. Common mistake: thinking /plugins (plural) instead of /plugin (singular). Also reinforce that Discover tab shows available (not installed) plugins—Installed tab shows what you've already added.</a:t>
            </a:r>
            <a:endParaRPr/>
          </a:p>
        </p:txBody>
      </p:sp>
      <p:sp>
        <p:nvSpPr>
          <p:cNvPr id="261" name="Google Shape;261;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Summary reinforces key concepts. Marketplaces provide discovery infrastructure. Four-tab interface is your plugin control center. Security evaluation before installation is non-negotiable. These concepts prepare for the hands-on lab next.</a:t>
            </a:r>
            <a:endParaRPr/>
          </a:p>
        </p:txBody>
      </p:sp>
      <p:sp>
        <p:nvSpPr>
          <p:cNvPr id="279" name="Google Shape;279;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First hands-on lab. Participants will actually add a marketplace and browse plugins. This bridges theory to practice. Objectives: add demo marketplace, navigate tabs, browse plugins. Expected outcome: comfort with plugin manager interface, understanding marketplace vs plugin installation.</a:t>
            </a:r>
            <a:endParaRPr/>
          </a:p>
        </p:txBody>
      </p:sp>
      <p:sp>
        <p:nvSpPr>
          <p:cNvPr id="290" name="Google Shape;290;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Walk through each step slowly. Let participants execute commands in real-time. Common issue: typing marketplace name wrong. Watch for Tab navigation confusion—some may try arrow keys. After adding marketplace, verify it appears in Marketplaces tab before moving to Discover.</a:t>
            </a:r>
            <a:endParaRPr/>
          </a:p>
        </p:txBody>
      </p:sp>
      <p:sp>
        <p:nvSpPr>
          <p:cNvPr id="299" name="Google Shape;299;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Check understanding after lab. Common confusion: expecting plugins to install automatically after adding marketplace. Reinforce: adding marketplace makes plugins browsable, installation is separate step. If anyone had errors, troubleshoot now before Module 4.</a:t>
            </a:r>
            <a:endParaRPr/>
          </a:p>
        </p:txBody>
      </p:sp>
      <p:sp>
        <p:nvSpPr>
          <p:cNvPr id="315" name="Google Shape;315;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Lab summary. Reinforce: /plugin marketplace add registers catalog. Four tabs have distinct purposes. Adding marketplace ≠ installing plugins. This foundation is essential for Module 4 where we actually install.</a:t>
            </a:r>
            <a:endParaRPr/>
          </a:p>
        </p:txBody>
      </p:sp>
      <p:sp>
        <p:nvSpPr>
          <p:cNvPr id="328" name="Google Shape;328;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Module 4 covers installation—the action participants are ready for after Module 3 lab. Three scopes are crucial to understand. Each scope serves different purposes. Choosing wrong scope causes team friction later. Use cases make this concrete.</a:t>
            </a:r>
            <a:endParaRPr/>
          </a:p>
        </p:txBody>
      </p:sp>
      <p:sp>
        <p:nvSpPr>
          <p:cNvPr id="339" name="Google Shape;339;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Three scopes serve different purposes. User: personal tools across all projects (your code formatter). Project: team-shared functionality (company API integration). Local: testing only (not shared). Common mistake: using user scope for team plugins—causes configuration drift.</a:t>
            </a:r>
            <a:endParaRPr/>
          </a:p>
        </p:txBody>
      </p:sp>
      <p:sp>
        <p:nvSpPr>
          <p:cNvPr id="348" name="Google Shape;348;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6" name="Google Shape;366;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Two installation methods: CLI for quick installs (defaults to user scope), interactive UI for choosing scope explicitly. CLI with --scope flag for specific targeting. Interactive UI recommended for scope selection—you see all options clearly before deciding.</a:t>
            </a:r>
            <a:endParaRPr/>
          </a:p>
        </p:txBody>
      </p:sp>
      <p:sp>
        <p:nvSpPr>
          <p:cNvPr id="367" name="Google Shape;367;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Managing plugins: disable (temporary, good for troubleshooting conflicts), enable (reactivate), uninstall (permanent removal). Disabling is powerful for debugging—turn off plugins one by one to isolate issues without losing configuration.</a:t>
            </a:r>
            <a:endParaRPr/>
          </a:p>
        </p:txBody>
      </p:sp>
      <p:sp>
        <p:nvSpPr>
          <p:cNvPr id="379" name="Google Shape;379;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 name="Google Shape;38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Knowledge check on scopes—this is commonly confused. Emphasize: CLI defaults to user, project scope perfect for team API integration, local scope for testing before wider rollout. Scope choice impacts entire team's experience.</a:t>
            </a:r>
            <a:endParaRPr/>
          </a:p>
        </p:txBody>
      </p:sp>
      <p:sp>
        <p:nvSpPr>
          <p:cNvPr id="390" name="Google Shape;390;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Scope concept is critical so repeat: user (you everywhere), project (team here), local (you here only). Installation methods give flexibility. Management commands let you troubleshoot. These tools enable effective plugin usage across your workflow.</a:t>
            </a:r>
            <a:endParaRPr/>
          </a:p>
        </p:txBody>
      </p:sp>
      <p:sp>
        <p:nvSpPr>
          <p:cNvPr id="408" name="Google Shape;408;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Second hands-on lab. Participants install actual plugin and test functionality. This demonstrates full cycle: add marketplace (done in Module 3), install plugin, use plugin commands. Objectives: install commit-commands, test it, verify in manager.</a:t>
            </a:r>
            <a:endParaRPr/>
          </a:p>
        </p:txBody>
      </p:sp>
      <p:sp>
        <p:nvSpPr>
          <p:cNvPr id="419" name="Google Shape;419;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Execute installation together. After installing, immediately verify in Installed tab. Then test with /commit-commands:commit to see real behavior. Common issue: forgetting namespace—typing /commit instead of /commit-commands:commit. Reinforce namespacing importance.</a:t>
            </a:r>
            <a:endParaRPr/>
          </a:p>
        </p:txBody>
      </p:sp>
      <p:sp>
        <p:nvSpPr>
          <p:cNvPr id="428" name="Google Shape;428;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Check understanding. Key point: namespaced commands prevent conflicts. After this lab, participants should be comfortable discovering, installing, and using plugins. If issues occurred, address before moving to plugin creation in Module 6.</a:t>
            </a:r>
            <a:endParaRPr/>
          </a:p>
        </p:txBody>
      </p:sp>
      <p:sp>
        <p:nvSpPr>
          <p:cNvPr id="446" name="Google Shape;446;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8" name="Google Shape;458;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Lab summary reinforces complete workflow: marketplace enables discovery, installation makes plugins available, namespaced commands prevent conflicts. Participants now understand plugin consumption. Next: shift to creation.</a:t>
            </a:r>
            <a:endParaRPr/>
          </a:p>
        </p:txBody>
      </p:sp>
      <p:sp>
        <p:nvSpPr>
          <p:cNvPr id="459" name="Google Shape;459;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9" name="Google Shape;469;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Module 6 shifts from consuming to creating. Structure and manifest are foundation. Testing workflow with --plugin-dir enables rapid iteration. Common mistakes will be called out explicitly—directory structure errors break everything.</a:t>
            </a:r>
            <a:endParaRPr/>
          </a:p>
        </p:txBody>
      </p:sp>
      <p:sp>
        <p:nvSpPr>
          <p:cNvPr id="470" name="Google Shape;470;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8" name="Google Shape;478;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CRITICAL: Common mistake is putting commands/, agents/, skills/ inside .claude-plugin/. Only plugin.json goes inside .claude-plugin/. Everything else at plugin root. This mistake breaks plugin loading and is most common error we see from new plugin developers.</a:t>
            </a:r>
            <a:endParaRPr/>
          </a:p>
        </p:txBody>
      </p:sp>
      <p:sp>
        <p:nvSpPr>
          <p:cNvPr id="479" name="Google Shape;479;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Three required fields: name (plugin identifier, becomes namespace), description (what it does), version (semantic versioning). Optional fields help with discovery and attribution. Version format: 1.0.0 for initial, increment based on semantic versioning rules.</a:t>
            </a:r>
            <a:endParaRPr/>
          </a:p>
        </p:txBody>
      </p:sp>
      <p:sp>
        <p:nvSpPr>
          <p:cNvPr id="511" name="Google Shape;511;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3" name="Google Shape;543;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commands/ for user-invoked skills (manual execution like /my-skill), skills/ for agent skills (Claude auto-invokes based on context). Both use SKILL.md format with frontmatter. After adding skills, restart Claude Code to load them.</a:t>
            </a:r>
            <a:endParaRPr/>
          </a:p>
        </p:txBody>
      </p:sp>
      <p:sp>
        <p:nvSpPr>
          <p:cNvPr id="544" name="Google Shape;544;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6" name="Google Shape;556;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The --plugin-dir flag is essential for development. Loads plugins directly without installing. Make changes, restart with flag, test immediately. No install/uninstall cycle. Dramatically speeds iteration. Can load multiple plugins for testing interactions.</a:t>
            </a:r>
            <a:endParaRPr/>
          </a:p>
        </p:txBody>
      </p:sp>
      <p:sp>
        <p:nvSpPr>
          <p:cNvPr id="557" name="Google Shape;557;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8" name="Google Shape;568;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Knowledge check on structure and testing. Common confusion: where directories go (root vs inside .claude-plugin/), what flag to use for testing (--plugin-dir). These fundamentals must be solid before the lab.</a:t>
            </a:r>
            <a:endParaRPr/>
          </a:p>
        </p:txBody>
      </p:sp>
      <p:sp>
        <p:nvSpPr>
          <p:cNvPr id="569" name="Google Shape;569;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6" name="Google Shape;586;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Summary: structure matters (directories at root), manifest defines identity (name, description, version), commands vs skills serve different purposes, --plugin-dir enables rapid testing. Next lab applies all this hands-on.</a:t>
            </a:r>
            <a:endParaRPr/>
          </a:p>
        </p:txBody>
      </p:sp>
      <p:sp>
        <p:nvSpPr>
          <p:cNvPr id="587" name="Google Shape;587;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7" name="Google Shape;597;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Third hands-on lab. Participants build first plugin from scratch. This consolidates Module 6 concepts into working artifact. Walk through: create structure, write manifest, add skill, test locally. Expected outcome: working plugin and confidence in creation workflow.</a:t>
            </a:r>
            <a:endParaRPr/>
          </a:p>
        </p:txBody>
      </p:sp>
      <p:sp>
        <p:nvSpPr>
          <p:cNvPr id="598" name="Google Shape;598;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6" name="Google Shape;606;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Execute each step together. Let participants type commands themselves. After creating structure and manifest, verify plugin.json syntax before proceeding—JSON errors cause loading failures. When testing with --plugin-dir, check /help to verify command appears correctly.</a:t>
            </a:r>
            <a:endParaRPr/>
          </a:p>
        </p:txBody>
      </p:sp>
      <p:sp>
        <p:nvSpPr>
          <p:cNvPr id="607" name="Google Shape;607;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0" name="Google Shape;630;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Check understanding of creation workflow. Common confusion: skill directory vs file naming (directory name becomes skill name). If anyone's plugin didn't load, check structure first (directories at root?), then manifest syntax (valid JSON?).</a:t>
            </a:r>
            <a:endParaRPr/>
          </a:p>
        </p:txBody>
      </p:sp>
      <p:sp>
        <p:nvSpPr>
          <p:cNvPr id="631" name="Google Shape;631;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3" name="Google Shape;643;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Lab summary: creation workflow is iterative (create, test, refine). Skills follow directory/SKILL.md pattern. --plugin-dir critical for development. Namespaced commands ensure no conflicts. Participants now can create basic plugins—Module 8 adds conversion skills.</a:t>
            </a:r>
            <a:endParaRPr/>
          </a:p>
        </p:txBody>
      </p:sp>
      <p:sp>
        <p:nvSpPr>
          <p:cNvPr id="644" name="Google Shape;644;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4" name="Google Shape;654;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Module 8 addresses real-world scenario: you have great .claude/ configs, team wants them. When to convert: teammates asking for configs, manually copying between projects, configurations stable and tested. Conversion enables sharing with version control.</a:t>
            </a:r>
            <a:endParaRPr/>
          </a:p>
        </p:txBody>
      </p:sp>
      <p:sp>
        <p:nvSpPr>
          <p:cNvPr id="655" name="Google Shape;655;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3" name="Google Shape;663;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Triggers for conversion: team requests your config, you're copying files manually between projects, configs are stable/tested and ready to share. Real scenario: developer's powerful linter shared via Slack snippets. Solution: convert to plugin, publish to marketplace, team installs with one command.</a:t>
            </a:r>
            <a:endParaRPr/>
          </a:p>
        </p:txBody>
      </p:sp>
      <p:sp>
        <p:nvSpPr>
          <p:cNvPr id="664" name="Google Shape;664;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3" name="Google Shape;673;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Migration workflow: create structure, copy files, migrate hooks from settings.json to hooks/hooks.json (format unchanged, just location), test with --plugin-dir, remove original .claude/ files to avoid duplicates. Key: hook format stays identical.</a:t>
            </a:r>
            <a:endParaRPr/>
          </a:p>
        </p:txBody>
      </p:sp>
      <p:sp>
        <p:nvSpPr>
          <p:cNvPr id="674" name="Google Shape;674;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6" name="Google Shape;686;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Knowledge check on conversion process. Common confusion: hook format changes (it doesn't—just moves locations). Also reinforce why to remove original files (prevent duplicates and confusion about which version is active).</a:t>
            </a:r>
            <a:endParaRPr/>
          </a:p>
        </p:txBody>
      </p:sp>
      <p:sp>
        <p:nvSpPr>
          <p:cNvPr id="687" name="Google Shape;687;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4" name="Google Shape;704;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Summary: convert when ready to share beyond personal use. Migration preserves functionality while enabling distribution. Hooks move location but format unchanged. Clean up originals after successful migration. This enables team standardization.</a:t>
            </a:r>
            <a:endParaRPr/>
          </a:p>
        </p:txBody>
      </p:sp>
      <p:sp>
        <p:nvSpPr>
          <p:cNvPr id="705" name="Google Shape;705;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5" name="Google Shape;715;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Fourth hands-on lab. Participants convert actual configurations to plugins. Most complex lab—involves multiple steps and format changes. Walk through systematically. Expected outcome: working converted plugin with hooks functioning correctly.</a:t>
            </a:r>
            <a:endParaRPr/>
          </a:p>
        </p:txBody>
      </p:sp>
      <p:sp>
        <p:nvSpPr>
          <p:cNvPr id="716" name="Google Shape;716;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4" name="Google Shape;724;p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Execute hook migration carefully. Show how to copy hooks object from settings.json into hooks/hooks.json. Emphasize format is identical—just location changes. Test thoroughly after migration to ensure hooks still trigger. Common issue: JSON syntax errors when copying.</a:t>
            </a:r>
            <a:endParaRPr/>
          </a:p>
        </p:txBody>
      </p:sp>
      <p:sp>
        <p:nvSpPr>
          <p:cNvPr id="725" name="Google Shape;725;p4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4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1" name="Google Shape;751;p4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Check understanding of full conversion workflow. Common confusion: thinking hook format needs to change (it doesn't). If anyone's hooks don't trigger after migration, check: hooks/hooks.json exists, JSON syntax valid, matcher patterns correct.</a:t>
            </a:r>
            <a:endParaRPr/>
          </a:p>
        </p:txBody>
      </p:sp>
      <p:sp>
        <p:nvSpPr>
          <p:cNvPr id="752" name="Google Shape;752;p4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4" name="Google Shape;764;p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Lab summary: migration enables sharing while preserving functionality. Hook format unchanged. Test with --plugin-dir before distributing. Remove originals after success. Converted plugins immediately shareable via marketplaces.</a:t>
            </a:r>
            <a:endParaRPr/>
          </a:p>
        </p:txBody>
      </p:sp>
      <p:sp>
        <p:nvSpPr>
          <p:cNvPr id="765" name="Google Shape;765;p4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5" name="Google Shape;775;p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776" name="Google Shape;776;p5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5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1" name="Google Shape;781;p5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Best practices with WHY explanations. Start standalone: faster iteration without packaging. Semantic versioning: users track changes reliably. README: others understand usage without guessing. --plugin-dir testing: immediate feedback. Keep directories at root: prevents structure mistakes.</a:t>
            </a:r>
            <a:endParaRPr/>
          </a:p>
        </p:txBody>
      </p:sp>
      <p:sp>
        <p:nvSpPr>
          <p:cNvPr id="782" name="Google Shape;782;p5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2" name="Google Shape;802;p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Distribution best practices. Document dependencies clearly. Test with multiple team members for environment issues. Version semantically (1.0.0, 1.1.0, 2.0.0). Add license for usage rights. Clear names (not generic like 'utils'). Concise descriptions. Link to documentation.</a:t>
            </a:r>
            <a:endParaRPr/>
          </a:p>
        </p:txBody>
      </p:sp>
      <p:sp>
        <p:nvSpPr>
          <p:cNvPr id="803" name="Google Shape;803;p5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5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3" name="Google Shape;813;p5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Common issues have predictable solutions. Plugin not loading: check structure (directories at root?). Command not appearing: restart Claude Code, verify manifest. Hooks not triggering: check hooks.json format, matcher patterns. Version conflicts: check Errors tab. Always check Errors tab first.</a:t>
            </a:r>
            <a:endParaRPr/>
          </a:p>
        </p:txBody>
      </p:sp>
      <p:sp>
        <p:nvSpPr>
          <p:cNvPr id="814" name="Google Shape;814;p5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5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4" name="Google Shape;834;p5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Debugging workflow: check Errors tab first, verify structure, test with --plugin-dir to isolate issues, disable other plugins to rule out conflicts. When reporting issues: include structure, error messages, Claude Code version. Systematic approach solves most problems quickly.</a:t>
            </a:r>
            <a:endParaRPr/>
          </a:p>
        </p:txBody>
      </p:sp>
      <p:sp>
        <p:nvSpPr>
          <p:cNvPr id="835" name="Google Shape;835;p5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7" name="Google Shape;847;p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Resources for continued learning. Official documentation for reference. Next steps: explore official marketplace, create custom plugin, convert existing configs, set up team marketplace. The ecosystem grows with your contributions. Start building!</a:t>
            </a:r>
            <a:endParaRPr/>
          </a:p>
        </p:txBody>
      </p:sp>
      <p:sp>
        <p:nvSpPr>
          <p:cNvPr id="848" name="Google Shape;848;p5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5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5" name="Google Shape;865;p5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Anthropic eats own dog food. Internal teams use plugins daily: plugin-dev toolkit streamlines development, PR review agents enforce standards, feature-dev templates, hookify adds conventions automatically. This validates that plugins scale to professional use.</a:t>
            </a:r>
            <a:endParaRPr/>
          </a:p>
        </p:txBody>
      </p:sp>
      <p:sp>
        <p:nvSpPr>
          <p:cNvPr id="866" name="Google Shape;866;p5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5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4" name="Google Shape;874;p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Real scenario: 20+ configs shared via Slack. Migration: audit configs, group into logical plugins (dev-toolkit, code-quality, deploy-tools), create internal marketplace, team installs. Result: single source of truth, version updates, new devs onboard in 1 command.</a:t>
            </a:r>
            <a:endParaRPr/>
          </a:p>
        </p:txBody>
      </p:sp>
      <p:sp>
        <p:nvSpPr>
          <p:cNvPr id="875" name="Google Shape;875;p5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5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5" name="Google Shape;885;p5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Enterprise with 500+ developers. Challenge: standardized tools needed. Solution: internal marketplace with security, API, documentation, and workflow plugins. Used managed settings for pre-configuration, strictKnownMarketplaces for approved-only. Central team maintains with SLAs. Key: treated plugins as infrastructure.</a:t>
            </a:r>
            <a:endParaRPr/>
          </a:p>
        </p:txBody>
      </p:sp>
      <p:sp>
        <p:nvSpPr>
          <p:cNvPr id="886" name="Google Shape;886;p5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p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6" name="Google Shape;896;p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Thank you for participating. You now understand plugin ecosystem deeply: discovering, installing, creating, converting. You can evaluate plugins for security, choose appropriate scopes, build custom functionality, and migrate existing workflows. Questions? Feedback? Let's discuss!</a:t>
            </a:r>
            <a:endParaRPr/>
          </a:p>
        </p:txBody>
      </p:sp>
      <p:sp>
        <p:nvSpPr>
          <p:cNvPr id="897" name="Google Shape;897;p5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3"/>
        </a:solidFill>
      </p:bgPr>
    </p:bg>
    <p:spTree>
      <p:nvGrpSpPr>
        <p:cNvPr id="84" name="Shape 84"/>
        <p:cNvGrpSpPr/>
        <p:nvPr/>
      </p:nvGrpSpPr>
      <p:grpSpPr>
        <a:xfrm>
          <a:off x="0" y="0"/>
          <a:ext cx="0" cy="0"/>
          <a:chOff x="0" y="0"/>
          <a:chExt cx="0" cy="0"/>
        </a:xfrm>
      </p:grpSpPr>
      <p:sp>
        <p:nvSpPr>
          <p:cNvPr id="85" name="Google Shape;85;p13"/>
          <p:cNvSpPr txBox="1"/>
          <p:nvPr/>
        </p:nvSpPr>
        <p:spPr>
          <a:xfrm>
            <a:off x="457200" y="1447138"/>
            <a:ext cx="8229600" cy="914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FFFFFF"/>
                </a:solidFill>
                <a:latin typeface="Calibri"/>
                <a:ea typeface="Calibri"/>
                <a:cs typeface="Calibri"/>
                <a:sym typeface="Calibri"/>
              </a:rPr>
              <a:t>Mastering Claude Code Plugins</a:t>
            </a:r>
            <a:endParaRPr b="0" i="0" sz="1400" u="none" cap="none" strike="noStrike">
              <a:solidFill>
                <a:srgbClr val="000000"/>
              </a:solidFill>
              <a:latin typeface="Arial"/>
              <a:ea typeface="Arial"/>
              <a:cs typeface="Arial"/>
              <a:sym typeface="Arial"/>
            </a:endParaRPr>
          </a:p>
        </p:txBody>
      </p:sp>
      <p:sp>
        <p:nvSpPr>
          <p:cNvPr id="86" name="Google Shape;86;p13"/>
          <p:cNvSpPr txBox="1"/>
          <p:nvPr/>
        </p:nvSpPr>
        <p:spPr>
          <a:xfrm>
            <a:off x="457200" y="2452978"/>
            <a:ext cx="82296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D97757"/>
                </a:solidFill>
                <a:latin typeface="Calibri"/>
                <a:ea typeface="Calibri"/>
                <a:cs typeface="Calibri"/>
                <a:sym typeface="Calibri"/>
              </a:rPr>
              <a:t>From Discovery to Distribution</a:t>
            </a:r>
            <a:endParaRPr b="0" i="0" sz="1400" u="none" cap="none" strike="noStrike">
              <a:solidFill>
                <a:srgbClr val="000000"/>
              </a:solidFill>
              <a:latin typeface="Arial"/>
              <a:ea typeface="Arial"/>
              <a:cs typeface="Arial"/>
              <a:sym typeface="Arial"/>
            </a:endParaRPr>
          </a:p>
        </p:txBody>
      </p:sp>
      <p:sp>
        <p:nvSpPr>
          <p:cNvPr id="87" name="Google Shape;87;p13"/>
          <p:cNvSpPr txBox="1"/>
          <p:nvPr/>
        </p:nvSpPr>
        <p:spPr>
          <a:xfrm>
            <a:off x="457200" y="4572000"/>
            <a:ext cx="822960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E8E8E8"/>
                </a:solidFill>
                <a:latin typeface="Calibri"/>
                <a:ea typeface="Calibri"/>
                <a:cs typeface="Calibri"/>
                <a:sym typeface="Calibri"/>
              </a:rPr>
              <a:t>Technical Enablement | Anthropic</a:t>
            </a:r>
            <a:endParaRPr b="0" i="0" sz="1400" u="none" cap="none" strike="noStrike">
              <a:solidFill>
                <a:srgbClr val="000000"/>
              </a:solidFill>
              <a:latin typeface="Arial"/>
              <a:ea typeface="Arial"/>
              <a:cs typeface="Arial"/>
              <a:sym typeface="Arial"/>
            </a:endParaRPr>
          </a:p>
        </p:txBody>
      </p:sp>
      <p:pic>
        <p:nvPicPr>
          <p:cNvPr descr="preencoded.png" id="88" name="Google Shape;88;p13"/>
          <p:cNvPicPr preferRelativeResize="0"/>
          <p:nvPr/>
        </p:nvPicPr>
        <p:blipFill rotWithShape="1">
          <a:blip r:embed="rId3">
            <a:alphaModFix/>
          </a:blip>
          <a:srcRect b="0" l="0" r="0" t="0"/>
          <a:stretch/>
        </p:blipFill>
        <p:spPr>
          <a:xfrm>
            <a:off x="4114800" y="3275938"/>
            <a:ext cx="914400" cy="914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93" name="Shape 93"/>
        <p:cNvGrpSpPr/>
        <p:nvPr/>
      </p:nvGrpSpPr>
      <p:grpSpPr>
        <a:xfrm>
          <a:off x="0" y="0"/>
          <a:ext cx="0" cy="0"/>
          <a:chOff x="0" y="0"/>
          <a:chExt cx="0" cy="0"/>
        </a:xfrm>
      </p:grpSpPr>
      <p:sp>
        <p:nvSpPr>
          <p:cNvPr id="94" name="Google Shape;94;p14"/>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141413"/>
                </a:solidFill>
                <a:latin typeface="Calibri"/>
                <a:ea typeface="Calibri"/>
                <a:cs typeface="Calibri"/>
                <a:sym typeface="Calibri"/>
              </a:rPr>
              <a:t>Prerequisites Check</a:t>
            </a:r>
            <a:endParaRPr b="0" i="0" sz="1400" u="none" cap="none" strike="noStrike">
              <a:solidFill>
                <a:srgbClr val="000000"/>
              </a:solidFill>
              <a:latin typeface="Arial"/>
              <a:ea typeface="Arial"/>
              <a:cs typeface="Arial"/>
              <a:sym typeface="Arial"/>
            </a:endParaRPr>
          </a:p>
        </p:txBody>
      </p:sp>
      <p:sp>
        <p:nvSpPr>
          <p:cNvPr id="95" name="Google Shape;95;p14"/>
          <p:cNvSpPr txBox="1"/>
          <p:nvPr/>
        </p:nvSpPr>
        <p:spPr>
          <a:xfrm>
            <a:off x="457200" y="1005840"/>
            <a:ext cx="82296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36454F"/>
                </a:solidFill>
                <a:latin typeface="Calibri"/>
                <a:ea typeface="Calibri"/>
                <a:cs typeface="Calibri"/>
                <a:sym typeface="Calibri"/>
              </a:rPr>
              <a:t>Before We Begin</a:t>
            </a:r>
            <a:endParaRPr b="0" i="0" sz="1400" u="none" cap="none" strike="noStrike">
              <a:solidFill>
                <a:srgbClr val="000000"/>
              </a:solidFill>
              <a:latin typeface="Arial"/>
              <a:ea typeface="Arial"/>
              <a:cs typeface="Arial"/>
              <a:sym typeface="Arial"/>
            </a:endParaRPr>
          </a:p>
        </p:txBody>
      </p:sp>
      <p:sp>
        <p:nvSpPr>
          <p:cNvPr id="96" name="Google Shape;96;p14"/>
          <p:cNvSpPr txBox="1"/>
          <p:nvPr/>
        </p:nvSpPr>
        <p:spPr>
          <a:xfrm>
            <a:off x="532737" y="1828800"/>
            <a:ext cx="45720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41413"/>
                </a:solidFill>
                <a:latin typeface="Calibri"/>
                <a:ea typeface="Calibri"/>
                <a:cs typeface="Calibri"/>
                <a:sym typeface="Calibri"/>
              </a:rPr>
              <a:t>✓ Claude Code installed and authenticated</a:t>
            </a:r>
            <a:endParaRPr b="0" i="0" sz="1400" u="none" cap="none" strike="noStrike">
              <a:solidFill>
                <a:srgbClr val="000000"/>
              </a:solidFill>
              <a:latin typeface="Arial"/>
              <a:ea typeface="Arial"/>
              <a:cs typeface="Arial"/>
              <a:sym typeface="Arial"/>
            </a:endParaRPr>
          </a:p>
        </p:txBody>
      </p:sp>
      <p:sp>
        <p:nvSpPr>
          <p:cNvPr id="97" name="Google Shape;97;p14"/>
          <p:cNvSpPr/>
          <p:nvPr/>
        </p:nvSpPr>
        <p:spPr>
          <a:xfrm>
            <a:off x="5196177" y="1874588"/>
            <a:ext cx="2743200" cy="274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onsolas"/>
                <a:ea typeface="Consolas"/>
                <a:cs typeface="Consolas"/>
                <a:sym typeface="Consolas"/>
              </a:rPr>
              <a:t>claude --version</a:t>
            </a:r>
            <a:endParaRPr b="0" i="0" sz="1400" u="none" cap="none" strike="noStrike">
              <a:solidFill>
                <a:srgbClr val="000000"/>
              </a:solidFill>
              <a:latin typeface="Arial"/>
              <a:ea typeface="Arial"/>
              <a:cs typeface="Arial"/>
              <a:sym typeface="Arial"/>
            </a:endParaRPr>
          </a:p>
        </p:txBody>
      </p:sp>
      <p:sp>
        <p:nvSpPr>
          <p:cNvPr id="98" name="Google Shape;98;p14"/>
          <p:cNvSpPr txBox="1"/>
          <p:nvPr/>
        </p:nvSpPr>
        <p:spPr>
          <a:xfrm>
            <a:off x="532737" y="2423160"/>
            <a:ext cx="45720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41413"/>
                </a:solidFill>
                <a:latin typeface="Calibri"/>
                <a:ea typeface="Calibri"/>
                <a:cs typeface="Calibri"/>
                <a:sym typeface="Calibri"/>
              </a:rPr>
              <a:t>✓ Version 1.0.33 or later required</a:t>
            </a:r>
            <a:endParaRPr b="0" i="0" sz="1400" u="none" cap="none" strike="noStrike">
              <a:solidFill>
                <a:srgbClr val="000000"/>
              </a:solidFill>
              <a:latin typeface="Arial"/>
              <a:ea typeface="Arial"/>
              <a:cs typeface="Arial"/>
              <a:sym typeface="Arial"/>
            </a:endParaRPr>
          </a:p>
        </p:txBody>
      </p:sp>
      <p:sp>
        <p:nvSpPr>
          <p:cNvPr id="99" name="Google Shape;99;p14"/>
          <p:cNvSpPr/>
          <p:nvPr/>
        </p:nvSpPr>
        <p:spPr>
          <a:xfrm>
            <a:off x="5196177" y="2446073"/>
            <a:ext cx="2743200" cy="274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onsolas"/>
                <a:ea typeface="Consolas"/>
                <a:cs typeface="Consolas"/>
                <a:sym typeface="Consolas"/>
              </a:rPr>
              <a:t>Should show 1.0.33+</a:t>
            </a:r>
            <a:endParaRPr b="0" i="0" sz="1400" u="none" cap="none" strike="noStrike">
              <a:solidFill>
                <a:srgbClr val="000000"/>
              </a:solidFill>
              <a:latin typeface="Arial"/>
              <a:ea typeface="Arial"/>
              <a:cs typeface="Arial"/>
              <a:sym typeface="Arial"/>
            </a:endParaRPr>
          </a:p>
        </p:txBody>
      </p:sp>
      <p:sp>
        <p:nvSpPr>
          <p:cNvPr id="100" name="Google Shape;100;p14"/>
          <p:cNvSpPr txBox="1"/>
          <p:nvPr/>
        </p:nvSpPr>
        <p:spPr>
          <a:xfrm>
            <a:off x="532737" y="3017520"/>
            <a:ext cx="45720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41413"/>
                </a:solidFill>
                <a:latin typeface="Calibri"/>
                <a:ea typeface="Calibri"/>
                <a:cs typeface="Calibri"/>
                <a:sym typeface="Calibri"/>
              </a:rPr>
              <a:t>✓ Basic CLI familiarity</a:t>
            </a:r>
            <a:endParaRPr b="0" i="0" sz="1400" u="none" cap="none" strike="noStrike">
              <a:solidFill>
                <a:srgbClr val="000000"/>
              </a:solidFill>
              <a:latin typeface="Arial"/>
              <a:ea typeface="Arial"/>
              <a:cs typeface="Arial"/>
              <a:sym typeface="Arial"/>
            </a:endParaRPr>
          </a:p>
        </p:txBody>
      </p:sp>
      <p:sp>
        <p:nvSpPr>
          <p:cNvPr id="101" name="Google Shape;101;p14"/>
          <p:cNvSpPr/>
          <p:nvPr/>
        </p:nvSpPr>
        <p:spPr>
          <a:xfrm>
            <a:off x="5196177" y="3017520"/>
            <a:ext cx="2743200" cy="274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onsolas"/>
                <a:ea typeface="Consolas"/>
                <a:cs typeface="Consolas"/>
                <a:sym typeface="Consolas"/>
              </a:rPr>
              <a:t>cd, mkdir, npm, git</a:t>
            </a:r>
            <a:endParaRPr b="0" i="0" sz="1400" u="none" cap="none" strike="noStrike">
              <a:solidFill>
                <a:srgbClr val="000000"/>
              </a:solidFill>
              <a:latin typeface="Arial"/>
              <a:ea typeface="Arial"/>
              <a:cs typeface="Arial"/>
              <a:sym typeface="Arial"/>
            </a:endParaRPr>
          </a:p>
        </p:txBody>
      </p:sp>
      <p:sp>
        <p:nvSpPr>
          <p:cNvPr id="102" name="Google Shape;102;p14"/>
          <p:cNvSpPr txBox="1"/>
          <p:nvPr/>
        </p:nvSpPr>
        <p:spPr>
          <a:xfrm>
            <a:off x="532737" y="3611880"/>
            <a:ext cx="45720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41413"/>
                </a:solidFill>
                <a:latin typeface="Calibri"/>
                <a:ea typeface="Calibri"/>
                <a:cs typeface="Calibri"/>
                <a:sym typeface="Calibri"/>
              </a:rPr>
              <a:t>✓ JSON and directory structure knowledge</a:t>
            </a:r>
            <a:endParaRPr b="0" i="0" sz="1400" u="none" cap="none" strike="noStrike">
              <a:solidFill>
                <a:srgbClr val="000000"/>
              </a:solidFill>
              <a:latin typeface="Arial"/>
              <a:ea typeface="Arial"/>
              <a:cs typeface="Arial"/>
              <a:sym typeface="Arial"/>
            </a:endParaRPr>
          </a:p>
        </p:txBody>
      </p:sp>
      <p:sp>
        <p:nvSpPr>
          <p:cNvPr id="103" name="Google Shape;103;p14"/>
          <p:cNvSpPr/>
          <p:nvPr/>
        </p:nvSpPr>
        <p:spPr>
          <a:xfrm>
            <a:off x="731520" y="4297680"/>
            <a:ext cx="7680960" cy="489005"/>
          </a:xfrm>
          <a:prstGeom prst="roundRect">
            <a:avLst>
              <a:gd fmla="val 16667" name="adj"/>
            </a:avLst>
          </a:prstGeom>
          <a:solidFill>
            <a:srgbClr val="D97757"/>
          </a:solidFill>
          <a:ln cap="flat" cmpd="sng" w="25400">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Let's verify: Run 'claude --version' in your terminal. If you see version 1.0.33 or higher, you're ready!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08" name="Shape 108"/>
        <p:cNvGrpSpPr/>
        <p:nvPr/>
      </p:nvGrpSpPr>
      <p:grpSpPr>
        <a:xfrm>
          <a:off x="0" y="0"/>
          <a:ext cx="0" cy="0"/>
          <a:chOff x="0" y="0"/>
          <a:chExt cx="0" cy="0"/>
        </a:xfrm>
      </p:grpSpPr>
      <p:sp>
        <p:nvSpPr>
          <p:cNvPr id="109" name="Google Shape;109;p15"/>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141413"/>
                </a:solidFill>
                <a:latin typeface="Calibri"/>
                <a:ea typeface="Calibri"/>
                <a:cs typeface="Calibri"/>
                <a:sym typeface="Calibri"/>
              </a:rPr>
              <a:t>Course Overview</a:t>
            </a:r>
            <a:endParaRPr b="0" i="0" sz="1400" u="none" cap="none" strike="noStrike">
              <a:solidFill>
                <a:srgbClr val="000000"/>
              </a:solidFill>
              <a:latin typeface="Arial"/>
              <a:ea typeface="Arial"/>
              <a:cs typeface="Arial"/>
              <a:sym typeface="Arial"/>
            </a:endParaRPr>
          </a:p>
        </p:txBody>
      </p:sp>
      <p:sp>
        <p:nvSpPr>
          <p:cNvPr id="110" name="Google Shape;110;p15"/>
          <p:cNvSpPr/>
          <p:nvPr/>
        </p:nvSpPr>
        <p:spPr>
          <a:xfrm>
            <a:off x="731520" y="1645920"/>
            <a:ext cx="2377440" cy="27432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 name="Google Shape;111;p15"/>
          <p:cNvSpPr/>
          <p:nvPr/>
        </p:nvSpPr>
        <p:spPr>
          <a:xfrm>
            <a:off x="1645920" y="1920240"/>
            <a:ext cx="548640" cy="548640"/>
          </a:xfrm>
          <a:prstGeom prst="ellipse">
            <a:avLst/>
          </a:prstGeom>
          <a:solidFill>
            <a:srgbClr val="6A9BCC"/>
          </a:solidFill>
          <a:ln>
            <a:noFill/>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2" name="Google Shape;112;p15"/>
          <p:cNvSpPr txBox="1"/>
          <p:nvPr/>
        </p:nvSpPr>
        <p:spPr>
          <a:xfrm>
            <a:off x="914400" y="2651760"/>
            <a:ext cx="201168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41413"/>
                </a:solidFill>
                <a:latin typeface="Calibri"/>
                <a:ea typeface="Calibri"/>
                <a:cs typeface="Calibri"/>
                <a:sym typeface="Calibri"/>
              </a:rPr>
              <a:t>Discover &amp; Install</a:t>
            </a:r>
            <a:endParaRPr b="0" i="0" sz="1400" u="none" cap="none" strike="noStrike">
              <a:solidFill>
                <a:srgbClr val="000000"/>
              </a:solidFill>
              <a:latin typeface="Arial"/>
              <a:ea typeface="Arial"/>
              <a:cs typeface="Arial"/>
              <a:sym typeface="Arial"/>
            </a:endParaRPr>
          </a:p>
        </p:txBody>
      </p:sp>
      <p:sp>
        <p:nvSpPr>
          <p:cNvPr id="113" name="Google Shape;113;p15"/>
          <p:cNvSpPr txBox="1"/>
          <p:nvPr/>
        </p:nvSpPr>
        <p:spPr>
          <a:xfrm>
            <a:off x="1375059" y="3108960"/>
            <a:ext cx="1090362"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rgbClr val="D97757"/>
                </a:solidFill>
                <a:latin typeface="Calibri"/>
                <a:ea typeface="Calibri"/>
                <a:cs typeface="Calibri"/>
                <a:sym typeface="Calibri"/>
              </a:rPr>
              <a:t>Modules 1-5</a:t>
            </a:r>
            <a:endParaRPr b="0" i="0" sz="1400" u="none" cap="none" strike="noStrike">
              <a:solidFill>
                <a:srgbClr val="000000"/>
              </a:solidFill>
              <a:latin typeface="Arial"/>
              <a:ea typeface="Arial"/>
              <a:cs typeface="Arial"/>
              <a:sym typeface="Arial"/>
            </a:endParaRPr>
          </a:p>
        </p:txBody>
      </p:sp>
      <p:sp>
        <p:nvSpPr>
          <p:cNvPr id="114" name="Google Shape;114;p15"/>
          <p:cNvSpPr txBox="1"/>
          <p:nvPr/>
        </p:nvSpPr>
        <p:spPr>
          <a:xfrm>
            <a:off x="914400" y="3474720"/>
            <a:ext cx="2011680" cy="8229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36454F"/>
                </a:solidFill>
                <a:latin typeface="Calibri"/>
                <a:ea typeface="Calibri"/>
                <a:cs typeface="Calibri"/>
                <a:sym typeface="Calibri"/>
              </a:rPr>
              <a:t>Understanding plugins, navigating marketplaces, and managing installations</a:t>
            </a:r>
            <a:endParaRPr b="0" i="0" sz="1400" u="none" cap="none" strike="noStrike">
              <a:solidFill>
                <a:srgbClr val="000000"/>
              </a:solidFill>
              <a:latin typeface="Arial"/>
              <a:ea typeface="Arial"/>
              <a:cs typeface="Arial"/>
              <a:sym typeface="Arial"/>
            </a:endParaRPr>
          </a:p>
        </p:txBody>
      </p:sp>
      <p:sp>
        <p:nvSpPr>
          <p:cNvPr id="115" name="Google Shape;115;p15"/>
          <p:cNvSpPr/>
          <p:nvPr/>
        </p:nvSpPr>
        <p:spPr>
          <a:xfrm>
            <a:off x="3474720" y="1645920"/>
            <a:ext cx="2377440" cy="27432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 name="Google Shape;116;p15"/>
          <p:cNvSpPr/>
          <p:nvPr/>
        </p:nvSpPr>
        <p:spPr>
          <a:xfrm>
            <a:off x="4389120" y="1920240"/>
            <a:ext cx="548640" cy="548640"/>
          </a:xfrm>
          <a:prstGeom prst="ellipse">
            <a:avLst/>
          </a:prstGeom>
          <a:solidFill>
            <a:srgbClr val="6A9BCC"/>
          </a:solidFill>
          <a:ln>
            <a:noFill/>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 name="Google Shape;117;p15"/>
          <p:cNvSpPr txBox="1"/>
          <p:nvPr/>
        </p:nvSpPr>
        <p:spPr>
          <a:xfrm>
            <a:off x="3657600" y="2651760"/>
            <a:ext cx="201168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41413"/>
                </a:solidFill>
                <a:latin typeface="Calibri"/>
                <a:ea typeface="Calibri"/>
                <a:cs typeface="Calibri"/>
                <a:sym typeface="Calibri"/>
              </a:rPr>
              <a:t>Create &amp; Test</a:t>
            </a:r>
            <a:endParaRPr b="0" i="0" sz="1400" u="none" cap="none" strike="noStrike">
              <a:solidFill>
                <a:srgbClr val="000000"/>
              </a:solidFill>
              <a:latin typeface="Arial"/>
              <a:ea typeface="Arial"/>
              <a:cs typeface="Arial"/>
              <a:sym typeface="Arial"/>
            </a:endParaRPr>
          </a:p>
        </p:txBody>
      </p:sp>
      <p:sp>
        <p:nvSpPr>
          <p:cNvPr id="118" name="Google Shape;118;p15"/>
          <p:cNvSpPr txBox="1"/>
          <p:nvPr/>
        </p:nvSpPr>
        <p:spPr>
          <a:xfrm>
            <a:off x="4118259" y="3108960"/>
            <a:ext cx="1090362"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rgbClr val="D97757"/>
                </a:solidFill>
                <a:latin typeface="Calibri"/>
                <a:ea typeface="Calibri"/>
                <a:cs typeface="Calibri"/>
                <a:sym typeface="Calibri"/>
              </a:rPr>
              <a:t>Modules 6-7</a:t>
            </a:r>
            <a:endParaRPr b="0" i="0" sz="1400" u="none" cap="none" strike="noStrike">
              <a:solidFill>
                <a:srgbClr val="000000"/>
              </a:solidFill>
              <a:latin typeface="Arial"/>
              <a:ea typeface="Arial"/>
              <a:cs typeface="Arial"/>
              <a:sym typeface="Arial"/>
            </a:endParaRPr>
          </a:p>
        </p:txBody>
      </p:sp>
      <p:sp>
        <p:nvSpPr>
          <p:cNvPr id="119" name="Google Shape;119;p15"/>
          <p:cNvSpPr txBox="1"/>
          <p:nvPr/>
        </p:nvSpPr>
        <p:spPr>
          <a:xfrm>
            <a:off x="3657600" y="3474720"/>
            <a:ext cx="2011680" cy="8229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36454F"/>
                </a:solidFill>
                <a:latin typeface="Calibri"/>
                <a:ea typeface="Calibri"/>
                <a:cs typeface="Calibri"/>
                <a:sym typeface="Calibri"/>
              </a:rPr>
              <a:t>Building custom plugins with skills, agents, and hooks from scratch</a:t>
            </a:r>
            <a:endParaRPr b="0" i="0" sz="1400" u="none" cap="none" strike="noStrike">
              <a:solidFill>
                <a:srgbClr val="000000"/>
              </a:solidFill>
              <a:latin typeface="Arial"/>
              <a:ea typeface="Arial"/>
              <a:cs typeface="Arial"/>
              <a:sym typeface="Arial"/>
            </a:endParaRPr>
          </a:p>
        </p:txBody>
      </p:sp>
      <p:sp>
        <p:nvSpPr>
          <p:cNvPr id="120" name="Google Shape;120;p15"/>
          <p:cNvSpPr/>
          <p:nvPr/>
        </p:nvSpPr>
        <p:spPr>
          <a:xfrm>
            <a:off x="6217920" y="1645920"/>
            <a:ext cx="2377440" cy="27432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 name="Google Shape;121;p15"/>
          <p:cNvSpPr/>
          <p:nvPr/>
        </p:nvSpPr>
        <p:spPr>
          <a:xfrm>
            <a:off x="7132320" y="1920240"/>
            <a:ext cx="548640" cy="548640"/>
          </a:xfrm>
          <a:prstGeom prst="ellipse">
            <a:avLst/>
          </a:prstGeom>
          <a:solidFill>
            <a:srgbClr val="6A9BCC"/>
          </a:solidFill>
          <a:ln>
            <a:noFill/>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 name="Google Shape;122;p15"/>
          <p:cNvSpPr txBox="1"/>
          <p:nvPr/>
        </p:nvSpPr>
        <p:spPr>
          <a:xfrm>
            <a:off x="6400800" y="2651760"/>
            <a:ext cx="201168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41413"/>
                </a:solidFill>
                <a:latin typeface="Calibri"/>
                <a:ea typeface="Calibri"/>
                <a:cs typeface="Calibri"/>
                <a:sym typeface="Calibri"/>
              </a:rPr>
              <a:t>Convert &amp; Share</a:t>
            </a:r>
            <a:endParaRPr b="0" i="0" sz="1400" u="none" cap="none" strike="noStrike">
              <a:solidFill>
                <a:srgbClr val="000000"/>
              </a:solidFill>
              <a:latin typeface="Arial"/>
              <a:ea typeface="Arial"/>
              <a:cs typeface="Arial"/>
              <a:sym typeface="Arial"/>
            </a:endParaRPr>
          </a:p>
        </p:txBody>
      </p:sp>
      <p:sp>
        <p:nvSpPr>
          <p:cNvPr id="123" name="Google Shape;123;p15"/>
          <p:cNvSpPr txBox="1"/>
          <p:nvPr/>
        </p:nvSpPr>
        <p:spPr>
          <a:xfrm>
            <a:off x="6861459" y="3108960"/>
            <a:ext cx="1090362"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rgbClr val="D97757"/>
                </a:solidFill>
                <a:latin typeface="Calibri"/>
                <a:ea typeface="Calibri"/>
                <a:cs typeface="Calibri"/>
                <a:sym typeface="Calibri"/>
              </a:rPr>
              <a:t>Modules 8-9</a:t>
            </a:r>
            <a:endParaRPr b="0" i="0" sz="1400" u="none" cap="none" strike="noStrike">
              <a:solidFill>
                <a:srgbClr val="000000"/>
              </a:solidFill>
              <a:latin typeface="Arial"/>
              <a:ea typeface="Arial"/>
              <a:cs typeface="Arial"/>
              <a:sym typeface="Arial"/>
            </a:endParaRPr>
          </a:p>
        </p:txBody>
      </p:sp>
      <p:sp>
        <p:nvSpPr>
          <p:cNvPr id="124" name="Google Shape;124;p15"/>
          <p:cNvSpPr txBox="1"/>
          <p:nvPr/>
        </p:nvSpPr>
        <p:spPr>
          <a:xfrm>
            <a:off x="6400800" y="3474720"/>
            <a:ext cx="2011680" cy="8229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36454F"/>
                </a:solidFill>
                <a:latin typeface="Calibri"/>
                <a:ea typeface="Calibri"/>
                <a:cs typeface="Calibri"/>
                <a:sym typeface="Calibri"/>
              </a:rPr>
              <a:t>Migrating standalone configs to plugins and distributing via marketplaces</a:t>
            </a:r>
            <a:endParaRPr b="0" i="0" sz="1400" u="none" cap="none" strike="noStrike">
              <a:solidFill>
                <a:srgbClr val="000000"/>
              </a:solidFill>
              <a:latin typeface="Arial"/>
              <a:ea typeface="Arial"/>
              <a:cs typeface="Arial"/>
              <a:sym typeface="Arial"/>
            </a:endParaRPr>
          </a:p>
        </p:txBody>
      </p:sp>
      <p:pic>
        <p:nvPicPr>
          <p:cNvPr descr="Treasure Map outline" id="125" name="Google Shape;125;p15"/>
          <p:cNvPicPr preferRelativeResize="0"/>
          <p:nvPr/>
        </p:nvPicPr>
        <p:blipFill rotWithShape="1">
          <a:blip r:embed="rId3">
            <a:alphaModFix/>
          </a:blip>
          <a:srcRect b="0" l="0" r="0" t="0"/>
          <a:stretch/>
        </p:blipFill>
        <p:spPr>
          <a:xfrm>
            <a:off x="1731315" y="2005635"/>
            <a:ext cx="377851" cy="377851"/>
          </a:xfrm>
          <a:prstGeom prst="rect">
            <a:avLst/>
          </a:prstGeom>
          <a:noFill/>
          <a:ln>
            <a:noFill/>
          </a:ln>
        </p:spPr>
      </p:pic>
      <p:pic>
        <p:nvPicPr>
          <p:cNvPr descr="Tools outline" id="126" name="Google Shape;126;p15"/>
          <p:cNvPicPr preferRelativeResize="0"/>
          <p:nvPr/>
        </p:nvPicPr>
        <p:blipFill rotWithShape="1">
          <a:blip r:embed="rId4">
            <a:alphaModFix/>
          </a:blip>
          <a:srcRect b="0" l="0" r="0" t="0"/>
          <a:stretch/>
        </p:blipFill>
        <p:spPr>
          <a:xfrm>
            <a:off x="4525137" y="2059755"/>
            <a:ext cx="274320" cy="274320"/>
          </a:xfrm>
          <a:prstGeom prst="rect">
            <a:avLst/>
          </a:prstGeom>
          <a:noFill/>
          <a:ln>
            <a:noFill/>
          </a:ln>
        </p:spPr>
      </p:pic>
      <p:pic>
        <p:nvPicPr>
          <p:cNvPr descr="Network outline" id="127" name="Google Shape;127;p15"/>
          <p:cNvPicPr preferRelativeResize="0"/>
          <p:nvPr/>
        </p:nvPicPr>
        <p:blipFill rotWithShape="1">
          <a:blip r:embed="rId5">
            <a:alphaModFix/>
          </a:blip>
          <a:srcRect b="0" l="0" r="0" t="0"/>
          <a:stretch/>
        </p:blipFill>
        <p:spPr>
          <a:xfrm>
            <a:off x="7233622" y="2017108"/>
            <a:ext cx="355180" cy="35518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7757"/>
        </a:solidFill>
      </p:bgPr>
    </p:bg>
    <p:spTree>
      <p:nvGrpSpPr>
        <p:cNvPr id="132" name="Shape 132"/>
        <p:cNvGrpSpPr/>
        <p:nvPr/>
      </p:nvGrpSpPr>
      <p:grpSpPr>
        <a:xfrm>
          <a:off x="0" y="0"/>
          <a:ext cx="0" cy="0"/>
          <a:chOff x="0" y="0"/>
          <a:chExt cx="0" cy="0"/>
        </a:xfrm>
      </p:grpSpPr>
      <p:sp>
        <p:nvSpPr>
          <p:cNvPr id="133" name="Google Shape;133;p16"/>
          <p:cNvSpPr txBox="1"/>
          <p:nvPr/>
        </p:nvSpPr>
        <p:spPr>
          <a:xfrm>
            <a:off x="609600" y="655320"/>
            <a:ext cx="7972054" cy="5539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Calibri"/>
                <a:ea typeface="Calibri"/>
                <a:cs typeface="Calibri"/>
                <a:sym typeface="Calibri"/>
              </a:rPr>
              <a:t>Module 1: What Plugins Are and How They Work</a:t>
            </a:r>
            <a:endParaRPr b="0" i="0" sz="1400" u="none" cap="none" strike="noStrike">
              <a:solidFill>
                <a:srgbClr val="000000"/>
              </a:solidFill>
              <a:latin typeface="Arial"/>
              <a:ea typeface="Arial"/>
              <a:cs typeface="Arial"/>
              <a:sym typeface="Arial"/>
            </a:endParaRPr>
          </a:p>
        </p:txBody>
      </p:sp>
      <p:sp>
        <p:nvSpPr>
          <p:cNvPr id="134" name="Google Shape;134;p16"/>
          <p:cNvSpPr txBox="1"/>
          <p:nvPr/>
        </p:nvSpPr>
        <p:spPr>
          <a:xfrm>
            <a:off x="609600" y="1203960"/>
            <a:ext cx="223080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Learning Objectives</a:t>
            </a:r>
            <a:endParaRPr b="0" i="0" sz="1400" u="none" cap="none" strike="noStrike">
              <a:solidFill>
                <a:srgbClr val="000000"/>
              </a:solidFill>
              <a:latin typeface="Arial"/>
              <a:ea typeface="Arial"/>
              <a:cs typeface="Arial"/>
              <a:sym typeface="Arial"/>
            </a:endParaRPr>
          </a:p>
        </p:txBody>
      </p:sp>
      <p:sp>
        <p:nvSpPr>
          <p:cNvPr id="135" name="Google Shape;135;p16"/>
          <p:cNvSpPr txBox="1"/>
          <p:nvPr/>
        </p:nvSpPr>
        <p:spPr>
          <a:xfrm>
            <a:off x="609600" y="1798320"/>
            <a:ext cx="7640938" cy="1308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Define what Claude Code plugins are and explain their purpose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Compare plugins versus standalone configurations and determine appropriate use cases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Explain how plugin namespacing prevents conflicts between extensions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Identify the types of functionality plugins can add (skills, agents, hooks, MCP servers)</a:t>
            </a:r>
            <a:endParaRPr b="0" i="0" sz="1400" u="none" cap="none" strike="noStrike">
              <a:solidFill>
                <a:srgbClr val="000000"/>
              </a:solidFill>
              <a:latin typeface="Arial"/>
              <a:ea typeface="Arial"/>
              <a:cs typeface="Arial"/>
              <a:sym typeface="Arial"/>
            </a:endParaRPr>
          </a:p>
        </p:txBody>
      </p:sp>
      <p:sp>
        <p:nvSpPr>
          <p:cNvPr id="136" name="Google Shape;136;p16"/>
          <p:cNvSpPr/>
          <p:nvPr/>
        </p:nvSpPr>
        <p:spPr>
          <a:xfrm>
            <a:off x="7467600" y="4541520"/>
            <a:ext cx="1371600" cy="457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 45 minutes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41" name="Shape 141"/>
        <p:cNvGrpSpPr/>
        <p:nvPr/>
      </p:nvGrpSpPr>
      <p:grpSpPr>
        <a:xfrm>
          <a:off x="0" y="0"/>
          <a:ext cx="0" cy="0"/>
          <a:chOff x="0" y="0"/>
          <a:chExt cx="0" cy="0"/>
        </a:xfrm>
      </p:grpSpPr>
      <p:sp>
        <p:nvSpPr>
          <p:cNvPr id="142" name="Google Shape;142;p17"/>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Plugin Fundamentals</a:t>
            </a:r>
            <a:endParaRPr b="0" i="0" sz="1400" u="none" cap="none" strike="noStrike">
              <a:solidFill>
                <a:srgbClr val="000000"/>
              </a:solidFill>
              <a:latin typeface="Arial"/>
              <a:ea typeface="Arial"/>
              <a:cs typeface="Arial"/>
              <a:sym typeface="Arial"/>
            </a:endParaRPr>
          </a:p>
        </p:txBody>
      </p:sp>
      <p:sp>
        <p:nvSpPr>
          <p:cNvPr id="143" name="Google Shape;143;p17"/>
          <p:cNvSpPr txBox="1"/>
          <p:nvPr/>
        </p:nvSpPr>
        <p:spPr>
          <a:xfrm>
            <a:off x="731520" y="1188720"/>
            <a:ext cx="36576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What are plugins?</a:t>
            </a:r>
            <a:endParaRPr b="0" i="0" sz="1400" u="none" cap="none" strike="noStrike">
              <a:solidFill>
                <a:srgbClr val="000000"/>
              </a:solidFill>
              <a:latin typeface="Arial"/>
              <a:ea typeface="Arial"/>
              <a:cs typeface="Arial"/>
              <a:sym typeface="Arial"/>
            </a:endParaRPr>
          </a:p>
        </p:txBody>
      </p:sp>
      <p:sp>
        <p:nvSpPr>
          <p:cNvPr id="144" name="Google Shape;144;p17"/>
          <p:cNvSpPr txBox="1"/>
          <p:nvPr/>
        </p:nvSpPr>
        <p:spPr>
          <a:xfrm>
            <a:off x="731520" y="1645920"/>
            <a:ext cx="3429000" cy="1299000"/>
          </a:xfrm>
          <a:prstGeom prst="rect">
            <a:avLst/>
          </a:prstGeom>
          <a:noFill/>
          <a:ln>
            <a:noFill/>
          </a:ln>
        </p:spPr>
        <p:txBody>
          <a:bodyPr anchorCtr="0" anchor="t" bIns="45700" lIns="91425" spcFirstLastPara="1" rIns="91425" wrap="square" tIns="45700">
            <a:spAutoFit/>
          </a:bodyPr>
          <a:lstStyle/>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Packaged extensions for Claude Code</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Can include: skills, agents, hooks, MCP servers, LSP servers</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Shareable across teams and projects</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Versioned for easy updates</a:t>
            </a:r>
            <a:endParaRPr b="0" i="0" sz="1400" u="none" cap="none" strike="noStrike">
              <a:solidFill>
                <a:srgbClr val="000000"/>
              </a:solidFill>
              <a:latin typeface="Arial"/>
              <a:ea typeface="Arial"/>
              <a:cs typeface="Arial"/>
              <a:sym typeface="Arial"/>
            </a:endParaRPr>
          </a:p>
        </p:txBody>
      </p:sp>
      <p:sp>
        <p:nvSpPr>
          <p:cNvPr id="145" name="Google Shape;145;p17"/>
          <p:cNvSpPr/>
          <p:nvPr/>
        </p:nvSpPr>
        <p:spPr>
          <a:xfrm>
            <a:off x="4754880" y="1188720"/>
            <a:ext cx="3931920" cy="3200400"/>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6" name="Google Shape;146;p17"/>
          <p:cNvSpPr txBox="1"/>
          <p:nvPr/>
        </p:nvSpPr>
        <p:spPr>
          <a:xfrm>
            <a:off x="4937760" y="1371600"/>
            <a:ext cx="3566160" cy="253915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Real-World Use Case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1" i="0" lang="en-US" sz="1600" u="none" cap="none" strike="noStrike">
                <a:solidFill>
                  <a:schemeClr val="lt1"/>
                </a:solidFill>
                <a:latin typeface="Calibri"/>
                <a:ea typeface="Calibri"/>
                <a:cs typeface="Calibri"/>
                <a:sym typeface="Calibri"/>
              </a:rPr>
              <a:t>Git Workflow Automation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en-US" sz="1200" u="none" cap="none" strike="noStrike">
                <a:solidFill>
                  <a:schemeClr val="lt1"/>
                </a:solidFill>
                <a:latin typeface="Calibri"/>
                <a:ea typeface="Calibri"/>
                <a:cs typeface="Calibri"/>
                <a:sym typeface="Calibri"/>
              </a:rPr>
              <a:t>The Problem: Development team manually writing commit messages, running linters, updating changelogs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The Solution: Custom plugin with: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Calibri"/>
                <a:ea typeface="Calibri"/>
                <a:cs typeface="Calibri"/>
                <a:sym typeface="Calibri"/>
              </a:rPr>
              <a:t>• Skill: Auto-generate commit messages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Calibri"/>
                <a:ea typeface="Calibri"/>
                <a:cs typeface="Calibri"/>
                <a:sym typeface="Calibri"/>
              </a:rPr>
              <a:t>• Hook: Run linter after every file edit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Calibri"/>
                <a:ea typeface="Calibri"/>
                <a:cs typeface="Calibri"/>
                <a:sym typeface="Calibri"/>
              </a:rPr>
              <a:t>• Command: Update CHANGELOG.md</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60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The Result: Team saves 15 minutes per commit, maintains consistency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51" name="Shape 151"/>
        <p:cNvGrpSpPr/>
        <p:nvPr/>
      </p:nvGrpSpPr>
      <p:grpSpPr>
        <a:xfrm>
          <a:off x="0" y="0"/>
          <a:ext cx="0" cy="0"/>
          <a:chOff x="0" y="0"/>
          <a:chExt cx="0" cy="0"/>
        </a:xfrm>
      </p:grpSpPr>
      <p:sp>
        <p:nvSpPr>
          <p:cNvPr id="152" name="Google Shape;152;p18"/>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Plugins vs Standalone Configurations</a:t>
            </a:r>
            <a:endParaRPr b="0" i="0" sz="1400" u="none" cap="none" strike="noStrike">
              <a:solidFill>
                <a:srgbClr val="000000"/>
              </a:solidFill>
              <a:latin typeface="Arial"/>
              <a:ea typeface="Arial"/>
              <a:cs typeface="Arial"/>
              <a:sym typeface="Arial"/>
            </a:endParaRPr>
          </a:p>
        </p:txBody>
      </p:sp>
      <p:sp>
        <p:nvSpPr>
          <p:cNvPr id="153" name="Google Shape;153;p18"/>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When to Use Each Approach</a:t>
            </a:r>
            <a:endParaRPr b="0" i="0" sz="1400" u="none" cap="none" strike="noStrike">
              <a:solidFill>
                <a:srgbClr val="000000"/>
              </a:solidFill>
              <a:latin typeface="Arial"/>
              <a:ea typeface="Arial"/>
              <a:cs typeface="Arial"/>
              <a:sym typeface="Arial"/>
            </a:endParaRPr>
          </a:p>
        </p:txBody>
      </p:sp>
      <p:sp>
        <p:nvSpPr>
          <p:cNvPr id="154" name="Google Shape;154;p18"/>
          <p:cNvSpPr txBox="1"/>
          <p:nvPr/>
        </p:nvSpPr>
        <p:spPr>
          <a:xfrm>
            <a:off x="731522" y="1737350"/>
            <a:ext cx="3279900" cy="151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Plugins:</a:t>
            </a:r>
            <a:endParaRPr>
              <a:solidFill>
                <a:srgbClr val="141413"/>
              </a:solidFill>
              <a:latin typeface="Calibri"/>
              <a:ea typeface="Calibri"/>
              <a:cs typeface="Calibri"/>
              <a:sym typeface="Calibri"/>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Share with team: ensures consistency, version-controlled updates</a:t>
            </a:r>
            <a:endParaRPr>
              <a:solidFill>
                <a:srgbClr val="141413"/>
              </a:solidFill>
              <a:latin typeface="Calibri"/>
              <a:ea typeface="Calibri"/>
              <a:cs typeface="Calibri"/>
              <a:sym typeface="Calibri"/>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Namespaced commands</a:t>
            </a:r>
            <a:r>
              <a:rPr lang="en-US">
                <a:solidFill>
                  <a:srgbClr val="141413"/>
                </a:solidFill>
                <a:latin typeface="Calibri"/>
                <a:ea typeface="Calibri"/>
                <a:cs typeface="Calibri"/>
                <a:sym typeface="Calibri"/>
              </a:rPr>
              <a:t>: </a:t>
            </a:r>
            <a:r>
              <a:rPr b="0" i="0" lang="en-US" sz="1400" u="none" cap="none" strike="noStrike">
                <a:solidFill>
                  <a:srgbClr val="141413"/>
                </a:solidFill>
                <a:latin typeface="Calibri"/>
                <a:ea typeface="Calibri"/>
                <a:cs typeface="Calibri"/>
                <a:sym typeface="Calibri"/>
              </a:rPr>
              <a:t>prevents conflicts between different plugins</a:t>
            </a:r>
            <a:endParaRPr b="0" i="0" sz="1400" u="none" cap="none" strike="noStrike">
              <a:solidFill>
                <a:srgbClr val="000000"/>
              </a:solidFill>
              <a:latin typeface="Arial"/>
              <a:ea typeface="Arial"/>
              <a:cs typeface="Arial"/>
              <a:sym typeface="Arial"/>
            </a:endParaRPr>
          </a:p>
        </p:txBody>
      </p:sp>
      <p:sp>
        <p:nvSpPr>
          <p:cNvPr id="155" name="Google Shape;155;p18"/>
          <p:cNvSpPr/>
          <p:nvPr/>
        </p:nvSpPr>
        <p:spPr>
          <a:xfrm>
            <a:off x="914400" y="4114800"/>
            <a:ext cx="7315200" cy="498764"/>
          </a:xfrm>
          <a:prstGeom prst="roundRect">
            <a:avLst>
              <a:gd fmla="val 16667" name="adj"/>
            </a:avLst>
          </a:prstGeom>
          <a:solidFill>
            <a:schemeClr val="lt1"/>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41413"/>
                </a:solidFill>
                <a:latin typeface="Calibri"/>
                <a:ea typeface="Calibri"/>
                <a:cs typeface="Calibri"/>
                <a:sym typeface="Calibri"/>
              </a:rPr>
              <a:t>💡 Best Practice: Start with standalone for experiments, convert to plugin when ready to share</a:t>
            </a:r>
            <a:endParaRPr b="0" i="0" sz="1400" u="none" cap="none" strike="noStrike">
              <a:solidFill>
                <a:srgbClr val="000000"/>
              </a:solidFill>
              <a:latin typeface="Arial"/>
              <a:ea typeface="Arial"/>
              <a:cs typeface="Arial"/>
              <a:sym typeface="Arial"/>
            </a:endParaRPr>
          </a:p>
        </p:txBody>
      </p:sp>
      <p:sp>
        <p:nvSpPr>
          <p:cNvPr id="156" name="Google Shape;156;p18"/>
          <p:cNvSpPr txBox="1"/>
          <p:nvPr/>
        </p:nvSpPr>
        <p:spPr>
          <a:xfrm>
            <a:off x="4511997" y="1737350"/>
            <a:ext cx="3279900" cy="126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Standalone:</a:t>
            </a:r>
            <a:endParaRPr>
              <a:solidFill>
                <a:srgbClr val="141413"/>
              </a:solidFill>
              <a:latin typeface="Calibri"/>
              <a:ea typeface="Calibri"/>
              <a:cs typeface="Calibri"/>
              <a:sym typeface="Calibri"/>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Quick iteration: no packaging overhead, direct file editing</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Short names: faster to type, better for personal workflows)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61" name="Shape 161"/>
        <p:cNvGrpSpPr/>
        <p:nvPr/>
      </p:nvGrpSpPr>
      <p:grpSpPr>
        <a:xfrm>
          <a:off x="0" y="0"/>
          <a:ext cx="0" cy="0"/>
          <a:chOff x="0" y="0"/>
          <a:chExt cx="0" cy="0"/>
        </a:xfrm>
      </p:grpSpPr>
      <p:sp>
        <p:nvSpPr>
          <p:cNvPr id="162" name="Google Shape;162;p19"/>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Plugin Namespacing</a:t>
            </a:r>
            <a:endParaRPr b="0" i="0" sz="1400" u="none" cap="none" strike="noStrike">
              <a:solidFill>
                <a:srgbClr val="000000"/>
              </a:solidFill>
              <a:latin typeface="Arial"/>
              <a:ea typeface="Arial"/>
              <a:cs typeface="Arial"/>
              <a:sym typeface="Arial"/>
            </a:endParaRPr>
          </a:p>
        </p:txBody>
      </p:sp>
      <p:sp>
        <p:nvSpPr>
          <p:cNvPr id="163" name="Google Shape;163;p19"/>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Why Namespacing Exists</a:t>
            </a:r>
            <a:endParaRPr b="0" i="0" sz="1400" u="none" cap="none" strike="noStrike">
              <a:solidFill>
                <a:srgbClr val="000000"/>
              </a:solidFill>
              <a:latin typeface="Arial"/>
              <a:ea typeface="Arial"/>
              <a:cs typeface="Arial"/>
              <a:sym typeface="Arial"/>
            </a:endParaRPr>
          </a:p>
        </p:txBody>
      </p:sp>
      <p:sp>
        <p:nvSpPr>
          <p:cNvPr id="164" name="Google Shape;164;p19"/>
          <p:cNvSpPr txBox="1"/>
          <p:nvPr/>
        </p:nvSpPr>
        <p:spPr>
          <a:xfrm>
            <a:off x="731520" y="1645920"/>
            <a:ext cx="7680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Plugin skills are always namespaced to prevent conflicts. Without namespacing, if two plugins both provide a </a:t>
            </a:r>
            <a:r>
              <a:rPr b="1" i="0" lang="en-US" sz="1600" u="none" cap="none" strike="noStrike">
                <a:solidFill>
                  <a:srgbClr val="141413"/>
                </a:solidFill>
                <a:latin typeface="Calibri"/>
                <a:ea typeface="Calibri"/>
                <a:cs typeface="Calibri"/>
                <a:sym typeface="Calibri"/>
              </a:rPr>
              <a:t>/review</a:t>
            </a:r>
            <a:r>
              <a:rPr b="0" i="0" lang="en-US" sz="1600" u="none" cap="none" strike="noStrike">
                <a:solidFill>
                  <a:srgbClr val="141413"/>
                </a:solidFill>
                <a:latin typeface="Calibri"/>
                <a:ea typeface="Calibri"/>
                <a:cs typeface="Calibri"/>
                <a:sym typeface="Calibri"/>
              </a:rPr>
              <a:t> command, Claude Code wouldn't know which one to use.</a:t>
            </a:r>
            <a:endParaRPr b="0" i="0" sz="1400" u="none" cap="none" strike="noStrike">
              <a:solidFill>
                <a:srgbClr val="000000"/>
              </a:solidFill>
              <a:latin typeface="Arial"/>
              <a:ea typeface="Arial"/>
              <a:cs typeface="Arial"/>
              <a:sym typeface="Arial"/>
            </a:endParaRPr>
          </a:p>
        </p:txBody>
      </p:sp>
      <p:sp>
        <p:nvSpPr>
          <p:cNvPr id="165" name="Google Shape;165;p19"/>
          <p:cNvSpPr txBox="1"/>
          <p:nvPr/>
        </p:nvSpPr>
        <p:spPr>
          <a:xfrm>
            <a:off x="731520" y="2606038"/>
            <a:ext cx="7680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How It Works</a:t>
            </a:r>
            <a:endParaRPr b="0" i="0" sz="1400" u="none" cap="none" strike="noStrike">
              <a:solidFill>
                <a:srgbClr val="000000"/>
              </a:solidFill>
              <a:latin typeface="Arial"/>
              <a:ea typeface="Arial"/>
              <a:cs typeface="Arial"/>
              <a:sym typeface="Arial"/>
            </a:endParaRPr>
          </a:p>
        </p:txBody>
      </p:sp>
      <p:sp>
        <p:nvSpPr>
          <p:cNvPr id="166" name="Google Shape;166;p19"/>
          <p:cNvSpPr txBox="1"/>
          <p:nvPr/>
        </p:nvSpPr>
        <p:spPr>
          <a:xfrm>
            <a:off x="914400" y="3154678"/>
            <a:ext cx="1371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6454F"/>
                </a:solidFill>
                <a:latin typeface="Calibri"/>
                <a:ea typeface="Calibri"/>
                <a:cs typeface="Calibri"/>
                <a:sym typeface="Calibri"/>
              </a:rPr>
              <a:t>Standalone:</a:t>
            </a:r>
            <a:endParaRPr b="0" i="0" sz="1400" u="none" cap="none" strike="noStrike">
              <a:solidFill>
                <a:srgbClr val="000000"/>
              </a:solidFill>
              <a:latin typeface="Arial"/>
              <a:ea typeface="Arial"/>
              <a:cs typeface="Arial"/>
              <a:sym typeface="Arial"/>
            </a:endParaRPr>
          </a:p>
        </p:txBody>
      </p:sp>
      <p:sp>
        <p:nvSpPr>
          <p:cNvPr id="167" name="Google Shape;167;p19"/>
          <p:cNvSpPr/>
          <p:nvPr/>
        </p:nvSpPr>
        <p:spPr>
          <a:xfrm>
            <a:off x="2377440" y="3154678"/>
            <a:ext cx="3420000" cy="274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onsolas"/>
                <a:ea typeface="Consolas"/>
                <a:cs typeface="Consolas"/>
                <a:sym typeface="Consolas"/>
              </a:rPr>
              <a:t>/hello</a:t>
            </a:r>
            <a:endParaRPr b="0" i="0" sz="1400" u="none" cap="none" strike="noStrike">
              <a:solidFill>
                <a:srgbClr val="000000"/>
              </a:solidFill>
              <a:latin typeface="Arial"/>
              <a:ea typeface="Arial"/>
              <a:cs typeface="Arial"/>
              <a:sym typeface="Arial"/>
            </a:endParaRPr>
          </a:p>
        </p:txBody>
      </p:sp>
      <p:sp>
        <p:nvSpPr>
          <p:cNvPr id="168" name="Google Shape;168;p19"/>
          <p:cNvSpPr txBox="1"/>
          <p:nvPr/>
        </p:nvSpPr>
        <p:spPr>
          <a:xfrm>
            <a:off x="6053328" y="3154678"/>
            <a:ext cx="24963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36454F"/>
                </a:solidFill>
                <a:latin typeface="Calibri"/>
                <a:ea typeface="Calibri"/>
                <a:cs typeface="Calibri"/>
                <a:sym typeface="Calibri"/>
              </a:rPr>
              <a:t>Short, direct command</a:t>
            </a:r>
            <a:endParaRPr b="0" i="0" sz="1400" u="none" cap="none" strike="noStrike">
              <a:solidFill>
                <a:srgbClr val="000000"/>
              </a:solidFill>
              <a:latin typeface="Arial"/>
              <a:ea typeface="Arial"/>
              <a:cs typeface="Arial"/>
              <a:sym typeface="Arial"/>
            </a:endParaRPr>
          </a:p>
        </p:txBody>
      </p:sp>
      <p:sp>
        <p:nvSpPr>
          <p:cNvPr id="169" name="Google Shape;169;p19"/>
          <p:cNvSpPr txBox="1"/>
          <p:nvPr/>
        </p:nvSpPr>
        <p:spPr>
          <a:xfrm>
            <a:off x="914400" y="3566157"/>
            <a:ext cx="1371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6454F"/>
                </a:solidFill>
                <a:latin typeface="Calibri"/>
                <a:ea typeface="Calibri"/>
                <a:cs typeface="Calibri"/>
                <a:sym typeface="Calibri"/>
              </a:rPr>
              <a:t>Plugin:</a:t>
            </a:r>
            <a:endParaRPr b="0" i="0" sz="1400" u="none" cap="none" strike="noStrike">
              <a:solidFill>
                <a:srgbClr val="000000"/>
              </a:solidFill>
              <a:latin typeface="Arial"/>
              <a:ea typeface="Arial"/>
              <a:cs typeface="Arial"/>
              <a:sym typeface="Arial"/>
            </a:endParaRPr>
          </a:p>
        </p:txBody>
      </p:sp>
      <p:sp>
        <p:nvSpPr>
          <p:cNvPr id="170" name="Google Shape;170;p19"/>
          <p:cNvSpPr/>
          <p:nvPr/>
        </p:nvSpPr>
        <p:spPr>
          <a:xfrm>
            <a:off x="2377440" y="3566157"/>
            <a:ext cx="3420000" cy="274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onsolas"/>
                <a:ea typeface="Consolas"/>
                <a:cs typeface="Consolas"/>
                <a:sym typeface="Consolas"/>
              </a:rPr>
              <a:t>/my-plugin:hello</a:t>
            </a:r>
            <a:endParaRPr b="0" i="0" sz="1400" u="none" cap="none" strike="noStrike">
              <a:solidFill>
                <a:srgbClr val="000000"/>
              </a:solidFill>
              <a:latin typeface="Arial"/>
              <a:ea typeface="Arial"/>
              <a:cs typeface="Arial"/>
              <a:sym typeface="Arial"/>
            </a:endParaRPr>
          </a:p>
        </p:txBody>
      </p:sp>
      <p:sp>
        <p:nvSpPr>
          <p:cNvPr id="171" name="Google Shape;171;p19"/>
          <p:cNvSpPr txBox="1"/>
          <p:nvPr/>
        </p:nvSpPr>
        <p:spPr>
          <a:xfrm>
            <a:off x="6053328" y="3566157"/>
            <a:ext cx="24963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36454F"/>
                </a:solidFill>
                <a:latin typeface="Calibri"/>
                <a:ea typeface="Calibri"/>
                <a:cs typeface="Calibri"/>
                <a:sym typeface="Calibri"/>
              </a:rPr>
              <a:t>Namespaced with plugin name</a:t>
            </a:r>
            <a:endParaRPr b="0" i="0" sz="1400" u="none" cap="none" strike="noStrike">
              <a:solidFill>
                <a:srgbClr val="000000"/>
              </a:solidFill>
              <a:latin typeface="Arial"/>
              <a:ea typeface="Arial"/>
              <a:cs typeface="Arial"/>
              <a:sym typeface="Arial"/>
            </a:endParaRPr>
          </a:p>
        </p:txBody>
      </p:sp>
      <p:sp>
        <p:nvSpPr>
          <p:cNvPr id="172" name="Google Shape;172;p19"/>
          <p:cNvSpPr txBox="1"/>
          <p:nvPr/>
        </p:nvSpPr>
        <p:spPr>
          <a:xfrm>
            <a:off x="914400" y="3977638"/>
            <a:ext cx="1371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6454F"/>
                </a:solidFill>
                <a:latin typeface="Calibri"/>
                <a:ea typeface="Calibri"/>
                <a:cs typeface="Calibri"/>
                <a:sym typeface="Calibri"/>
              </a:rPr>
              <a:t>Multiple:</a:t>
            </a:r>
            <a:endParaRPr b="0" i="0" sz="1400" u="none" cap="none" strike="noStrike">
              <a:solidFill>
                <a:srgbClr val="000000"/>
              </a:solidFill>
              <a:latin typeface="Arial"/>
              <a:ea typeface="Arial"/>
              <a:cs typeface="Arial"/>
              <a:sym typeface="Arial"/>
            </a:endParaRPr>
          </a:p>
        </p:txBody>
      </p:sp>
      <p:sp>
        <p:nvSpPr>
          <p:cNvPr id="173" name="Google Shape;173;p19"/>
          <p:cNvSpPr/>
          <p:nvPr/>
        </p:nvSpPr>
        <p:spPr>
          <a:xfrm>
            <a:off x="2377440" y="3977638"/>
            <a:ext cx="3420000" cy="274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onsolas"/>
                <a:ea typeface="Consolas"/>
                <a:cs typeface="Consolas"/>
                <a:sym typeface="Consolas"/>
              </a:rPr>
              <a:t>/plugin-a:review vs /plugin-b:review</a:t>
            </a:r>
            <a:endParaRPr b="0" i="0" sz="1400" u="none" cap="none" strike="noStrike">
              <a:solidFill>
                <a:srgbClr val="000000"/>
              </a:solidFill>
              <a:latin typeface="Arial"/>
              <a:ea typeface="Arial"/>
              <a:cs typeface="Arial"/>
              <a:sym typeface="Arial"/>
            </a:endParaRPr>
          </a:p>
        </p:txBody>
      </p:sp>
      <p:sp>
        <p:nvSpPr>
          <p:cNvPr id="174" name="Google Shape;174;p19"/>
          <p:cNvSpPr txBox="1"/>
          <p:nvPr/>
        </p:nvSpPr>
        <p:spPr>
          <a:xfrm>
            <a:off x="6053328" y="3977638"/>
            <a:ext cx="24963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36454F"/>
                </a:solidFill>
                <a:latin typeface="Calibri"/>
                <a:ea typeface="Calibri"/>
                <a:cs typeface="Calibri"/>
                <a:sym typeface="Calibri"/>
              </a:rPr>
              <a:t>No conflicts!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p:nvPr/>
        </p:nvSpPr>
        <p:spPr>
          <a:xfrm>
            <a:off x="0" y="0"/>
            <a:ext cx="2632364" cy="5143500"/>
          </a:xfrm>
          <a:prstGeom prst="rect">
            <a:avLst/>
          </a:prstGeom>
          <a:solidFill>
            <a:srgbClr val="788C5D"/>
          </a:solidFill>
          <a:ln cap="flat" cmpd="sng" w="9525">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1" name="Google Shape;181;p20"/>
          <p:cNvSpPr txBox="1"/>
          <p:nvPr/>
        </p:nvSpPr>
        <p:spPr>
          <a:xfrm>
            <a:off x="278911" y="3079865"/>
            <a:ext cx="2074542" cy="15696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Module 1:</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Knowledge</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Check</a:t>
            </a:r>
            <a:endParaRPr b="0" i="0" sz="1400" u="none" cap="none" strike="noStrike">
              <a:solidFill>
                <a:srgbClr val="000000"/>
              </a:solidFill>
              <a:latin typeface="Arial"/>
              <a:ea typeface="Arial"/>
              <a:cs typeface="Arial"/>
              <a:sym typeface="Arial"/>
            </a:endParaRPr>
          </a:p>
        </p:txBody>
      </p:sp>
      <p:pic>
        <p:nvPicPr>
          <p:cNvPr descr="Brain with solid fill" id="182" name="Google Shape;182;p20"/>
          <p:cNvPicPr preferRelativeResize="0"/>
          <p:nvPr/>
        </p:nvPicPr>
        <p:blipFill rotWithShape="1">
          <a:blip r:embed="rId3">
            <a:alphaModFix/>
          </a:blip>
          <a:srcRect b="0" l="0" r="0" t="0"/>
          <a:stretch/>
        </p:blipFill>
        <p:spPr>
          <a:xfrm>
            <a:off x="969818" y="2376055"/>
            <a:ext cx="703810" cy="703810"/>
          </a:xfrm>
          <a:prstGeom prst="rect">
            <a:avLst/>
          </a:prstGeom>
          <a:noFill/>
          <a:ln>
            <a:noFill/>
          </a:ln>
        </p:spPr>
      </p:pic>
      <p:sp>
        <p:nvSpPr>
          <p:cNvPr id="183" name="Google Shape;183;p20"/>
          <p:cNvSpPr txBox="1"/>
          <p:nvPr/>
        </p:nvSpPr>
        <p:spPr>
          <a:xfrm>
            <a:off x="3129308" y="834391"/>
            <a:ext cx="546096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Which scenario is BEST suited for creating a plugin rather than using standalone configuration?</a:t>
            </a:r>
            <a:endParaRPr b="0" i="0" sz="1400" u="none" cap="none" strike="noStrike">
              <a:solidFill>
                <a:srgbClr val="000000"/>
              </a:solidFill>
              <a:latin typeface="Arial"/>
              <a:ea typeface="Arial"/>
              <a:cs typeface="Arial"/>
              <a:sym typeface="Arial"/>
            </a:endParaRPr>
          </a:p>
        </p:txBody>
      </p:sp>
      <p:sp>
        <p:nvSpPr>
          <p:cNvPr id="184" name="Google Shape;184;p20"/>
          <p:cNvSpPr txBox="1"/>
          <p:nvPr/>
        </p:nvSpPr>
        <p:spPr>
          <a:xfrm>
            <a:off x="3312187" y="1291591"/>
            <a:ext cx="5326121"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alibri"/>
                <a:ea typeface="Calibri"/>
                <a:cs typeface="Calibri"/>
                <a:sym typeface="Calibri"/>
              </a:rPr>
              <a:t>A) You're experimenting with a new skill for personal use</a:t>
            </a:r>
            <a:endParaRPr b="0" i="0" sz="1400" u="none" cap="none" strike="noStrike">
              <a:solidFill>
                <a:schemeClr val="dk1"/>
              </a:solidFill>
              <a:latin typeface="Arial"/>
              <a:ea typeface="Arial"/>
              <a:cs typeface="Arial"/>
              <a:sym typeface="Arial"/>
            </a:endParaRPr>
          </a:p>
        </p:txBody>
      </p:sp>
      <p:sp>
        <p:nvSpPr>
          <p:cNvPr id="185" name="Google Shape;185;p20"/>
          <p:cNvSpPr txBox="1"/>
          <p:nvPr/>
        </p:nvSpPr>
        <p:spPr>
          <a:xfrm>
            <a:off x="3312187" y="1565911"/>
            <a:ext cx="5326121"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B) You need to share custom functionality with your entire team</a:t>
            </a:r>
            <a:endParaRPr i="0" sz="1400" u="none" cap="none" strike="noStrike">
              <a:solidFill>
                <a:schemeClr val="dk1"/>
              </a:solidFill>
            </a:endParaRPr>
          </a:p>
        </p:txBody>
      </p:sp>
      <p:sp>
        <p:nvSpPr>
          <p:cNvPr id="186" name="Google Shape;186;p20"/>
          <p:cNvSpPr txBox="1"/>
          <p:nvPr/>
        </p:nvSpPr>
        <p:spPr>
          <a:xfrm>
            <a:off x="3312187" y="1840230"/>
            <a:ext cx="5326121"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alibri"/>
                <a:ea typeface="Calibri"/>
                <a:cs typeface="Calibri"/>
                <a:sym typeface="Calibri"/>
              </a:rPr>
              <a:t>C) You want a short skill name like /hello</a:t>
            </a:r>
            <a:endParaRPr b="0" i="0" sz="1400" u="none" cap="none" strike="noStrike">
              <a:solidFill>
                <a:schemeClr val="dk1"/>
              </a:solidFill>
              <a:latin typeface="Arial"/>
              <a:ea typeface="Arial"/>
              <a:cs typeface="Arial"/>
              <a:sym typeface="Arial"/>
            </a:endParaRPr>
          </a:p>
        </p:txBody>
      </p:sp>
      <p:sp>
        <p:nvSpPr>
          <p:cNvPr id="187" name="Google Shape;187;p20"/>
          <p:cNvSpPr txBox="1"/>
          <p:nvPr/>
        </p:nvSpPr>
        <p:spPr>
          <a:xfrm>
            <a:off x="3312187" y="2114550"/>
            <a:ext cx="5326121"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alibri"/>
                <a:ea typeface="Calibri"/>
                <a:cs typeface="Calibri"/>
                <a:sym typeface="Calibri"/>
              </a:rPr>
              <a:t>D) You're customizing Claude Code for a single project</a:t>
            </a:r>
            <a:endParaRPr b="0" i="0" sz="1400" u="none" cap="none" strike="noStrike">
              <a:solidFill>
                <a:schemeClr val="dk1"/>
              </a:solidFill>
              <a:latin typeface="Arial"/>
              <a:ea typeface="Arial"/>
              <a:cs typeface="Arial"/>
              <a:sym typeface="Arial"/>
            </a:endParaRPr>
          </a:p>
        </p:txBody>
      </p:sp>
      <p:sp>
        <p:nvSpPr>
          <p:cNvPr id="188" name="Google Shape;188;p20"/>
          <p:cNvSpPr txBox="1"/>
          <p:nvPr/>
        </p:nvSpPr>
        <p:spPr>
          <a:xfrm>
            <a:off x="3129308" y="2571750"/>
            <a:ext cx="546096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What is the primary purpose of plugin namespacing?</a:t>
            </a:r>
            <a:endParaRPr b="0" i="0" sz="1400" u="none" cap="none" strike="noStrike">
              <a:solidFill>
                <a:srgbClr val="000000"/>
              </a:solidFill>
              <a:latin typeface="Arial"/>
              <a:ea typeface="Arial"/>
              <a:cs typeface="Arial"/>
              <a:sym typeface="Arial"/>
            </a:endParaRPr>
          </a:p>
        </p:txBody>
      </p:sp>
      <p:sp>
        <p:nvSpPr>
          <p:cNvPr id="189" name="Google Shape;189;p20"/>
          <p:cNvSpPr txBox="1"/>
          <p:nvPr/>
        </p:nvSpPr>
        <p:spPr>
          <a:xfrm>
            <a:off x="3312187" y="3028950"/>
            <a:ext cx="5326121"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alibri"/>
                <a:ea typeface="Calibri"/>
                <a:cs typeface="Calibri"/>
                <a:sym typeface="Calibri"/>
              </a:rPr>
              <a:t>A) To make commands longer and more descriptive</a:t>
            </a:r>
            <a:endParaRPr b="0" i="0" sz="1400" u="none" cap="none" strike="noStrike">
              <a:solidFill>
                <a:schemeClr val="dk1"/>
              </a:solidFill>
              <a:latin typeface="Arial"/>
              <a:ea typeface="Arial"/>
              <a:cs typeface="Arial"/>
              <a:sym typeface="Arial"/>
            </a:endParaRPr>
          </a:p>
        </p:txBody>
      </p:sp>
      <p:sp>
        <p:nvSpPr>
          <p:cNvPr id="190" name="Google Shape;190;p20"/>
          <p:cNvSpPr txBox="1"/>
          <p:nvPr/>
        </p:nvSpPr>
        <p:spPr>
          <a:xfrm>
            <a:off x="3312187" y="3303270"/>
            <a:ext cx="5326121"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B) To prevent naming conflicts between different plugins</a:t>
            </a:r>
            <a:endParaRPr i="0" sz="1400" u="none" cap="none" strike="noStrike">
              <a:solidFill>
                <a:schemeClr val="dk1"/>
              </a:solidFill>
            </a:endParaRPr>
          </a:p>
        </p:txBody>
      </p:sp>
      <p:sp>
        <p:nvSpPr>
          <p:cNvPr id="191" name="Google Shape;191;p20"/>
          <p:cNvSpPr txBox="1"/>
          <p:nvPr/>
        </p:nvSpPr>
        <p:spPr>
          <a:xfrm>
            <a:off x="3312187" y="3577590"/>
            <a:ext cx="5326121"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alibri"/>
                <a:ea typeface="Calibri"/>
                <a:cs typeface="Calibri"/>
                <a:sym typeface="Calibri"/>
              </a:rPr>
              <a:t>C) To organize files within the plugin directory</a:t>
            </a:r>
            <a:endParaRPr b="0" i="0" sz="1400" u="none" cap="none" strike="noStrike">
              <a:solidFill>
                <a:schemeClr val="dk1"/>
              </a:solidFill>
              <a:latin typeface="Arial"/>
              <a:ea typeface="Arial"/>
              <a:cs typeface="Arial"/>
              <a:sym typeface="Arial"/>
            </a:endParaRPr>
          </a:p>
        </p:txBody>
      </p:sp>
      <p:sp>
        <p:nvSpPr>
          <p:cNvPr id="192" name="Google Shape;192;p20"/>
          <p:cNvSpPr txBox="1"/>
          <p:nvPr/>
        </p:nvSpPr>
        <p:spPr>
          <a:xfrm>
            <a:off x="3312187" y="3851910"/>
            <a:ext cx="5326121"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alibri"/>
                <a:ea typeface="Calibri"/>
                <a:cs typeface="Calibri"/>
                <a:sym typeface="Calibri"/>
              </a:rPr>
              <a:t>D) To distinguish between user and system commands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97" name="Shape 197"/>
        <p:cNvGrpSpPr/>
        <p:nvPr/>
      </p:nvGrpSpPr>
      <p:grpSpPr>
        <a:xfrm>
          <a:off x="0" y="0"/>
          <a:ext cx="0" cy="0"/>
          <a:chOff x="0" y="0"/>
          <a:chExt cx="0" cy="0"/>
        </a:xfrm>
      </p:grpSpPr>
      <p:sp>
        <p:nvSpPr>
          <p:cNvPr id="198" name="Google Shape;198;p21"/>
          <p:cNvSpPr txBox="1"/>
          <p:nvPr/>
        </p:nvSpPr>
        <p:spPr>
          <a:xfrm>
            <a:off x="457200" y="502920"/>
            <a:ext cx="758952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Module 1 Summary</a:t>
            </a:r>
            <a:endParaRPr b="0" i="0" sz="1400" u="none" cap="none" strike="noStrike">
              <a:solidFill>
                <a:srgbClr val="000000"/>
              </a:solidFill>
              <a:latin typeface="Arial"/>
              <a:ea typeface="Arial"/>
              <a:cs typeface="Arial"/>
              <a:sym typeface="Arial"/>
            </a:endParaRPr>
          </a:p>
        </p:txBody>
      </p:sp>
      <p:sp>
        <p:nvSpPr>
          <p:cNvPr id="199" name="Google Shape;199;p21"/>
          <p:cNvSpPr txBox="1"/>
          <p:nvPr/>
        </p:nvSpPr>
        <p:spPr>
          <a:xfrm>
            <a:off x="457200" y="1051560"/>
            <a:ext cx="758952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36454F"/>
                </a:solidFill>
                <a:latin typeface="Calibri"/>
                <a:ea typeface="Calibri"/>
                <a:cs typeface="Calibri"/>
                <a:sym typeface="Calibri"/>
              </a:rPr>
              <a:t>What Plugins Are and How They Work</a:t>
            </a:r>
            <a:endParaRPr b="0" i="0" sz="1400" u="none" cap="none" strike="noStrike">
              <a:solidFill>
                <a:srgbClr val="000000"/>
              </a:solidFill>
              <a:latin typeface="Arial"/>
              <a:ea typeface="Arial"/>
              <a:cs typeface="Arial"/>
              <a:sym typeface="Arial"/>
            </a:endParaRPr>
          </a:p>
        </p:txBody>
      </p:sp>
      <p:sp>
        <p:nvSpPr>
          <p:cNvPr id="200" name="Google Shape;200;p21"/>
          <p:cNvSpPr txBox="1"/>
          <p:nvPr/>
        </p:nvSpPr>
        <p:spPr>
          <a:xfrm>
            <a:off x="45720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Key Takeaways</a:t>
            </a:r>
            <a:endParaRPr b="0" i="0" sz="1400" u="none" cap="none" strike="noStrike">
              <a:solidFill>
                <a:srgbClr val="000000"/>
              </a:solidFill>
              <a:latin typeface="Arial"/>
              <a:ea typeface="Arial"/>
              <a:cs typeface="Arial"/>
              <a:sym typeface="Arial"/>
            </a:endParaRPr>
          </a:p>
        </p:txBody>
      </p:sp>
      <p:sp>
        <p:nvSpPr>
          <p:cNvPr id="201" name="Google Shape;201;p21"/>
          <p:cNvSpPr txBox="1"/>
          <p:nvPr/>
        </p:nvSpPr>
        <p:spPr>
          <a:xfrm>
            <a:off x="457200" y="2103120"/>
            <a:ext cx="5389500" cy="2321100"/>
          </a:xfrm>
          <a:prstGeom prst="rect">
            <a:avLst/>
          </a:prstGeom>
          <a:noFill/>
          <a:ln>
            <a:noFill/>
          </a:ln>
        </p:spPr>
        <p:txBody>
          <a:bodyPr anchorCtr="0" anchor="t" bIns="45700" lIns="91425" spcFirstLastPara="1" rIns="91425" wrap="square" tIns="45700">
            <a:spAutoFit/>
          </a:bodyPr>
          <a:lstStyle/>
          <a:p>
            <a:pPr indent="-330200" lvl="0" marL="457200" marR="0" rtl="0" algn="l">
              <a:lnSpc>
                <a:spcPct val="115000"/>
              </a:lnSpc>
              <a:spcBef>
                <a:spcPts val="0"/>
              </a:spcBef>
              <a:spcAft>
                <a:spcPts val="0"/>
              </a:spcAft>
              <a:buClr>
                <a:srgbClr val="141413"/>
              </a:buClr>
              <a:buSzPts val="1600"/>
              <a:buFont typeface="Calibri"/>
              <a:buChar char="●"/>
            </a:pPr>
            <a:r>
              <a:rPr b="0" i="0" lang="en-US" sz="1600" u="none" cap="none" strike="noStrike">
                <a:solidFill>
                  <a:srgbClr val="141413"/>
                </a:solidFill>
                <a:latin typeface="Calibri"/>
                <a:ea typeface="Calibri"/>
                <a:cs typeface="Calibri"/>
                <a:sym typeface="Calibri"/>
              </a:rPr>
              <a:t>Plugins are packaged extensions that bundle skills, agents, hooks, and MCP servers for sharing</a:t>
            </a:r>
            <a:endParaRPr/>
          </a:p>
          <a:p>
            <a:pPr indent="-330200" lvl="0" marL="457200" marR="0" rtl="0" algn="l">
              <a:lnSpc>
                <a:spcPct val="115000"/>
              </a:lnSpc>
              <a:spcBef>
                <a:spcPts val="0"/>
              </a:spcBef>
              <a:spcAft>
                <a:spcPts val="0"/>
              </a:spcAft>
              <a:buClr>
                <a:srgbClr val="141413"/>
              </a:buClr>
              <a:buSzPts val="1600"/>
              <a:buFont typeface="Calibri"/>
              <a:buChar char="●"/>
            </a:pPr>
            <a:r>
              <a:rPr b="0" i="0" lang="en-US" sz="1600" u="none" cap="none" strike="noStrike">
                <a:solidFill>
                  <a:srgbClr val="141413"/>
                </a:solidFill>
                <a:latin typeface="Calibri"/>
                <a:ea typeface="Calibri"/>
                <a:cs typeface="Calibri"/>
                <a:sym typeface="Calibri"/>
              </a:rPr>
              <a:t>Use plugins when sharing with teams; use standalone for personal workflows and quick iteration</a:t>
            </a:r>
            <a:endParaRPr/>
          </a:p>
          <a:p>
            <a:pPr indent="-330200" lvl="0" marL="457200" marR="0" rtl="0" algn="l">
              <a:lnSpc>
                <a:spcPct val="115000"/>
              </a:lnSpc>
              <a:spcBef>
                <a:spcPts val="0"/>
              </a:spcBef>
              <a:spcAft>
                <a:spcPts val="0"/>
              </a:spcAft>
              <a:buClr>
                <a:srgbClr val="141413"/>
              </a:buClr>
              <a:buSzPts val="1600"/>
              <a:buFont typeface="Calibri"/>
              <a:buChar char="●"/>
            </a:pPr>
            <a:r>
              <a:rPr b="0" i="0" lang="en-US" sz="1600" u="none" cap="none" strike="noStrike">
                <a:solidFill>
                  <a:srgbClr val="141413"/>
                </a:solidFill>
                <a:latin typeface="Calibri"/>
                <a:ea typeface="Calibri"/>
                <a:cs typeface="Calibri"/>
                <a:sym typeface="Calibri"/>
              </a:rPr>
              <a:t>Plugin namespacing (e.g., /plugin-name:command) prevents conflicts between plugins</a:t>
            </a:r>
            <a:endParaRPr/>
          </a:p>
          <a:p>
            <a:pPr indent="-330200" lvl="0" marL="457200" marR="0" rtl="0" algn="l">
              <a:lnSpc>
                <a:spcPct val="115000"/>
              </a:lnSpc>
              <a:spcBef>
                <a:spcPts val="0"/>
              </a:spcBef>
              <a:spcAft>
                <a:spcPts val="0"/>
              </a:spcAft>
              <a:buClr>
                <a:srgbClr val="141413"/>
              </a:buClr>
              <a:buSzPts val="1600"/>
              <a:buFont typeface="Calibri"/>
              <a:buChar char="●"/>
            </a:pPr>
            <a:r>
              <a:rPr b="0" i="0" lang="en-US" sz="1600" u="none" cap="none" strike="noStrike">
                <a:solidFill>
                  <a:srgbClr val="141413"/>
                </a:solidFill>
                <a:latin typeface="Calibri"/>
                <a:ea typeface="Calibri"/>
                <a:cs typeface="Calibri"/>
                <a:sym typeface="Calibri"/>
              </a:rPr>
              <a:t>Start with standalone configurations, then convert to plugins when ready to distribute</a:t>
            </a:r>
            <a:endParaRPr b="0" i="0" sz="1400" u="none" cap="none" strike="noStrike">
              <a:solidFill>
                <a:srgbClr val="000000"/>
              </a:solidFill>
              <a:latin typeface="Arial"/>
              <a:ea typeface="Arial"/>
              <a:cs typeface="Arial"/>
              <a:sym typeface="Arial"/>
            </a:endParaRPr>
          </a:p>
        </p:txBody>
      </p:sp>
      <p:sp>
        <p:nvSpPr>
          <p:cNvPr id="202" name="Google Shape;202;p21"/>
          <p:cNvSpPr/>
          <p:nvPr/>
        </p:nvSpPr>
        <p:spPr>
          <a:xfrm>
            <a:off x="6511636" y="0"/>
            <a:ext cx="2632364" cy="5143500"/>
          </a:xfrm>
          <a:prstGeom prst="rect">
            <a:avLst/>
          </a:prstGeom>
          <a:solidFill>
            <a:srgbClr val="D97757"/>
          </a:solidFill>
          <a:ln cap="flat" cmpd="sng" w="9525">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Key with solid fill" id="203" name="Google Shape;203;p21"/>
          <p:cNvPicPr preferRelativeResize="0"/>
          <p:nvPr/>
        </p:nvPicPr>
        <p:blipFill rotWithShape="1">
          <a:blip r:embed="rId3">
            <a:alphaModFix/>
          </a:blip>
          <a:srcRect b="0" l="0" r="0" t="0"/>
          <a:stretch/>
        </p:blipFill>
        <p:spPr>
          <a:xfrm>
            <a:off x="7370618" y="502920"/>
            <a:ext cx="914400" cy="914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7757"/>
        </a:solidFill>
      </p:bgPr>
    </p:bg>
    <p:spTree>
      <p:nvGrpSpPr>
        <p:cNvPr id="208" name="Shape 208"/>
        <p:cNvGrpSpPr/>
        <p:nvPr/>
      </p:nvGrpSpPr>
      <p:grpSpPr>
        <a:xfrm>
          <a:off x="0" y="0"/>
          <a:ext cx="0" cy="0"/>
          <a:chOff x="0" y="0"/>
          <a:chExt cx="0" cy="0"/>
        </a:xfrm>
      </p:grpSpPr>
      <p:sp>
        <p:nvSpPr>
          <p:cNvPr id="209" name="Google Shape;209;p22"/>
          <p:cNvSpPr txBox="1"/>
          <p:nvPr/>
        </p:nvSpPr>
        <p:spPr>
          <a:xfrm>
            <a:off x="609600" y="655320"/>
            <a:ext cx="5140831" cy="5539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Calibri"/>
                <a:ea typeface="Calibri"/>
                <a:cs typeface="Calibri"/>
                <a:sym typeface="Calibri"/>
              </a:rPr>
              <a:t>Module 2: Plugin Marketplaces</a:t>
            </a:r>
            <a:endParaRPr b="0" i="0" sz="1800" u="none" cap="none" strike="noStrike">
              <a:solidFill>
                <a:schemeClr val="lt1"/>
              </a:solidFill>
              <a:latin typeface="Calibri"/>
              <a:ea typeface="Calibri"/>
              <a:cs typeface="Calibri"/>
              <a:sym typeface="Calibri"/>
            </a:endParaRPr>
          </a:p>
        </p:txBody>
      </p:sp>
      <p:sp>
        <p:nvSpPr>
          <p:cNvPr id="210" name="Google Shape;210;p22"/>
          <p:cNvSpPr txBox="1"/>
          <p:nvPr/>
        </p:nvSpPr>
        <p:spPr>
          <a:xfrm>
            <a:off x="609600" y="1203960"/>
            <a:ext cx="223080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Learning Objectives</a:t>
            </a:r>
            <a:endParaRPr b="0" i="0" sz="1400" u="none" cap="none" strike="noStrike">
              <a:solidFill>
                <a:srgbClr val="000000"/>
              </a:solidFill>
              <a:latin typeface="Arial"/>
              <a:ea typeface="Arial"/>
              <a:cs typeface="Arial"/>
              <a:sym typeface="Arial"/>
            </a:endParaRPr>
          </a:p>
        </p:txBody>
      </p:sp>
      <p:sp>
        <p:nvSpPr>
          <p:cNvPr id="211" name="Google Shape;211;p22"/>
          <p:cNvSpPr txBox="1"/>
          <p:nvPr/>
        </p:nvSpPr>
        <p:spPr>
          <a:xfrm>
            <a:off x="609600" y="1798320"/>
            <a:ext cx="6457217" cy="1308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Explain the purpose of plugin marketplaces in the Claude Code ecosystem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Distinguish between official and community/demo marketplaces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Navigate the plugin discovery interface to find relevant plugins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Evaluate plugin security and trustworthiness before installation</a:t>
            </a:r>
            <a:endParaRPr b="0" i="0" sz="1400" u="none" cap="none" strike="noStrike">
              <a:solidFill>
                <a:srgbClr val="000000"/>
              </a:solidFill>
              <a:latin typeface="Arial"/>
              <a:ea typeface="Arial"/>
              <a:cs typeface="Arial"/>
              <a:sym typeface="Arial"/>
            </a:endParaRPr>
          </a:p>
        </p:txBody>
      </p:sp>
      <p:sp>
        <p:nvSpPr>
          <p:cNvPr id="212" name="Google Shape;212;p22"/>
          <p:cNvSpPr/>
          <p:nvPr/>
        </p:nvSpPr>
        <p:spPr>
          <a:xfrm>
            <a:off x="7467600" y="4541520"/>
            <a:ext cx="1371600" cy="457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 30 minutes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17" name="Shape 217"/>
        <p:cNvGrpSpPr/>
        <p:nvPr/>
      </p:nvGrpSpPr>
      <p:grpSpPr>
        <a:xfrm>
          <a:off x="0" y="0"/>
          <a:ext cx="0" cy="0"/>
          <a:chOff x="0" y="0"/>
          <a:chExt cx="0" cy="0"/>
        </a:xfrm>
      </p:grpSpPr>
      <p:sp>
        <p:nvSpPr>
          <p:cNvPr id="218" name="Google Shape;218;p23"/>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What are Plugin Marketplaces?</a:t>
            </a:r>
            <a:endParaRPr b="0" i="0" sz="1400" u="none" cap="none" strike="noStrike">
              <a:solidFill>
                <a:srgbClr val="000000"/>
              </a:solidFill>
              <a:latin typeface="Arial"/>
              <a:ea typeface="Arial"/>
              <a:cs typeface="Arial"/>
              <a:sym typeface="Arial"/>
            </a:endParaRPr>
          </a:p>
        </p:txBody>
      </p:sp>
      <p:sp>
        <p:nvSpPr>
          <p:cNvPr id="219" name="Google Shape;219;p23"/>
          <p:cNvSpPr txBox="1"/>
          <p:nvPr/>
        </p:nvSpPr>
        <p:spPr>
          <a:xfrm>
            <a:off x="731520" y="1188720"/>
            <a:ext cx="440851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Marketplaces are Catalogs of Plugins</a:t>
            </a:r>
            <a:endParaRPr b="0" i="0" sz="1400" u="none" cap="none" strike="noStrike">
              <a:solidFill>
                <a:srgbClr val="000000"/>
              </a:solidFill>
              <a:latin typeface="Arial"/>
              <a:ea typeface="Arial"/>
              <a:cs typeface="Arial"/>
              <a:sym typeface="Arial"/>
            </a:endParaRPr>
          </a:p>
        </p:txBody>
      </p:sp>
      <p:sp>
        <p:nvSpPr>
          <p:cNvPr id="220" name="Google Shape;220;p23"/>
          <p:cNvSpPr txBox="1"/>
          <p:nvPr/>
        </p:nvSpPr>
        <p:spPr>
          <a:xfrm>
            <a:off x="731519" y="1645920"/>
            <a:ext cx="5759400" cy="1051200"/>
          </a:xfrm>
          <a:prstGeom prst="rect">
            <a:avLst/>
          </a:prstGeom>
          <a:noFill/>
          <a:ln>
            <a:noFill/>
          </a:ln>
        </p:spPr>
        <p:txBody>
          <a:bodyPr anchorCtr="0" anchor="t" bIns="45700" lIns="91425" spcFirstLastPara="1" rIns="91425" wrap="square" tIns="45700">
            <a:spAutoFit/>
          </a:bodyPr>
          <a:lstStyle/>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Centralized discovery: Browse available plugins from multiple authors</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Version tracking: See plugin versions and update history</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Automatic updates: Get notified when new versions are available</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Multiple sources: Support for git repositories, local paths, and more</a:t>
            </a:r>
            <a:endParaRPr b="0" i="0" sz="1400" u="none" cap="none" strike="noStrike">
              <a:solidFill>
                <a:srgbClr val="000000"/>
              </a:solidFill>
              <a:latin typeface="Arial"/>
              <a:ea typeface="Arial"/>
              <a:cs typeface="Arial"/>
              <a:sym typeface="Arial"/>
            </a:endParaRPr>
          </a:p>
        </p:txBody>
      </p:sp>
      <p:sp>
        <p:nvSpPr>
          <p:cNvPr id="221" name="Google Shape;221;p23"/>
          <p:cNvSpPr txBox="1"/>
          <p:nvPr/>
        </p:nvSpPr>
        <p:spPr>
          <a:xfrm>
            <a:off x="731520" y="2840663"/>
            <a:ext cx="440851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Two-Step Process</a:t>
            </a:r>
            <a:endParaRPr b="0" i="0" sz="1400" u="none" cap="none" strike="noStrike">
              <a:solidFill>
                <a:srgbClr val="000000"/>
              </a:solidFill>
              <a:latin typeface="Arial"/>
              <a:ea typeface="Arial"/>
              <a:cs typeface="Arial"/>
              <a:sym typeface="Arial"/>
            </a:endParaRPr>
          </a:p>
        </p:txBody>
      </p:sp>
      <p:sp>
        <p:nvSpPr>
          <p:cNvPr id="222" name="Google Shape;222;p23"/>
          <p:cNvSpPr txBox="1"/>
          <p:nvPr/>
        </p:nvSpPr>
        <p:spPr>
          <a:xfrm>
            <a:off x="731519" y="3297863"/>
            <a:ext cx="5759335" cy="523220"/>
          </a:xfrm>
          <a:prstGeom prst="rect">
            <a:avLst/>
          </a:prstGeom>
          <a:noFill/>
          <a:ln>
            <a:noFill/>
          </a:ln>
        </p:spPr>
        <p:txBody>
          <a:bodyPr anchorCtr="0" anchor="t" bIns="45700" lIns="91425" spcFirstLastPara="1" rIns="91425" wrap="square" tIns="45700">
            <a:spAutoFit/>
          </a:bodyPr>
          <a:lstStyle/>
          <a:p>
            <a:pPr indent="-317500" lvl="0" marL="457200" marR="0" rtl="0" algn="l">
              <a:lnSpc>
                <a:spcPct val="100000"/>
              </a:lnSpc>
              <a:spcBef>
                <a:spcPts val="0"/>
              </a:spcBef>
              <a:spcAft>
                <a:spcPts val="0"/>
              </a:spcAft>
              <a:buClr>
                <a:srgbClr val="141413"/>
              </a:buClr>
              <a:buSzPts val="1400"/>
              <a:buFont typeface="Calibri"/>
              <a:buAutoNum type="arabicPeriod"/>
            </a:pPr>
            <a:r>
              <a:rPr b="0" i="0" lang="en-US" sz="1400" u="none" cap="none" strike="noStrike">
                <a:solidFill>
                  <a:srgbClr val="141413"/>
                </a:solidFill>
                <a:latin typeface="Calibri"/>
                <a:ea typeface="Calibri"/>
                <a:cs typeface="Calibri"/>
                <a:sym typeface="Calibri"/>
              </a:rPr>
              <a:t>Add the marketplace (registers the catalog).</a:t>
            </a:r>
            <a:endParaRPr/>
          </a:p>
          <a:p>
            <a:pPr indent="-317500" lvl="0" marL="457200" marR="0" rtl="0" algn="l">
              <a:lnSpc>
                <a:spcPct val="100000"/>
              </a:lnSpc>
              <a:spcBef>
                <a:spcPts val="0"/>
              </a:spcBef>
              <a:spcAft>
                <a:spcPts val="0"/>
              </a:spcAft>
              <a:buClr>
                <a:srgbClr val="141413"/>
              </a:buClr>
              <a:buSzPts val="1400"/>
              <a:buFont typeface="Calibri"/>
              <a:buAutoNum type="arabicPeriod"/>
            </a:pPr>
            <a:r>
              <a:rPr b="0" i="0" lang="en-US" sz="1400" u="none" cap="none" strike="noStrike">
                <a:solidFill>
                  <a:srgbClr val="141413"/>
                </a:solidFill>
                <a:latin typeface="Calibri"/>
                <a:ea typeface="Calibri"/>
                <a:cs typeface="Calibri"/>
                <a:sym typeface="Calibri"/>
              </a:rPr>
              <a:t>Install individual plugins you want.</a:t>
            </a:r>
            <a:endParaRPr b="0" i="0" sz="1400" u="none" cap="none" strike="noStrike">
              <a:solidFill>
                <a:srgbClr val="000000"/>
              </a:solidFill>
              <a:latin typeface="Arial"/>
              <a:ea typeface="Arial"/>
              <a:cs typeface="Arial"/>
              <a:sym typeface="Arial"/>
            </a:endParaRPr>
          </a:p>
        </p:txBody>
      </p:sp>
      <p:sp>
        <p:nvSpPr>
          <p:cNvPr id="223" name="Google Shape;223;p23"/>
          <p:cNvSpPr/>
          <p:nvPr/>
        </p:nvSpPr>
        <p:spPr>
          <a:xfrm>
            <a:off x="6906491" y="1330036"/>
            <a:ext cx="1780308" cy="3059084"/>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Calibri"/>
                <a:ea typeface="Calibri"/>
                <a:cs typeface="Calibri"/>
                <a:sym typeface="Calibri"/>
              </a:rPr>
              <a:t>Think of it like adding an app store: adding the store lets you browse, but you choose which apps to install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28" name="Shape 228"/>
        <p:cNvGrpSpPr/>
        <p:nvPr/>
      </p:nvGrpSpPr>
      <p:grpSpPr>
        <a:xfrm>
          <a:off x="0" y="0"/>
          <a:ext cx="0" cy="0"/>
          <a:chOff x="0" y="0"/>
          <a:chExt cx="0" cy="0"/>
        </a:xfrm>
      </p:grpSpPr>
      <p:sp>
        <p:nvSpPr>
          <p:cNvPr id="229" name="Google Shape;229;p24"/>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The Plugin Manager Interface</a:t>
            </a:r>
            <a:endParaRPr b="0" i="0" sz="1400" u="none" cap="none" strike="noStrike">
              <a:solidFill>
                <a:srgbClr val="000000"/>
              </a:solidFill>
              <a:latin typeface="Arial"/>
              <a:ea typeface="Arial"/>
              <a:cs typeface="Arial"/>
              <a:sym typeface="Arial"/>
            </a:endParaRPr>
          </a:p>
        </p:txBody>
      </p:sp>
      <p:sp>
        <p:nvSpPr>
          <p:cNvPr id="230" name="Google Shape;230;p24"/>
          <p:cNvSpPr txBox="1"/>
          <p:nvPr/>
        </p:nvSpPr>
        <p:spPr>
          <a:xfrm>
            <a:off x="731520" y="1097280"/>
            <a:ext cx="7680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rgbClr val="36454F"/>
                </a:solidFill>
                <a:latin typeface="Calibri"/>
                <a:ea typeface="Calibri"/>
                <a:cs typeface="Calibri"/>
                <a:sym typeface="Calibri"/>
              </a:rPr>
              <a:t>Access with </a:t>
            </a:r>
            <a:r>
              <a:rPr b="1" lang="en-US" sz="1800" u="none" cap="none" strike="noStrike">
                <a:solidFill>
                  <a:srgbClr val="36454F"/>
                </a:solidFill>
                <a:latin typeface="Calibri"/>
                <a:ea typeface="Calibri"/>
                <a:cs typeface="Calibri"/>
                <a:sym typeface="Calibri"/>
              </a:rPr>
              <a:t>/plugin</a:t>
            </a:r>
            <a:r>
              <a:rPr b="0" lang="en-US" sz="1800" u="none" cap="none" strike="noStrike">
                <a:solidFill>
                  <a:srgbClr val="36454F"/>
                </a:solidFill>
                <a:latin typeface="Calibri"/>
                <a:ea typeface="Calibri"/>
                <a:cs typeface="Calibri"/>
                <a:sym typeface="Calibri"/>
              </a:rPr>
              <a:t> command</a:t>
            </a:r>
            <a:endParaRPr b="0" sz="1400" u="none" cap="none" strike="noStrike">
              <a:solidFill>
                <a:srgbClr val="000000"/>
              </a:solidFill>
              <a:latin typeface="Arial"/>
              <a:ea typeface="Arial"/>
              <a:cs typeface="Arial"/>
              <a:sym typeface="Arial"/>
            </a:endParaRPr>
          </a:p>
        </p:txBody>
      </p:sp>
      <p:sp>
        <p:nvSpPr>
          <p:cNvPr id="231" name="Google Shape;231;p24"/>
          <p:cNvSpPr/>
          <p:nvPr/>
        </p:nvSpPr>
        <p:spPr>
          <a:xfrm>
            <a:off x="914400" y="1737360"/>
            <a:ext cx="7315200" cy="640080"/>
          </a:xfrm>
          <a:prstGeom prst="rect">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2" name="Google Shape;232;p24"/>
          <p:cNvSpPr txBox="1"/>
          <p:nvPr/>
        </p:nvSpPr>
        <p:spPr>
          <a:xfrm>
            <a:off x="1097280" y="1828800"/>
            <a:ext cx="18288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6A9BCC"/>
                </a:solidFill>
                <a:latin typeface="Calibri"/>
                <a:ea typeface="Calibri"/>
                <a:cs typeface="Calibri"/>
                <a:sym typeface="Calibri"/>
              </a:rPr>
              <a:t>Discover</a:t>
            </a:r>
            <a:endParaRPr b="0" i="0" sz="1400" u="none" cap="none" strike="noStrike">
              <a:solidFill>
                <a:srgbClr val="000000"/>
              </a:solidFill>
              <a:latin typeface="Arial"/>
              <a:ea typeface="Arial"/>
              <a:cs typeface="Arial"/>
              <a:sym typeface="Arial"/>
            </a:endParaRPr>
          </a:p>
        </p:txBody>
      </p:sp>
      <p:sp>
        <p:nvSpPr>
          <p:cNvPr id="233" name="Google Shape;233;p24"/>
          <p:cNvSpPr txBox="1"/>
          <p:nvPr/>
        </p:nvSpPr>
        <p:spPr>
          <a:xfrm>
            <a:off x="3017520" y="1828800"/>
            <a:ext cx="5029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41413"/>
                </a:solidFill>
                <a:latin typeface="Calibri"/>
                <a:ea typeface="Calibri"/>
                <a:cs typeface="Calibri"/>
                <a:sym typeface="Calibri"/>
              </a:rPr>
              <a:t>Browse available plugins from all your marketplaces</a:t>
            </a:r>
            <a:endParaRPr b="0" i="0" sz="1400" u="none" cap="none" strike="noStrike">
              <a:solidFill>
                <a:srgbClr val="000000"/>
              </a:solidFill>
              <a:latin typeface="Arial"/>
              <a:ea typeface="Arial"/>
              <a:cs typeface="Arial"/>
              <a:sym typeface="Arial"/>
            </a:endParaRPr>
          </a:p>
        </p:txBody>
      </p:sp>
      <p:sp>
        <p:nvSpPr>
          <p:cNvPr id="234" name="Google Shape;234;p24"/>
          <p:cNvSpPr/>
          <p:nvPr/>
        </p:nvSpPr>
        <p:spPr>
          <a:xfrm>
            <a:off x="914400" y="2514600"/>
            <a:ext cx="7315200" cy="640080"/>
          </a:xfrm>
          <a:prstGeom prst="rect">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5" name="Google Shape;235;p24"/>
          <p:cNvSpPr txBox="1"/>
          <p:nvPr/>
        </p:nvSpPr>
        <p:spPr>
          <a:xfrm>
            <a:off x="1097280" y="2606040"/>
            <a:ext cx="18288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6A9BCC"/>
                </a:solidFill>
                <a:latin typeface="Calibri"/>
                <a:ea typeface="Calibri"/>
                <a:cs typeface="Calibri"/>
                <a:sym typeface="Calibri"/>
              </a:rPr>
              <a:t>Installed</a:t>
            </a:r>
            <a:endParaRPr b="0" i="0" sz="1400" u="none" cap="none" strike="noStrike">
              <a:solidFill>
                <a:srgbClr val="000000"/>
              </a:solidFill>
              <a:latin typeface="Arial"/>
              <a:ea typeface="Arial"/>
              <a:cs typeface="Arial"/>
              <a:sym typeface="Arial"/>
            </a:endParaRPr>
          </a:p>
        </p:txBody>
      </p:sp>
      <p:sp>
        <p:nvSpPr>
          <p:cNvPr id="236" name="Google Shape;236;p24"/>
          <p:cNvSpPr txBox="1"/>
          <p:nvPr/>
        </p:nvSpPr>
        <p:spPr>
          <a:xfrm>
            <a:off x="3017520" y="2606040"/>
            <a:ext cx="5029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41413"/>
                </a:solidFill>
                <a:latin typeface="Calibri"/>
                <a:ea typeface="Calibri"/>
                <a:cs typeface="Calibri"/>
                <a:sym typeface="Calibri"/>
              </a:rPr>
              <a:t>View and manage your installed plugins</a:t>
            </a:r>
            <a:endParaRPr b="0" i="0" sz="1400" u="none" cap="none" strike="noStrike">
              <a:solidFill>
                <a:srgbClr val="000000"/>
              </a:solidFill>
              <a:latin typeface="Arial"/>
              <a:ea typeface="Arial"/>
              <a:cs typeface="Arial"/>
              <a:sym typeface="Arial"/>
            </a:endParaRPr>
          </a:p>
        </p:txBody>
      </p:sp>
      <p:sp>
        <p:nvSpPr>
          <p:cNvPr id="237" name="Google Shape;237;p24"/>
          <p:cNvSpPr/>
          <p:nvPr/>
        </p:nvSpPr>
        <p:spPr>
          <a:xfrm>
            <a:off x="914400" y="3291840"/>
            <a:ext cx="7315200" cy="640080"/>
          </a:xfrm>
          <a:prstGeom prst="rect">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8" name="Google Shape;238;p24"/>
          <p:cNvSpPr txBox="1"/>
          <p:nvPr/>
        </p:nvSpPr>
        <p:spPr>
          <a:xfrm>
            <a:off x="1097280" y="3383280"/>
            <a:ext cx="18288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6A9BCC"/>
                </a:solidFill>
                <a:latin typeface="Calibri"/>
                <a:ea typeface="Calibri"/>
                <a:cs typeface="Calibri"/>
                <a:sym typeface="Calibri"/>
              </a:rPr>
              <a:t>Marketplaces</a:t>
            </a:r>
            <a:endParaRPr b="0" i="0" sz="1400" u="none" cap="none" strike="noStrike">
              <a:solidFill>
                <a:srgbClr val="000000"/>
              </a:solidFill>
              <a:latin typeface="Arial"/>
              <a:ea typeface="Arial"/>
              <a:cs typeface="Arial"/>
              <a:sym typeface="Arial"/>
            </a:endParaRPr>
          </a:p>
        </p:txBody>
      </p:sp>
      <p:sp>
        <p:nvSpPr>
          <p:cNvPr id="239" name="Google Shape;239;p24"/>
          <p:cNvSpPr txBox="1"/>
          <p:nvPr/>
        </p:nvSpPr>
        <p:spPr>
          <a:xfrm>
            <a:off x="3017520" y="3383280"/>
            <a:ext cx="5029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41413"/>
                </a:solidFill>
                <a:latin typeface="Calibri"/>
                <a:ea typeface="Calibri"/>
                <a:cs typeface="Calibri"/>
                <a:sym typeface="Calibri"/>
              </a:rPr>
              <a:t>Add, remove, or update your added marketplaces</a:t>
            </a:r>
            <a:endParaRPr b="0" i="0" sz="1400" u="none" cap="none" strike="noStrike">
              <a:solidFill>
                <a:srgbClr val="000000"/>
              </a:solidFill>
              <a:latin typeface="Arial"/>
              <a:ea typeface="Arial"/>
              <a:cs typeface="Arial"/>
              <a:sym typeface="Arial"/>
            </a:endParaRPr>
          </a:p>
        </p:txBody>
      </p:sp>
      <p:sp>
        <p:nvSpPr>
          <p:cNvPr id="240" name="Google Shape;240;p24"/>
          <p:cNvSpPr/>
          <p:nvPr/>
        </p:nvSpPr>
        <p:spPr>
          <a:xfrm>
            <a:off x="914400" y="4069080"/>
            <a:ext cx="7315200" cy="640080"/>
          </a:xfrm>
          <a:prstGeom prst="rect">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1" name="Google Shape;241;p24"/>
          <p:cNvSpPr txBox="1"/>
          <p:nvPr/>
        </p:nvSpPr>
        <p:spPr>
          <a:xfrm>
            <a:off x="1097280" y="4160520"/>
            <a:ext cx="18288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6A9BCC"/>
                </a:solidFill>
                <a:latin typeface="Calibri"/>
                <a:ea typeface="Calibri"/>
                <a:cs typeface="Calibri"/>
                <a:sym typeface="Calibri"/>
              </a:rPr>
              <a:t>Errors</a:t>
            </a:r>
            <a:endParaRPr b="0" i="0" sz="1400" u="none" cap="none" strike="noStrike">
              <a:solidFill>
                <a:srgbClr val="000000"/>
              </a:solidFill>
              <a:latin typeface="Arial"/>
              <a:ea typeface="Arial"/>
              <a:cs typeface="Arial"/>
              <a:sym typeface="Arial"/>
            </a:endParaRPr>
          </a:p>
        </p:txBody>
      </p:sp>
      <p:sp>
        <p:nvSpPr>
          <p:cNvPr id="242" name="Google Shape;242;p24"/>
          <p:cNvSpPr txBox="1"/>
          <p:nvPr/>
        </p:nvSpPr>
        <p:spPr>
          <a:xfrm>
            <a:off x="3017520" y="4160520"/>
            <a:ext cx="5029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41413"/>
                </a:solidFill>
                <a:latin typeface="Calibri"/>
                <a:ea typeface="Calibri"/>
                <a:cs typeface="Calibri"/>
                <a:sym typeface="Calibri"/>
              </a:rPr>
              <a:t>View any plugin loading errors</a:t>
            </a:r>
            <a:endParaRPr b="0" i="0" sz="1400" u="none" cap="none" strike="noStrike">
              <a:solidFill>
                <a:srgbClr val="000000"/>
              </a:solidFill>
              <a:latin typeface="Arial"/>
              <a:ea typeface="Arial"/>
              <a:cs typeface="Arial"/>
              <a:sym typeface="Arial"/>
            </a:endParaRPr>
          </a:p>
        </p:txBody>
      </p:sp>
      <p:pic>
        <p:nvPicPr>
          <p:cNvPr descr="preencoded.png" id="243" name="Google Shape;243;p24"/>
          <p:cNvPicPr preferRelativeResize="0"/>
          <p:nvPr/>
        </p:nvPicPr>
        <p:blipFill rotWithShape="1">
          <a:blip r:embed="rId3">
            <a:alphaModFix/>
          </a:blip>
          <a:srcRect b="0" l="0" r="0" t="0"/>
          <a:stretch/>
        </p:blipFill>
        <p:spPr>
          <a:xfrm>
            <a:off x="7477298" y="1808018"/>
            <a:ext cx="498764" cy="498764"/>
          </a:xfrm>
          <a:prstGeom prst="rect">
            <a:avLst/>
          </a:prstGeom>
          <a:noFill/>
          <a:ln>
            <a:noFill/>
          </a:ln>
        </p:spPr>
      </p:pic>
      <p:pic>
        <p:nvPicPr>
          <p:cNvPr descr="preencoded.png" id="244" name="Google Shape;244;p24"/>
          <p:cNvPicPr preferRelativeResize="0"/>
          <p:nvPr/>
        </p:nvPicPr>
        <p:blipFill rotWithShape="1">
          <a:blip r:embed="rId4">
            <a:alphaModFix/>
          </a:blip>
          <a:srcRect b="0" l="0" r="0" t="0"/>
          <a:stretch/>
        </p:blipFill>
        <p:spPr>
          <a:xfrm>
            <a:off x="7499969" y="2607929"/>
            <a:ext cx="453422" cy="453422"/>
          </a:xfrm>
          <a:prstGeom prst="rect">
            <a:avLst/>
          </a:prstGeom>
          <a:solidFill>
            <a:srgbClr val="FAF9F5"/>
          </a:solidFill>
          <a:ln>
            <a:noFill/>
          </a:ln>
        </p:spPr>
      </p:pic>
      <p:pic>
        <p:nvPicPr>
          <p:cNvPr descr="preencoded.png" id="245" name="Google Shape;245;p24"/>
          <p:cNvPicPr preferRelativeResize="0"/>
          <p:nvPr/>
        </p:nvPicPr>
        <p:blipFill rotWithShape="1">
          <a:blip r:embed="rId5">
            <a:alphaModFix/>
          </a:blip>
          <a:srcRect b="0" l="0" r="0" t="0"/>
          <a:stretch/>
        </p:blipFill>
        <p:spPr>
          <a:xfrm>
            <a:off x="7499969" y="3385169"/>
            <a:ext cx="453422" cy="453422"/>
          </a:xfrm>
          <a:prstGeom prst="rect">
            <a:avLst/>
          </a:prstGeom>
          <a:solidFill>
            <a:srgbClr val="FAF9F5"/>
          </a:solidFill>
          <a:ln>
            <a:noFill/>
          </a:ln>
        </p:spPr>
      </p:pic>
      <p:pic>
        <p:nvPicPr>
          <p:cNvPr descr="preencoded.png" id="246" name="Google Shape;246;p24"/>
          <p:cNvPicPr preferRelativeResize="0"/>
          <p:nvPr/>
        </p:nvPicPr>
        <p:blipFill rotWithShape="1">
          <a:blip r:embed="rId6">
            <a:alphaModFix/>
          </a:blip>
          <a:srcRect b="0" l="0" r="0" t="0"/>
          <a:stretch/>
        </p:blipFill>
        <p:spPr>
          <a:xfrm>
            <a:off x="7499969" y="4162409"/>
            <a:ext cx="453422" cy="453422"/>
          </a:xfrm>
          <a:prstGeom prst="rect">
            <a:avLst/>
          </a:prstGeom>
          <a:solidFill>
            <a:srgbClr val="FAF9F5"/>
          </a:solid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51" name="Shape 251"/>
        <p:cNvGrpSpPr/>
        <p:nvPr/>
      </p:nvGrpSpPr>
      <p:grpSpPr>
        <a:xfrm>
          <a:off x="0" y="0"/>
          <a:ext cx="0" cy="0"/>
          <a:chOff x="0" y="0"/>
          <a:chExt cx="0" cy="0"/>
        </a:xfrm>
      </p:grpSpPr>
      <p:sp>
        <p:nvSpPr>
          <p:cNvPr id="252" name="Google Shape;252;p25"/>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Security and Trust Considerations</a:t>
            </a:r>
            <a:endParaRPr b="0" i="0" sz="1400" u="none" cap="none" strike="noStrike">
              <a:solidFill>
                <a:srgbClr val="000000"/>
              </a:solidFill>
              <a:latin typeface="Arial"/>
              <a:ea typeface="Arial"/>
              <a:cs typeface="Arial"/>
              <a:sym typeface="Arial"/>
            </a:endParaRPr>
          </a:p>
        </p:txBody>
      </p:sp>
      <p:sp>
        <p:nvSpPr>
          <p:cNvPr id="253" name="Google Shape;253;p25"/>
          <p:cNvSpPr/>
          <p:nvPr/>
        </p:nvSpPr>
        <p:spPr>
          <a:xfrm>
            <a:off x="914400" y="4293658"/>
            <a:ext cx="7315200" cy="480900"/>
          </a:xfrm>
          <a:prstGeom prst="roundRect">
            <a:avLst>
              <a:gd fmla="val 16667" name="adj"/>
            </a:avLst>
          </a:prstGeom>
          <a:solidFill>
            <a:srgbClr val="D97757"/>
          </a:solidFill>
          <a:ln cap="flat" cmpd="sng" w="25400">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41413"/>
                </a:solidFill>
                <a:latin typeface="Calibri"/>
                <a:ea typeface="Calibri"/>
                <a:cs typeface="Calibri"/>
                <a:sym typeface="Calibri"/>
              </a:rPr>
              <a:t>⚠️ Important: Anthropic does not control what MCP servers, files, or software are included in plugins</a:t>
            </a:r>
            <a:endParaRPr b="0" i="0" sz="1400" u="none" cap="none" strike="noStrike">
              <a:solidFill>
                <a:srgbClr val="000000"/>
              </a:solidFill>
              <a:latin typeface="Arial"/>
              <a:ea typeface="Arial"/>
              <a:cs typeface="Arial"/>
              <a:sym typeface="Arial"/>
            </a:endParaRPr>
          </a:p>
        </p:txBody>
      </p:sp>
      <p:sp>
        <p:nvSpPr>
          <p:cNvPr id="254" name="Google Shape;254;p25"/>
          <p:cNvSpPr txBox="1"/>
          <p:nvPr/>
        </p:nvSpPr>
        <p:spPr>
          <a:xfrm>
            <a:off x="731520" y="1154083"/>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Before Installing Any Plugin</a:t>
            </a:r>
            <a:endParaRPr b="0" i="0" sz="1400" u="none" cap="none" strike="noStrike">
              <a:solidFill>
                <a:srgbClr val="000000"/>
              </a:solidFill>
              <a:latin typeface="Arial"/>
              <a:ea typeface="Arial"/>
              <a:cs typeface="Arial"/>
              <a:sym typeface="Arial"/>
            </a:endParaRPr>
          </a:p>
        </p:txBody>
      </p:sp>
      <p:sp>
        <p:nvSpPr>
          <p:cNvPr id="255" name="Google Shape;255;p25"/>
          <p:cNvSpPr txBox="1"/>
          <p:nvPr/>
        </p:nvSpPr>
        <p:spPr>
          <a:xfrm>
            <a:off x="731520" y="1611283"/>
            <a:ext cx="7680900" cy="1051200"/>
          </a:xfrm>
          <a:prstGeom prst="rect">
            <a:avLst/>
          </a:prstGeom>
          <a:noFill/>
          <a:ln>
            <a:noFill/>
          </a:ln>
        </p:spPr>
        <p:txBody>
          <a:bodyPr anchorCtr="0" anchor="t" bIns="45700" lIns="91425" spcFirstLastPara="1" rIns="91425" wrap="square" tIns="45700">
            <a:spAutoFit/>
          </a:bodyPr>
          <a:lstStyle/>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Check the plugin's homepage for information about functionality</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Review the plugin author and source repository if available</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Understand what the plugin does before installing</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Be cautious with plugins from unknown authors</a:t>
            </a:r>
            <a:endParaRPr b="0" i="0" sz="1400" u="none" cap="none" strike="noStrike">
              <a:solidFill>
                <a:srgbClr val="000000"/>
              </a:solidFill>
              <a:latin typeface="Arial"/>
              <a:ea typeface="Arial"/>
              <a:cs typeface="Arial"/>
              <a:sym typeface="Arial"/>
            </a:endParaRPr>
          </a:p>
        </p:txBody>
      </p:sp>
      <p:sp>
        <p:nvSpPr>
          <p:cNvPr id="256" name="Google Shape;256;p25"/>
          <p:cNvSpPr txBox="1"/>
          <p:nvPr/>
        </p:nvSpPr>
        <p:spPr>
          <a:xfrm>
            <a:off x="731520" y="2845165"/>
            <a:ext cx="7680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Official vs Community Marketplaces</a:t>
            </a:r>
            <a:endParaRPr b="0" i="0" sz="1400" u="none" cap="none" strike="noStrike">
              <a:solidFill>
                <a:srgbClr val="000000"/>
              </a:solidFill>
              <a:latin typeface="Arial"/>
              <a:ea typeface="Arial"/>
              <a:cs typeface="Arial"/>
              <a:sym typeface="Arial"/>
            </a:endParaRPr>
          </a:p>
        </p:txBody>
      </p:sp>
      <p:sp>
        <p:nvSpPr>
          <p:cNvPr id="257" name="Google Shape;257;p25"/>
          <p:cNvSpPr txBox="1"/>
          <p:nvPr/>
        </p:nvSpPr>
        <p:spPr>
          <a:xfrm>
            <a:off x="731520" y="3302365"/>
            <a:ext cx="7680900" cy="803400"/>
          </a:xfrm>
          <a:prstGeom prst="rect">
            <a:avLst/>
          </a:prstGeom>
          <a:noFill/>
          <a:ln>
            <a:noFill/>
          </a:ln>
        </p:spPr>
        <p:txBody>
          <a:bodyPr anchorCtr="0" anchor="t" bIns="45700" lIns="91425" spcFirstLastPara="1" rIns="91425" wrap="square" tIns="45700">
            <a:spAutoFit/>
          </a:bodyPr>
          <a:lstStyle/>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Official: claude-plugins-official (curated by Anthropic)</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Demo: anthropics/claude-code (examples and experimental)</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Community: third-party marketplaces (trust varies)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62" name="Shape 262"/>
        <p:cNvGrpSpPr/>
        <p:nvPr/>
      </p:nvGrpSpPr>
      <p:grpSpPr>
        <a:xfrm>
          <a:off x="0" y="0"/>
          <a:ext cx="0" cy="0"/>
          <a:chOff x="0" y="0"/>
          <a:chExt cx="0" cy="0"/>
        </a:xfrm>
      </p:grpSpPr>
      <p:sp>
        <p:nvSpPr>
          <p:cNvPr id="263" name="Google Shape;263;p26"/>
          <p:cNvSpPr/>
          <p:nvPr/>
        </p:nvSpPr>
        <p:spPr>
          <a:xfrm>
            <a:off x="0" y="0"/>
            <a:ext cx="2632364" cy="5143500"/>
          </a:xfrm>
          <a:prstGeom prst="rect">
            <a:avLst/>
          </a:prstGeom>
          <a:solidFill>
            <a:srgbClr val="788C5D"/>
          </a:solidFill>
          <a:ln cap="flat" cmpd="sng" w="9525">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4" name="Google Shape;264;p26"/>
          <p:cNvSpPr txBox="1"/>
          <p:nvPr/>
        </p:nvSpPr>
        <p:spPr>
          <a:xfrm>
            <a:off x="278911" y="3079865"/>
            <a:ext cx="2074542" cy="15696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Module 2:</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Knowledge</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Check</a:t>
            </a:r>
            <a:endParaRPr b="0" i="0" sz="1400" u="none" cap="none" strike="noStrike">
              <a:solidFill>
                <a:srgbClr val="000000"/>
              </a:solidFill>
              <a:latin typeface="Arial"/>
              <a:ea typeface="Arial"/>
              <a:cs typeface="Arial"/>
              <a:sym typeface="Arial"/>
            </a:endParaRPr>
          </a:p>
        </p:txBody>
      </p:sp>
      <p:pic>
        <p:nvPicPr>
          <p:cNvPr descr="Brain with solid fill" id="265" name="Google Shape;265;p26"/>
          <p:cNvPicPr preferRelativeResize="0"/>
          <p:nvPr/>
        </p:nvPicPr>
        <p:blipFill rotWithShape="1">
          <a:blip r:embed="rId3">
            <a:alphaModFix/>
          </a:blip>
          <a:srcRect b="0" l="0" r="0" t="0"/>
          <a:stretch/>
        </p:blipFill>
        <p:spPr>
          <a:xfrm>
            <a:off x="969818" y="2376055"/>
            <a:ext cx="703810" cy="703810"/>
          </a:xfrm>
          <a:prstGeom prst="rect">
            <a:avLst/>
          </a:prstGeom>
          <a:noFill/>
          <a:ln>
            <a:noFill/>
          </a:ln>
        </p:spPr>
      </p:pic>
      <p:sp>
        <p:nvSpPr>
          <p:cNvPr id="266" name="Google Shape;266;p26"/>
          <p:cNvSpPr txBox="1"/>
          <p:nvPr/>
        </p:nvSpPr>
        <p:spPr>
          <a:xfrm>
            <a:off x="3129308" y="834391"/>
            <a:ext cx="531890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What command opens the plugin manager interface in Claude Code?</a:t>
            </a:r>
            <a:endParaRPr b="0" i="0" sz="1400" u="none" cap="none" strike="noStrike">
              <a:solidFill>
                <a:srgbClr val="000000"/>
              </a:solidFill>
              <a:latin typeface="Arial"/>
              <a:ea typeface="Arial"/>
              <a:cs typeface="Arial"/>
              <a:sym typeface="Arial"/>
            </a:endParaRPr>
          </a:p>
        </p:txBody>
      </p:sp>
      <p:sp>
        <p:nvSpPr>
          <p:cNvPr id="267" name="Google Shape;267;p26"/>
          <p:cNvSpPr txBox="1"/>
          <p:nvPr/>
        </p:nvSpPr>
        <p:spPr>
          <a:xfrm>
            <a:off x="3312188" y="1291591"/>
            <a:ext cx="518757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A) /plugins</a:t>
            </a:r>
            <a:endParaRPr i="0" sz="1400" u="none" cap="none" strike="noStrike">
              <a:solidFill>
                <a:schemeClr val="dk1"/>
              </a:solidFill>
            </a:endParaRPr>
          </a:p>
        </p:txBody>
      </p:sp>
      <p:sp>
        <p:nvSpPr>
          <p:cNvPr id="268" name="Google Shape;268;p26"/>
          <p:cNvSpPr txBox="1"/>
          <p:nvPr/>
        </p:nvSpPr>
        <p:spPr>
          <a:xfrm>
            <a:off x="3312188" y="1565911"/>
            <a:ext cx="518757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B) /plugin</a:t>
            </a:r>
            <a:endParaRPr i="0" sz="1400" u="none" cap="none" strike="noStrike">
              <a:solidFill>
                <a:schemeClr val="dk1"/>
              </a:solidFill>
            </a:endParaRPr>
          </a:p>
        </p:txBody>
      </p:sp>
      <p:sp>
        <p:nvSpPr>
          <p:cNvPr id="269" name="Google Shape;269;p26"/>
          <p:cNvSpPr txBox="1"/>
          <p:nvPr/>
        </p:nvSpPr>
        <p:spPr>
          <a:xfrm>
            <a:off x="3312188" y="1840230"/>
            <a:ext cx="518757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C) /marketplace</a:t>
            </a:r>
            <a:endParaRPr i="0" sz="1400" u="none" cap="none" strike="noStrike">
              <a:solidFill>
                <a:schemeClr val="dk1"/>
              </a:solidFill>
            </a:endParaRPr>
          </a:p>
        </p:txBody>
      </p:sp>
      <p:sp>
        <p:nvSpPr>
          <p:cNvPr id="270" name="Google Shape;270;p26"/>
          <p:cNvSpPr txBox="1"/>
          <p:nvPr/>
        </p:nvSpPr>
        <p:spPr>
          <a:xfrm>
            <a:off x="3312188" y="2114550"/>
            <a:ext cx="518757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D) /discover</a:t>
            </a:r>
            <a:endParaRPr i="0" sz="1400" u="none" cap="none" strike="noStrike">
              <a:solidFill>
                <a:schemeClr val="dk1"/>
              </a:solidFill>
            </a:endParaRPr>
          </a:p>
        </p:txBody>
      </p:sp>
      <p:sp>
        <p:nvSpPr>
          <p:cNvPr id="271" name="Google Shape;271;p26"/>
          <p:cNvSpPr txBox="1"/>
          <p:nvPr/>
        </p:nvSpPr>
        <p:spPr>
          <a:xfrm>
            <a:off x="3129308" y="2571750"/>
            <a:ext cx="531890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Which tab shows plugins available for installation?</a:t>
            </a:r>
            <a:endParaRPr b="0" i="0" sz="1400" u="none" cap="none" strike="noStrike">
              <a:solidFill>
                <a:srgbClr val="000000"/>
              </a:solidFill>
              <a:latin typeface="Arial"/>
              <a:ea typeface="Arial"/>
              <a:cs typeface="Arial"/>
              <a:sym typeface="Arial"/>
            </a:endParaRPr>
          </a:p>
        </p:txBody>
      </p:sp>
      <p:sp>
        <p:nvSpPr>
          <p:cNvPr id="272" name="Google Shape;272;p26"/>
          <p:cNvSpPr txBox="1"/>
          <p:nvPr/>
        </p:nvSpPr>
        <p:spPr>
          <a:xfrm>
            <a:off x="3312188" y="3028950"/>
            <a:ext cx="518757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A) Installed</a:t>
            </a:r>
            <a:endParaRPr i="0" sz="1400" u="none" cap="none" strike="noStrike">
              <a:solidFill>
                <a:schemeClr val="dk1"/>
              </a:solidFill>
            </a:endParaRPr>
          </a:p>
        </p:txBody>
      </p:sp>
      <p:sp>
        <p:nvSpPr>
          <p:cNvPr id="273" name="Google Shape;273;p26"/>
          <p:cNvSpPr txBox="1"/>
          <p:nvPr/>
        </p:nvSpPr>
        <p:spPr>
          <a:xfrm>
            <a:off x="3312188" y="3303270"/>
            <a:ext cx="518757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B) Marketplaces</a:t>
            </a:r>
            <a:endParaRPr i="0" sz="1400" u="none" cap="none" strike="noStrike">
              <a:solidFill>
                <a:schemeClr val="dk1"/>
              </a:solidFill>
            </a:endParaRPr>
          </a:p>
        </p:txBody>
      </p:sp>
      <p:sp>
        <p:nvSpPr>
          <p:cNvPr id="274" name="Google Shape;274;p26"/>
          <p:cNvSpPr txBox="1"/>
          <p:nvPr/>
        </p:nvSpPr>
        <p:spPr>
          <a:xfrm>
            <a:off x="3312188" y="3577590"/>
            <a:ext cx="518757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C) Discover</a:t>
            </a:r>
            <a:endParaRPr i="0" sz="1400" u="none" cap="none" strike="noStrike">
              <a:solidFill>
                <a:schemeClr val="dk1"/>
              </a:solidFill>
            </a:endParaRPr>
          </a:p>
        </p:txBody>
      </p:sp>
      <p:sp>
        <p:nvSpPr>
          <p:cNvPr id="275" name="Google Shape;275;p26"/>
          <p:cNvSpPr txBox="1"/>
          <p:nvPr/>
        </p:nvSpPr>
        <p:spPr>
          <a:xfrm>
            <a:off x="3312188" y="3851910"/>
            <a:ext cx="518757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D) Browse</a:t>
            </a:r>
            <a:endParaRPr i="0" sz="1400" u="none" cap="none" strike="noStrike">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80" name="Shape 280"/>
        <p:cNvGrpSpPr/>
        <p:nvPr/>
      </p:nvGrpSpPr>
      <p:grpSpPr>
        <a:xfrm>
          <a:off x="0" y="0"/>
          <a:ext cx="0" cy="0"/>
          <a:chOff x="0" y="0"/>
          <a:chExt cx="0" cy="0"/>
        </a:xfrm>
      </p:grpSpPr>
      <p:sp>
        <p:nvSpPr>
          <p:cNvPr id="281" name="Google Shape;281;p27"/>
          <p:cNvSpPr txBox="1"/>
          <p:nvPr/>
        </p:nvSpPr>
        <p:spPr>
          <a:xfrm>
            <a:off x="457200" y="502920"/>
            <a:ext cx="353032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Module 2 Summary</a:t>
            </a:r>
            <a:endParaRPr b="0" i="0" sz="1400" u="none" cap="none" strike="noStrike">
              <a:solidFill>
                <a:srgbClr val="000000"/>
              </a:solidFill>
              <a:latin typeface="Arial"/>
              <a:ea typeface="Arial"/>
              <a:cs typeface="Arial"/>
              <a:sym typeface="Arial"/>
            </a:endParaRPr>
          </a:p>
        </p:txBody>
      </p:sp>
      <p:sp>
        <p:nvSpPr>
          <p:cNvPr id="282" name="Google Shape;282;p27"/>
          <p:cNvSpPr txBox="1"/>
          <p:nvPr/>
        </p:nvSpPr>
        <p:spPr>
          <a:xfrm>
            <a:off x="457200" y="1051560"/>
            <a:ext cx="208024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36454F"/>
                </a:solidFill>
                <a:latin typeface="Calibri"/>
                <a:ea typeface="Calibri"/>
                <a:cs typeface="Calibri"/>
                <a:sym typeface="Calibri"/>
              </a:rPr>
              <a:t>Plugin Marketplaces</a:t>
            </a:r>
            <a:endParaRPr b="0" i="0" sz="1800" u="none" cap="none" strike="noStrike">
              <a:solidFill>
                <a:schemeClr val="dk1"/>
              </a:solidFill>
              <a:latin typeface="Calibri"/>
              <a:ea typeface="Calibri"/>
              <a:cs typeface="Calibri"/>
              <a:sym typeface="Calibri"/>
            </a:endParaRPr>
          </a:p>
        </p:txBody>
      </p:sp>
      <p:sp>
        <p:nvSpPr>
          <p:cNvPr id="283" name="Google Shape;283;p27"/>
          <p:cNvSpPr txBox="1"/>
          <p:nvPr/>
        </p:nvSpPr>
        <p:spPr>
          <a:xfrm>
            <a:off x="45720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Key Takeaways</a:t>
            </a:r>
            <a:endParaRPr b="0" i="0" sz="1400" u="none" cap="none" strike="noStrike">
              <a:solidFill>
                <a:srgbClr val="000000"/>
              </a:solidFill>
              <a:latin typeface="Arial"/>
              <a:ea typeface="Arial"/>
              <a:cs typeface="Arial"/>
              <a:sym typeface="Arial"/>
            </a:endParaRPr>
          </a:p>
        </p:txBody>
      </p:sp>
      <p:sp>
        <p:nvSpPr>
          <p:cNvPr id="284" name="Google Shape;284;p27"/>
          <p:cNvSpPr txBox="1"/>
          <p:nvPr/>
        </p:nvSpPr>
        <p:spPr>
          <a:xfrm>
            <a:off x="457200" y="2103120"/>
            <a:ext cx="5389418" cy="2369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Marketplaces are catalogs that provide centralized plugin discovery and version tracking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The /plugin command opens a four-tab interface: Discover, Installed, Marketplaces, Errors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Always check a plugin's homepage and understand its functionality before installing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Official marketplace (claude-plugins-official) is curated by Anthropic; community marketplaces vary in trust</a:t>
            </a:r>
            <a:endParaRPr b="0" i="0" sz="1400" u="none" cap="none" strike="noStrike">
              <a:solidFill>
                <a:srgbClr val="000000"/>
              </a:solidFill>
              <a:latin typeface="Arial"/>
              <a:ea typeface="Arial"/>
              <a:cs typeface="Arial"/>
              <a:sym typeface="Arial"/>
            </a:endParaRPr>
          </a:p>
        </p:txBody>
      </p:sp>
      <p:sp>
        <p:nvSpPr>
          <p:cNvPr id="285" name="Google Shape;285;p27"/>
          <p:cNvSpPr/>
          <p:nvPr/>
        </p:nvSpPr>
        <p:spPr>
          <a:xfrm>
            <a:off x="6511636" y="0"/>
            <a:ext cx="2632364" cy="5143500"/>
          </a:xfrm>
          <a:prstGeom prst="rect">
            <a:avLst/>
          </a:prstGeom>
          <a:solidFill>
            <a:srgbClr val="D97757"/>
          </a:solidFill>
          <a:ln cap="flat" cmpd="sng" w="9525">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Key with solid fill" id="286" name="Google Shape;286;p27"/>
          <p:cNvPicPr preferRelativeResize="0"/>
          <p:nvPr/>
        </p:nvPicPr>
        <p:blipFill rotWithShape="1">
          <a:blip r:embed="rId3">
            <a:alphaModFix/>
          </a:blip>
          <a:srcRect b="0" l="0" r="0" t="0"/>
          <a:stretch/>
        </p:blipFill>
        <p:spPr>
          <a:xfrm>
            <a:off x="7370618" y="502920"/>
            <a:ext cx="914400" cy="914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9BCC"/>
        </a:solidFill>
      </p:bgPr>
    </p:bg>
    <p:spTree>
      <p:nvGrpSpPr>
        <p:cNvPr id="291" name="Shape 291"/>
        <p:cNvGrpSpPr/>
        <p:nvPr/>
      </p:nvGrpSpPr>
      <p:grpSpPr>
        <a:xfrm>
          <a:off x="0" y="0"/>
          <a:ext cx="0" cy="0"/>
          <a:chOff x="0" y="0"/>
          <a:chExt cx="0" cy="0"/>
        </a:xfrm>
      </p:grpSpPr>
      <p:sp>
        <p:nvSpPr>
          <p:cNvPr id="292" name="Google Shape;292;p28"/>
          <p:cNvSpPr txBox="1"/>
          <p:nvPr/>
        </p:nvSpPr>
        <p:spPr>
          <a:xfrm>
            <a:off x="609600" y="655320"/>
            <a:ext cx="7538923" cy="5539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Calibri"/>
                <a:ea typeface="Calibri"/>
                <a:cs typeface="Calibri"/>
                <a:sym typeface="Calibri"/>
              </a:rPr>
              <a:t>Module 3: Lab: Adding the Demo Marketplace</a:t>
            </a:r>
            <a:endParaRPr b="0" i="0" sz="1400" u="none" cap="none" strike="noStrike">
              <a:solidFill>
                <a:srgbClr val="000000"/>
              </a:solidFill>
              <a:latin typeface="Arial"/>
              <a:ea typeface="Arial"/>
              <a:cs typeface="Arial"/>
              <a:sym typeface="Arial"/>
            </a:endParaRPr>
          </a:p>
        </p:txBody>
      </p:sp>
      <p:sp>
        <p:nvSpPr>
          <p:cNvPr id="293" name="Google Shape;293;p28"/>
          <p:cNvSpPr txBox="1"/>
          <p:nvPr/>
        </p:nvSpPr>
        <p:spPr>
          <a:xfrm>
            <a:off x="609600" y="1203960"/>
            <a:ext cx="212019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Hands-On Exercise</a:t>
            </a:r>
            <a:endParaRPr b="0" i="0" sz="1400" u="none" cap="none" strike="noStrike">
              <a:solidFill>
                <a:srgbClr val="000000"/>
              </a:solidFill>
              <a:latin typeface="Arial"/>
              <a:ea typeface="Arial"/>
              <a:cs typeface="Arial"/>
              <a:sym typeface="Arial"/>
            </a:endParaRPr>
          </a:p>
        </p:txBody>
      </p:sp>
      <p:sp>
        <p:nvSpPr>
          <p:cNvPr id="294" name="Google Shape;294;p28"/>
          <p:cNvSpPr txBox="1"/>
          <p:nvPr/>
        </p:nvSpPr>
        <p:spPr>
          <a:xfrm>
            <a:off x="609600" y="1798320"/>
            <a:ext cx="4125232"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Add the Anthropic demo marketplace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Navigate the plugin manager tabs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Browse available plugins in the Discover tab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Understand marketplace vs plugin installation</a:t>
            </a:r>
            <a:endParaRPr b="0" i="0" sz="1400" u="none" cap="none" strike="noStrike">
              <a:solidFill>
                <a:srgbClr val="000000"/>
              </a:solidFill>
              <a:latin typeface="Arial"/>
              <a:ea typeface="Arial"/>
              <a:cs typeface="Arial"/>
              <a:sym typeface="Arial"/>
            </a:endParaRPr>
          </a:p>
        </p:txBody>
      </p:sp>
      <p:sp>
        <p:nvSpPr>
          <p:cNvPr id="295" name="Google Shape;295;p28"/>
          <p:cNvSpPr/>
          <p:nvPr/>
        </p:nvSpPr>
        <p:spPr>
          <a:xfrm>
            <a:off x="7467600" y="4541520"/>
            <a:ext cx="1371600" cy="457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 20 minutes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00" name="Shape 300"/>
        <p:cNvGrpSpPr/>
        <p:nvPr/>
      </p:nvGrpSpPr>
      <p:grpSpPr>
        <a:xfrm>
          <a:off x="0" y="0"/>
          <a:ext cx="0" cy="0"/>
          <a:chOff x="0" y="0"/>
          <a:chExt cx="0" cy="0"/>
        </a:xfrm>
      </p:grpSpPr>
      <p:sp>
        <p:nvSpPr>
          <p:cNvPr id="301" name="Google Shape;301;p29"/>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Lab Steps</a:t>
            </a:r>
            <a:endParaRPr b="0" i="0" sz="1400" u="none" cap="none" strike="noStrike">
              <a:solidFill>
                <a:srgbClr val="000000"/>
              </a:solidFill>
              <a:latin typeface="Arial"/>
              <a:ea typeface="Arial"/>
              <a:cs typeface="Arial"/>
              <a:sym typeface="Arial"/>
            </a:endParaRPr>
          </a:p>
        </p:txBody>
      </p:sp>
      <p:sp>
        <p:nvSpPr>
          <p:cNvPr id="302" name="Google Shape;302;p29"/>
          <p:cNvSpPr txBox="1"/>
          <p:nvPr/>
        </p:nvSpPr>
        <p:spPr>
          <a:xfrm>
            <a:off x="509847" y="1188720"/>
            <a:ext cx="32004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Step 1: Add the demo marketplace</a:t>
            </a:r>
            <a:endParaRPr b="0" i="0" sz="1400" u="none" cap="none" strike="noStrike">
              <a:solidFill>
                <a:srgbClr val="000000"/>
              </a:solidFill>
              <a:latin typeface="Arial"/>
              <a:ea typeface="Arial"/>
              <a:cs typeface="Arial"/>
              <a:sym typeface="Arial"/>
            </a:endParaRPr>
          </a:p>
        </p:txBody>
      </p:sp>
      <p:sp>
        <p:nvSpPr>
          <p:cNvPr id="303" name="Google Shape;303;p29"/>
          <p:cNvSpPr/>
          <p:nvPr/>
        </p:nvSpPr>
        <p:spPr>
          <a:xfrm>
            <a:off x="4440382" y="1188720"/>
            <a:ext cx="4297680" cy="27432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onsolas"/>
                <a:ea typeface="Consolas"/>
                <a:cs typeface="Consolas"/>
                <a:sym typeface="Consolas"/>
              </a:rPr>
              <a:t>/plugin marketplace add anthropics/claude-code</a:t>
            </a:r>
            <a:endParaRPr b="0" i="0" sz="1400" u="none" cap="none" strike="noStrike">
              <a:solidFill>
                <a:srgbClr val="000000"/>
              </a:solidFill>
              <a:latin typeface="Arial"/>
              <a:ea typeface="Arial"/>
              <a:cs typeface="Arial"/>
              <a:sym typeface="Arial"/>
            </a:endParaRPr>
          </a:p>
        </p:txBody>
      </p:sp>
      <p:sp>
        <p:nvSpPr>
          <p:cNvPr id="304" name="Google Shape;304;p29"/>
          <p:cNvSpPr txBox="1"/>
          <p:nvPr/>
        </p:nvSpPr>
        <p:spPr>
          <a:xfrm>
            <a:off x="509847" y="1828800"/>
            <a:ext cx="32004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Step 2: Open plugin manager</a:t>
            </a:r>
            <a:endParaRPr b="0" i="0" sz="1400" u="none" cap="none" strike="noStrike">
              <a:solidFill>
                <a:srgbClr val="000000"/>
              </a:solidFill>
              <a:latin typeface="Arial"/>
              <a:ea typeface="Arial"/>
              <a:cs typeface="Arial"/>
              <a:sym typeface="Arial"/>
            </a:endParaRPr>
          </a:p>
        </p:txBody>
      </p:sp>
      <p:sp>
        <p:nvSpPr>
          <p:cNvPr id="305" name="Google Shape;305;p29"/>
          <p:cNvSpPr/>
          <p:nvPr/>
        </p:nvSpPr>
        <p:spPr>
          <a:xfrm>
            <a:off x="4440382" y="1828800"/>
            <a:ext cx="4297680" cy="27432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onsolas"/>
                <a:ea typeface="Consolas"/>
                <a:cs typeface="Consolas"/>
                <a:sym typeface="Consolas"/>
              </a:rPr>
              <a:t>/plugin</a:t>
            </a:r>
            <a:endParaRPr b="0" i="0" sz="1400" u="none" cap="none" strike="noStrike">
              <a:solidFill>
                <a:srgbClr val="000000"/>
              </a:solidFill>
              <a:latin typeface="Arial"/>
              <a:ea typeface="Arial"/>
              <a:cs typeface="Arial"/>
              <a:sym typeface="Arial"/>
            </a:endParaRPr>
          </a:p>
        </p:txBody>
      </p:sp>
      <p:sp>
        <p:nvSpPr>
          <p:cNvPr id="306" name="Google Shape;306;p29"/>
          <p:cNvSpPr txBox="1"/>
          <p:nvPr/>
        </p:nvSpPr>
        <p:spPr>
          <a:xfrm>
            <a:off x="509847" y="2468880"/>
            <a:ext cx="32004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Step 3: Navigate tabs</a:t>
            </a:r>
            <a:endParaRPr b="0" i="0" sz="1400" u="none" cap="none" strike="noStrike">
              <a:solidFill>
                <a:srgbClr val="000000"/>
              </a:solidFill>
              <a:latin typeface="Arial"/>
              <a:ea typeface="Arial"/>
              <a:cs typeface="Arial"/>
              <a:sym typeface="Arial"/>
            </a:endParaRPr>
          </a:p>
        </p:txBody>
      </p:sp>
      <p:sp>
        <p:nvSpPr>
          <p:cNvPr id="307" name="Google Shape;307;p29"/>
          <p:cNvSpPr txBox="1"/>
          <p:nvPr/>
        </p:nvSpPr>
        <p:spPr>
          <a:xfrm>
            <a:off x="4440382" y="2468880"/>
            <a:ext cx="42976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36454F"/>
                </a:solidFill>
                <a:latin typeface="Calibri"/>
                <a:ea typeface="Calibri"/>
                <a:cs typeface="Calibri"/>
                <a:sym typeface="Calibri"/>
              </a:rPr>
              <a:t>Use Tab and Shift+Tab to move between tabs</a:t>
            </a:r>
            <a:endParaRPr b="0" i="0" sz="1400" u="none" cap="none" strike="noStrike">
              <a:solidFill>
                <a:srgbClr val="000000"/>
              </a:solidFill>
              <a:latin typeface="Arial"/>
              <a:ea typeface="Arial"/>
              <a:cs typeface="Arial"/>
              <a:sym typeface="Arial"/>
            </a:endParaRPr>
          </a:p>
        </p:txBody>
      </p:sp>
      <p:sp>
        <p:nvSpPr>
          <p:cNvPr id="308" name="Google Shape;308;p29"/>
          <p:cNvSpPr txBox="1"/>
          <p:nvPr/>
        </p:nvSpPr>
        <p:spPr>
          <a:xfrm>
            <a:off x="509847" y="3108960"/>
            <a:ext cx="32004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Step 4: Explore Discover tab</a:t>
            </a:r>
            <a:endParaRPr b="0" i="0" sz="1400" u="none" cap="none" strike="noStrike">
              <a:solidFill>
                <a:srgbClr val="000000"/>
              </a:solidFill>
              <a:latin typeface="Arial"/>
              <a:ea typeface="Arial"/>
              <a:cs typeface="Arial"/>
              <a:sym typeface="Arial"/>
            </a:endParaRPr>
          </a:p>
        </p:txBody>
      </p:sp>
      <p:sp>
        <p:nvSpPr>
          <p:cNvPr id="309" name="Google Shape;309;p29"/>
          <p:cNvSpPr txBox="1"/>
          <p:nvPr/>
        </p:nvSpPr>
        <p:spPr>
          <a:xfrm>
            <a:off x="4440382" y="3108960"/>
            <a:ext cx="42976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36454F"/>
                </a:solidFill>
                <a:latin typeface="Calibri"/>
                <a:ea typeface="Calibri"/>
                <a:cs typeface="Calibri"/>
                <a:sym typeface="Calibri"/>
              </a:rPr>
              <a:t>Browse available plugins and view details</a:t>
            </a:r>
            <a:endParaRPr b="0" i="0" sz="1400" u="none" cap="none" strike="noStrike">
              <a:solidFill>
                <a:srgbClr val="000000"/>
              </a:solidFill>
              <a:latin typeface="Arial"/>
              <a:ea typeface="Arial"/>
              <a:cs typeface="Arial"/>
              <a:sym typeface="Arial"/>
            </a:endParaRPr>
          </a:p>
        </p:txBody>
      </p:sp>
      <p:sp>
        <p:nvSpPr>
          <p:cNvPr id="310" name="Google Shape;310;p29"/>
          <p:cNvSpPr txBox="1"/>
          <p:nvPr/>
        </p:nvSpPr>
        <p:spPr>
          <a:xfrm>
            <a:off x="509847" y="3749040"/>
            <a:ext cx="32004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Step 5: View marketplace in Marketplaces tab</a:t>
            </a:r>
            <a:endParaRPr b="0" i="0" sz="1400" u="none" cap="none" strike="noStrike">
              <a:solidFill>
                <a:srgbClr val="000000"/>
              </a:solidFill>
              <a:latin typeface="Arial"/>
              <a:ea typeface="Arial"/>
              <a:cs typeface="Arial"/>
              <a:sym typeface="Arial"/>
            </a:endParaRPr>
          </a:p>
        </p:txBody>
      </p:sp>
      <p:sp>
        <p:nvSpPr>
          <p:cNvPr id="311" name="Google Shape;311;p29"/>
          <p:cNvSpPr txBox="1"/>
          <p:nvPr/>
        </p:nvSpPr>
        <p:spPr>
          <a:xfrm>
            <a:off x="4440382" y="3749040"/>
            <a:ext cx="42976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36454F"/>
                </a:solidFill>
                <a:latin typeface="Calibri"/>
                <a:ea typeface="Calibri"/>
                <a:cs typeface="Calibri"/>
                <a:sym typeface="Calibri"/>
              </a:rPr>
              <a:t>Confirm marketplace was added successfully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16" name="Shape 316"/>
        <p:cNvGrpSpPr/>
        <p:nvPr/>
      </p:nvGrpSpPr>
      <p:grpSpPr>
        <a:xfrm>
          <a:off x="0" y="0"/>
          <a:ext cx="0" cy="0"/>
          <a:chOff x="0" y="0"/>
          <a:chExt cx="0" cy="0"/>
        </a:xfrm>
      </p:grpSpPr>
      <p:sp>
        <p:nvSpPr>
          <p:cNvPr id="317" name="Google Shape;317;p30"/>
          <p:cNvSpPr/>
          <p:nvPr/>
        </p:nvSpPr>
        <p:spPr>
          <a:xfrm>
            <a:off x="0" y="0"/>
            <a:ext cx="2632364" cy="5143500"/>
          </a:xfrm>
          <a:prstGeom prst="rect">
            <a:avLst/>
          </a:prstGeom>
          <a:solidFill>
            <a:srgbClr val="788C5D"/>
          </a:solidFill>
          <a:ln cap="flat" cmpd="sng" w="9525">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8" name="Google Shape;318;p30"/>
          <p:cNvSpPr txBox="1"/>
          <p:nvPr/>
        </p:nvSpPr>
        <p:spPr>
          <a:xfrm>
            <a:off x="278911" y="3079865"/>
            <a:ext cx="2074542" cy="15696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Module 3:</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Knowledge</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Check</a:t>
            </a:r>
            <a:endParaRPr b="0" i="0" sz="1400" u="none" cap="none" strike="noStrike">
              <a:solidFill>
                <a:srgbClr val="000000"/>
              </a:solidFill>
              <a:latin typeface="Arial"/>
              <a:ea typeface="Arial"/>
              <a:cs typeface="Arial"/>
              <a:sym typeface="Arial"/>
            </a:endParaRPr>
          </a:p>
        </p:txBody>
      </p:sp>
      <p:pic>
        <p:nvPicPr>
          <p:cNvPr descr="Brain with solid fill" id="319" name="Google Shape;319;p30"/>
          <p:cNvPicPr preferRelativeResize="0"/>
          <p:nvPr/>
        </p:nvPicPr>
        <p:blipFill rotWithShape="1">
          <a:blip r:embed="rId3">
            <a:alphaModFix/>
          </a:blip>
          <a:srcRect b="0" l="0" r="0" t="0"/>
          <a:stretch/>
        </p:blipFill>
        <p:spPr>
          <a:xfrm>
            <a:off x="969818" y="2376055"/>
            <a:ext cx="703810" cy="703810"/>
          </a:xfrm>
          <a:prstGeom prst="rect">
            <a:avLst/>
          </a:prstGeom>
          <a:noFill/>
          <a:ln>
            <a:noFill/>
          </a:ln>
        </p:spPr>
      </p:pic>
      <p:sp>
        <p:nvSpPr>
          <p:cNvPr id="320" name="Google Shape;320;p30"/>
          <p:cNvSpPr txBox="1"/>
          <p:nvPr/>
        </p:nvSpPr>
        <p:spPr>
          <a:xfrm>
            <a:off x="3129308" y="834391"/>
            <a:ext cx="531890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What command adds the Anthropic demo marketplace?</a:t>
            </a:r>
            <a:endParaRPr b="0" i="0" sz="1400" u="none" cap="none" strike="noStrike">
              <a:solidFill>
                <a:srgbClr val="000000"/>
              </a:solidFill>
              <a:latin typeface="Arial"/>
              <a:ea typeface="Arial"/>
              <a:cs typeface="Arial"/>
              <a:sym typeface="Arial"/>
            </a:endParaRPr>
          </a:p>
        </p:txBody>
      </p:sp>
      <p:sp>
        <p:nvSpPr>
          <p:cNvPr id="321" name="Google Shape;321;p30"/>
          <p:cNvSpPr txBox="1"/>
          <p:nvPr/>
        </p:nvSpPr>
        <p:spPr>
          <a:xfrm>
            <a:off x="3312188" y="1291590"/>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A) /plugin add anthropics/claude-code</a:t>
            </a:r>
            <a:endParaRPr i="0" sz="1400" u="none" cap="none" strike="noStrike">
              <a:solidFill>
                <a:schemeClr val="dk1"/>
              </a:solidFill>
            </a:endParaRPr>
          </a:p>
        </p:txBody>
      </p:sp>
      <p:sp>
        <p:nvSpPr>
          <p:cNvPr id="322" name="Google Shape;322;p30"/>
          <p:cNvSpPr txBox="1"/>
          <p:nvPr/>
        </p:nvSpPr>
        <p:spPr>
          <a:xfrm>
            <a:off x="3312188" y="1565910"/>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B) /marketplace add anthropics/claude-code</a:t>
            </a:r>
            <a:endParaRPr i="0" sz="1400" u="none" cap="none" strike="noStrike">
              <a:solidFill>
                <a:schemeClr val="dk1"/>
              </a:solidFill>
            </a:endParaRPr>
          </a:p>
        </p:txBody>
      </p:sp>
      <p:sp>
        <p:nvSpPr>
          <p:cNvPr id="323" name="Google Shape;323;p30"/>
          <p:cNvSpPr txBox="1"/>
          <p:nvPr/>
        </p:nvSpPr>
        <p:spPr>
          <a:xfrm>
            <a:off x="3312188" y="1840229"/>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C) /plugin marketplace add anthropics/claude-code</a:t>
            </a:r>
            <a:endParaRPr i="0" sz="1400" u="none" cap="none" strike="noStrike">
              <a:solidFill>
                <a:schemeClr val="dk1"/>
              </a:solidFill>
            </a:endParaRPr>
          </a:p>
        </p:txBody>
      </p:sp>
      <p:sp>
        <p:nvSpPr>
          <p:cNvPr id="324" name="Google Shape;324;p30"/>
          <p:cNvSpPr txBox="1"/>
          <p:nvPr/>
        </p:nvSpPr>
        <p:spPr>
          <a:xfrm>
            <a:off x="3312188" y="2114549"/>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D) /plugin install marketplace anthropics/claude-code</a:t>
            </a:r>
            <a:endParaRPr i="0" sz="1400" u="none" cap="none" strike="noStrike">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29" name="Shape 329"/>
        <p:cNvGrpSpPr/>
        <p:nvPr/>
      </p:nvGrpSpPr>
      <p:grpSpPr>
        <a:xfrm>
          <a:off x="0" y="0"/>
          <a:ext cx="0" cy="0"/>
          <a:chOff x="0" y="0"/>
          <a:chExt cx="0" cy="0"/>
        </a:xfrm>
      </p:grpSpPr>
      <p:sp>
        <p:nvSpPr>
          <p:cNvPr id="330" name="Google Shape;330;p31"/>
          <p:cNvSpPr txBox="1"/>
          <p:nvPr/>
        </p:nvSpPr>
        <p:spPr>
          <a:xfrm>
            <a:off x="457200" y="502920"/>
            <a:ext cx="353032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Module 3 Summary</a:t>
            </a:r>
            <a:endParaRPr b="0" i="0" sz="1400" u="none" cap="none" strike="noStrike">
              <a:solidFill>
                <a:srgbClr val="000000"/>
              </a:solidFill>
              <a:latin typeface="Arial"/>
              <a:ea typeface="Arial"/>
              <a:cs typeface="Arial"/>
              <a:sym typeface="Arial"/>
            </a:endParaRPr>
          </a:p>
        </p:txBody>
      </p:sp>
      <p:sp>
        <p:nvSpPr>
          <p:cNvPr id="331" name="Google Shape;331;p31"/>
          <p:cNvSpPr txBox="1"/>
          <p:nvPr/>
        </p:nvSpPr>
        <p:spPr>
          <a:xfrm>
            <a:off x="457200" y="1051560"/>
            <a:ext cx="312861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36454F"/>
                </a:solidFill>
                <a:latin typeface="Calibri"/>
                <a:ea typeface="Calibri"/>
                <a:cs typeface="Calibri"/>
                <a:sym typeface="Calibri"/>
              </a:rPr>
              <a:t>Lab: Adding Demo Marketplace</a:t>
            </a:r>
            <a:endParaRPr b="0" i="0" sz="1400" u="none" cap="none" strike="noStrike">
              <a:solidFill>
                <a:srgbClr val="000000"/>
              </a:solidFill>
              <a:latin typeface="Arial"/>
              <a:ea typeface="Arial"/>
              <a:cs typeface="Arial"/>
              <a:sym typeface="Arial"/>
            </a:endParaRPr>
          </a:p>
        </p:txBody>
      </p:sp>
      <p:sp>
        <p:nvSpPr>
          <p:cNvPr id="332" name="Google Shape;332;p31"/>
          <p:cNvSpPr txBox="1"/>
          <p:nvPr/>
        </p:nvSpPr>
        <p:spPr>
          <a:xfrm>
            <a:off x="45720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Key Takeaways</a:t>
            </a:r>
            <a:endParaRPr b="0" i="0" sz="1400" u="none" cap="none" strike="noStrike">
              <a:solidFill>
                <a:srgbClr val="000000"/>
              </a:solidFill>
              <a:latin typeface="Arial"/>
              <a:ea typeface="Arial"/>
              <a:cs typeface="Arial"/>
              <a:sym typeface="Arial"/>
            </a:endParaRPr>
          </a:p>
        </p:txBody>
      </p:sp>
      <p:sp>
        <p:nvSpPr>
          <p:cNvPr id="333" name="Google Shape;333;p31"/>
          <p:cNvSpPr txBox="1"/>
          <p:nvPr/>
        </p:nvSpPr>
        <p:spPr>
          <a:xfrm>
            <a:off x="457200" y="2103120"/>
            <a:ext cx="5389418" cy="16312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Use /plugin marketplace add &lt;repo&gt; to add a marketplace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The /plugin command opens the manager with four tabs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Discover tab shows all plugins from your added marketplaces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Adding a marketplace doesn't install plugins—it just makes them browsable</a:t>
            </a:r>
            <a:endParaRPr b="0" i="0" sz="1400" u="none" cap="none" strike="noStrike">
              <a:solidFill>
                <a:srgbClr val="000000"/>
              </a:solidFill>
              <a:latin typeface="Arial"/>
              <a:ea typeface="Arial"/>
              <a:cs typeface="Arial"/>
              <a:sym typeface="Arial"/>
            </a:endParaRPr>
          </a:p>
        </p:txBody>
      </p:sp>
      <p:sp>
        <p:nvSpPr>
          <p:cNvPr id="334" name="Google Shape;334;p31"/>
          <p:cNvSpPr/>
          <p:nvPr/>
        </p:nvSpPr>
        <p:spPr>
          <a:xfrm>
            <a:off x="6511636" y="0"/>
            <a:ext cx="2632364" cy="5143500"/>
          </a:xfrm>
          <a:prstGeom prst="rect">
            <a:avLst/>
          </a:prstGeom>
          <a:solidFill>
            <a:srgbClr val="D97757"/>
          </a:solidFill>
          <a:ln cap="flat" cmpd="sng" w="9525">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Key with solid fill" id="335" name="Google Shape;335;p31"/>
          <p:cNvPicPr preferRelativeResize="0"/>
          <p:nvPr/>
        </p:nvPicPr>
        <p:blipFill rotWithShape="1">
          <a:blip r:embed="rId3">
            <a:alphaModFix/>
          </a:blip>
          <a:srcRect b="0" l="0" r="0" t="0"/>
          <a:stretch/>
        </p:blipFill>
        <p:spPr>
          <a:xfrm>
            <a:off x="7370618" y="502920"/>
            <a:ext cx="914400" cy="914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7757"/>
        </a:solidFill>
      </p:bgPr>
    </p:bg>
    <p:spTree>
      <p:nvGrpSpPr>
        <p:cNvPr id="340" name="Shape 340"/>
        <p:cNvGrpSpPr/>
        <p:nvPr/>
      </p:nvGrpSpPr>
      <p:grpSpPr>
        <a:xfrm>
          <a:off x="0" y="0"/>
          <a:ext cx="0" cy="0"/>
          <a:chOff x="0" y="0"/>
          <a:chExt cx="0" cy="0"/>
        </a:xfrm>
      </p:grpSpPr>
      <p:sp>
        <p:nvSpPr>
          <p:cNvPr id="341" name="Google Shape;341;p32"/>
          <p:cNvSpPr txBox="1"/>
          <p:nvPr/>
        </p:nvSpPr>
        <p:spPr>
          <a:xfrm>
            <a:off x="609600" y="655320"/>
            <a:ext cx="6950942" cy="5539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Calibri"/>
                <a:ea typeface="Calibri"/>
                <a:cs typeface="Calibri"/>
                <a:sym typeface="Calibri"/>
              </a:rPr>
              <a:t>Module 4: Installing and Managing Plugins</a:t>
            </a:r>
            <a:endParaRPr b="0" i="0" sz="1400" u="none" cap="none" strike="noStrike">
              <a:solidFill>
                <a:srgbClr val="000000"/>
              </a:solidFill>
              <a:latin typeface="Arial"/>
              <a:ea typeface="Arial"/>
              <a:cs typeface="Arial"/>
              <a:sym typeface="Arial"/>
            </a:endParaRPr>
          </a:p>
        </p:txBody>
      </p:sp>
      <p:sp>
        <p:nvSpPr>
          <p:cNvPr id="342" name="Google Shape;342;p32"/>
          <p:cNvSpPr txBox="1"/>
          <p:nvPr/>
        </p:nvSpPr>
        <p:spPr>
          <a:xfrm>
            <a:off x="609600" y="1203960"/>
            <a:ext cx="223080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Learning Objectives</a:t>
            </a:r>
            <a:endParaRPr b="0" i="0" sz="1400" u="none" cap="none" strike="noStrike">
              <a:solidFill>
                <a:srgbClr val="000000"/>
              </a:solidFill>
              <a:latin typeface="Arial"/>
              <a:ea typeface="Arial"/>
              <a:cs typeface="Arial"/>
              <a:sym typeface="Arial"/>
            </a:endParaRPr>
          </a:p>
        </p:txBody>
      </p:sp>
      <p:sp>
        <p:nvSpPr>
          <p:cNvPr id="343" name="Google Shape;343;p32"/>
          <p:cNvSpPr txBox="1"/>
          <p:nvPr/>
        </p:nvSpPr>
        <p:spPr>
          <a:xfrm>
            <a:off x="609600" y="1798320"/>
            <a:ext cx="5524782" cy="1308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Install plugins using both CLI commands and the interactive UI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Distinguish between user, project, and local installation scopes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Enable, disable, and uninstall plugins appropriately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Troubleshoot common installation issues</a:t>
            </a:r>
            <a:endParaRPr b="0" i="0" sz="1400" u="none" cap="none" strike="noStrike">
              <a:solidFill>
                <a:srgbClr val="000000"/>
              </a:solidFill>
              <a:latin typeface="Arial"/>
              <a:ea typeface="Arial"/>
              <a:cs typeface="Arial"/>
              <a:sym typeface="Arial"/>
            </a:endParaRPr>
          </a:p>
        </p:txBody>
      </p:sp>
      <p:sp>
        <p:nvSpPr>
          <p:cNvPr id="344" name="Google Shape;344;p32"/>
          <p:cNvSpPr/>
          <p:nvPr/>
        </p:nvSpPr>
        <p:spPr>
          <a:xfrm>
            <a:off x="7467600" y="4541520"/>
            <a:ext cx="1371600" cy="457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 45 minutes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49" name="Shape 349"/>
        <p:cNvGrpSpPr/>
        <p:nvPr/>
      </p:nvGrpSpPr>
      <p:grpSpPr>
        <a:xfrm>
          <a:off x="0" y="0"/>
          <a:ext cx="0" cy="0"/>
          <a:chOff x="0" y="0"/>
          <a:chExt cx="0" cy="0"/>
        </a:xfrm>
      </p:grpSpPr>
      <p:sp>
        <p:nvSpPr>
          <p:cNvPr id="350" name="Google Shape;350;p33"/>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Installation Scopes</a:t>
            </a:r>
            <a:endParaRPr b="0" i="0" sz="1400" u="none" cap="none" strike="noStrike">
              <a:solidFill>
                <a:srgbClr val="000000"/>
              </a:solidFill>
              <a:latin typeface="Arial"/>
              <a:ea typeface="Arial"/>
              <a:cs typeface="Arial"/>
              <a:sym typeface="Arial"/>
            </a:endParaRPr>
          </a:p>
        </p:txBody>
      </p:sp>
      <p:sp>
        <p:nvSpPr>
          <p:cNvPr id="351" name="Google Shape;351;p33"/>
          <p:cNvSpPr/>
          <p:nvPr/>
        </p:nvSpPr>
        <p:spPr>
          <a:xfrm>
            <a:off x="731520" y="1280160"/>
            <a:ext cx="7680960" cy="731520"/>
          </a:xfrm>
          <a:prstGeom prst="rect">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2" name="Google Shape;352;p33"/>
          <p:cNvSpPr txBox="1"/>
          <p:nvPr/>
        </p:nvSpPr>
        <p:spPr>
          <a:xfrm>
            <a:off x="914400" y="1371600"/>
            <a:ext cx="2286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41413"/>
                </a:solidFill>
                <a:latin typeface="Calibri"/>
                <a:ea typeface="Calibri"/>
                <a:cs typeface="Calibri"/>
                <a:sym typeface="Calibri"/>
              </a:rPr>
              <a:t>User Scope (Default)</a:t>
            </a:r>
            <a:endParaRPr b="0" i="0" sz="1400" u="none" cap="none" strike="noStrike">
              <a:solidFill>
                <a:srgbClr val="000000"/>
              </a:solidFill>
              <a:latin typeface="Arial"/>
              <a:ea typeface="Arial"/>
              <a:cs typeface="Arial"/>
              <a:sym typeface="Arial"/>
            </a:endParaRPr>
          </a:p>
        </p:txBody>
      </p:sp>
      <p:sp>
        <p:nvSpPr>
          <p:cNvPr id="353" name="Google Shape;353;p33"/>
          <p:cNvSpPr txBox="1"/>
          <p:nvPr/>
        </p:nvSpPr>
        <p:spPr>
          <a:xfrm>
            <a:off x="914400" y="1645919"/>
            <a:ext cx="41148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41413"/>
                </a:solidFill>
                <a:latin typeface="Calibri"/>
                <a:ea typeface="Calibri"/>
                <a:cs typeface="Calibri"/>
                <a:sym typeface="Calibri"/>
              </a:rPr>
              <a:t>Install for yourself across ALL projects</a:t>
            </a:r>
            <a:endParaRPr b="0" i="0" sz="1400" u="none" cap="none" strike="noStrike">
              <a:solidFill>
                <a:srgbClr val="000000"/>
              </a:solidFill>
              <a:latin typeface="Arial"/>
              <a:ea typeface="Arial"/>
              <a:cs typeface="Arial"/>
              <a:sym typeface="Arial"/>
            </a:endParaRPr>
          </a:p>
        </p:txBody>
      </p:sp>
      <p:sp>
        <p:nvSpPr>
          <p:cNvPr id="354" name="Google Shape;354;p33"/>
          <p:cNvSpPr txBox="1"/>
          <p:nvPr/>
        </p:nvSpPr>
        <p:spPr>
          <a:xfrm>
            <a:off x="5120640" y="1508760"/>
            <a:ext cx="310896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6454F"/>
                </a:solidFill>
                <a:latin typeface="Consolas"/>
                <a:ea typeface="Consolas"/>
                <a:cs typeface="Consolas"/>
                <a:sym typeface="Consolas"/>
              </a:rPr>
              <a:t>~/.claude/plugins/</a:t>
            </a:r>
            <a:endParaRPr b="0" i="0" sz="1400" u="none" cap="none" strike="noStrike">
              <a:solidFill>
                <a:srgbClr val="000000"/>
              </a:solidFill>
              <a:latin typeface="Arial"/>
              <a:ea typeface="Arial"/>
              <a:cs typeface="Arial"/>
              <a:sym typeface="Arial"/>
            </a:endParaRPr>
          </a:p>
        </p:txBody>
      </p:sp>
      <p:sp>
        <p:nvSpPr>
          <p:cNvPr id="355" name="Google Shape;355;p33"/>
          <p:cNvSpPr/>
          <p:nvPr/>
        </p:nvSpPr>
        <p:spPr>
          <a:xfrm>
            <a:off x="731520" y="2194560"/>
            <a:ext cx="7680960" cy="731520"/>
          </a:xfrm>
          <a:prstGeom prst="rect">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6" name="Google Shape;356;p33"/>
          <p:cNvSpPr txBox="1"/>
          <p:nvPr/>
        </p:nvSpPr>
        <p:spPr>
          <a:xfrm>
            <a:off x="914400" y="2286000"/>
            <a:ext cx="2959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41413"/>
                </a:solidFill>
                <a:latin typeface="Calibri"/>
                <a:ea typeface="Calibri"/>
                <a:cs typeface="Calibri"/>
                <a:sym typeface="Calibri"/>
              </a:rPr>
              <a:t>Project Scope (Team Sharing)</a:t>
            </a:r>
            <a:endParaRPr b="0" i="0" sz="1400" u="none" cap="none" strike="noStrike">
              <a:solidFill>
                <a:srgbClr val="000000"/>
              </a:solidFill>
              <a:latin typeface="Arial"/>
              <a:ea typeface="Arial"/>
              <a:cs typeface="Arial"/>
              <a:sym typeface="Arial"/>
            </a:endParaRPr>
          </a:p>
        </p:txBody>
      </p:sp>
      <p:sp>
        <p:nvSpPr>
          <p:cNvPr id="357" name="Google Shape;357;p33"/>
          <p:cNvSpPr txBox="1"/>
          <p:nvPr/>
        </p:nvSpPr>
        <p:spPr>
          <a:xfrm>
            <a:off x="914400" y="2560320"/>
            <a:ext cx="41148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41413"/>
                </a:solidFill>
                <a:latin typeface="Calibri"/>
                <a:ea typeface="Calibri"/>
                <a:cs typeface="Calibri"/>
                <a:sym typeface="Calibri"/>
              </a:rPr>
              <a:t>Install for all team members on THIS repo</a:t>
            </a:r>
            <a:endParaRPr b="0" i="0" sz="1400" u="none" cap="none" strike="noStrike">
              <a:solidFill>
                <a:srgbClr val="000000"/>
              </a:solidFill>
              <a:latin typeface="Arial"/>
              <a:ea typeface="Arial"/>
              <a:cs typeface="Arial"/>
              <a:sym typeface="Arial"/>
            </a:endParaRPr>
          </a:p>
        </p:txBody>
      </p:sp>
      <p:sp>
        <p:nvSpPr>
          <p:cNvPr id="358" name="Google Shape;358;p33"/>
          <p:cNvSpPr txBox="1"/>
          <p:nvPr/>
        </p:nvSpPr>
        <p:spPr>
          <a:xfrm>
            <a:off x="5120640" y="2423160"/>
            <a:ext cx="310896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6454F"/>
                </a:solidFill>
                <a:latin typeface="Consolas"/>
                <a:ea typeface="Consolas"/>
                <a:cs typeface="Consolas"/>
                <a:sym typeface="Consolas"/>
              </a:rPr>
              <a:t>.claude/settings.json</a:t>
            </a:r>
            <a:endParaRPr b="0" i="0" sz="1400" u="none" cap="none" strike="noStrike">
              <a:solidFill>
                <a:srgbClr val="000000"/>
              </a:solidFill>
              <a:latin typeface="Arial"/>
              <a:ea typeface="Arial"/>
              <a:cs typeface="Arial"/>
              <a:sym typeface="Arial"/>
            </a:endParaRPr>
          </a:p>
        </p:txBody>
      </p:sp>
      <p:sp>
        <p:nvSpPr>
          <p:cNvPr id="359" name="Google Shape;359;p33"/>
          <p:cNvSpPr/>
          <p:nvPr/>
        </p:nvSpPr>
        <p:spPr>
          <a:xfrm>
            <a:off x="731520" y="3108960"/>
            <a:ext cx="7680960" cy="731520"/>
          </a:xfrm>
          <a:prstGeom prst="rect">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0" name="Google Shape;360;p33"/>
          <p:cNvSpPr txBox="1"/>
          <p:nvPr/>
        </p:nvSpPr>
        <p:spPr>
          <a:xfrm>
            <a:off x="914400" y="3200400"/>
            <a:ext cx="2286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41413"/>
                </a:solidFill>
                <a:latin typeface="Calibri"/>
                <a:ea typeface="Calibri"/>
                <a:cs typeface="Calibri"/>
                <a:sym typeface="Calibri"/>
              </a:rPr>
              <a:t>Local Scope (Testing)</a:t>
            </a:r>
            <a:endParaRPr b="0" i="0" sz="1400" u="none" cap="none" strike="noStrike">
              <a:solidFill>
                <a:srgbClr val="000000"/>
              </a:solidFill>
              <a:latin typeface="Arial"/>
              <a:ea typeface="Arial"/>
              <a:cs typeface="Arial"/>
              <a:sym typeface="Arial"/>
            </a:endParaRPr>
          </a:p>
        </p:txBody>
      </p:sp>
      <p:sp>
        <p:nvSpPr>
          <p:cNvPr id="361" name="Google Shape;361;p33"/>
          <p:cNvSpPr txBox="1"/>
          <p:nvPr/>
        </p:nvSpPr>
        <p:spPr>
          <a:xfrm>
            <a:off x="914400" y="3474720"/>
            <a:ext cx="41148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41413"/>
                </a:solidFill>
                <a:latin typeface="Calibri"/>
                <a:ea typeface="Calibri"/>
                <a:cs typeface="Calibri"/>
                <a:sym typeface="Calibri"/>
              </a:rPr>
              <a:t>Install for yourself on THIS repo only</a:t>
            </a:r>
            <a:endParaRPr b="0" i="0" sz="1400" u="none" cap="none" strike="noStrike">
              <a:solidFill>
                <a:srgbClr val="000000"/>
              </a:solidFill>
              <a:latin typeface="Arial"/>
              <a:ea typeface="Arial"/>
              <a:cs typeface="Arial"/>
              <a:sym typeface="Arial"/>
            </a:endParaRPr>
          </a:p>
        </p:txBody>
      </p:sp>
      <p:sp>
        <p:nvSpPr>
          <p:cNvPr id="362" name="Google Shape;362;p33"/>
          <p:cNvSpPr txBox="1"/>
          <p:nvPr/>
        </p:nvSpPr>
        <p:spPr>
          <a:xfrm>
            <a:off x="5120640" y="3337560"/>
            <a:ext cx="310896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6454F"/>
                </a:solidFill>
                <a:latin typeface="Consolas"/>
                <a:ea typeface="Consolas"/>
                <a:cs typeface="Consolas"/>
                <a:sym typeface="Consolas"/>
              </a:rPr>
              <a:t>.claude/settings.local.json</a:t>
            </a:r>
            <a:endParaRPr b="0" i="0" sz="1400" u="none" cap="none" strike="noStrike">
              <a:solidFill>
                <a:srgbClr val="000000"/>
              </a:solidFill>
              <a:latin typeface="Arial"/>
              <a:ea typeface="Arial"/>
              <a:cs typeface="Arial"/>
              <a:sym typeface="Arial"/>
            </a:endParaRPr>
          </a:p>
        </p:txBody>
      </p:sp>
      <p:sp>
        <p:nvSpPr>
          <p:cNvPr id="363" name="Google Shape;363;p33"/>
          <p:cNvSpPr/>
          <p:nvPr/>
        </p:nvSpPr>
        <p:spPr>
          <a:xfrm>
            <a:off x="731520" y="4114800"/>
            <a:ext cx="7680960" cy="630382"/>
          </a:xfrm>
          <a:prstGeom prst="roundRect">
            <a:avLst>
              <a:gd fmla="val 16667" name="adj"/>
            </a:avLst>
          </a:prstGeom>
          <a:solidFill>
            <a:schemeClr val="lt1"/>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41413"/>
                </a:solidFill>
                <a:latin typeface="Calibri"/>
                <a:ea typeface="Calibri"/>
                <a:cs typeface="Calibri"/>
                <a:sym typeface="Calibri"/>
              </a:rPr>
              <a:t>💡 Use Case: Plugin connects to company API → Use Project scope so entire team has it. Personal code formatter → Use User scope for all your work.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68" name="Shape 368"/>
        <p:cNvGrpSpPr/>
        <p:nvPr/>
      </p:nvGrpSpPr>
      <p:grpSpPr>
        <a:xfrm>
          <a:off x="0" y="0"/>
          <a:ext cx="0" cy="0"/>
          <a:chOff x="0" y="0"/>
          <a:chExt cx="0" cy="0"/>
        </a:xfrm>
      </p:grpSpPr>
      <p:sp>
        <p:nvSpPr>
          <p:cNvPr id="369" name="Google Shape;369;p34"/>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Installing Plugins</a:t>
            </a:r>
            <a:endParaRPr b="0" i="0" sz="1400" u="none" cap="none" strike="noStrike">
              <a:solidFill>
                <a:srgbClr val="000000"/>
              </a:solidFill>
              <a:latin typeface="Arial"/>
              <a:ea typeface="Arial"/>
              <a:cs typeface="Arial"/>
              <a:sym typeface="Arial"/>
            </a:endParaRPr>
          </a:p>
        </p:txBody>
      </p:sp>
      <p:sp>
        <p:nvSpPr>
          <p:cNvPr id="370" name="Google Shape;370;p34"/>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Two Ways to Install</a:t>
            </a:r>
            <a:endParaRPr b="0" i="0" sz="1400" u="none" cap="none" strike="noStrike">
              <a:solidFill>
                <a:srgbClr val="000000"/>
              </a:solidFill>
              <a:latin typeface="Arial"/>
              <a:ea typeface="Arial"/>
              <a:cs typeface="Arial"/>
              <a:sym typeface="Arial"/>
            </a:endParaRPr>
          </a:p>
        </p:txBody>
      </p:sp>
      <p:sp>
        <p:nvSpPr>
          <p:cNvPr id="371" name="Google Shape;371;p34"/>
          <p:cNvSpPr txBox="1"/>
          <p:nvPr/>
        </p:nvSpPr>
        <p:spPr>
          <a:xfrm>
            <a:off x="731525" y="1645925"/>
            <a:ext cx="6279000" cy="523200"/>
          </a:xfrm>
          <a:prstGeom prst="rect">
            <a:avLst/>
          </a:prstGeom>
          <a:noFill/>
          <a:ln>
            <a:noFill/>
          </a:ln>
        </p:spPr>
        <p:txBody>
          <a:bodyPr anchorCtr="0" anchor="t" bIns="45700" lIns="91425" spcFirstLastPara="1" rIns="91425" wrap="square" tIns="45700">
            <a:spAutoFit/>
          </a:bodyPr>
          <a:lstStyle/>
          <a:p>
            <a:pPr indent="-317500" lvl="0" marL="457200" marR="0" rtl="0" algn="l">
              <a:lnSpc>
                <a:spcPct val="100000"/>
              </a:lnSpc>
              <a:spcBef>
                <a:spcPts val="0"/>
              </a:spcBef>
              <a:spcAft>
                <a:spcPts val="0"/>
              </a:spcAft>
              <a:buClr>
                <a:srgbClr val="141413"/>
              </a:buClr>
              <a:buSzPts val="1400"/>
              <a:buFont typeface="Calibri"/>
              <a:buAutoNum type="arabicPeriod"/>
            </a:pPr>
            <a:r>
              <a:rPr b="0" i="0" lang="en-US" sz="1400" u="none" cap="none" strike="noStrike">
                <a:solidFill>
                  <a:srgbClr val="141413"/>
                </a:solidFill>
                <a:latin typeface="Calibri"/>
                <a:ea typeface="Calibri"/>
                <a:cs typeface="Calibri"/>
                <a:sym typeface="Calibri"/>
              </a:rPr>
              <a:t>CLI: /plugin install plugin-name@marketplace-name (defaults to user scope)</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141413"/>
              </a:buClr>
              <a:buSzPts val="1400"/>
              <a:buFont typeface="Calibri"/>
              <a:buAutoNum type="arabicPeriod"/>
            </a:pPr>
            <a:r>
              <a:rPr b="0" i="0" lang="en-US" sz="1400" u="none" cap="none" strike="noStrike">
                <a:solidFill>
                  <a:srgbClr val="141413"/>
                </a:solidFill>
                <a:latin typeface="Calibri"/>
                <a:ea typeface="Calibri"/>
                <a:cs typeface="Calibri"/>
                <a:sym typeface="Calibri"/>
              </a:rPr>
              <a:t>Interactive UI: /plugin → Discover tab → Select plugin → Choose scope</a:t>
            </a:r>
            <a:endParaRPr b="0" i="0" sz="1400" u="none" cap="none" strike="noStrike">
              <a:solidFill>
                <a:srgbClr val="000000"/>
              </a:solidFill>
              <a:latin typeface="Arial"/>
              <a:ea typeface="Arial"/>
              <a:cs typeface="Arial"/>
              <a:sym typeface="Arial"/>
            </a:endParaRPr>
          </a:p>
        </p:txBody>
      </p:sp>
      <p:sp>
        <p:nvSpPr>
          <p:cNvPr id="372" name="Google Shape;372;p34"/>
          <p:cNvSpPr/>
          <p:nvPr/>
        </p:nvSpPr>
        <p:spPr>
          <a:xfrm>
            <a:off x="914400" y="2299854"/>
            <a:ext cx="5569500" cy="274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Consolas"/>
                <a:ea typeface="Consolas"/>
                <a:cs typeface="Consolas"/>
                <a:sym typeface="Consolas"/>
              </a:rPr>
              <a:t>/plugin install commit-commands@anthropics-claude-code</a:t>
            </a:r>
            <a:endParaRPr b="0" i="0" sz="1400" u="none" cap="none" strike="noStrike">
              <a:solidFill>
                <a:srgbClr val="000000"/>
              </a:solidFill>
              <a:latin typeface="Arial"/>
              <a:ea typeface="Arial"/>
              <a:cs typeface="Arial"/>
              <a:sym typeface="Arial"/>
            </a:endParaRPr>
          </a:p>
        </p:txBody>
      </p:sp>
      <p:sp>
        <p:nvSpPr>
          <p:cNvPr id="373" name="Google Shape;373;p34"/>
          <p:cNvSpPr txBox="1"/>
          <p:nvPr/>
        </p:nvSpPr>
        <p:spPr>
          <a:xfrm>
            <a:off x="731520" y="3031374"/>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Specify Scope in CLI</a:t>
            </a:r>
            <a:endParaRPr b="0" i="0" sz="1400" u="none" cap="none" strike="noStrike">
              <a:solidFill>
                <a:srgbClr val="000000"/>
              </a:solidFill>
              <a:latin typeface="Arial"/>
              <a:ea typeface="Arial"/>
              <a:cs typeface="Arial"/>
              <a:sym typeface="Arial"/>
            </a:endParaRPr>
          </a:p>
        </p:txBody>
      </p:sp>
      <p:sp>
        <p:nvSpPr>
          <p:cNvPr id="374" name="Google Shape;374;p34"/>
          <p:cNvSpPr/>
          <p:nvPr/>
        </p:nvSpPr>
        <p:spPr>
          <a:xfrm>
            <a:off x="914400" y="3488574"/>
            <a:ext cx="5569500" cy="274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Consolas"/>
                <a:ea typeface="Consolas"/>
                <a:cs typeface="Consolas"/>
                <a:sym typeface="Consolas"/>
              </a:rPr>
              <a:t>claude plugin install formatter@your-org --scope project</a:t>
            </a:r>
            <a:endParaRPr b="0" i="0" sz="1400" u="none" cap="none" strike="noStrike">
              <a:solidFill>
                <a:srgbClr val="000000"/>
              </a:solidFill>
              <a:latin typeface="Arial"/>
              <a:ea typeface="Arial"/>
              <a:cs typeface="Arial"/>
              <a:sym typeface="Arial"/>
            </a:endParaRPr>
          </a:p>
        </p:txBody>
      </p:sp>
      <p:sp>
        <p:nvSpPr>
          <p:cNvPr id="375" name="Google Shape;375;p34"/>
          <p:cNvSpPr/>
          <p:nvPr/>
        </p:nvSpPr>
        <p:spPr>
          <a:xfrm>
            <a:off x="7226700" y="1330025"/>
            <a:ext cx="1460100" cy="3059100"/>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Calibri"/>
                <a:ea typeface="Calibri"/>
                <a:cs typeface="Calibri"/>
                <a:sym typeface="Calibri"/>
              </a:rPr>
              <a:t>Interactive UI recommended for choosing scope—you can see all options clearly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80" name="Shape 380"/>
        <p:cNvGrpSpPr/>
        <p:nvPr/>
      </p:nvGrpSpPr>
      <p:grpSpPr>
        <a:xfrm>
          <a:off x="0" y="0"/>
          <a:ext cx="0" cy="0"/>
          <a:chOff x="0" y="0"/>
          <a:chExt cx="0" cy="0"/>
        </a:xfrm>
      </p:grpSpPr>
      <p:sp>
        <p:nvSpPr>
          <p:cNvPr id="381" name="Google Shape;381;p35"/>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Managing Plugins</a:t>
            </a:r>
            <a:endParaRPr b="0" i="0" sz="1400" u="none" cap="none" strike="noStrike">
              <a:solidFill>
                <a:srgbClr val="000000"/>
              </a:solidFill>
              <a:latin typeface="Arial"/>
              <a:ea typeface="Arial"/>
              <a:cs typeface="Arial"/>
              <a:sym typeface="Arial"/>
            </a:endParaRPr>
          </a:p>
        </p:txBody>
      </p:sp>
      <p:sp>
        <p:nvSpPr>
          <p:cNvPr id="382" name="Google Shape;382;p35"/>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View Installed Plugins</a:t>
            </a:r>
            <a:endParaRPr b="0" i="0" sz="1400" u="none" cap="none" strike="noStrike">
              <a:solidFill>
                <a:srgbClr val="000000"/>
              </a:solidFill>
              <a:latin typeface="Arial"/>
              <a:ea typeface="Arial"/>
              <a:cs typeface="Arial"/>
              <a:sym typeface="Arial"/>
            </a:endParaRPr>
          </a:p>
        </p:txBody>
      </p:sp>
      <p:sp>
        <p:nvSpPr>
          <p:cNvPr id="383" name="Google Shape;383;p35"/>
          <p:cNvSpPr txBox="1"/>
          <p:nvPr/>
        </p:nvSpPr>
        <p:spPr>
          <a:xfrm>
            <a:off x="731520" y="1645920"/>
            <a:ext cx="7680900" cy="555600"/>
          </a:xfrm>
          <a:prstGeom prst="rect">
            <a:avLst/>
          </a:prstGeom>
          <a:noFill/>
          <a:ln>
            <a:noFill/>
          </a:ln>
        </p:spPr>
        <p:txBody>
          <a:bodyPr anchorCtr="0" anchor="t" bIns="45700" lIns="91425" spcFirstLastPara="1" rIns="91425" wrap="square" tIns="45700">
            <a:spAutoFit/>
          </a:bodyPr>
          <a:lstStyle/>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/plugin command → Installed tab</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Plugins grouped by scope (User, Project, Local, Managed)</a:t>
            </a:r>
            <a:endParaRPr b="0" i="0" sz="1400" u="none" cap="none" strike="noStrike">
              <a:solidFill>
                <a:srgbClr val="000000"/>
              </a:solidFill>
              <a:latin typeface="Arial"/>
              <a:ea typeface="Arial"/>
              <a:cs typeface="Arial"/>
              <a:sym typeface="Arial"/>
            </a:endParaRPr>
          </a:p>
        </p:txBody>
      </p:sp>
      <p:sp>
        <p:nvSpPr>
          <p:cNvPr id="384" name="Google Shape;384;p35"/>
          <p:cNvSpPr txBox="1"/>
          <p:nvPr/>
        </p:nvSpPr>
        <p:spPr>
          <a:xfrm>
            <a:off x="731520" y="2459182"/>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Common Management Tasks</a:t>
            </a:r>
            <a:endParaRPr b="0" i="0" sz="1400" u="none" cap="none" strike="noStrike">
              <a:solidFill>
                <a:srgbClr val="000000"/>
              </a:solidFill>
              <a:latin typeface="Arial"/>
              <a:ea typeface="Arial"/>
              <a:cs typeface="Arial"/>
              <a:sym typeface="Arial"/>
            </a:endParaRPr>
          </a:p>
        </p:txBody>
      </p:sp>
      <p:sp>
        <p:nvSpPr>
          <p:cNvPr id="385" name="Google Shape;385;p35"/>
          <p:cNvSpPr txBox="1"/>
          <p:nvPr/>
        </p:nvSpPr>
        <p:spPr>
          <a:xfrm>
            <a:off x="731520" y="2916382"/>
            <a:ext cx="7680900" cy="803400"/>
          </a:xfrm>
          <a:prstGeom prst="rect">
            <a:avLst/>
          </a:prstGeom>
          <a:noFill/>
          <a:ln>
            <a:noFill/>
          </a:ln>
        </p:spPr>
        <p:txBody>
          <a:bodyPr anchorCtr="0" anchor="t" bIns="45700" lIns="91425" spcFirstLastPara="1" rIns="91425" wrap="square" tIns="45700">
            <a:spAutoFit/>
          </a:bodyPr>
          <a:lstStyle/>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Disable: /plugin disable plugin-name@marketplace (temporary)</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Enable: /plugin enable plugin-name@marketplace (re-activate)</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Uninstall: /plugin uninstall plugin-name@marketplace (permanent removal)</a:t>
            </a:r>
            <a:endParaRPr b="0" i="0" sz="1400" u="none" cap="none" strike="noStrike">
              <a:solidFill>
                <a:srgbClr val="000000"/>
              </a:solidFill>
              <a:latin typeface="Arial"/>
              <a:ea typeface="Arial"/>
              <a:cs typeface="Arial"/>
              <a:sym typeface="Arial"/>
            </a:endParaRPr>
          </a:p>
        </p:txBody>
      </p:sp>
      <p:sp>
        <p:nvSpPr>
          <p:cNvPr id="386" name="Google Shape;386;p35"/>
          <p:cNvSpPr/>
          <p:nvPr/>
        </p:nvSpPr>
        <p:spPr>
          <a:xfrm>
            <a:off x="6906491" y="1330036"/>
            <a:ext cx="1780308" cy="3059084"/>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Calibri"/>
                <a:ea typeface="Calibri"/>
                <a:cs typeface="Calibri"/>
                <a:sym typeface="Calibri"/>
              </a:rPr>
              <a:t>Disabling is useful for troubleshooting conflicts without losing configuration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91" name="Shape 391"/>
        <p:cNvGrpSpPr/>
        <p:nvPr/>
      </p:nvGrpSpPr>
      <p:grpSpPr>
        <a:xfrm>
          <a:off x="0" y="0"/>
          <a:ext cx="0" cy="0"/>
          <a:chOff x="0" y="0"/>
          <a:chExt cx="0" cy="0"/>
        </a:xfrm>
      </p:grpSpPr>
      <p:sp>
        <p:nvSpPr>
          <p:cNvPr id="392" name="Google Shape;392;p36"/>
          <p:cNvSpPr/>
          <p:nvPr/>
        </p:nvSpPr>
        <p:spPr>
          <a:xfrm>
            <a:off x="0" y="0"/>
            <a:ext cx="2632364" cy="5143500"/>
          </a:xfrm>
          <a:prstGeom prst="rect">
            <a:avLst/>
          </a:prstGeom>
          <a:solidFill>
            <a:srgbClr val="788C5D"/>
          </a:solidFill>
          <a:ln cap="flat" cmpd="sng" w="9525">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3" name="Google Shape;393;p36"/>
          <p:cNvSpPr txBox="1"/>
          <p:nvPr/>
        </p:nvSpPr>
        <p:spPr>
          <a:xfrm>
            <a:off x="278911" y="3079865"/>
            <a:ext cx="2074542" cy="15696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Module 4:</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Knowledge</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Check</a:t>
            </a:r>
            <a:endParaRPr b="0" i="0" sz="1400" u="none" cap="none" strike="noStrike">
              <a:solidFill>
                <a:srgbClr val="000000"/>
              </a:solidFill>
              <a:latin typeface="Arial"/>
              <a:ea typeface="Arial"/>
              <a:cs typeface="Arial"/>
              <a:sym typeface="Arial"/>
            </a:endParaRPr>
          </a:p>
        </p:txBody>
      </p:sp>
      <p:pic>
        <p:nvPicPr>
          <p:cNvPr descr="Brain with solid fill" id="394" name="Google Shape;394;p36"/>
          <p:cNvPicPr preferRelativeResize="0"/>
          <p:nvPr/>
        </p:nvPicPr>
        <p:blipFill rotWithShape="1">
          <a:blip r:embed="rId3">
            <a:alphaModFix/>
          </a:blip>
          <a:srcRect b="0" l="0" r="0" t="0"/>
          <a:stretch/>
        </p:blipFill>
        <p:spPr>
          <a:xfrm>
            <a:off x="969818" y="2376055"/>
            <a:ext cx="703810" cy="703810"/>
          </a:xfrm>
          <a:prstGeom prst="rect">
            <a:avLst/>
          </a:prstGeom>
          <a:noFill/>
          <a:ln>
            <a:noFill/>
          </a:ln>
        </p:spPr>
      </p:pic>
      <p:sp>
        <p:nvSpPr>
          <p:cNvPr id="395" name="Google Shape;395;p36"/>
          <p:cNvSpPr txBox="1"/>
          <p:nvPr/>
        </p:nvSpPr>
        <p:spPr>
          <a:xfrm>
            <a:off x="3129308" y="834391"/>
            <a:ext cx="531890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When installing via CLI without --scope flag, which scope is used by default?</a:t>
            </a:r>
            <a:endParaRPr b="0" i="0" sz="1400" u="none" cap="none" strike="noStrike">
              <a:solidFill>
                <a:srgbClr val="000000"/>
              </a:solidFill>
              <a:latin typeface="Arial"/>
              <a:ea typeface="Arial"/>
              <a:cs typeface="Arial"/>
              <a:sym typeface="Arial"/>
            </a:endParaRPr>
          </a:p>
        </p:txBody>
      </p:sp>
      <p:sp>
        <p:nvSpPr>
          <p:cNvPr id="396" name="Google Shape;396;p36"/>
          <p:cNvSpPr txBox="1"/>
          <p:nvPr/>
        </p:nvSpPr>
        <p:spPr>
          <a:xfrm>
            <a:off x="3129308" y="2571750"/>
            <a:ext cx="531890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Which scope should you use for a plugin that connects to your company's internal API?</a:t>
            </a:r>
            <a:endParaRPr b="0" i="0" sz="1400" u="none" cap="none" strike="noStrike">
              <a:solidFill>
                <a:srgbClr val="000000"/>
              </a:solidFill>
              <a:latin typeface="Arial"/>
              <a:ea typeface="Arial"/>
              <a:cs typeface="Arial"/>
              <a:sym typeface="Arial"/>
            </a:endParaRPr>
          </a:p>
        </p:txBody>
      </p:sp>
      <p:sp>
        <p:nvSpPr>
          <p:cNvPr id="397" name="Google Shape;397;p36"/>
          <p:cNvSpPr txBox="1"/>
          <p:nvPr/>
        </p:nvSpPr>
        <p:spPr>
          <a:xfrm>
            <a:off x="3312188" y="1292458"/>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A) Project</a:t>
            </a:r>
            <a:endParaRPr i="0" sz="1400" u="none" cap="none" strike="noStrike">
              <a:solidFill>
                <a:schemeClr val="dk1"/>
              </a:solidFill>
            </a:endParaRPr>
          </a:p>
        </p:txBody>
      </p:sp>
      <p:sp>
        <p:nvSpPr>
          <p:cNvPr id="398" name="Google Shape;398;p36"/>
          <p:cNvSpPr txBox="1"/>
          <p:nvPr/>
        </p:nvSpPr>
        <p:spPr>
          <a:xfrm>
            <a:off x="3312188" y="1566778"/>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B) User</a:t>
            </a:r>
            <a:endParaRPr i="0" sz="1400" u="none" cap="none" strike="noStrike">
              <a:solidFill>
                <a:schemeClr val="dk1"/>
              </a:solidFill>
            </a:endParaRPr>
          </a:p>
        </p:txBody>
      </p:sp>
      <p:sp>
        <p:nvSpPr>
          <p:cNvPr id="399" name="Google Shape;399;p36"/>
          <p:cNvSpPr txBox="1"/>
          <p:nvPr/>
        </p:nvSpPr>
        <p:spPr>
          <a:xfrm>
            <a:off x="3312188" y="1841097"/>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C) Local</a:t>
            </a:r>
            <a:endParaRPr i="0" sz="1400" u="none" cap="none" strike="noStrike">
              <a:solidFill>
                <a:schemeClr val="dk1"/>
              </a:solidFill>
            </a:endParaRPr>
          </a:p>
        </p:txBody>
      </p:sp>
      <p:sp>
        <p:nvSpPr>
          <p:cNvPr id="400" name="Google Shape;400;p36"/>
          <p:cNvSpPr txBox="1"/>
          <p:nvPr/>
        </p:nvSpPr>
        <p:spPr>
          <a:xfrm>
            <a:off x="3312188" y="2115417"/>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D) Managed</a:t>
            </a:r>
            <a:endParaRPr i="0" sz="1400" u="none" cap="none" strike="noStrike">
              <a:solidFill>
                <a:schemeClr val="dk1"/>
              </a:solidFill>
            </a:endParaRPr>
          </a:p>
        </p:txBody>
      </p:sp>
      <p:sp>
        <p:nvSpPr>
          <p:cNvPr id="401" name="Google Shape;401;p36"/>
          <p:cNvSpPr txBox="1"/>
          <p:nvPr/>
        </p:nvSpPr>
        <p:spPr>
          <a:xfrm>
            <a:off x="3312188" y="3028950"/>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A) User (everyone installs individually)</a:t>
            </a:r>
            <a:endParaRPr i="0" sz="1400" u="none" cap="none" strike="noStrike">
              <a:solidFill>
                <a:schemeClr val="dk1"/>
              </a:solidFill>
            </a:endParaRPr>
          </a:p>
        </p:txBody>
      </p:sp>
      <p:sp>
        <p:nvSpPr>
          <p:cNvPr id="402" name="Google Shape;402;p36"/>
          <p:cNvSpPr txBox="1"/>
          <p:nvPr/>
        </p:nvSpPr>
        <p:spPr>
          <a:xfrm>
            <a:off x="3312188" y="3303270"/>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B) Project (shared with team)</a:t>
            </a:r>
            <a:endParaRPr i="0" sz="1400" u="none" cap="none" strike="noStrike">
              <a:solidFill>
                <a:schemeClr val="dk1"/>
              </a:solidFill>
            </a:endParaRPr>
          </a:p>
        </p:txBody>
      </p:sp>
      <p:sp>
        <p:nvSpPr>
          <p:cNvPr id="403" name="Google Shape;403;p36"/>
          <p:cNvSpPr txBox="1"/>
          <p:nvPr/>
        </p:nvSpPr>
        <p:spPr>
          <a:xfrm>
            <a:off x="3312188" y="3577590"/>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C) Local (isolated testing)</a:t>
            </a:r>
            <a:endParaRPr i="0" sz="1400" u="none" cap="none" strike="noStrike">
              <a:solidFill>
                <a:schemeClr val="dk1"/>
              </a:solidFill>
            </a:endParaRPr>
          </a:p>
        </p:txBody>
      </p:sp>
      <p:sp>
        <p:nvSpPr>
          <p:cNvPr id="404" name="Google Shape;404;p36"/>
          <p:cNvSpPr txBox="1"/>
          <p:nvPr/>
        </p:nvSpPr>
        <p:spPr>
          <a:xfrm>
            <a:off x="3312188" y="3851910"/>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D) Managed (admin-controlled)</a:t>
            </a:r>
            <a:endParaRPr i="0" sz="1400" u="none" cap="none" strike="noStrike">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09" name="Shape 409"/>
        <p:cNvGrpSpPr/>
        <p:nvPr/>
      </p:nvGrpSpPr>
      <p:grpSpPr>
        <a:xfrm>
          <a:off x="0" y="0"/>
          <a:ext cx="0" cy="0"/>
          <a:chOff x="0" y="0"/>
          <a:chExt cx="0" cy="0"/>
        </a:xfrm>
      </p:grpSpPr>
      <p:sp>
        <p:nvSpPr>
          <p:cNvPr id="410" name="Google Shape;410;p37"/>
          <p:cNvSpPr txBox="1"/>
          <p:nvPr/>
        </p:nvSpPr>
        <p:spPr>
          <a:xfrm>
            <a:off x="457200" y="502920"/>
            <a:ext cx="353032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Module 4 Summary</a:t>
            </a:r>
            <a:endParaRPr b="0" i="0" sz="1400" u="none" cap="none" strike="noStrike">
              <a:solidFill>
                <a:srgbClr val="000000"/>
              </a:solidFill>
              <a:latin typeface="Arial"/>
              <a:ea typeface="Arial"/>
              <a:cs typeface="Arial"/>
              <a:sym typeface="Arial"/>
            </a:endParaRPr>
          </a:p>
        </p:txBody>
      </p:sp>
      <p:sp>
        <p:nvSpPr>
          <p:cNvPr id="411" name="Google Shape;411;p37"/>
          <p:cNvSpPr txBox="1"/>
          <p:nvPr/>
        </p:nvSpPr>
        <p:spPr>
          <a:xfrm>
            <a:off x="457200" y="1051560"/>
            <a:ext cx="31829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36454F"/>
                </a:solidFill>
                <a:latin typeface="Calibri"/>
                <a:ea typeface="Calibri"/>
                <a:cs typeface="Calibri"/>
                <a:sym typeface="Calibri"/>
              </a:rPr>
              <a:t>Installing and Managing Plugins</a:t>
            </a:r>
            <a:endParaRPr b="0" i="0" sz="1800" u="none" cap="none" strike="noStrike">
              <a:solidFill>
                <a:schemeClr val="dk1"/>
              </a:solidFill>
              <a:latin typeface="Calibri"/>
              <a:ea typeface="Calibri"/>
              <a:cs typeface="Calibri"/>
              <a:sym typeface="Calibri"/>
            </a:endParaRPr>
          </a:p>
        </p:txBody>
      </p:sp>
      <p:sp>
        <p:nvSpPr>
          <p:cNvPr id="412" name="Google Shape;412;p37"/>
          <p:cNvSpPr txBox="1"/>
          <p:nvPr/>
        </p:nvSpPr>
        <p:spPr>
          <a:xfrm>
            <a:off x="45720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Key Takeaways</a:t>
            </a:r>
            <a:endParaRPr b="0" i="0" sz="1400" u="none" cap="none" strike="noStrike">
              <a:solidFill>
                <a:srgbClr val="000000"/>
              </a:solidFill>
              <a:latin typeface="Arial"/>
              <a:ea typeface="Arial"/>
              <a:cs typeface="Arial"/>
              <a:sym typeface="Arial"/>
            </a:endParaRPr>
          </a:p>
        </p:txBody>
      </p:sp>
      <p:sp>
        <p:nvSpPr>
          <p:cNvPr id="413" name="Google Shape;413;p37"/>
          <p:cNvSpPr txBox="1"/>
          <p:nvPr/>
        </p:nvSpPr>
        <p:spPr>
          <a:xfrm>
            <a:off x="457200" y="2103120"/>
            <a:ext cx="5389418" cy="2369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Three scopes: User (all projects), Project (team shared), Local (this repo only)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Install via CLI (/plugin install) or Interactive UI for scope selection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Disable plugins temporarily for troubleshooting; uninstall to remove permanently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Project scope is ideal for team-shared functionality like API integrations</a:t>
            </a:r>
            <a:endParaRPr b="0" i="0" sz="1400" u="none" cap="none" strike="noStrike">
              <a:solidFill>
                <a:srgbClr val="000000"/>
              </a:solidFill>
              <a:latin typeface="Arial"/>
              <a:ea typeface="Arial"/>
              <a:cs typeface="Arial"/>
              <a:sym typeface="Arial"/>
            </a:endParaRPr>
          </a:p>
        </p:txBody>
      </p:sp>
      <p:sp>
        <p:nvSpPr>
          <p:cNvPr id="414" name="Google Shape;414;p37"/>
          <p:cNvSpPr/>
          <p:nvPr/>
        </p:nvSpPr>
        <p:spPr>
          <a:xfrm>
            <a:off x="6511636" y="0"/>
            <a:ext cx="2632364" cy="5143500"/>
          </a:xfrm>
          <a:prstGeom prst="rect">
            <a:avLst/>
          </a:prstGeom>
          <a:solidFill>
            <a:srgbClr val="D97757"/>
          </a:solidFill>
          <a:ln cap="flat" cmpd="sng" w="9525">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Key with solid fill" id="415" name="Google Shape;415;p37"/>
          <p:cNvPicPr preferRelativeResize="0"/>
          <p:nvPr/>
        </p:nvPicPr>
        <p:blipFill rotWithShape="1">
          <a:blip r:embed="rId3">
            <a:alphaModFix/>
          </a:blip>
          <a:srcRect b="0" l="0" r="0" t="0"/>
          <a:stretch/>
        </p:blipFill>
        <p:spPr>
          <a:xfrm>
            <a:off x="7370618" y="502920"/>
            <a:ext cx="914400" cy="9144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9BCC"/>
        </a:solidFill>
      </p:bgPr>
    </p:bg>
    <p:spTree>
      <p:nvGrpSpPr>
        <p:cNvPr id="420" name="Shape 420"/>
        <p:cNvGrpSpPr/>
        <p:nvPr/>
      </p:nvGrpSpPr>
      <p:grpSpPr>
        <a:xfrm>
          <a:off x="0" y="0"/>
          <a:ext cx="0" cy="0"/>
          <a:chOff x="0" y="0"/>
          <a:chExt cx="0" cy="0"/>
        </a:xfrm>
      </p:grpSpPr>
      <p:sp>
        <p:nvSpPr>
          <p:cNvPr id="421" name="Google Shape;421;p38"/>
          <p:cNvSpPr txBox="1"/>
          <p:nvPr/>
        </p:nvSpPr>
        <p:spPr>
          <a:xfrm>
            <a:off x="609600" y="655320"/>
            <a:ext cx="6179897" cy="5539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Calibri"/>
                <a:ea typeface="Calibri"/>
                <a:cs typeface="Calibri"/>
                <a:sym typeface="Calibri"/>
              </a:rPr>
              <a:t>Module 5: Lab: Adding a Demo Plugin</a:t>
            </a:r>
            <a:endParaRPr b="0" i="0" sz="1400" u="none" cap="none" strike="noStrike">
              <a:solidFill>
                <a:srgbClr val="000000"/>
              </a:solidFill>
              <a:latin typeface="Arial"/>
              <a:ea typeface="Arial"/>
              <a:cs typeface="Arial"/>
              <a:sym typeface="Arial"/>
            </a:endParaRPr>
          </a:p>
        </p:txBody>
      </p:sp>
      <p:sp>
        <p:nvSpPr>
          <p:cNvPr id="422" name="Google Shape;422;p38"/>
          <p:cNvSpPr txBox="1"/>
          <p:nvPr/>
        </p:nvSpPr>
        <p:spPr>
          <a:xfrm>
            <a:off x="609600" y="1203960"/>
            <a:ext cx="212019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Hands-On Exercise</a:t>
            </a:r>
            <a:endParaRPr b="0" i="0" sz="1400" u="none" cap="none" strike="noStrike">
              <a:solidFill>
                <a:srgbClr val="000000"/>
              </a:solidFill>
              <a:latin typeface="Arial"/>
              <a:ea typeface="Arial"/>
              <a:cs typeface="Arial"/>
              <a:sym typeface="Arial"/>
            </a:endParaRPr>
          </a:p>
        </p:txBody>
      </p:sp>
      <p:sp>
        <p:nvSpPr>
          <p:cNvPr id="423" name="Google Shape;423;p38"/>
          <p:cNvSpPr txBox="1"/>
          <p:nvPr/>
        </p:nvSpPr>
        <p:spPr>
          <a:xfrm>
            <a:off x="609600" y="1798320"/>
            <a:ext cx="3911840"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Install a plugin from the demo marketplace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Choose an appropriate installation scope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Test the plugin's functionality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View installed plugin in the manager</a:t>
            </a:r>
            <a:endParaRPr b="0" i="0" sz="1400" u="none" cap="none" strike="noStrike">
              <a:solidFill>
                <a:srgbClr val="000000"/>
              </a:solidFill>
              <a:latin typeface="Arial"/>
              <a:ea typeface="Arial"/>
              <a:cs typeface="Arial"/>
              <a:sym typeface="Arial"/>
            </a:endParaRPr>
          </a:p>
        </p:txBody>
      </p:sp>
      <p:sp>
        <p:nvSpPr>
          <p:cNvPr id="424" name="Google Shape;424;p38"/>
          <p:cNvSpPr/>
          <p:nvPr/>
        </p:nvSpPr>
        <p:spPr>
          <a:xfrm>
            <a:off x="7467600" y="4541520"/>
            <a:ext cx="1371600" cy="457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 20 minutes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29" name="Shape 429"/>
        <p:cNvGrpSpPr/>
        <p:nvPr/>
      </p:nvGrpSpPr>
      <p:grpSpPr>
        <a:xfrm>
          <a:off x="0" y="0"/>
          <a:ext cx="0" cy="0"/>
          <a:chOff x="0" y="0"/>
          <a:chExt cx="0" cy="0"/>
        </a:xfrm>
      </p:grpSpPr>
      <p:sp>
        <p:nvSpPr>
          <p:cNvPr id="430" name="Google Shape;430;p39"/>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Lab Steps</a:t>
            </a:r>
            <a:endParaRPr b="0" i="0" sz="1400" u="none" cap="none" strike="noStrike">
              <a:solidFill>
                <a:srgbClr val="000000"/>
              </a:solidFill>
              <a:latin typeface="Arial"/>
              <a:ea typeface="Arial"/>
              <a:cs typeface="Arial"/>
              <a:sym typeface="Arial"/>
            </a:endParaRPr>
          </a:p>
        </p:txBody>
      </p:sp>
      <p:sp>
        <p:nvSpPr>
          <p:cNvPr id="431" name="Google Shape;431;p39"/>
          <p:cNvSpPr txBox="1"/>
          <p:nvPr/>
        </p:nvSpPr>
        <p:spPr>
          <a:xfrm>
            <a:off x="4440370" y="1186020"/>
            <a:ext cx="7680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36454F"/>
                </a:solidFill>
                <a:latin typeface="Calibri"/>
                <a:ea typeface="Calibri"/>
                <a:cs typeface="Calibri"/>
                <a:sym typeface="Calibri"/>
              </a:rPr>
              <a:t>Browse Discover tab, select 'commit-commands'</a:t>
            </a:r>
            <a:endParaRPr b="0" i="0" sz="1400" u="none" cap="none" strike="noStrike">
              <a:solidFill>
                <a:srgbClr val="000000"/>
              </a:solidFill>
              <a:latin typeface="Arial"/>
              <a:ea typeface="Arial"/>
              <a:cs typeface="Arial"/>
              <a:sym typeface="Arial"/>
            </a:endParaRPr>
          </a:p>
        </p:txBody>
      </p:sp>
      <p:sp>
        <p:nvSpPr>
          <p:cNvPr id="432" name="Google Shape;432;p39"/>
          <p:cNvSpPr txBox="1"/>
          <p:nvPr/>
        </p:nvSpPr>
        <p:spPr>
          <a:xfrm>
            <a:off x="4440370" y="1827450"/>
            <a:ext cx="7680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36454F"/>
                </a:solidFill>
                <a:latin typeface="Calibri"/>
                <a:ea typeface="Calibri"/>
                <a:cs typeface="Calibri"/>
                <a:sym typeface="Calibri"/>
              </a:rPr>
              <a:t>/plugin install commit-commands@anthropics-claude-code</a:t>
            </a:r>
            <a:endParaRPr b="0" i="0" sz="1400" u="none" cap="none" strike="noStrike">
              <a:solidFill>
                <a:srgbClr val="000000"/>
              </a:solidFill>
              <a:latin typeface="Arial"/>
              <a:ea typeface="Arial"/>
              <a:cs typeface="Arial"/>
              <a:sym typeface="Arial"/>
            </a:endParaRPr>
          </a:p>
        </p:txBody>
      </p:sp>
      <p:sp>
        <p:nvSpPr>
          <p:cNvPr id="433" name="Google Shape;433;p39"/>
          <p:cNvSpPr txBox="1"/>
          <p:nvPr/>
        </p:nvSpPr>
        <p:spPr>
          <a:xfrm>
            <a:off x="4440370" y="2467530"/>
            <a:ext cx="7680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36454F"/>
                </a:solidFill>
                <a:latin typeface="Calibri"/>
                <a:ea typeface="Calibri"/>
                <a:cs typeface="Calibri"/>
                <a:sym typeface="Calibri"/>
              </a:rPr>
              <a:t>/plugin → Installed tab → Look for commit-commands</a:t>
            </a:r>
            <a:endParaRPr b="0" i="0" sz="1400" u="none" cap="none" strike="noStrike">
              <a:solidFill>
                <a:srgbClr val="000000"/>
              </a:solidFill>
              <a:latin typeface="Arial"/>
              <a:ea typeface="Arial"/>
              <a:cs typeface="Arial"/>
              <a:sym typeface="Arial"/>
            </a:endParaRPr>
          </a:p>
        </p:txBody>
      </p:sp>
      <p:sp>
        <p:nvSpPr>
          <p:cNvPr id="434" name="Google Shape;434;p39"/>
          <p:cNvSpPr txBox="1"/>
          <p:nvPr/>
        </p:nvSpPr>
        <p:spPr>
          <a:xfrm>
            <a:off x="4418620" y="5419535"/>
            <a:ext cx="7680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39"/>
          <p:cNvSpPr txBox="1"/>
          <p:nvPr/>
        </p:nvSpPr>
        <p:spPr>
          <a:xfrm>
            <a:off x="4418620" y="6059615"/>
            <a:ext cx="7680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39"/>
          <p:cNvSpPr txBox="1"/>
          <p:nvPr/>
        </p:nvSpPr>
        <p:spPr>
          <a:xfrm>
            <a:off x="509847" y="1188720"/>
            <a:ext cx="32004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400"/>
              <a:buFont typeface="Arial"/>
              <a:buNone/>
            </a:pPr>
            <a:r>
              <a:rPr b="1" lang="en-US">
                <a:solidFill>
                  <a:srgbClr val="141413"/>
                </a:solidFill>
                <a:latin typeface="Calibri"/>
                <a:ea typeface="Calibri"/>
                <a:cs typeface="Calibri"/>
                <a:sym typeface="Calibri"/>
              </a:rPr>
              <a:t>Step 1: Choose a plugin</a:t>
            </a:r>
            <a:endParaRPr b="1">
              <a:solidFill>
                <a:srgbClr val="141413"/>
              </a:solidFill>
              <a:latin typeface="Calibri"/>
              <a:ea typeface="Calibri"/>
              <a:cs typeface="Calibri"/>
              <a:sym typeface="Calibri"/>
            </a:endParaRPr>
          </a:p>
        </p:txBody>
      </p:sp>
      <p:sp>
        <p:nvSpPr>
          <p:cNvPr id="437" name="Google Shape;437;p39"/>
          <p:cNvSpPr txBox="1"/>
          <p:nvPr/>
        </p:nvSpPr>
        <p:spPr>
          <a:xfrm>
            <a:off x="509847" y="1828800"/>
            <a:ext cx="32004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400"/>
              <a:buFont typeface="Arial"/>
              <a:buNone/>
            </a:pPr>
            <a:r>
              <a:rPr b="1" lang="en-US">
                <a:solidFill>
                  <a:srgbClr val="141413"/>
                </a:solidFill>
                <a:latin typeface="Calibri"/>
                <a:ea typeface="Calibri"/>
                <a:cs typeface="Calibri"/>
                <a:sym typeface="Calibri"/>
              </a:rPr>
              <a:t>Step 2: Install to user scope</a:t>
            </a:r>
            <a:endParaRPr b="1">
              <a:solidFill>
                <a:srgbClr val="141413"/>
              </a:solidFill>
              <a:latin typeface="Calibri"/>
              <a:ea typeface="Calibri"/>
              <a:cs typeface="Calibri"/>
              <a:sym typeface="Calibri"/>
            </a:endParaRPr>
          </a:p>
        </p:txBody>
      </p:sp>
      <p:sp>
        <p:nvSpPr>
          <p:cNvPr id="438" name="Google Shape;438;p39"/>
          <p:cNvSpPr txBox="1"/>
          <p:nvPr/>
        </p:nvSpPr>
        <p:spPr>
          <a:xfrm>
            <a:off x="509847" y="2468880"/>
            <a:ext cx="32004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400"/>
              <a:buFont typeface="Arial"/>
              <a:buNone/>
            </a:pPr>
            <a:r>
              <a:rPr b="1" lang="en-US">
                <a:solidFill>
                  <a:srgbClr val="141413"/>
                </a:solidFill>
                <a:latin typeface="Calibri"/>
                <a:ea typeface="Calibri"/>
                <a:cs typeface="Calibri"/>
                <a:sym typeface="Calibri"/>
              </a:rPr>
              <a:t>Step 3: Verify installation</a:t>
            </a:r>
            <a:endParaRPr b="1">
              <a:solidFill>
                <a:srgbClr val="141413"/>
              </a:solidFill>
              <a:latin typeface="Calibri"/>
              <a:ea typeface="Calibri"/>
              <a:cs typeface="Calibri"/>
              <a:sym typeface="Calibri"/>
            </a:endParaRPr>
          </a:p>
        </p:txBody>
      </p:sp>
      <p:sp>
        <p:nvSpPr>
          <p:cNvPr id="439" name="Google Shape;439;p39"/>
          <p:cNvSpPr txBox="1"/>
          <p:nvPr/>
        </p:nvSpPr>
        <p:spPr>
          <a:xfrm>
            <a:off x="509847" y="3108960"/>
            <a:ext cx="32004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400"/>
              <a:buFont typeface="Arial"/>
              <a:buNone/>
            </a:pPr>
            <a:r>
              <a:rPr b="1" lang="en-US">
                <a:solidFill>
                  <a:srgbClr val="141413"/>
                </a:solidFill>
                <a:latin typeface="Calibri"/>
                <a:ea typeface="Calibri"/>
                <a:cs typeface="Calibri"/>
                <a:sym typeface="Calibri"/>
              </a:rPr>
              <a:t>Step 4: Test the plugin</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b="1">
              <a:solidFill>
                <a:srgbClr val="141413"/>
              </a:solidFill>
              <a:latin typeface="Calibri"/>
              <a:ea typeface="Calibri"/>
              <a:cs typeface="Calibri"/>
              <a:sym typeface="Calibri"/>
            </a:endParaRPr>
          </a:p>
        </p:txBody>
      </p:sp>
      <p:sp>
        <p:nvSpPr>
          <p:cNvPr id="440" name="Google Shape;440;p39"/>
          <p:cNvSpPr txBox="1"/>
          <p:nvPr/>
        </p:nvSpPr>
        <p:spPr>
          <a:xfrm>
            <a:off x="4440382" y="3108960"/>
            <a:ext cx="4297800" cy="276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200"/>
              <a:buFont typeface="Arial"/>
              <a:buNone/>
            </a:pPr>
            <a:r>
              <a:rPr i="1" lang="en-US" sz="1200">
                <a:solidFill>
                  <a:srgbClr val="36454F"/>
                </a:solidFill>
                <a:latin typeface="Calibri"/>
                <a:ea typeface="Calibri"/>
                <a:cs typeface="Calibri"/>
                <a:sym typeface="Calibri"/>
              </a:rPr>
              <a:t>Make a code change, run /commit-commands:commit</a:t>
            </a:r>
            <a:endParaRPr i="1" sz="1200">
              <a:solidFill>
                <a:srgbClr val="36454F"/>
              </a:solidFill>
              <a:latin typeface="Calibri"/>
              <a:ea typeface="Calibri"/>
              <a:cs typeface="Calibri"/>
              <a:sym typeface="Calibri"/>
            </a:endParaRPr>
          </a:p>
        </p:txBody>
      </p:sp>
      <p:sp>
        <p:nvSpPr>
          <p:cNvPr id="441" name="Google Shape;441;p39"/>
          <p:cNvSpPr txBox="1"/>
          <p:nvPr/>
        </p:nvSpPr>
        <p:spPr>
          <a:xfrm>
            <a:off x="509847" y="3749040"/>
            <a:ext cx="32004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400"/>
              <a:buFont typeface="Arial"/>
              <a:buNone/>
            </a:pPr>
            <a:r>
              <a:rPr b="1" lang="en-US">
                <a:solidFill>
                  <a:srgbClr val="141413"/>
                </a:solidFill>
                <a:latin typeface="Calibri"/>
                <a:ea typeface="Calibri"/>
                <a:cs typeface="Calibri"/>
                <a:sym typeface="Calibri"/>
              </a:rPr>
              <a:t>Step 5: Observe behavior</a:t>
            </a:r>
            <a:endParaRPr b="1">
              <a:solidFill>
                <a:srgbClr val="141413"/>
              </a:solidFill>
              <a:latin typeface="Calibri"/>
              <a:ea typeface="Calibri"/>
              <a:cs typeface="Calibri"/>
              <a:sym typeface="Calibri"/>
            </a:endParaRPr>
          </a:p>
        </p:txBody>
      </p:sp>
      <p:sp>
        <p:nvSpPr>
          <p:cNvPr id="442" name="Google Shape;442;p39"/>
          <p:cNvSpPr txBox="1"/>
          <p:nvPr/>
        </p:nvSpPr>
        <p:spPr>
          <a:xfrm>
            <a:off x="4440382" y="3749040"/>
            <a:ext cx="4297800" cy="276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200"/>
              <a:buFont typeface="Arial"/>
              <a:buNone/>
            </a:pPr>
            <a:r>
              <a:rPr i="1" lang="en-US" sz="1200">
                <a:solidFill>
                  <a:srgbClr val="36454F"/>
                </a:solidFill>
                <a:latin typeface="Calibri"/>
                <a:ea typeface="Calibri"/>
                <a:cs typeface="Calibri"/>
                <a:sym typeface="Calibri"/>
              </a:rPr>
              <a:t>Plugin stages changes, generates commit message</a:t>
            </a:r>
            <a:endParaRPr i="1" sz="1200">
              <a:solidFill>
                <a:srgbClr val="36454F"/>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47" name="Shape 447"/>
        <p:cNvGrpSpPr/>
        <p:nvPr/>
      </p:nvGrpSpPr>
      <p:grpSpPr>
        <a:xfrm>
          <a:off x="0" y="0"/>
          <a:ext cx="0" cy="0"/>
          <a:chOff x="0" y="0"/>
          <a:chExt cx="0" cy="0"/>
        </a:xfrm>
      </p:grpSpPr>
      <p:sp>
        <p:nvSpPr>
          <p:cNvPr id="448" name="Google Shape;448;p40"/>
          <p:cNvSpPr/>
          <p:nvPr/>
        </p:nvSpPr>
        <p:spPr>
          <a:xfrm>
            <a:off x="0" y="0"/>
            <a:ext cx="2632364" cy="5143500"/>
          </a:xfrm>
          <a:prstGeom prst="rect">
            <a:avLst/>
          </a:prstGeom>
          <a:solidFill>
            <a:srgbClr val="788C5D"/>
          </a:solidFill>
          <a:ln cap="flat" cmpd="sng" w="9525">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9" name="Google Shape;449;p40"/>
          <p:cNvSpPr txBox="1"/>
          <p:nvPr/>
        </p:nvSpPr>
        <p:spPr>
          <a:xfrm>
            <a:off x="278911" y="3079865"/>
            <a:ext cx="2074542" cy="15696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Module 5:</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Knowledge</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Check</a:t>
            </a:r>
            <a:endParaRPr b="0" i="0" sz="1400" u="none" cap="none" strike="noStrike">
              <a:solidFill>
                <a:srgbClr val="000000"/>
              </a:solidFill>
              <a:latin typeface="Arial"/>
              <a:ea typeface="Arial"/>
              <a:cs typeface="Arial"/>
              <a:sym typeface="Arial"/>
            </a:endParaRPr>
          </a:p>
        </p:txBody>
      </p:sp>
      <p:pic>
        <p:nvPicPr>
          <p:cNvPr descr="Brain with solid fill" id="450" name="Google Shape;450;p40"/>
          <p:cNvPicPr preferRelativeResize="0"/>
          <p:nvPr/>
        </p:nvPicPr>
        <p:blipFill rotWithShape="1">
          <a:blip r:embed="rId3">
            <a:alphaModFix/>
          </a:blip>
          <a:srcRect b="0" l="0" r="0" t="0"/>
          <a:stretch/>
        </p:blipFill>
        <p:spPr>
          <a:xfrm>
            <a:off x="969818" y="2376055"/>
            <a:ext cx="703810" cy="703810"/>
          </a:xfrm>
          <a:prstGeom prst="rect">
            <a:avLst/>
          </a:prstGeom>
          <a:noFill/>
          <a:ln>
            <a:noFill/>
          </a:ln>
        </p:spPr>
      </p:pic>
      <p:sp>
        <p:nvSpPr>
          <p:cNvPr id="451" name="Google Shape;451;p40"/>
          <p:cNvSpPr txBox="1"/>
          <p:nvPr/>
        </p:nvSpPr>
        <p:spPr>
          <a:xfrm>
            <a:off x="3129308" y="834391"/>
            <a:ext cx="531890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After installing a plugin, how do you invoke its commands?</a:t>
            </a:r>
            <a:endParaRPr b="0" i="0" sz="1400" u="none" cap="none" strike="noStrike">
              <a:solidFill>
                <a:srgbClr val="000000"/>
              </a:solidFill>
              <a:latin typeface="Arial"/>
              <a:ea typeface="Arial"/>
              <a:cs typeface="Arial"/>
              <a:sym typeface="Arial"/>
            </a:endParaRPr>
          </a:p>
        </p:txBody>
      </p:sp>
      <p:sp>
        <p:nvSpPr>
          <p:cNvPr id="452" name="Google Shape;452;p40"/>
          <p:cNvSpPr txBox="1"/>
          <p:nvPr/>
        </p:nvSpPr>
        <p:spPr>
          <a:xfrm>
            <a:off x="3312188" y="1291590"/>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A) /command-name (direct)</a:t>
            </a:r>
            <a:endParaRPr i="0" sz="1400" u="none" cap="none" strike="noStrike">
              <a:solidFill>
                <a:schemeClr val="dk1"/>
              </a:solidFill>
            </a:endParaRPr>
          </a:p>
        </p:txBody>
      </p:sp>
      <p:sp>
        <p:nvSpPr>
          <p:cNvPr id="453" name="Google Shape;453;p40"/>
          <p:cNvSpPr txBox="1"/>
          <p:nvPr/>
        </p:nvSpPr>
        <p:spPr>
          <a:xfrm>
            <a:off x="3312188" y="1565910"/>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B) /plugin-name:command-name (namespaced)</a:t>
            </a:r>
            <a:endParaRPr i="0" sz="1400" u="none" cap="none" strike="noStrike">
              <a:solidFill>
                <a:schemeClr val="dk1"/>
              </a:solidFill>
            </a:endParaRPr>
          </a:p>
        </p:txBody>
      </p:sp>
      <p:sp>
        <p:nvSpPr>
          <p:cNvPr id="454" name="Google Shape;454;p40"/>
          <p:cNvSpPr txBox="1"/>
          <p:nvPr/>
        </p:nvSpPr>
        <p:spPr>
          <a:xfrm>
            <a:off x="3312188" y="1840229"/>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C) /run plugin command-name</a:t>
            </a:r>
            <a:endParaRPr i="0" sz="1400" u="none" cap="none" strike="noStrike">
              <a:solidFill>
                <a:schemeClr val="dk1"/>
              </a:solidFill>
            </a:endParaRPr>
          </a:p>
        </p:txBody>
      </p:sp>
      <p:sp>
        <p:nvSpPr>
          <p:cNvPr id="455" name="Google Shape;455;p40"/>
          <p:cNvSpPr txBox="1"/>
          <p:nvPr/>
        </p:nvSpPr>
        <p:spPr>
          <a:xfrm>
            <a:off x="3312188" y="2114549"/>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D) /execute command from plugin</a:t>
            </a:r>
            <a:endParaRPr i="0" sz="1400" u="none" cap="none" strike="noStrike">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60" name="Shape 460"/>
        <p:cNvGrpSpPr/>
        <p:nvPr/>
      </p:nvGrpSpPr>
      <p:grpSpPr>
        <a:xfrm>
          <a:off x="0" y="0"/>
          <a:ext cx="0" cy="0"/>
          <a:chOff x="0" y="0"/>
          <a:chExt cx="0" cy="0"/>
        </a:xfrm>
      </p:grpSpPr>
      <p:sp>
        <p:nvSpPr>
          <p:cNvPr id="461" name="Google Shape;461;p41"/>
          <p:cNvSpPr txBox="1"/>
          <p:nvPr/>
        </p:nvSpPr>
        <p:spPr>
          <a:xfrm>
            <a:off x="457200" y="502920"/>
            <a:ext cx="353032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Module 5 Summary</a:t>
            </a:r>
            <a:endParaRPr b="0" i="0" sz="1400" u="none" cap="none" strike="noStrike">
              <a:solidFill>
                <a:srgbClr val="000000"/>
              </a:solidFill>
              <a:latin typeface="Arial"/>
              <a:ea typeface="Arial"/>
              <a:cs typeface="Arial"/>
              <a:sym typeface="Arial"/>
            </a:endParaRPr>
          </a:p>
        </p:txBody>
      </p:sp>
      <p:sp>
        <p:nvSpPr>
          <p:cNvPr id="462" name="Google Shape;462;p41"/>
          <p:cNvSpPr txBox="1"/>
          <p:nvPr/>
        </p:nvSpPr>
        <p:spPr>
          <a:xfrm>
            <a:off x="457200" y="1051560"/>
            <a:ext cx="253627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36454F"/>
                </a:solidFill>
                <a:latin typeface="Calibri"/>
                <a:ea typeface="Calibri"/>
                <a:cs typeface="Calibri"/>
                <a:sym typeface="Calibri"/>
              </a:rPr>
              <a:t>Lab: Adding Demo Plugin</a:t>
            </a:r>
            <a:endParaRPr b="0" i="0" sz="1400" u="none" cap="none" strike="noStrike">
              <a:solidFill>
                <a:srgbClr val="000000"/>
              </a:solidFill>
              <a:latin typeface="Arial"/>
              <a:ea typeface="Arial"/>
              <a:cs typeface="Arial"/>
              <a:sym typeface="Arial"/>
            </a:endParaRPr>
          </a:p>
        </p:txBody>
      </p:sp>
      <p:sp>
        <p:nvSpPr>
          <p:cNvPr id="463" name="Google Shape;463;p41"/>
          <p:cNvSpPr txBox="1"/>
          <p:nvPr/>
        </p:nvSpPr>
        <p:spPr>
          <a:xfrm>
            <a:off x="45720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Key Takeaways</a:t>
            </a:r>
            <a:endParaRPr b="0" i="0" sz="1400" u="none" cap="none" strike="noStrike">
              <a:solidFill>
                <a:srgbClr val="000000"/>
              </a:solidFill>
              <a:latin typeface="Arial"/>
              <a:ea typeface="Arial"/>
              <a:cs typeface="Arial"/>
              <a:sym typeface="Arial"/>
            </a:endParaRPr>
          </a:p>
        </p:txBody>
      </p:sp>
      <p:sp>
        <p:nvSpPr>
          <p:cNvPr id="464" name="Google Shape;464;p41"/>
          <p:cNvSpPr txBox="1"/>
          <p:nvPr/>
        </p:nvSpPr>
        <p:spPr>
          <a:xfrm>
            <a:off x="457200" y="2103120"/>
            <a:ext cx="5389418" cy="1877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Plugins are installed per scope and immediately available after installation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Namespaced commands prevent conflicts: /plugin-name:command</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Use /plugin → Installed tab to verify successful installation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Test plugins with real workflows to understand their behavior</a:t>
            </a:r>
            <a:endParaRPr b="0" i="0" sz="1400" u="none" cap="none" strike="noStrike">
              <a:solidFill>
                <a:srgbClr val="000000"/>
              </a:solidFill>
              <a:latin typeface="Arial"/>
              <a:ea typeface="Arial"/>
              <a:cs typeface="Arial"/>
              <a:sym typeface="Arial"/>
            </a:endParaRPr>
          </a:p>
        </p:txBody>
      </p:sp>
      <p:sp>
        <p:nvSpPr>
          <p:cNvPr id="465" name="Google Shape;465;p41"/>
          <p:cNvSpPr/>
          <p:nvPr/>
        </p:nvSpPr>
        <p:spPr>
          <a:xfrm>
            <a:off x="6511636" y="0"/>
            <a:ext cx="2632364" cy="5143500"/>
          </a:xfrm>
          <a:prstGeom prst="rect">
            <a:avLst/>
          </a:prstGeom>
          <a:solidFill>
            <a:srgbClr val="D97757"/>
          </a:solidFill>
          <a:ln cap="flat" cmpd="sng" w="9525">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Key with solid fill" id="466" name="Google Shape;466;p41"/>
          <p:cNvPicPr preferRelativeResize="0"/>
          <p:nvPr/>
        </p:nvPicPr>
        <p:blipFill rotWithShape="1">
          <a:blip r:embed="rId3">
            <a:alphaModFix/>
          </a:blip>
          <a:srcRect b="0" l="0" r="0" t="0"/>
          <a:stretch/>
        </p:blipFill>
        <p:spPr>
          <a:xfrm>
            <a:off x="7370618" y="502920"/>
            <a:ext cx="914400" cy="9144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7757"/>
        </a:solidFill>
      </p:bgPr>
    </p:bg>
    <p:spTree>
      <p:nvGrpSpPr>
        <p:cNvPr id="471" name="Shape 471"/>
        <p:cNvGrpSpPr/>
        <p:nvPr/>
      </p:nvGrpSpPr>
      <p:grpSpPr>
        <a:xfrm>
          <a:off x="0" y="0"/>
          <a:ext cx="0" cy="0"/>
          <a:chOff x="0" y="0"/>
          <a:chExt cx="0" cy="0"/>
        </a:xfrm>
      </p:grpSpPr>
      <p:sp>
        <p:nvSpPr>
          <p:cNvPr id="472" name="Google Shape;472;p42"/>
          <p:cNvSpPr txBox="1"/>
          <p:nvPr/>
        </p:nvSpPr>
        <p:spPr>
          <a:xfrm>
            <a:off x="609600" y="655320"/>
            <a:ext cx="4467890" cy="5539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Calibri"/>
                <a:ea typeface="Calibri"/>
                <a:cs typeface="Calibri"/>
                <a:sym typeface="Calibri"/>
              </a:rPr>
              <a:t>Module 6: Creating Plugins</a:t>
            </a:r>
            <a:endParaRPr b="0" i="0" sz="1400" u="none" cap="none" strike="noStrike">
              <a:solidFill>
                <a:srgbClr val="000000"/>
              </a:solidFill>
              <a:latin typeface="Arial"/>
              <a:ea typeface="Arial"/>
              <a:cs typeface="Arial"/>
              <a:sym typeface="Arial"/>
            </a:endParaRPr>
          </a:p>
        </p:txBody>
      </p:sp>
      <p:sp>
        <p:nvSpPr>
          <p:cNvPr id="473" name="Google Shape;473;p42"/>
          <p:cNvSpPr txBox="1"/>
          <p:nvPr/>
        </p:nvSpPr>
        <p:spPr>
          <a:xfrm>
            <a:off x="609600" y="1203960"/>
            <a:ext cx="223080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Learning Objectives</a:t>
            </a:r>
            <a:endParaRPr b="0" i="0" sz="1400" u="none" cap="none" strike="noStrike">
              <a:solidFill>
                <a:srgbClr val="000000"/>
              </a:solidFill>
              <a:latin typeface="Arial"/>
              <a:ea typeface="Arial"/>
              <a:cs typeface="Arial"/>
              <a:sym typeface="Arial"/>
            </a:endParaRPr>
          </a:p>
        </p:txBody>
      </p:sp>
      <p:sp>
        <p:nvSpPr>
          <p:cNvPr id="474" name="Google Shape;474;p42"/>
          <p:cNvSpPr txBox="1"/>
          <p:nvPr/>
        </p:nvSpPr>
        <p:spPr>
          <a:xfrm>
            <a:off x="609600" y="1798320"/>
            <a:ext cx="5653471" cy="16312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Understand plugin directory structure and organization patterns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Create plugin manifests with required and optional fields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Add skills, agents, and hooks to plugins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Test plugins locally using the --plugin-dir flag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Debug common plugin development issues</a:t>
            </a:r>
            <a:endParaRPr b="0" i="0" sz="1400" u="none" cap="none" strike="noStrike">
              <a:solidFill>
                <a:srgbClr val="000000"/>
              </a:solidFill>
              <a:latin typeface="Arial"/>
              <a:ea typeface="Arial"/>
              <a:cs typeface="Arial"/>
              <a:sym typeface="Arial"/>
            </a:endParaRPr>
          </a:p>
        </p:txBody>
      </p:sp>
      <p:sp>
        <p:nvSpPr>
          <p:cNvPr id="475" name="Google Shape;475;p42"/>
          <p:cNvSpPr/>
          <p:nvPr/>
        </p:nvSpPr>
        <p:spPr>
          <a:xfrm>
            <a:off x="7467600" y="4541520"/>
            <a:ext cx="1371600" cy="457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 60 minutes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80" name="Shape 480"/>
        <p:cNvGrpSpPr/>
        <p:nvPr/>
      </p:nvGrpSpPr>
      <p:grpSpPr>
        <a:xfrm>
          <a:off x="0" y="0"/>
          <a:ext cx="0" cy="0"/>
          <a:chOff x="0" y="0"/>
          <a:chExt cx="0" cy="0"/>
        </a:xfrm>
      </p:grpSpPr>
      <p:sp>
        <p:nvSpPr>
          <p:cNvPr id="481" name="Google Shape;481;p43"/>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Plugin Directory Structure</a:t>
            </a:r>
            <a:endParaRPr b="0" i="0" sz="1400" u="none" cap="none" strike="noStrike">
              <a:solidFill>
                <a:srgbClr val="000000"/>
              </a:solidFill>
              <a:latin typeface="Arial"/>
              <a:ea typeface="Arial"/>
              <a:cs typeface="Arial"/>
              <a:sym typeface="Arial"/>
            </a:endParaRPr>
          </a:p>
        </p:txBody>
      </p:sp>
      <p:sp>
        <p:nvSpPr>
          <p:cNvPr id="482" name="Google Shape;482;p43"/>
          <p:cNvSpPr/>
          <p:nvPr/>
        </p:nvSpPr>
        <p:spPr>
          <a:xfrm>
            <a:off x="731520" y="4229100"/>
            <a:ext cx="7680960" cy="548640"/>
          </a:xfrm>
          <a:prstGeom prst="roundRect">
            <a:avLst>
              <a:gd fmla="val 16667" name="adj"/>
            </a:avLst>
          </a:prstGeom>
          <a:solidFill>
            <a:srgbClr val="D97757"/>
          </a:solidFill>
          <a:ln cap="flat" cmpd="sng" w="25400">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 Common Mistake: Don't put commands/, agents/, skills/, or hooks/ inside .claude-plugin/ directory!</a:t>
            </a:r>
            <a:endParaRPr b="0" i="0" sz="1400" u="none" cap="none" strike="noStrike">
              <a:solidFill>
                <a:srgbClr val="000000"/>
              </a:solidFill>
              <a:latin typeface="Arial"/>
              <a:ea typeface="Arial"/>
              <a:cs typeface="Arial"/>
              <a:sym typeface="Arial"/>
            </a:endParaRPr>
          </a:p>
        </p:txBody>
      </p:sp>
      <p:sp>
        <p:nvSpPr>
          <p:cNvPr id="483" name="Google Shape;483;p43"/>
          <p:cNvSpPr txBox="1"/>
          <p:nvPr/>
        </p:nvSpPr>
        <p:spPr>
          <a:xfrm>
            <a:off x="914400" y="1283073"/>
            <a:ext cx="3657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Correct Structure:</a:t>
            </a:r>
            <a:endParaRPr b="0" i="0" sz="1400" u="none" cap="none" strike="noStrike">
              <a:solidFill>
                <a:schemeClr val="dk1"/>
              </a:solidFill>
              <a:latin typeface="Arial"/>
              <a:ea typeface="Arial"/>
              <a:cs typeface="Arial"/>
              <a:sym typeface="Arial"/>
            </a:endParaRPr>
          </a:p>
        </p:txBody>
      </p:sp>
      <p:sp>
        <p:nvSpPr>
          <p:cNvPr id="484" name="Google Shape;484;p43"/>
          <p:cNvSpPr txBox="1"/>
          <p:nvPr/>
        </p:nvSpPr>
        <p:spPr>
          <a:xfrm>
            <a:off x="1097280" y="1740273"/>
            <a:ext cx="32919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41413"/>
                </a:solidFill>
                <a:latin typeface="Consolas"/>
                <a:ea typeface="Consolas"/>
                <a:cs typeface="Consolas"/>
                <a:sym typeface="Consolas"/>
              </a:rPr>
              <a:t>my-plugin/</a:t>
            </a:r>
            <a:endParaRPr b="0" i="0" sz="1400" u="none" cap="none" strike="noStrike">
              <a:solidFill>
                <a:srgbClr val="000000"/>
              </a:solidFill>
              <a:latin typeface="Arial"/>
              <a:ea typeface="Arial"/>
              <a:cs typeface="Arial"/>
              <a:sym typeface="Arial"/>
            </a:endParaRPr>
          </a:p>
        </p:txBody>
      </p:sp>
      <p:sp>
        <p:nvSpPr>
          <p:cNvPr id="485" name="Google Shape;485;p43"/>
          <p:cNvSpPr txBox="1"/>
          <p:nvPr/>
        </p:nvSpPr>
        <p:spPr>
          <a:xfrm>
            <a:off x="1097280" y="1968873"/>
            <a:ext cx="32919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41413"/>
                </a:solidFill>
                <a:latin typeface="Consolas"/>
                <a:ea typeface="Consolas"/>
                <a:cs typeface="Consolas"/>
                <a:sym typeface="Consolas"/>
              </a:rPr>
              <a:t>  ├── .claude-plugin/</a:t>
            </a:r>
            <a:endParaRPr b="0" i="0" sz="1400" u="none" cap="none" strike="noStrike">
              <a:solidFill>
                <a:srgbClr val="000000"/>
              </a:solidFill>
              <a:latin typeface="Arial"/>
              <a:ea typeface="Arial"/>
              <a:cs typeface="Arial"/>
              <a:sym typeface="Arial"/>
            </a:endParaRPr>
          </a:p>
        </p:txBody>
      </p:sp>
      <p:sp>
        <p:nvSpPr>
          <p:cNvPr id="486" name="Google Shape;486;p43"/>
          <p:cNvSpPr txBox="1"/>
          <p:nvPr/>
        </p:nvSpPr>
        <p:spPr>
          <a:xfrm>
            <a:off x="1097280" y="2197473"/>
            <a:ext cx="32919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41413"/>
                </a:solidFill>
                <a:latin typeface="Consolas"/>
                <a:ea typeface="Consolas"/>
                <a:cs typeface="Consolas"/>
                <a:sym typeface="Consolas"/>
              </a:rPr>
              <a:t>  │   └── plugin.json</a:t>
            </a:r>
            <a:endParaRPr b="0" i="0" sz="1400" u="none" cap="none" strike="noStrike">
              <a:solidFill>
                <a:srgbClr val="000000"/>
              </a:solidFill>
              <a:latin typeface="Arial"/>
              <a:ea typeface="Arial"/>
              <a:cs typeface="Arial"/>
              <a:sym typeface="Arial"/>
            </a:endParaRPr>
          </a:p>
        </p:txBody>
      </p:sp>
      <p:sp>
        <p:nvSpPr>
          <p:cNvPr id="487" name="Google Shape;487;p43"/>
          <p:cNvSpPr txBox="1"/>
          <p:nvPr/>
        </p:nvSpPr>
        <p:spPr>
          <a:xfrm>
            <a:off x="1097280" y="2426073"/>
            <a:ext cx="32919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41413"/>
                </a:solidFill>
                <a:latin typeface="Consolas"/>
                <a:ea typeface="Consolas"/>
                <a:cs typeface="Consolas"/>
                <a:sym typeface="Consolas"/>
              </a:rPr>
              <a:t>  ├── commands/</a:t>
            </a:r>
            <a:endParaRPr b="0" i="0" sz="1400" u="none" cap="none" strike="noStrike">
              <a:solidFill>
                <a:srgbClr val="000000"/>
              </a:solidFill>
              <a:latin typeface="Arial"/>
              <a:ea typeface="Arial"/>
              <a:cs typeface="Arial"/>
              <a:sym typeface="Arial"/>
            </a:endParaRPr>
          </a:p>
        </p:txBody>
      </p:sp>
      <p:sp>
        <p:nvSpPr>
          <p:cNvPr id="488" name="Google Shape;488;p43"/>
          <p:cNvSpPr txBox="1"/>
          <p:nvPr/>
        </p:nvSpPr>
        <p:spPr>
          <a:xfrm>
            <a:off x="1097280" y="2654673"/>
            <a:ext cx="32919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41413"/>
                </a:solidFill>
                <a:latin typeface="Consolas"/>
                <a:ea typeface="Consolas"/>
                <a:cs typeface="Consolas"/>
                <a:sym typeface="Consolas"/>
              </a:rPr>
              <a:t>  ├── agents/</a:t>
            </a:r>
            <a:endParaRPr b="0" i="0" sz="1400" u="none" cap="none" strike="noStrike">
              <a:solidFill>
                <a:srgbClr val="000000"/>
              </a:solidFill>
              <a:latin typeface="Arial"/>
              <a:ea typeface="Arial"/>
              <a:cs typeface="Arial"/>
              <a:sym typeface="Arial"/>
            </a:endParaRPr>
          </a:p>
        </p:txBody>
      </p:sp>
      <p:sp>
        <p:nvSpPr>
          <p:cNvPr id="489" name="Google Shape;489;p43"/>
          <p:cNvSpPr txBox="1"/>
          <p:nvPr/>
        </p:nvSpPr>
        <p:spPr>
          <a:xfrm>
            <a:off x="1097280" y="2883273"/>
            <a:ext cx="32919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41413"/>
                </a:solidFill>
                <a:latin typeface="Consolas"/>
                <a:ea typeface="Consolas"/>
                <a:cs typeface="Consolas"/>
                <a:sym typeface="Consolas"/>
              </a:rPr>
              <a:t>  ├── skills/</a:t>
            </a:r>
            <a:endParaRPr b="0" i="0" sz="1400" u="none" cap="none" strike="noStrike">
              <a:solidFill>
                <a:srgbClr val="000000"/>
              </a:solidFill>
              <a:latin typeface="Arial"/>
              <a:ea typeface="Arial"/>
              <a:cs typeface="Arial"/>
              <a:sym typeface="Arial"/>
            </a:endParaRPr>
          </a:p>
        </p:txBody>
      </p:sp>
      <p:sp>
        <p:nvSpPr>
          <p:cNvPr id="490" name="Google Shape;490;p43"/>
          <p:cNvSpPr txBox="1"/>
          <p:nvPr/>
        </p:nvSpPr>
        <p:spPr>
          <a:xfrm>
            <a:off x="1097280" y="3111873"/>
            <a:ext cx="32919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41413"/>
                </a:solidFill>
                <a:latin typeface="Consolas"/>
                <a:ea typeface="Consolas"/>
                <a:cs typeface="Consolas"/>
                <a:sym typeface="Consolas"/>
              </a:rPr>
              <a:t>  ├── hooks/</a:t>
            </a:r>
            <a:endParaRPr b="0" i="0" sz="1400" u="none" cap="none" strike="noStrike">
              <a:solidFill>
                <a:srgbClr val="000000"/>
              </a:solidFill>
              <a:latin typeface="Arial"/>
              <a:ea typeface="Arial"/>
              <a:cs typeface="Arial"/>
              <a:sym typeface="Arial"/>
            </a:endParaRPr>
          </a:p>
        </p:txBody>
      </p:sp>
      <p:sp>
        <p:nvSpPr>
          <p:cNvPr id="491" name="Google Shape;491;p43"/>
          <p:cNvSpPr txBox="1"/>
          <p:nvPr/>
        </p:nvSpPr>
        <p:spPr>
          <a:xfrm>
            <a:off x="1097280" y="3340473"/>
            <a:ext cx="32919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41413"/>
                </a:solidFill>
                <a:latin typeface="Consolas"/>
                <a:ea typeface="Consolas"/>
                <a:cs typeface="Consolas"/>
                <a:sym typeface="Consolas"/>
              </a:rPr>
              <a:t>  ├── .mcp.json</a:t>
            </a:r>
            <a:endParaRPr b="0" i="0" sz="1400" u="none" cap="none" strike="noStrike">
              <a:solidFill>
                <a:srgbClr val="000000"/>
              </a:solidFill>
              <a:latin typeface="Arial"/>
              <a:ea typeface="Arial"/>
              <a:cs typeface="Arial"/>
              <a:sym typeface="Arial"/>
            </a:endParaRPr>
          </a:p>
        </p:txBody>
      </p:sp>
      <p:sp>
        <p:nvSpPr>
          <p:cNvPr id="492" name="Google Shape;492;p43"/>
          <p:cNvSpPr txBox="1"/>
          <p:nvPr/>
        </p:nvSpPr>
        <p:spPr>
          <a:xfrm>
            <a:off x="1097280" y="3569073"/>
            <a:ext cx="32919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41413"/>
                </a:solidFill>
                <a:latin typeface="Consolas"/>
                <a:ea typeface="Consolas"/>
                <a:cs typeface="Consolas"/>
                <a:sym typeface="Consolas"/>
              </a:rPr>
              <a:t>  └── .lsp.json</a:t>
            </a:r>
            <a:endParaRPr b="0" i="0" sz="1400" u="none" cap="none" strike="noStrike">
              <a:solidFill>
                <a:srgbClr val="000000"/>
              </a:solidFill>
              <a:latin typeface="Arial"/>
              <a:ea typeface="Arial"/>
              <a:cs typeface="Arial"/>
              <a:sym typeface="Arial"/>
            </a:endParaRPr>
          </a:p>
        </p:txBody>
      </p:sp>
      <p:sp>
        <p:nvSpPr>
          <p:cNvPr id="493" name="Google Shape;493;p43"/>
          <p:cNvSpPr txBox="1"/>
          <p:nvPr/>
        </p:nvSpPr>
        <p:spPr>
          <a:xfrm>
            <a:off x="4754880" y="1283073"/>
            <a:ext cx="3657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41413"/>
                </a:solidFill>
                <a:latin typeface="Calibri"/>
                <a:ea typeface="Calibri"/>
                <a:cs typeface="Calibri"/>
                <a:sym typeface="Calibri"/>
              </a:rPr>
              <a:t>Directory Purposes:</a:t>
            </a:r>
            <a:endParaRPr b="0" i="0" sz="1400" u="none" cap="none" strike="noStrike">
              <a:solidFill>
                <a:srgbClr val="000000"/>
              </a:solidFill>
              <a:latin typeface="Arial"/>
              <a:ea typeface="Arial"/>
              <a:cs typeface="Arial"/>
              <a:sym typeface="Arial"/>
            </a:endParaRPr>
          </a:p>
        </p:txBody>
      </p:sp>
      <p:sp>
        <p:nvSpPr>
          <p:cNvPr id="494" name="Google Shape;494;p43"/>
          <p:cNvSpPr txBox="1"/>
          <p:nvPr/>
        </p:nvSpPr>
        <p:spPr>
          <a:xfrm>
            <a:off x="4937760" y="1740273"/>
            <a:ext cx="16458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.claude-plugin/</a:t>
            </a:r>
            <a:endParaRPr b="0" i="0" sz="1400" u="none" cap="none" strike="noStrike">
              <a:solidFill>
                <a:schemeClr val="dk1"/>
              </a:solidFill>
              <a:latin typeface="Arial"/>
              <a:ea typeface="Arial"/>
              <a:cs typeface="Arial"/>
              <a:sym typeface="Arial"/>
            </a:endParaRPr>
          </a:p>
        </p:txBody>
      </p:sp>
      <p:sp>
        <p:nvSpPr>
          <p:cNvPr id="495" name="Google Shape;495;p43"/>
          <p:cNvSpPr txBox="1"/>
          <p:nvPr/>
        </p:nvSpPr>
        <p:spPr>
          <a:xfrm>
            <a:off x="6675120" y="1740273"/>
            <a:ext cx="19203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6454F"/>
                </a:solidFill>
                <a:latin typeface="Calibri"/>
                <a:ea typeface="Calibri"/>
                <a:cs typeface="Calibri"/>
                <a:sym typeface="Calibri"/>
              </a:rPr>
              <a:t>Manifest only</a:t>
            </a:r>
            <a:endParaRPr b="0" i="0" sz="1400" u="none" cap="none" strike="noStrike">
              <a:solidFill>
                <a:srgbClr val="000000"/>
              </a:solidFill>
              <a:latin typeface="Arial"/>
              <a:ea typeface="Arial"/>
              <a:cs typeface="Arial"/>
              <a:sym typeface="Arial"/>
            </a:endParaRPr>
          </a:p>
        </p:txBody>
      </p:sp>
      <p:sp>
        <p:nvSpPr>
          <p:cNvPr id="496" name="Google Shape;496;p43"/>
          <p:cNvSpPr txBox="1"/>
          <p:nvPr/>
        </p:nvSpPr>
        <p:spPr>
          <a:xfrm>
            <a:off x="4937760" y="1968873"/>
            <a:ext cx="16458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commands/</a:t>
            </a:r>
            <a:endParaRPr b="0" i="0" sz="1400" u="none" cap="none" strike="noStrike">
              <a:solidFill>
                <a:schemeClr val="dk1"/>
              </a:solidFill>
              <a:latin typeface="Arial"/>
              <a:ea typeface="Arial"/>
              <a:cs typeface="Arial"/>
              <a:sym typeface="Arial"/>
            </a:endParaRPr>
          </a:p>
        </p:txBody>
      </p:sp>
      <p:sp>
        <p:nvSpPr>
          <p:cNvPr id="497" name="Google Shape;497;p43"/>
          <p:cNvSpPr txBox="1"/>
          <p:nvPr/>
        </p:nvSpPr>
        <p:spPr>
          <a:xfrm>
            <a:off x="6675120" y="1968873"/>
            <a:ext cx="19203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6454F"/>
                </a:solidFill>
                <a:latin typeface="Calibri"/>
                <a:ea typeface="Calibri"/>
                <a:cs typeface="Calibri"/>
                <a:sym typeface="Calibri"/>
              </a:rPr>
              <a:t>User-invoked skills</a:t>
            </a:r>
            <a:endParaRPr b="0" i="0" sz="1400" u="none" cap="none" strike="noStrike">
              <a:solidFill>
                <a:srgbClr val="000000"/>
              </a:solidFill>
              <a:latin typeface="Arial"/>
              <a:ea typeface="Arial"/>
              <a:cs typeface="Arial"/>
              <a:sym typeface="Arial"/>
            </a:endParaRPr>
          </a:p>
        </p:txBody>
      </p:sp>
      <p:sp>
        <p:nvSpPr>
          <p:cNvPr id="498" name="Google Shape;498;p43"/>
          <p:cNvSpPr txBox="1"/>
          <p:nvPr/>
        </p:nvSpPr>
        <p:spPr>
          <a:xfrm>
            <a:off x="4937760" y="2197473"/>
            <a:ext cx="16458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agents/</a:t>
            </a:r>
            <a:endParaRPr b="0" i="0" sz="1400" u="none" cap="none" strike="noStrike">
              <a:solidFill>
                <a:schemeClr val="dk1"/>
              </a:solidFill>
              <a:latin typeface="Arial"/>
              <a:ea typeface="Arial"/>
              <a:cs typeface="Arial"/>
              <a:sym typeface="Arial"/>
            </a:endParaRPr>
          </a:p>
        </p:txBody>
      </p:sp>
      <p:sp>
        <p:nvSpPr>
          <p:cNvPr id="499" name="Google Shape;499;p43"/>
          <p:cNvSpPr txBox="1"/>
          <p:nvPr/>
        </p:nvSpPr>
        <p:spPr>
          <a:xfrm>
            <a:off x="6675120" y="2197473"/>
            <a:ext cx="19203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6454F"/>
                </a:solidFill>
                <a:latin typeface="Calibri"/>
                <a:ea typeface="Calibri"/>
                <a:cs typeface="Calibri"/>
                <a:sym typeface="Calibri"/>
              </a:rPr>
              <a:t>Custom agents</a:t>
            </a:r>
            <a:endParaRPr b="0" i="0" sz="1400" u="none" cap="none" strike="noStrike">
              <a:solidFill>
                <a:srgbClr val="000000"/>
              </a:solidFill>
              <a:latin typeface="Arial"/>
              <a:ea typeface="Arial"/>
              <a:cs typeface="Arial"/>
              <a:sym typeface="Arial"/>
            </a:endParaRPr>
          </a:p>
        </p:txBody>
      </p:sp>
      <p:sp>
        <p:nvSpPr>
          <p:cNvPr id="500" name="Google Shape;500;p43"/>
          <p:cNvSpPr txBox="1"/>
          <p:nvPr/>
        </p:nvSpPr>
        <p:spPr>
          <a:xfrm>
            <a:off x="4937760" y="2426073"/>
            <a:ext cx="16458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skills/</a:t>
            </a:r>
            <a:endParaRPr b="0" i="0" sz="1400" u="none" cap="none" strike="noStrike">
              <a:solidFill>
                <a:schemeClr val="dk1"/>
              </a:solidFill>
              <a:latin typeface="Arial"/>
              <a:ea typeface="Arial"/>
              <a:cs typeface="Arial"/>
              <a:sym typeface="Arial"/>
            </a:endParaRPr>
          </a:p>
        </p:txBody>
      </p:sp>
      <p:sp>
        <p:nvSpPr>
          <p:cNvPr id="501" name="Google Shape;501;p43"/>
          <p:cNvSpPr txBox="1"/>
          <p:nvPr/>
        </p:nvSpPr>
        <p:spPr>
          <a:xfrm>
            <a:off x="6675120" y="2426073"/>
            <a:ext cx="19203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6454F"/>
                </a:solidFill>
                <a:latin typeface="Calibri"/>
                <a:ea typeface="Calibri"/>
                <a:cs typeface="Calibri"/>
                <a:sym typeface="Calibri"/>
              </a:rPr>
              <a:t>Auto-invoked skills</a:t>
            </a:r>
            <a:endParaRPr b="0" i="0" sz="1400" u="none" cap="none" strike="noStrike">
              <a:solidFill>
                <a:srgbClr val="000000"/>
              </a:solidFill>
              <a:latin typeface="Arial"/>
              <a:ea typeface="Arial"/>
              <a:cs typeface="Arial"/>
              <a:sym typeface="Arial"/>
            </a:endParaRPr>
          </a:p>
        </p:txBody>
      </p:sp>
      <p:sp>
        <p:nvSpPr>
          <p:cNvPr id="502" name="Google Shape;502;p43"/>
          <p:cNvSpPr txBox="1"/>
          <p:nvPr/>
        </p:nvSpPr>
        <p:spPr>
          <a:xfrm>
            <a:off x="4937760" y="2654673"/>
            <a:ext cx="16458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hooks/</a:t>
            </a:r>
            <a:endParaRPr b="0" i="0" sz="1400" u="none" cap="none" strike="noStrike">
              <a:solidFill>
                <a:schemeClr val="dk1"/>
              </a:solidFill>
              <a:latin typeface="Arial"/>
              <a:ea typeface="Arial"/>
              <a:cs typeface="Arial"/>
              <a:sym typeface="Arial"/>
            </a:endParaRPr>
          </a:p>
        </p:txBody>
      </p:sp>
      <p:sp>
        <p:nvSpPr>
          <p:cNvPr id="503" name="Google Shape;503;p43"/>
          <p:cNvSpPr txBox="1"/>
          <p:nvPr/>
        </p:nvSpPr>
        <p:spPr>
          <a:xfrm>
            <a:off x="6675120" y="2654673"/>
            <a:ext cx="19203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6454F"/>
                </a:solidFill>
                <a:latin typeface="Calibri"/>
                <a:ea typeface="Calibri"/>
                <a:cs typeface="Calibri"/>
                <a:sym typeface="Calibri"/>
              </a:rPr>
              <a:t>Event handlers</a:t>
            </a:r>
            <a:endParaRPr b="0" i="0" sz="1400" u="none" cap="none" strike="noStrike">
              <a:solidFill>
                <a:srgbClr val="000000"/>
              </a:solidFill>
              <a:latin typeface="Arial"/>
              <a:ea typeface="Arial"/>
              <a:cs typeface="Arial"/>
              <a:sym typeface="Arial"/>
            </a:endParaRPr>
          </a:p>
        </p:txBody>
      </p:sp>
      <p:sp>
        <p:nvSpPr>
          <p:cNvPr id="504" name="Google Shape;504;p43"/>
          <p:cNvSpPr txBox="1"/>
          <p:nvPr/>
        </p:nvSpPr>
        <p:spPr>
          <a:xfrm>
            <a:off x="4937760" y="2883273"/>
            <a:ext cx="16458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.mcp.json</a:t>
            </a:r>
            <a:endParaRPr b="0" i="0" sz="1400" u="none" cap="none" strike="noStrike">
              <a:solidFill>
                <a:schemeClr val="dk1"/>
              </a:solidFill>
              <a:latin typeface="Arial"/>
              <a:ea typeface="Arial"/>
              <a:cs typeface="Arial"/>
              <a:sym typeface="Arial"/>
            </a:endParaRPr>
          </a:p>
        </p:txBody>
      </p:sp>
      <p:sp>
        <p:nvSpPr>
          <p:cNvPr id="505" name="Google Shape;505;p43"/>
          <p:cNvSpPr txBox="1"/>
          <p:nvPr/>
        </p:nvSpPr>
        <p:spPr>
          <a:xfrm>
            <a:off x="6675120" y="2883273"/>
            <a:ext cx="19203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6454F"/>
                </a:solidFill>
                <a:latin typeface="Calibri"/>
                <a:ea typeface="Calibri"/>
                <a:cs typeface="Calibri"/>
                <a:sym typeface="Calibri"/>
              </a:rPr>
              <a:t>MCP servers</a:t>
            </a:r>
            <a:endParaRPr b="0" i="0" sz="1400" u="none" cap="none" strike="noStrike">
              <a:solidFill>
                <a:srgbClr val="000000"/>
              </a:solidFill>
              <a:latin typeface="Arial"/>
              <a:ea typeface="Arial"/>
              <a:cs typeface="Arial"/>
              <a:sym typeface="Arial"/>
            </a:endParaRPr>
          </a:p>
        </p:txBody>
      </p:sp>
      <p:sp>
        <p:nvSpPr>
          <p:cNvPr id="506" name="Google Shape;506;p43"/>
          <p:cNvSpPr txBox="1"/>
          <p:nvPr/>
        </p:nvSpPr>
        <p:spPr>
          <a:xfrm>
            <a:off x="4937760" y="3111873"/>
            <a:ext cx="16458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.lsp.json</a:t>
            </a:r>
            <a:endParaRPr b="0" i="0" sz="1400" u="none" cap="none" strike="noStrike">
              <a:solidFill>
                <a:schemeClr val="dk1"/>
              </a:solidFill>
              <a:latin typeface="Arial"/>
              <a:ea typeface="Arial"/>
              <a:cs typeface="Arial"/>
              <a:sym typeface="Arial"/>
            </a:endParaRPr>
          </a:p>
        </p:txBody>
      </p:sp>
      <p:sp>
        <p:nvSpPr>
          <p:cNvPr id="507" name="Google Shape;507;p43"/>
          <p:cNvSpPr txBox="1"/>
          <p:nvPr/>
        </p:nvSpPr>
        <p:spPr>
          <a:xfrm>
            <a:off x="6675120" y="3111873"/>
            <a:ext cx="19203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6454F"/>
                </a:solidFill>
                <a:latin typeface="Calibri"/>
                <a:ea typeface="Calibri"/>
                <a:cs typeface="Calibri"/>
                <a:sym typeface="Calibri"/>
              </a:rPr>
              <a:t>LSP servers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512" name="Shape 512"/>
        <p:cNvGrpSpPr/>
        <p:nvPr/>
      </p:nvGrpSpPr>
      <p:grpSpPr>
        <a:xfrm>
          <a:off x="0" y="0"/>
          <a:ext cx="0" cy="0"/>
          <a:chOff x="0" y="0"/>
          <a:chExt cx="0" cy="0"/>
        </a:xfrm>
      </p:grpSpPr>
      <p:sp>
        <p:nvSpPr>
          <p:cNvPr id="513" name="Google Shape;513;p44"/>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Creating the Plugin Manifest</a:t>
            </a:r>
            <a:endParaRPr b="0" i="0" sz="1400" u="none" cap="none" strike="noStrike">
              <a:solidFill>
                <a:srgbClr val="000000"/>
              </a:solidFill>
              <a:latin typeface="Arial"/>
              <a:ea typeface="Arial"/>
              <a:cs typeface="Arial"/>
              <a:sym typeface="Arial"/>
            </a:endParaRPr>
          </a:p>
        </p:txBody>
      </p:sp>
      <p:sp>
        <p:nvSpPr>
          <p:cNvPr id="514" name="Google Shape;514;p44"/>
          <p:cNvSpPr txBox="1"/>
          <p:nvPr/>
        </p:nvSpPr>
        <p:spPr>
          <a:xfrm>
            <a:off x="548641" y="1277389"/>
            <a:ext cx="38404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41413"/>
                </a:solidFill>
                <a:latin typeface="Calibri"/>
                <a:ea typeface="Calibri"/>
                <a:cs typeface="Calibri"/>
                <a:sym typeface="Calibri"/>
              </a:rPr>
              <a:t>plugin.json Location:</a:t>
            </a:r>
            <a:endParaRPr b="0" i="0" sz="1400" u="none" cap="none" strike="noStrike">
              <a:solidFill>
                <a:srgbClr val="000000"/>
              </a:solidFill>
              <a:latin typeface="Arial"/>
              <a:ea typeface="Arial"/>
              <a:cs typeface="Arial"/>
              <a:sym typeface="Arial"/>
            </a:endParaRPr>
          </a:p>
        </p:txBody>
      </p:sp>
      <p:sp>
        <p:nvSpPr>
          <p:cNvPr id="515" name="Google Shape;515;p44"/>
          <p:cNvSpPr/>
          <p:nvPr/>
        </p:nvSpPr>
        <p:spPr>
          <a:xfrm>
            <a:off x="833800" y="1783775"/>
            <a:ext cx="2951700" cy="2560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alibri"/>
                <a:ea typeface="Calibri"/>
                <a:cs typeface="Calibri"/>
                <a:sym typeface="Calibri"/>
              </a:rPr>
              <a:t>  "name": "my-plugin",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alibri"/>
                <a:ea typeface="Calibri"/>
                <a:cs typeface="Calibri"/>
                <a:sym typeface="Calibri"/>
              </a:rPr>
              <a:t>  "description": "Plugin description",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alibri"/>
                <a:ea typeface="Calibri"/>
                <a:cs typeface="Calibri"/>
                <a:sym typeface="Calibri"/>
              </a:rPr>
              <a:t>  "version": "1.0.0",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alibri"/>
                <a:ea typeface="Calibri"/>
                <a:cs typeface="Calibri"/>
                <a:sym typeface="Calibri"/>
              </a:rPr>
              <a:t>  "author":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alibri"/>
                <a:ea typeface="Calibri"/>
                <a:cs typeface="Calibri"/>
                <a:sym typeface="Calibri"/>
              </a:rPr>
              <a:t>    "name": "Your 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alibri"/>
                <a:ea typeface="Calibri"/>
                <a:cs typeface="Calibri"/>
                <a:sym typeface="Calibri"/>
              </a:rPr>
              <a:t>    "email": "you@example.com"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alibri"/>
                <a:ea typeface="Calibri"/>
                <a:cs typeface="Calibri"/>
                <a:sym typeface="Calibri"/>
              </a:rPr>
              <a:t>  "homepage": "https://...",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alibri"/>
                <a:ea typeface="Calibri"/>
                <a:cs typeface="Calibri"/>
                <a:sym typeface="Calibri"/>
              </a:rPr>
              <a:t>  "repository": "https://...",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alibri"/>
                <a:ea typeface="Calibri"/>
                <a:cs typeface="Calibri"/>
                <a:sym typeface="Calibri"/>
              </a:rPr>
              <a:t>  "license": "MIT",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alibri"/>
                <a:ea typeface="Calibri"/>
                <a:cs typeface="Calibri"/>
                <a:sym typeface="Calibri"/>
              </a:rPr>
              <a:t>  "keywords": ["tag1", "tag2"]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516" name="Google Shape;516;p44"/>
          <p:cNvSpPr txBox="1"/>
          <p:nvPr/>
        </p:nvSpPr>
        <p:spPr>
          <a:xfrm>
            <a:off x="4754880" y="1277389"/>
            <a:ext cx="36576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41413"/>
                </a:solidFill>
                <a:latin typeface="Calibri"/>
                <a:ea typeface="Calibri"/>
                <a:cs typeface="Calibri"/>
                <a:sym typeface="Calibri"/>
              </a:rPr>
              <a:t>Required vs Optional Fields:</a:t>
            </a:r>
            <a:endParaRPr b="0" i="0" sz="1400" u="none" cap="none" strike="noStrike">
              <a:solidFill>
                <a:srgbClr val="000000"/>
              </a:solidFill>
              <a:latin typeface="Arial"/>
              <a:ea typeface="Arial"/>
              <a:cs typeface="Arial"/>
              <a:sym typeface="Arial"/>
            </a:endParaRPr>
          </a:p>
        </p:txBody>
      </p:sp>
      <p:sp>
        <p:nvSpPr>
          <p:cNvPr id="517" name="Google Shape;517;p44"/>
          <p:cNvSpPr txBox="1"/>
          <p:nvPr/>
        </p:nvSpPr>
        <p:spPr>
          <a:xfrm>
            <a:off x="4937760" y="1734589"/>
            <a:ext cx="1097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name</a:t>
            </a:r>
            <a:endParaRPr b="0" i="0" sz="1400" u="none" cap="none" strike="noStrike">
              <a:solidFill>
                <a:schemeClr val="dk1"/>
              </a:solidFill>
              <a:latin typeface="Arial"/>
              <a:ea typeface="Arial"/>
              <a:cs typeface="Arial"/>
              <a:sym typeface="Arial"/>
            </a:endParaRPr>
          </a:p>
        </p:txBody>
      </p:sp>
      <p:sp>
        <p:nvSpPr>
          <p:cNvPr id="518" name="Google Shape;518;p44"/>
          <p:cNvSpPr/>
          <p:nvPr/>
        </p:nvSpPr>
        <p:spPr>
          <a:xfrm>
            <a:off x="6126480" y="1734589"/>
            <a:ext cx="731520" cy="228600"/>
          </a:xfrm>
          <a:prstGeom prst="roundRect">
            <a:avLst>
              <a:gd fmla="val 16667" name="adj"/>
            </a:avLst>
          </a:prstGeom>
          <a:solidFill>
            <a:srgbClr val="788C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Calibri"/>
                <a:ea typeface="Calibri"/>
                <a:cs typeface="Calibri"/>
                <a:sym typeface="Calibri"/>
              </a:rPr>
              <a:t>Required</a:t>
            </a:r>
            <a:endParaRPr b="0" i="0" sz="1400" u="none" cap="none" strike="noStrike">
              <a:solidFill>
                <a:srgbClr val="000000"/>
              </a:solidFill>
              <a:latin typeface="Arial"/>
              <a:ea typeface="Arial"/>
              <a:cs typeface="Arial"/>
              <a:sym typeface="Arial"/>
            </a:endParaRPr>
          </a:p>
        </p:txBody>
      </p:sp>
      <p:sp>
        <p:nvSpPr>
          <p:cNvPr id="519" name="Google Shape;519;p44"/>
          <p:cNvSpPr txBox="1"/>
          <p:nvPr/>
        </p:nvSpPr>
        <p:spPr>
          <a:xfrm>
            <a:off x="6949440" y="1734589"/>
            <a:ext cx="173736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Plugin identifier (kebab-case)</a:t>
            </a:r>
            <a:endParaRPr b="0" i="0" sz="1400" u="none" cap="none" strike="noStrike">
              <a:solidFill>
                <a:srgbClr val="000000"/>
              </a:solidFill>
              <a:latin typeface="Arial"/>
              <a:ea typeface="Arial"/>
              <a:cs typeface="Arial"/>
              <a:sym typeface="Arial"/>
            </a:endParaRPr>
          </a:p>
        </p:txBody>
      </p:sp>
      <p:sp>
        <p:nvSpPr>
          <p:cNvPr id="520" name="Google Shape;520;p44"/>
          <p:cNvSpPr txBox="1"/>
          <p:nvPr/>
        </p:nvSpPr>
        <p:spPr>
          <a:xfrm>
            <a:off x="4937760" y="2054628"/>
            <a:ext cx="1097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description</a:t>
            </a:r>
            <a:endParaRPr b="0" i="0" sz="1400" u="none" cap="none" strike="noStrike">
              <a:solidFill>
                <a:schemeClr val="dk1"/>
              </a:solidFill>
              <a:latin typeface="Arial"/>
              <a:ea typeface="Arial"/>
              <a:cs typeface="Arial"/>
              <a:sym typeface="Arial"/>
            </a:endParaRPr>
          </a:p>
        </p:txBody>
      </p:sp>
      <p:sp>
        <p:nvSpPr>
          <p:cNvPr id="521" name="Google Shape;521;p44"/>
          <p:cNvSpPr/>
          <p:nvPr/>
        </p:nvSpPr>
        <p:spPr>
          <a:xfrm>
            <a:off x="6126480" y="2054628"/>
            <a:ext cx="731520" cy="228600"/>
          </a:xfrm>
          <a:prstGeom prst="roundRect">
            <a:avLst>
              <a:gd fmla="val 16667" name="adj"/>
            </a:avLst>
          </a:prstGeom>
          <a:solidFill>
            <a:srgbClr val="788C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Calibri"/>
                <a:ea typeface="Calibri"/>
                <a:cs typeface="Calibri"/>
                <a:sym typeface="Calibri"/>
              </a:rPr>
              <a:t>Required</a:t>
            </a:r>
            <a:endParaRPr b="0" i="0" sz="1400" u="none" cap="none" strike="noStrike">
              <a:solidFill>
                <a:srgbClr val="000000"/>
              </a:solidFill>
              <a:latin typeface="Arial"/>
              <a:ea typeface="Arial"/>
              <a:cs typeface="Arial"/>
              <a:sym typeface="Arial"/>
            </a:endParaRPr>
          </a:p>
        </p:txBody>
      </p:sp>
      <p:sp>
        <p:nvSpPr>
          <p:cNvPr id="522" name="Google Shape;522;p44"/>
          <p:cNvSpPr txBox="1"/>
          <p:nvPr/>
        </p:nvSpPr>
        <p:spPr>
          <a:xfrm>
            <a:off x="6949440" y="2054628"/>
            <a:ext cx="146304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Brief plugin description</a:t>
            </a:r>
            <a:endParaRPr b="0" i="0" sz="1400" u="none" cap="none" strike="noStrike">
              <a:solidFill>
                <a:srgbClr val="000000"/>
              </a:solidFill>
              <a:latin typeface="Arial"/>
              <a:ea typeface="Arial"/>
              <a:cs typeface="Arial"/>
              <a:sym typeface="Arial"/>
            </a:endParaRPr>
          </a:p>
        </p:txBody>
      </p:sp>
      <p:sp>
        <p:nvSpPr>
          <p:cNvPr id="523" name="Google Shape;523;p44"/>
          <p:cNvSpPr txBox="1"/>
          <p:nvPr/>
        </p:nvSpPr>
        <p:spPr>
          <a:xfrm>
            <a:off x="4937760" y="2374669"/>
            <a:ext cx="1097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version</a:t>
            </a:r>
            <a:endParaRPr b="0" i="0" sz="1400" u="none" cap="none" strike="noStrike">
              <a:solidFill>
                <a:schemeClr val="dk1"/>
              </a:solidFill>
              <a:latin typeface="Arial"/>
              <a:ea typeface="Arial"/>
              <a:cs typeface="Arial"/>
              <a:sym typeface="Arial"/>
            </a:endParaRPr>
          </a:p>
        </p:txBody>
      </p:sp>
      <p:sp>
        <p:nvSpPr>
          <p:cNvPr id="524" name="Google Shape;524;p44"/>
          <p:cNvSpPr/>
          <p:nvPr/>
        </p:nvSpPr>
        <p:spPr>
          <a:xfrm>
            <a:off x="6126480" y="2374669"/>
            <a:ext cx="731520" cy="228600"/>
          </a:xfrm>
          <a:prstGeom prst="roundRect">
            <a:avLst>
              <a:gd fmla="val 16667" name="adj"/>
            </a:avLst>
          </a:prstGeom>
          <a:solidFill>
            <a:srgbClr val="788C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Calibri"/>
                <a:ea typeface="Calibri"/>
                <a:cs typeface="Calibri"/>
                <a:sym typeface="Calibri"/>
              </a:rPr>
              <a:t>Required</a:t>
            </a:r>
            <a:endParaRPr b="0" i="0" sz="1400" u="none" cap="none" strike="noStrike">
              <a:solidFill>
                <a:srgbClr val="000000"/>
              </a:solidFill>
              <a:latin typeface="Arial"/>
              <a:ea typeface="Arial"/>
              <a:cs typeface="Arial"/>
              <a:sym typeface="Arial"/>
            </a:endParaRPr>
          </a:p>
        </p:txBody>
      </p:sp>
      <p:sp>
        <p:nvSpPr>
          <p:cNvPr id="525" name="Google Shape;525;p44"/>
          <p:cNvSpPr txBox="1"/>
          <p:nvPr/>
        </p:nvSpPr>
        <p:spPr>
          <a:xfrm>
            <a:off x="6949440" y="2374669"/>
            <a:ext cx="146304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Semantic version (1.0.0)</a:t>
            </a:r>
            <a:endParaRPr b="0" i="0" sz="1400" u="none" cap="none" strike="noStrike">
              <a:solidFill>
                <a:srgbClr val="000000"/>
              </a:solidFill>
              <a:latin typeface="Arial"/>
              <a:ea typeface="Arial"/>
              <a:cs typeface="Arial"/>
              <a:sym typeface="Arial"/>
            </a:endParaRPr>
          </a:p>
        </p:txBody>
      </p:sp>
      <p:sp>
        <p:nvSpPr>
          <p:cNvPr id="526" name="Google Shape;526;p44"/>
          <p:cNvSpPr txBox="1"/>
          <p:nvPr/>
        </p:nvSpPr>
        <p:spPr>
          <a:xfrm>
            <a:off x="4937760" y="2694709"/>
            <a:ext cx="1097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author</a:t>
            </a:r>
            <a:endParaRPr b="0" i="0" sz="1400" u="none" cap="none" strike="noStrike">
              <a:solidFill>
                <a:schemeClr val="dk1"/>
              </a:solidFill>
              <a:latin typeface="Arial"/>
              <a:ea typeface="Arial"/>
              <a:cs typeface="Arial"/>
              <a:sym typeface="Arial"/>
            </a:endParaRPr>
          </a:p>
        </p:txBody>
      </p:sp>
      <p:sp>
        <p:nvSpPr>
          <p:cNvPr id="527" name="Google Shape;527;p44"/>
          <p:cNvSpPr/>
          <p:nvPr/>
        </p:nvSpPr>
        <p:spPr>
          <a:xfrm>
            <a:off x="6126480" y="2694709"/>
            <a:ext cx="731520" cy="228600"/>
          </a:xfrm>
          <a:prstGeom prst="roundRect">
            <a:avLst>
              <a:gd fmla="val 16667" name="adj"/>
            </a:avLst>
          </a:prstGeom>
          <a:solidFill>
            <a:srgbClr val="E8E8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141413"/>
                </a:solidFill>
                <a:latin typeface="Calibri"/>
                <a:ea typeface="Calibri"/>
                <a:cs typeface="Calibri"/>
                <a:sym typeface="Calibri"/>
              </a:rPr>
              <a:t>Optional</a:t>
            </a:r>
            <a:endParaRPr b="0" i="0" sz="1400" u="none" cap="none" strike="noStrike">
              <a:solidFill>
                <a:srgbClr val="000000"/>
              </a:solidFill>
              <a:latin typeface="Arial"/>
              <a:ea typeface="Arial"/>
              <a:cs typeface="Arial"/>
              <a:sym typeface="Arial"/>
            </a:endParaRPr>
          </a:p>
        </p:txBody>
      </p:sp>
      <p:sp>
        <p:nvSpPr>
          <p:cNvPr id="528" name="Google Shape;528;p44"/>
          <p:cNvSpPr txBox="1"/>
          <p:nvPr/>
        </p:nvSpPr>
        <p:spPr>
          <a:xfrm>
            <a:off x="6949440" y="2694709"/>
            <a:ext cx="146304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Attribution information</a:t>
            </a:r>
            <a:endParaRPr b="0" i="0" sz="1400" u="none" cap="none" strike="noStrike">
              <a:solidFill>
                <a:srgbClr val="000000"/>
              </a:solidFill>
              <a:latin typeface="Arial"/>
              <a:ea typeface="Arial"/>
              <a:cs typeface="Arial"/>
              <a:sym typeface="Arial"/>
            </a:endParaRPr>
          </a:p>
        </p:txBody>
      </p:sp>
      <p:sp>
        <p:nvSpPr>
          <p:cNvPr id="529" name="Google Shape;529;p44"/>
          <p:cNvSpPr txBox="1"/>
          <p:nvPr/>
        </p:nvSpPr>
        <p:spPr>
          <a:xfrm>
            <a:off x="4937760" y="3014749"/>
            <a:ext cx="1097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homepage</a:t>
            </a:r>
            <a:endParaRPr b="0" i="0" sz="1400" u="none" cap="none" strike="noStrike">
              <a:solidFill>
                <a:schemeClr val="dk1"/>
              </a:solidFill>
              <a:latin typeface="Arial"/>
              <a:ea typeface="Arial"/>
              <a:cs typeface="Arial"/>
              <a:sym typeface="Arial"/>
            </a:endParaRPr>
          </a:p>
        </p:txBody>
      </p:sp>
      <p:sp>
        <p:nvSpPr>
          <p:cNvPr id="530" name="Google Shape;530;p44"/>
          <p:cNvSpPr/>
          <p:nvPr/>
        </p:nvSpPr>
        <p:spPr>
          <a:xfrm>
            <a:off x="6126480" y="3014749"/>
            <a:ext cx="731520" cy="228600"/>
          </a:xfrm>
          <a:prstGeom prst="roundRect">
            <a:avLst>
              <a:gd fmla="val 16667" name="adj"/>
            </a:avLst>
          </a:prstGeom>
          <a:solidFill>
            <a:srgbClr val="E8E8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141413"/>
                </a:solidFill>
                <a:latin typeface="Calibri"/>
                <a:ea typeface="Calibri"/>
                <a:cs typeface="Calibri"/>
                <a:sym typeface="Calibri"/>
              </a:rPr>
              <a:t>Optional</a:t>
            </a:r>
            <a:endParaRPr b="0" i="0" sz="1400" u="none" cap="none" strike="noStrike">
              <a:solidFill>
                <a:srgbClr val="000000"/>
              </a:solidFill>
              <a:latin typeface="Arial"/>
              <a:ea typeface="Arial"/>
              <a:cs typeface="Arial"/>
              <a:sym typeface="Arial"/>
            </a:endParaRPr>
          </a:p>
        </p:txBody>
      </p:sp>
      <p:sp>
        <p:nvSpPr>
          <p:cNvPr id="531" name="Google Shape;531;p44"/>
          <p:cNvSpPr txBox="1"/>
          <p:nvPr/>
        </p:nvSpPr>
        <p:spPr>
          <a:xfrm>
            <a:off x="6949440" y="3014749"/>
            <a:ext cx="146304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Documentation URL</a:t>
            </a:r>
            <a:endParaRPr b="0" i="0" sz="1400" u="none" cap="none" strike="noStrike">
              <a:solidFill>
                <a:srgbClr val="000000"/>
              </a:solidFill>
              <a:latin typeface="Arial"/>
              <a:ea typeface="Arial"/>
              <a:cs typeface="Arial"/>
              <a:sym typeface="Arial"/>
            </a:endParaRPr>
          </a:p>
        </p:txBody>
      </p:sp>
      <p:sp>
        <p:nvSpPr>
          <p:cNvPr id="532" name="Google Shape;532;p44"/>
          <p:cNvSpPr txBox="1"/>
          <p:nvPr/>
        </p:nvSpPr>
        <p:spPr>
          <a:xfrm>
            <a:off x="4937760" y="3334789"/>
            <a:ext cx="1097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repository</a:t>
            </a:r>
            <a:endParaRPr b="0" i="0" sz="1400" u="none" cap="none" strike="noStrike">
              <a:solidFill>
                <a:schemeClr val="dk1"/>
              </a:solidFill>
              <a:latin typeface="Arial"/>
              <a:ea typeface="Arial"/>
              <a:cs typeface="Arial"/>
              <a:sym typeface="Arial"/>
            </a:endParaRPr>
          </a:p>
        </p:txBody>
      </p:sp>
      <p:sp>
        <p:nvSpPr>
          <p:cNvPr id="533" name="Google Shape;533;p44"/>
          <p:cNvSpPr/>
          <p:nvPr/>
        </p:nvSpPr>
        <p:spPr>
          <a:xfrm>
            <a:off x="6126480" y="3334789"/>
            <a:ext cx="731520" cy="228600"/>
          </a:xfrm>
          <a:prstGeom prst="roundRect">
            <a:avLst>
              <a:gd fmla="val 16667" name="adj"/>
            </a:avLst>
          </a:prstGeom>
          <a:solidFill>
            <a:srgbClr val="E8E8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141413"/>
                </a:solidFill>
                <a:latin typeface="Calibri"/>
                <a:ea typeface="Calibri"/>
                <a:cs typeface="Calibri"/>
                <a:sym typeface="Calibri"/>
              </a:rPr>
              <a:t>Optional</a:t>
            </a:r>
            <a:endParaRPr b="0" i="0" sz="1400" u="none" cap="none" strike="noStrike">
              <a:solidFill>
                <a:srgbClr val="000000"/>
              </a:solidFill>
              <a:latin typeface="Arial"/>
              <a:ea typeface="Arial"/>
              <a:cs typeface="Arial"/>
              <a:sym typeface="Arial"/>
            </a:endParaRPr>
          </a:p>
        </p:txBody>
      </p:sp>
      <p:sp>
        <p:nvSpPr>
          <p:cNvPr id="534" name="Google Shape;534;p44"/>
          <p:cNvSpPr txBox="1"/>
          <p:nvPr/>
        </p:nvSpPr>
        <p:spPr>
          <a:xfrm>
            <a:off x="6949440" y="3334789"/>
            <a:ext cx="146304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Source code location</a:t>
            </a:r>
            <a:endParaRPr b="0" i="0" sz="1400" u="none" cap="none" strike="noStrike">
              <a:solidFill>
                <a:srgbClr val="000000"/>
              </a:solidFill>
              <a:latin typeface="Arial"/>
              <a:ea typeface="Arial"/>
              <a:cs typeface="Arial"/>
              <a:sym typeface="Arial"/>
            </a:endParaRPr>
          </a:p>
        </p:txBody>
      </p:sp>
      <p:sp>
        <p:nvSpPr>
          <p:cNvPr id="535" name="Google Shape;535;p44"/>
          <p:cNvSpPr txBox="1"/>
          <p:nvPr/>
        </p:nvSpPr>
        <p:spPr>
          <a:xfrm>
            <a:off x="4937760" y="3654829"/>
            <a:ext cx="1097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license</a:t>
            </a:r>
            <a:endParaRPr b="0" i="0" sz="1400" u="none" cap="none" strike="noStrike">
              <a:solidFill>
                <a:schemeClr val="dk1"/>
              </a:solidFill>
              <a:latin typeface="Arial"/>
              <a:ea typeface="Arial"/>
              <a:cs typeface="Arial"/>
              <a:sym typeface="Arial"/>
            </a:endParaRPr>
          </a:p>
        </p:txBody>
      </p:sp>
      <p:sp>
        <p:nvSpPr>
          <p:cNvPr id="536" name="Google Shape;536;p44"/>
          <p:cNvSpPr/>
          <p:nvPr/>
        </p:nvSpPr>
        <p:spPr>
          <a:xfrm>
            <a:off x="6126480" y="3654829"/>
            <a:ext cx="731520" cy="228600"/>
          </a:xfrm>
          <a:prstGeom prst="roundRect">
            <a:avLst>
              <a:gd fmla="val 16667" name="adj"/>
            </a:avLst>
          </a:prstGeom>
          <a:solidFill>
            <a:srgbClr val="E8E8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141413"/>
                </a:solidFill>
                <a:latin typeface="Calibri"/>
                <a:ea typeface="Calibri"/>
                <a:cs typeface="Calibri"/>
                <a:sym typeface="Calibri"/>
              </a:rPr>
              <a:t>Optional</a:t>
            </a:r>
            <a:endParaRPr b="0" i="0" sz="1400" u="none" cap="none" strike="noStrike">
              <a:solidFill>
                <a:srgbClr val="000000"/>
              </a:solidFill>
              <a:latin typeface="Arial"/>
              <a:ea typeface="Arial"/>
              <a:cs typeface="Arial"/>
              <a:sym typeface="Arial"/>
            </a:endParaRPr>
          </a:p>
        </p:txBody>
      </p:sp>
      <p:sp>
        <p:nvSpPr>
          <p:cNvPr id="537" name="Google Shape;537;p44"/>
          <p:cNvSpPr txBox="1"/>
          <p:nvPr/>
        </p:nvSpPr>
        <p:spPr>
          <a:xfrm>
            <a:off x="6949440" y="3654829"/>
            <a:ext cx="146304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SPDX identifier</a:t>
            </a:r>
            <a:endParaRPr b="0" i="0" sz="1400" u="none" cap="none" strike="noStrike">
              <a:solidFill>
                <a:srgbClr val="000000"/>
              </a:solidFill>
              <a:latin typeface="Arial"/>
              <a:ea typeface="Arial"/>
              <a:cs typeface="Arial"/>
              <a:sym typeface="Arial"/>
            </a:endParaRPr>
          </a:p>
        </p:txBody>
      </p:sp>
      <p:sp>
        <p:nvSpPr>
          <p:cNvPr id="538" name="Google Shape;538;p44"/>
          <p:cNvSpPr txBox="1"/>
          <p:nvPr/>
        </p:nvSpPr>
        <p:spPr>
          <a:xfrm>
            <a:off x="4937760" y="3974869"/>
            <a:ext cx="1097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keywords</a:t>
            </a:r>
            <a:endParaRPr b="0" i="0" sz="1400" u="none" cap="none" strike="noStrike">
              <a:solidFill>
                <a:schemeClr val="dk1"/>
              </a:solidFill>
              <a:latin typeface="Arial"/>
              <a:ea typeface="Arial"/>
              <a:cs typeface="Arial"/>
              <a:sym typeface="Arial"/>
            </a:endParaRPr>
          </a:p>
        </p:txBody>
      </p:sp>
      <p:sp>
        <p:nvSpPr>
          <p:cNvPr id="539" name="Google Shape;539;p44"/>
          <p:cNvSpPr/>
          <p:nvPr/>
        </p:nvSpPr>
        <p:spPr>
          <a:xfrm>
            <a:off x="6126480" y="3974869"/>
            <a:ext cx="731520" cy="228600"/>
          </a:xfrm>
          <a:prstGeom prst="roundRect">
            <a:avLst>
              <a:gd fmla="val 16667" name="adj"/>
            </a:avLst>
          </a:prstGeom>
          <a:solidFill>
            <a:srgbClr val="E8E8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141413"/>
                </a:solidFill>
                <a:latin typeface="Calibri"/>
                <a:ea typeface="Calibri"/>
                <a:cs typeface="Calibri"/>
                <a:sym typeface="Calibri"/>
              </a:rPr>
              <a:t>Optional</a:t>
            </a:r>
            <a:endParaRPr b="0" i="0" sz="1400" u="none" cap="none" strike="noStrike">
              <a:solidFill>
                <a:srgbClr val="000000"/>
              </a:solidFill>
              <a:latin typeface="Arial"/>
              <a:ea typeface="Arial"/>
              <a:cs typeface="Arial"/>
              <a:sym typeface="Arial"/>
            </a:endParaRPr>
          </a:p>
        </p:txBody>
      </p:sp>
      <p:sp>
        <p:nvSpPr>
          <p:cNvPr id="540" name="Google Shape;540;p44"/>
          <p:cNvSpPr txBox="1"/>
          <p:nvPr/>
        </p:nvSpPr>
        <p:spPr>
          <a:xfrm>
            <a:off x="6949440" y="3974869"/>
            <a:ext cx="146304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Discovery tags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545" name="Shape 545"/>
        <p:cNvGrpSpPr/>
        <p:nvPr/>
      </p:nvGrpSpPr>
      <p:grpSpPr>
        <a:xfrm>
          <a:off x="0" y="0"/>
          <a:ext cx="0" cy="0"/>
          <a:chOff x="0" y="0"/>
          <a:chExt cx="0" cy="0"/>
        </a:xfrm>
      </p:grpSpPr>
      <p:sp>
        <p:nvSpPr>
          <p:cNvPr id="546" name="Google Shape;546;p45"/>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Adding Skills to Plugins</a:t>
            </a:r>
            <a:endParaRPr b="0" i="0" sz="1400" u="none" cap="none" strike="noStrike">
              <a:solidFill>
                <a:srgbClr val="000000"/>
              </a:solidFill>
              <a:latin typeface="Arial"/>
              <a:ea typeface="Arial"/>
              <a:cs typeface="Arial"/>
              <a:sym typeface="Arial"/>
            </a:endParaRPr>
          </a:p>
        </p:txBody>
      </p:sp>
      <p:sp>
        <p:nvSpPr>
          <p:cNvPr id="547" name="Google Shape;547;p45"/>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Skills vs Commands in Plugins</a:t>
            </a:r>
            <a:endParaRPr b="0" i="0" sz="1400" u="none" cap="none" strike="noStrike">
              <a:solidFill>
                <a:srgbClr val="000000"/>
              </a:solidFill>
              <a:latin typeface="Arial"/>
              <a:ea typeface="Arial"/>
              <a:cs typeface="Arial"/>
              <a:sym typeface="Arial"/>
            </a:endParaRPr>
          </a:p>
        </p:txBody>
      </p:sp>
      <p:sp>
        <p:nvSpPr>
          <p:cNvPr id="548" name="Google Shape;548;p45"/>
          <p:cNvSpPr txBox="1"/>
          <p:nvPr/>
        </p:nvSpPr>
        <p:spPr>
          <a:xfrm>
            <a:off x="731520" y="1645920"/>
            <a:ext cx="7680900" cy="803400"/>
          </a:xfrm>
          <a:prstGeom prst="rect">
            <a:avLst/>
          </a:prstGeom>
          <a:noFill/>
          <a:ln>
            <a:noFill/>
          </a:ln>
        </p:spPr>
        <p:txBody>
          <a:bodyPr anchorCtr="0" anchor="t" bIns="45700" lIns="91425" spcFirstLastPara="1" rIns="91425" wrap="square" tIns="45700">
            <a:spAutoFit/>
          </a:bodyPr>
          <a:lstStyle/>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commands/: User-invoked skills (manual execution)</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skills/: Agent skills (Claude auto-invokes based on context)</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Both use same SKILL.md format with frontmatter</a:t>
            </a:r>
            <a:endParaRPr b="0" i="0" sz="1400" u="none" cap="none" strike="noStrike">
              <a:solidFill>
                <a:srgbClr val="000000"/>
              </a:solidFill>
              <a:latin typeface="Arial"/>
              <a:ea typeface="Arial"/>
              <a:cs typeface="Arial"/>
              <a:sym typeface="Arial"/>
            </a:endParaRPr>
          </a:p>
        </p:txBody>
      </p:sp>
      <p:sp>
        <p:nvSpPr>
          <p:cNvPr id="549" name="Google Shape;549;p45"/>
          <p:cNvSpPr txBox="1"/>
          <p:nvPr/>
        </p:nvSpPr>
        <p:spPr>
          <a:xfrm>
            <a:off x="731520" y="2613725"/>
            <a:ext cx="7680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Skill Directory Structure</a:t>
            </a:r>
            <a:endParaRPr b="0" i="0" sz="1400" u="none" cap="none" strike="noStrike">
              <a:solidFill>
                <a:srgbClr val="000000"/>
              </a:solidFill>
              <a:latin typeface="Arial"/>
              <a:ea typeface="Arial"/>
              <a:cs typeface="Arial"/>
              <a:sym typeface="Arial"/>
            </a:endParaRPr>
          </a:p>
        </p:txBody>
      </p:sp>
      <p:sp>
        <p:nvSpPr>
          <p:cNvPr id="550" name="Google Shape;550;p45"/>
          <p:cNvSpPr/>
          <p:nvPr/>
        </p:nvSpPr>
        <p:spPr>
          <a:xfrm>
            <a:off x="914400" y="3070925"/>
            <a:ext cx="7315200" cy="274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Consolas"/>
                <a:ea typeface="Consolas"/>
                <a:cs typeface="Consolas"/>
                <a:sym typeface="Consolas"/>
              </a:rPr>
              <a:t>skills/code-review/SKILL.md  # Skill name = directory name</a:t>
            </a:r>
            <a:endParaRPr b="0" i="0" sz="1400" u="none" cap="none" strike="noStrike">
              <a:solidFill>
                <a:srgbClr val="000000"/>
              </a:solidFill>
              <a:latin typeface="Arial"/>
              <a:ea typeface="Arial"/>
              <a:cs typeface="Arial"/>
              <a:sym typeface="Arial"/>
            </a:endParaRPr>
          </a:p>
        </p:txBody>
      </p:sp>
      <p:sp>
        <p:nvSpPr>
          <p:cNvPr id="551" name="Google Shape;551;p45"/>
          <p:cNvSpPr txBox="1"/>
          <p:nvPr/>
        </p:nvSpPr>
        <p:spPr>
          <a:xfrm>
            <a:off x="731520" y="3560145"/>
            <a:ext cx="7680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SKILL.md Frontmatter</a:t>
            </a:r>
            <a:endParaRPr b="0" i="0" sz="1400" u="none" cap="none" strike="noStrike">
              <a:solidFill>
                <a:srgbClr val="000000"/>
              </a:solidFill>
              <a:latin typeface="Arial"/>
              <a:ea typeface="Arial"/>
              <a:cs typeface="Arial"/>
              <a:sym typeface="Arial"/>
            </a:endParaRPr>
          </a:p>
        </p:txBody>
      </p:sp>
      <p:sp>
        <p:nvSpPr>
          <p:cNvPr id="552" name="Google Shape;552;p45"/>
          <p:cNvSpPr txBox="1"/>
          <p:nvPr/>
        </p:nvSpPr>
        <p:spPr>
          <a:xfrm>
            <a:off x="731520" y="4017345"/>
            <a:ext cx="7680900" cy="803400"/>
          </a:xfrm>
          <a:prstGeom prst="rect">
            <a:avLst/>
          </a:prstGeom>
          <a:noFill/>
          <a:ln>
            <a:noFill/>
          </a:ln>
        </p:spPr>
        <p:txBody>
          <a:bodyPr anchorCtr="0" anchor="t" bIns="45700" lIns="91425" spcFirstLastPara="1" rIns="91425" wrap="square" tIns="45700">
            <a:spAutoFit/>
          </a:bodyPr>
          <a:lstStyle/>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name: Skill identifier</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description: When Claude should use this skill</a:t>
            </a:r>
            <a:endParaRPr/>
          </a:p>
          <a:p>
            <a:pPr indent="-317500" lvl="0" marL="457200" marR="0" rtl="0" algn="l">
              <a:lnSpc>
                <a:spcPct val="115000"/>
              </a:lnSpc>
              <a:spcBef>
                <a:spcPts val="0"/>
              </a:spcBef>
              <a:spcAft>
                <a:spcPts val="0"/>
              </a:spcAft>
              <a:buClr>
                <a:srgbClr val="141413"/>
              </a:buClr>
              <a:buSzPts val="1400"/>
              <a:buFont typeface="Calibri"/>
              <a:buChar char="●"/>
            </a:pPr>
            <a:r>
              <a:rPr b="0" i="0" lang="en-US" sz="1400" u="none" cap="none" strike="noStrike">
                <a:solidFill>
                  <a:srgbClr val="141413"/>
                </a:solidFill>
                <a:latin typeface="Calibri"/>
                <a:ea typeface="Calibri"/>
                <a:cs typeface="Calibri"/>
                <a:sym typeface="Calibri"/>
              </a:rPr>
              <a:t>disable-model-invocation: true (for commands only)</a:t>
            </a:r>
            <a:endParaRPr b="0" i="0" sz="1400" u="none" cap="none" strike="noStrike">
              <a:solidFill>
                <a:srgbClr val="000000"/>
              </a:solidFill>
              <a:latin typeface="Arial"/>
              <a:ea typeface="Arial"/>
              <a:cs typeface="Arial"/>
              <a:sym typeface="Arial"/>
            </a:endParaRPr>
          </a:p>
        </p:txBody>
      </p:sp>
      <p:sp>
        <p:nvSpPr>
          <p:cNvPr id="553" name="Google Shape;553;p45"/>
          <p:cNvSpPr/>
          <p:nvPr/>
        </p:nvSpPr>
        <p:spPr>
          <a:xfrm>
            <a:off x="5832764" y="3891741"/>
            <a:ext cx="2396836" cy="731520"/>
          </a:xfrm>
          <a:prstGeom prst="roundRect">
            <a:avLst>
              <a:gd fmla="val 16667" name="adj"/>
            </a:avLst>
          </a:prstGeom>
          <a:solidFill>
            <a:srgbClr val="D97757"/>
          </a:solidFill>
          <a:ln cap="flat" cmpd="sng" w="25400">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Calibri"/>
                <a:ea typeface="Calibri"/>
                <a:cs typeface="Calibri"/>
                <a:sym typeface="Calibri"/>
              </a:rPr>
              <a:t>⚠️  After adding skills, restart Claude Code to load them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558" name="Shape 558"/>
        <p:cNvGrpSpPr/>
        <p:nvPr/>
      </p:nvGrpSpPr>
      <p:grpSpPr>
        <a:xfrm>
          <a:off x="0" y="0"/>
          <a:ext cx="0" cy="0"/>
          <a:chOff x="0" y="0"/>
          <a:chExt cx="0" cy="0"/>
        </a:xfrm>
      </p:grpSpPr>
      <p:sp>
        <p:nvSpPr>
          <p:cNvPr id="559" name="Google Shape;559;p46"/>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Testing Plugins Locally</a:t>
            </a:r>
            <a:endParaRPr b="0" i="0" sz="1400" u="none" cap="none" strike="noStrike">
              <a:solidFill>
                <a:srgbClr val="000000"/>
              </a:solidFill>
              <a:latin typeface="Arial"/>
              <a:ea typeface="Arial"/>
              <a:cs typeface="Arial"/>
              <a:sym typeface="Arial"/>
            </a:endParaRPr>
          </a:p>
        </p:txBody>
      </p:sp>
      <p:sp>
        <p:nvSpPr>
          <p:cNvPr id="560" name="Google Shape;560;p46"/>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The --plugin-dir Flag</a:t>
            </a:r>
            <a:endParaRPr b="0" i="0" sz="1400" u="none" cap="none" strike="noStrike">
              <a:solidFill>
                <a:srgbClr val="000000"/>
              </a:solidFill>
              <a:latin typeface="Arial"/>
              <a:ea typeface="Arial"/>
              <a:cs typeface="Arial"/>
              <a:sym typeface="Arial"/>
            </a:endParaRPr>
          </a:p>
        </p:txBody>
      </p:sp>
      <p:sp>
        <p:nvSpPr>
          <p:cNvPr id="561" name="Google Shape;561;p46"/>
          <p:cNvSpPr txBox="1"/>
          <p:nvPr/>
        </p:nvSpPr>
        <p:spPr>
          <a:xfrm>
            <a:off x="731520" y="1645920"/>
            <a:ext cx="579397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Load plugins directly from your development directory without installing. Perfect for rapid iteration during development.</a:t>
            </a:r>
            <a:endParaRPr b="0" i="0" sz="1400" u="none" cap="none" strike="noStrike">
              <a:solidFill>
                <a:srgbClr val="000000"/>
              </a:solidFill>
              <a:latin typeface="Arial"/>
              <a:ea typeface="Arial"/>
              <a:cs typeface="Arial"/>
              <a:sym typeface="Arial"/>
            </a:endParaRPr>
          </a:p>
        </p:txBody>
      </p:sp>
      <p:sp>
        <p:nvSpPr>
          <p:cNvPr id="562" name="Google Shape;562;p46"/>
          <p:cNvSpPr/>
          <p:nvPr/>
        </p:nvSpPr>
        <p:spPr>
          <a:xfrm>
            <a:off x="914400" y="2259676"/>
            <a:ext cx="5174700" cy="274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onsolas"/>
                <a:ea typeface="Consolas"/>
                <a:cs typeface="Consolas"/>
                <a:sym typeface="Consolas"/>
              </a:rPr>
              <a:t>claude --plugin-dir ./my-plugin</a:t>
            </a:r>
            <a:endParaRPr b="0" i="0" sz="1400" u="none" cap="none" strike="noStrike">
              <a:solidFill>
                <a:srgbClr val="000000"/>
              </a:solidFill>
              <a:latin typeface="Arial"/>
              <a:ea typeface="Arial"/>
              <a:cs typeface="Arial"/>
              <a:sym typeface="Arial"/>
            </a:endParaRPr>
          </a:p>
        </p:txBody>
      </p:sp>
      <p:sp>
        <p:nvSpPr>
          <p:cNvPr id="563" name="Google Shape;563;p46"/>
          <p:cNvSpPr txBox="1"/>
          <p:nvPr/>
        </p:nvSpPr>
        <p:spPr>
          <a:xfrm>
            <a:off x="731520" y="2760655"/>
            <a:ext cx="7680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Development Workflow</a:t>
            </a:r>
            <a:endParaRPr b="0" i="0" sz="1400" u="none" cap="none" strike="noStrike">
              <a:solidFill>
                <a:srgbClr val="000000"/>
              </a:solidFill>
              <a:latin typeface="Arial"/>
              <a:ea typeface="Arial"/>
              <a:cs typeface="Arial"/>
              <a:sym typeface="Arial"/>
            </a:endParaRPr>
          </a:p>
        </p:txBody>
      </p:sp>
      <p:sp>
        <p:nvSpPr>
          <p:cNvPr id="564" name="Google Shape;564;p46"/>
          <p:cNvSpPr txBox="1"/>
          <p:nvPr/>
        </p:nvSpPr>
        <p:spPr>
          <a:xfrm>
            <a:off x="914405" y="3239080"/>
            <a:ext cx="6949500" cy="1308300"/>
          </a:xfrm>
          <a:prstGeom prst="rect">
            <a:avLst/>
          </a:prstGeom>
          <a:noFill/>
          <a:ln>
            <a:noFill/>
          </a:ln>
        </p:spPr>
        <p:txBody>
          <a:bodyPr anchorCtr="0" anchor="t" bIns="45700" lIns="91425" spcFirstLastPara="1" rIns="91425" wrap="square" tIns="45700">
            <a:spAutoFit/>
          </a:bodyPr>
          <a:lstStyle/>
          <a:p>
            <a:pPr indent="-311150" lvl="0" marL="457200" marR="0" rtl="0" algn="l">
              <a:lnSpc>
                <a:spcPct val="100000"/>
              </a:lnSpc>
              <a:spcBef>
                <a:spcPts val="0"/>
              </a:spcBef>
              <a:spcAft>
                <a:spcPts val="0"/>
              </a:spcAft>
              <a:buClr>
                <a:srgbClr val="141413"/>
              </a:buClr>
              <a:buSzPts val="1300"/>
              <a:buFont typeface="Calibri"/>
              <a:buAutoNum type="arabicPeriod"/>
            </a:pPr>
            <a:r>
              <a:rPr b="0" i="0" lang="en-US" sz="1300" u="none" cap="none" strike="noStrike">
                <a:solidFill>
                  <a:srgbClr val="141413"/>
                </a:solidFill>
                <a:latin typeface="Calibri"/>
                <a:ea typeface="Calibri"/>
                <a:cs typeface="Calibri"/>
                <a:sym typeface="Calibri"/>
              </a:rPr>
              <a:t>Make changes to plugin files.</a:t>
            </a:r>
            <a:endParaRPr b="0" i="0" sz="1300" u="none" cap="none" strike="noStrike">
              <a:solidFill>
                <a:srgbClr val="141413"/>
              </a:solidFill>
              <a:latin typeface="Calibri"/>
              <a:ea typeface="Calibri"/>
              <a:cs typeface="Calibri"/>
              <a:sym typeface="Calibri"/>
            </a:endParaRPr>
          </a:p>
          <a:p>
            <a:pPr indent="-311150" lvl="0" marL="457200" rtl="0" algn="l">
              <a:spcBef>
                <a:spcPts val="0"/>
              </a:spcBef>
              <a:spcAft>
                <a:spcPts val="0"/>
              </a:spcAft>
              <a:buClr>
                <a:srgbClr val="141413"/>
              </a:buClr>
              <a:buSzPts val="1300"/>
              <a:buFont typeface="Calibri"/>
              <a:buAutoNum type="arabicPeriod"/>
            </a:pPr>
            <a:r>
              <a:rPr lang="en-US" sz="1300">
                <a:solidFill>
                  <a:srgbClr val="141413"/>
                </a:solidFill>
                <a:latin typeface="Calibri"/>
                <a:ea typeface="Calibri"/>
                <a:cs typeface="Calibri"/>
                <a:sym typeface="Calibri"/>
              </a:rPr>
              <a:t>Restart Claude Code with --plugin-dir flag.</a:t>
            </a:r>
            <a:endParaRPr sz="1300">
              <a:solidFill>
                <a:srgbClr val="141413"/>
              </a:solidFill>
              <a:latin typeface="Calibri"/>
              <a:ea typeface="Calibri"/>
              <a:cs typeface="Calibri"/>
              <a:sym typeface="Calibri"/>
            </a:endParaRPr>
          </a:p>
          <a:p>
            <a:pPr indent="-311150" lvl="0" marL="457200" rtl="0" algn="l">
              <a:spcBef>
                <a:spcPts val="0"/>
              </a:spcBef>
              <a:spcAft>
                <a:spcPts val="0"/>
              </a:spcAft>
              <a:buClr>
                <a:srgbClr val="141413"/>
              </a:buClr>
              <a:buSzPts val="1300"/>
              <a:buFont typeface="Calibri"/>
              <a:buAutoNum type="arabicPeriod"/>
            </a:pPr>
            <a:r>
              <a:rPr lang="en-US" sz="1300">
                <a:solidFill>
                  <a:srgbClr val="141413"/>
                </a:solidFill>
                <a:latin typeface="Calibri"/>
                <a:ea typeface="Calibri"/>
                <a:cs typeface="Calibri"/>
                <a:sym typeface="Calibri"/>
              </a:rPr>
              <a:t>Test your commands with /plugin-name:command.</a:t>
            </a:r>
            <a:endParaRPr sz="1300">
              <a:solidFill>
                <a:srgbClr val="141413"/>
              </a:solidFill>
              <a:latin typeface="Calibri"/>
              <a:ea typeface="Calibri"/>
              <a:cs typeface="Calibri"/>
              <a:sym typeface="Calibri"/>
            </a:endParaRPr>
          </a:p>
          <a:p>
            <a:pPr indent="-311150" lvl="0" marL="457200" rtl="0" algn="l">
              <a:spcBef>
                <a:spcPts val="0"/>
              </a:spcBef>
              <a:spcAft>
                <a:spcPts val="0"/>
              </a:spcAft>
              <a:buClr>
                <a:srgbClr val="141413"/>
              </a:buClr>
              <a:buSzPts val="1300"/>
              <a:buFont typeface="Calibri"/>
              <a:buAutoNum type="arabicPeriod"/>
            </a:pPr>
            <a:r>
              <a:rPr lang="en-US" sz="1300">
                <a:solidFill>
                  <a:srgbClr val="141413"/>
                </a:solidFill>
                <a:latin typeface="Calibri"/>
                <a:ea typeface="Calibri"/>
                <a:cs typeface="Calibri"/>
                <a:sym typeface="Calibri"/>
              </a:rPr>
              <a:t>Check /help to verify commands appear.</a:t>
            </a:r>
            <a:endParaRPr sz="1300">
              <a:solidFill>
                <a:srgbClr val="141413"/>
              </a:solidFill>
              <a:latin typeface="Calibri"/>
              <a:ea typeface="Calibri"/>
              <a:cs typeface="Calibri"/>
              <a:sym typeface="Calibri"/>
            </a:endParaRPr>
          </a:p>
          <a:p>
            <a:pPr indent="-311150" lvl="0" marL="457200" rtl="0" algn="l">
              <a:spcBef>
                <a:spcPts val="0"/>
              </a:spcBef>
              <a:spcAft>
                <a:spcPts val="0"/>
              </a:spcAft>
              <a:buClr>
                <a:srgbClr val="141413"/>
              </a:buClr>
              <a:buSzPts val="1300"/>
              <a:buFont typeface="Calibri"/>
              <a:buAutoNum type="arabicPeriod"/>
            </a:pPr>
            <a:r>
              <a:rPr lang="en-US" sz="1300">
                <a:solidFill>
                  <a:srgbClr val="141413"/>
                </a:solidFill>
                <a:latin typeface="Calibri"/>
                <a:ea typeface="Calibri"/>
                <a:cs typeface="Calibri"/>
                <a:sym typeface="Calibri"/>
              </a:rPr>
              <a:t>Verify hooks trigger correctly.</a:t>
            </a:r>
            <a:endParaRPr>
              <a:solidFill>
                <a:schemeClr val="dk1"/>
              </a:solidFill>
            </a:endParaRPr>
          </a:p>
          <a:p>
            <a:pPr indent="-311150" lvl="0" marL="457200" rtl="0" algn="l">
              <a:spcBef>
                <a:spcPts val="0"/>
              </a:spcBef>
              <a:spcAft>
                <a:spcPts val="0"/>
              </a:spcAft>
              <a:buClr>
                <a:srgbClr val="141413"/>
              </a:buClr>
              <a:buSzPts val="1300"/>
              <a:buFont typeface="Calibri"/>
              <a:buAutoNum type="arabicPeriod"/>
            </a:pPr>
            <a:r>
              <a:rPr lang="en-US" sz="1300">
                <a:solidFill>
                  <a:srgbClr val="141413"/>
                </a:solidFill>
                <a:latin typeface="Calibri"/>
                <a:ea typeface="Calibri"/>
                <a:cs typeface="Calibri"/>
                <a:sym typeface="Calibri"/>
              </a:rPr>
              <a:t>Repeat until ready to distribute</a:t>
            </a:r>
            <a:r>
              <a:rPr lang="en-US">
                <a:solidFill>
                  <a:schemeClr val="dk1"/>
                </a:solidFill>
              </a:rPr>
              <a:t>.</a:t>
            </a:r>
            <a:endParaRPr sz="1300">
              <a:solidFill>
                <a:srgbClr val="141413"/>
              </a:solidFill>
              <a:latin typeface="Calibri"/>
              <a:ea typeface="Calibri"/>
              <a:cs typeface="Calibri"/>
              <a:sym typeface="Calibri"/>
            </a:endParaRPr>
          </a:p>
        </p:txBody>
      </p:sp>
      <p:sp>
        <p:nvSpPr>
          <p:cNvPr id="565" name="Google Shape;565;p46"/>
          <p:cNvSpPr/>
          <p:nvPr/>
        </p:nvSpPr>
        <p:spPr>
          <a:xfrm>
            <a:off x="6906491" y="1330036"/>
            <a:ext cx="1780308" cy="3059084"/>
          </a:xfrm>
          <a:prstGeom prst="rect">
            <a:avLst/>
          </a:prstGeom>
          <a:solidFill>
            <a:schemeClr val="lt1"/>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141413"/>
                </a:solidFill>
                <a:latin typeface="Calibri"/>
                <a:ea typeface="Calibri"/>
                <a:cs typeface="Calibri"/>
                <a:sym typeface="Calibri"/>
              </a:rPr>
              <a:t>💡 Tip: Load multiple plugins for testing: claude --plugin-dir ./plugin1 --plugin-dir ./plugin2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570" name="Shape 570"/>
        <p:cNvGrpSpPr/>
        <p:nvPr/>
      </p:nvGrpSpPr>
      <p:grpSpPr>
        <a:xfrm>
          <a:off x="0" y="0"/>
          <a:ext cx="0" cy="0"/>
          <a:chOff x="0" y="0"/>
          <a:chExt cx="0" cy="0"/>
        </a:xfrm>
      </p:grpSpPr>
      <p:sp>
        <p:nvSpPr>
          <p:cNvPr id="571" name="Google Shape;571;p47"/>
          <p:cNvSpPr/>
          <p:nvPr/>
        </p:nvSpPr>
        <p:spPr>
          <a:xfrm>
            <a:off x="0" y="0"/>
            <a:ext cx="2632364" cy="5143500"/>
          </a:xfrm>
          <a:prstGeom prst="rect">
            <a:avLst/>
          </a:prstGeom>
          <a:solidFill>
            <a:srgbClr val="788C5D"/>
          </a:solidFill>
          <a:ln cap="flat" cmpd="sng" w="9525">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2" name="Google Shape;572;p47"/>
          <p:cNvSpPr txBox="1"/>
          <p:nvPr/>
        </p:nvSpPr>
        <p:spPr>
          <a:xfrm>
            <a:off x="278911" y="3079865"/>
            <a:ext cx="2074542" cy="15696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Module 6:</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Knowledge</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Check</a:t>
            </a:r>
            <a:endParaRPr b="0" i="0" sz="1400" u="none" cap="none" strike="noStrike">
              <a:solidFill>
                <a:srgbClr val="000000"/>
              </a:solidFill>
              <a:latin typeface="Arial"/>
              <a:ea typeface="Arial"/>
              <a:cs typeface="Arial"/>
              <a:sym typeface="Arial"/>
            </a:endParaRPr>
          </a:p>
        </p:txBody>
      </p:sp>
      <p:pic>
        <p:nvPicPr>
          <p:cNvPr descr="Brain with solid fill" id="573" name="Google Shape;573;p47"/>
          <p:cNvPicPr preferRelativeResize="0"/>
          <p:nvPr/>
        </p:nvPicPr>
        <p:blipFill rotWithShape="1">
          <a:blip r:embed="rId3">
            <a:alphaModFix/>
          </a:blip>
          <a:srcRect b="0" l="0" r="0" t="0"/>
          <a:stretch/>
        </p:blipFill>
        <p:spPr>
          <a:xfrm>
            <a:off x="969818" y="2376055"/>
            <a:ext cx="703810" cy="703810"/>
          </a:xfrm>
          <a:prstGeom prst="rect">
            <a:avLst/>
          </a:prstGeom>
          <a:noFill/>
          <a:ln>
            <a:noFill/>
          </a:ln>
        </p:spPr>
      </p:pic>
      <p:sp>
        <p:nvSpPr>
          <p:cNvPr id="574" name="Google Shape;574;p47"/>
          <p:cNvSpPr txBox="1"/>
          <p:nvPr/>
        </p:nvSpPr>
        <p:spPr>
          <a:xfrm>
            <a:off x="3129308" y="834391"/>
            <a:ext cx="531890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Where should the commands/, agents/, and skills/ directories be located in a plugin?</a:t>
            </a:r>
            <a:endParaRPr b="0" i="0" sz="1400" u="none" cap="none" strike="noStrike">
              <a:solidFill>
                <a:srgbClr val="000000"/>
              </a:solidFill>
              <a:latin typeface="Arial"/>
              <a:ea typeface="Arial"/>
              <a:cs typeface="Arial"/>
              <a:sym typeface="Arial"/>
            </a:endParaRPr>
          </a:p>
        </p:txBody>
      </p:sp>
      <p:sp>
        <p:nvSpPr>
          <p:cNvPr id="575" name="Google Shape;575;p47"/>
          <p:cNvSpPr txBox="1"/>
          <p:nvPr/>
        </p:nvSpPr>
        <p:spPr>
          <a:xfrm>
            <a:off x="3129308" y="2571750"/>
            <a:ext cx="531890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What flag allows you to test a plugin without installing it?</a:t>
            </a:r>
            <a:endParaRPr b="0" i="0" sz="1400" u="none" cap="none" strike="noStrike">
              <a:solidFill>
                <a:srgbClr val="000000"/>
              </a:solidFill>
              <a:latin typeface="Arial"/>
              <a:ea typeface="Arial"/>
              <a:cs typeface="Arial"/>
              <a:sym typeface="Arial"/>
            </a:endParaRPr>
          </a:p>
        </p:txBody>
      </p:sp>
      <p:sp>
        <p:nvSpPr>
          <p:cNvPr id="576" name="Google Shape;576;p47"/>
          <p:cNvSpPr txBox="1"/>
          <p:nvPr/>
        </p:nvSpPr>
        <p:spPr>
          <a:xfrm>
            <a:off x="3312188" y="1292458"/>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A) Inside .claude-plugin/ directory</a:t>
            </a:r>
            <a:endParaRPr i="0" sz="1400" u="none" cap="none" strike="noStrike">
              <a:solidFill>
                <a:schemeClr val="dk1"/>
              </a:solidFill>
            </a:endParaRPr>
          </a:p>
        </p:txBody>
      </p:sp>
      <p:sp>
        <p:nvSpPr>
          <p:cNvPr id="577" name="Google Shape;577;p47"/>
          <p:cNvSpPr txBox="1"/>
          <p:nvPr/>
        </p:nvSpPr>
        <p:spPr>
          <a:xfrm>
            <a:off x="3312188" y="1566778"/>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B) At the plugin root level</a:t>
            </a:r>
            <a:endParaRPr i="0" sz="1400" u="none" cap="none" strike="noStrike">
              <a:solidFill>
                <a:schemeClr val="dk1"/>
              </a:solidFill>
            </a:endParaRPr>
          </a:p>
        </p:txBody>
      </p:sp>
      <p:sp>
        <p:nvSpPr>
          <p:cNvPr id="578" name="Google Shape;578;p47"/>
          <p:cNvSpPr txBox="1"/>
          <p:nvPr/>
        </p:nvSpPr>
        <p:spPr>
          <a:xfrm>
            <a:off x="3312188" y="1841097"/>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C) In a src/ directory</a:t>
            </a:r>
            <a:endParaRPr i="0" sz="1400" u="none" cap="none" strike="noStrike">
              <a:solidFill>
                <a:schemeClr val="dk1"/>
              </a:solidFill>
            </a:endParaRPr>
          </a:p>
        </p:txBody>
      </p:sp>
      <p:sp>
        <p:nvSpPr>
          <p:cNvPr id="579" name="Google Shape;579;p47"/>
          <p:cNvSpPr txBox="1"/>
          <p:nvPr/>
        </p:nvSpPr>
        <p:spPr>
          <a:xfrm>
            <a:off x="3312188" y="2115417"/>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D) Inside .claude/ directory</a:t>
            </a:r>
            <a:endParaRPr i="0" sz="1400" u="none" cap="none" strike="noStrike">
              <a:solidFill>
                <a:schemeClr val="dk1"/>
              </a:solidFill>
            </a:endParaRPr>
          </a:p>
        </p:txBody>
      </p:sp>
      <p:sp>
        <p:nvSpPr>
          <p:cNvPr id="580" name="Google Shape;580;p47"/>
          <p:cNvSpPr txBox="1"/>
          <p:nvPr/>
        </p:nvSpPr>
        <p:spPr>
          <a:xfrm>
            <a:off x="3312188" y="3029817"/>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A) --test-plugin</a:t>
            </a:r>
            <a:endParaRPr i="0" sz="1400" u="none" cap="none" strike="noStrike">
              <a:solidFill>
                <a:schemeClr val="dk1"/>
              </a:solidFill>
            </a:endParaRPr>
          </a:p>
        </p:txBody>
      </p:sp>
      <p:sp>
        <p:nvSpPr>
          <p:cNvPr id="581" name="Google Shape;581;p47"/>
          <p:cNvSpPr txBox="1"/>
          <p:nvPr/>
        </p:nvSpPr>
        <p:spPr>
          <a:xfrm>
            <a:off x="3312188" y="3304137"/>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B) --load-plugin</a:t>
            </a:r>
            <a:endParaRPr i="0" sz="1400" u="none" cap="none" strike="noStrike">
              <a:solidFill>
                <a:schemeClr val="dk1"/>
              </a:solidFill>
            </a:endParaRPr>
          </a:p>
        </p:txBody>
      </p:sp>
      <p:sp>
        <p:nvSpPr>
          <p:cNvPr id="582" name="Google Shape;582;p47"/>
          <p:cNvSpPr txBox="1"/>
          <p:nvPr/>
        </p:nvSpPr>
        <p:spPr>
          <a:xfrm>
            <a:off x="3312188" y="3578457"/>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C) --plugin-dir</a:t>
            </a:r>
            <a:endParaRPr i="0" sz="1400" u="none" cap="none" strike="noStrike">
              <a:solidFill>
                <a:schemeClr val="dk1"/>
              </a:solidFill>
            </a:endParaRPr>
          </a:p>
        </p:txBody>
      </p:sp>
      <p:sp>
        <p:nvSpPr>
          <p:cNvPr id="583" name="Google Shape;583;p47"/>
          <p:cNvSpPr txBox="1"/>
          <p:nvPr/>
        </p:nvSpPr>
        <p:spPr>
          <a:xfrm>
            <a:off x="3312188" y="3852777"/>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D) --dev-mode</a:t>
            </a:r>
            <a:endParaRPr i="0" sz="1400" u="none" cap="none" strike="noStrike">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588" name="Shape 588"/>
        <p:cNvGrpSpPr/>
        <p:nvPr/>
      </p:nvGrpSpPr>
      <p:grpSpPr>
        <a:xfrm>
          <a:off x="0" y="0"/>
          <a:ext cx="0" cy="0"/>
          <a:chOff x="0" y="0"/>
          <a:chExt cx="0" cy="0"/>
        </a:xfrm>
      </p:grpSpPr>
      <p:sp>
        <p:nvSpPr>
          <p:cNvPr id="589" name="Google Shape;589;p48"/>
          <p:cNvSpPr txBox="1"/>
          <p:nvPr/>
        </p:nvSpPr>
        <p:spPr>
          <a:xfrm>
            <a:off x="457200" y="502920"/>
            <a:ext cx="353032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Module 6 Summary</a:t>
            </a:r>
            <a:endParaRPr b="0" i="0" sz="1400" u="none" cap="none" strike="noStrike">
              <a:solidFill>
                <a:srgbClr val="000000"/>
              </a:solidFill>
              <a:latin typeface="Arial"/>
              <a:ea typeface="Arial"/>
              <a:cs typeface="Arial"/>
              <a:sym typeface="Arial"/>
            </a:endParaRPr>
          </a:p>
        </p:txBody>
      </p:sp>
      <p:sp>
        <p:nvSpPr>
          <p:cNvPr id="590" name="Google Shape;590;p48"/>
          <p:cNvSpPr txBox="1"/>
          <p:nvPr/>
        </p:nvSpPr>
        <p:spPr>
          <a:xfrm>
            <a:off x="457200" y="1051560"/>
            <a:ext cx="170271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36454F"/>
                </a:solidFill>
                <a:latin typeface="Calibri"/>
                <a:ea typeface="Calibri"/>
                <a:cs typeface="Calibri"/>
                <a:sym typeface="Calibri"/>
              </a:rPr>
              <a:t>Creating Plugins</a:t>
            </a:r>
            <a:endParaRPr b="0" i="0" sz="1800" u="none" cap="none" strike="noStrike">
              <a:solidFill>
                <a:schemeClr val="dk1"/>
              </a:solidFill>
              <a:latin typeface="Calibri"/>
              <a:ea typeface="Calibri"/>
              <a:cs typeface="Calibri"/>
              <a:sym typeface="Calibri"/>
            </a:endParaRPr>
          </a:p>
        </p:txBody>
      </p:sp>
      <p:sp>
        <p:nvSpPr>
          <p:cNvPr id="591" name="Google Shape;591;p48"/>
          <p:cNvSpPr txBox="1"/>
          <p:nvPr/>
        </p:nvSpPr>
        <p:spPr>
          <a:xfrm>
            <a:off x="45720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Key Takeaways</a:t>
            </a:r>
            <a:endParaRPr b="0" i="0" sz="1400" u="none" cap="none" strike="noStrike">
              <a:solidFill>
                <a:srgbClr val="000000"/>
              </a:solidFill>
              <a:latin typeface="Arial"/>
              <a:ea typeface="Arial"/>
              <a:cs typeface="Arial"/>
              <a:sym typeface="Arial"/>
            </a:endParaRPr>
          </a:p>
        </p:txBody>
      </p:sp>
      <p:sp>
        <p:nvSpPr>
          <p:cNvPr id="592" name="Google Shape;592;p48"/>
          <p:cNvSpPr txBox="1"/>
          <p:nvPr/>
        </p:nvSpPr>
        <p:spPr>
          <a:xfrm>
            <a:off x="457200" y="2103120"/>
            <a:ext cx="5389418" cy="271869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Plugin structure: .claude-plugin/ for manifest, other directories at root level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Manifest requires: name, description, version; other fields optional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commands/ for user-invoked skills, skills/ for auto-invoked agent skills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Test with --plugin-dir flag for rapid iteration without installation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Restart Claude Code after making changes to reload plugin</a:t>
            </a:r>
            <a:endParaRPr b="0" i="0" sz="1400" u="none" cap="none" strike="noStrike">
              <a:solidFill>
                <a:srgbClr val="000000"/>
              </a:solidFill>
              <a:latin typeface="Arial"/>
              <a:ea typeface="Arial"/>
              <a:cs typeface="Arial"/>
              <a:sym typeface="Arial"/>
            </a:endParaRPr>
          </a:p>
        </p:txBody>
      </p:sp>
      <p:sp>
        <p:nvSpPr>
          <p:cNvPr id="593" name="Google Shape;593;p48"/>
          <p:cNvSpPr/>
          <p:nvPr/>
        </p:nvSpPr>
        <p:spPr>
          <a:xfrm>
            <a:off x="6511636" y="0"/>
            <a:ext cx="2632364" cy="5143500"/>
          </a:xfrm>
          <a:prstGeom prst="rect">
            <a:avLst/>
          </a:prstGeom>
          <a:solidFill>
            <a:srgbClr val="D97757"/>
          </a:solidFill>
          <a:ln cap="flat" cmpd="sng" w="9525">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Key with solid fill" id="594" name="Google Shape;594;p48"/>
          <p:cNvPicPr preferRelativeResize="0"/>
          <p:nvPr/>
        </p:nvPicPr>
        <p:blipFill rotWithShape="1">
          <a:blip r:embed="rId3">
            <a:alphaModFix/>
          </a:blip>
          <a:srcRect b="0" l="0" r="0" t="0"/>
          <a:stretch/>
        </p:blipFill>
        <p:spPr>
          <a:xfrm>
            <a:off x="7370618" y="502920"/>
            <a:ext cx="914400" cy="9144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9BCC"/>
        </a:solidFill>
      </p:bgPr>
    </p:bg>
    <p:spTree>
      <p:nvGrpSpPr>
        <p:cNvPr id="599" name="Shape 599"/>
        <p:cNvGrpSpPr/>
        <p:nvPr/>
      </p:nvGrpSpPr>
      <p:grpSpPr>
        <a:xfrm>
          <a:off x="0" y="0"/>
          <a:ext cx="0" cy="0"/>
          <a:chOff x="0" y="0"/>
          <a:chExt cx="0" cy="0"/>
        </a:xfrm>
      </p:grpSpPr>
      <p:sp>
        <p:nvSpPr>
          <p:cNvPr id="600" name="Google Shape;600;p49"/>
          <p:cNvSpPr txBox="1"/>
          <p:nvPr/>
        </p:nvSpPr>
        <p:spPr>
          <a:xfrm>
            <a:off x="609600" y="655320"/>
            <a:ext cx="8178906" cy="5539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Calibri"/>
                <a:ea typeface="Calibri"/>
                <a:cs typeface="Calibri"/>
                <a:sym typeface="Calibri"/>
              </a:rPr>
              <a:t>Module 7: Lab: Creating a Plugin with Custom Skill</a:t>
            </a:r>
            <a:endParaRPr b="0" i="0" sz="1400" u="none" cap="none" strike="noStrike">
              <a:solidFill>
                <a:srgbClr val="000000"/>
              </a:solidFill>
              <a:latin typeface="Arial"/>
              <a:ea typeface="Arial"/>
              <a:cs typeface="Arial"/>
              <a:sym typeface="Arial"/>
            </a:endParaRPr>
          </a:p>
        </p:txBody>
      </p:sp>
      <p:sp>
        <p:nvSpPr>
          <p:cNvPr id="601" name="Google Shape;601;p49"/>
          <p:cNvSpPr txBox="1"/>
          <p:nvPr/>
        </p:nvSpPr>
        <p:spPr>
          <a:xfrm>
            <a:off x="609600" y="1203960"/>
            <a:ext cx="212019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Hands-On Exercise</a:t>
            </a:r>
            <a:endParaRPr b="0" i="0" sz="1400" u="none" cap="none" strike="noStrike">
              <a:solidFill>
                <a:srgbClr val="000000"/>
              </a:solidFill>
              <a:latin typeface="Arial"/>
              <a:ea typeface="Arial"/>
              <a:cs typeface="Arial"/>
              <a:sym typeface="Arial"/>
            </a:endParaRPr>
          </a:p>
        </p:txBody>
      </p:sp>
      <p:sp>
        <p:nvSpPr>
          <p:cNvPr id="602" name="Google Shape;602;p49"/>
          <p:cNvSpPr txBox="1"/>
          <p:nvPr/>
        </p:nvSpPr>
        <p:spPr>
          <a:xfrm>
            <a:off x="609600" y="1798320"/>
            <a:ext cx="3506281"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Create plugin directory structure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Write a plugin manifest from scratch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Add a custom skill to the plugin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Test the plugin locally with --plugin-dir</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Verify skill invocation and behavior</a:t>
            </a:r>
            <a:endParaRPr b="0" i="0" sz="1400" u="none" cap="none" strike="noStrike">
              <a:solidFill>
                <a:srgbClr val="000000"/>
              </a:solidFill>
              <a:latin typeface="Arial"/>
              <a:ea typeface="Arial"/>
              <a:cs typeface="Arial"/>
              <a:sym typeface="Arial"/>
            </a:endParaRPr>
          </a:p>
        </p:txBody>
      </p:sp>
      <p:sp>
        <p:nvSpPr>
          <p:cNvPr id="603" name="Google Shape;603;p49"/>
          <p:cNvSpPr/>
          <p:nvPr/>
        </p:nvSpPr>
        <p:spPr>
          <a:xfrm>
            <a:off x="7467600" y="4541520"/>
            <a:ext cx="1371600" cy="457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 30 minutes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08" name="Shape 608"/>
        <p:cNvGrpSpPr/>
        <p:nvPr/>
      </p:nvGrpSpPr>
      <p:grpSpPr>
        <a:xfrm>
          <a:off x="0" y="0"/>
          <a:ext cx="0" cy="0"/>
          <a:chOff x="0" y="0"/>
          <a:chExt cx="0" cy="0"/>
        </a:xfrm>
      </p:grpSpPr>
      <p:sp>
        <p:nvSpPr>
          <p:cNvPr id="609" name="Google Shape;609;p50"/>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Lab Steps: Build Your First Plugin</a:t>
            </a:r>
            <a:endParaRPr b="0" i="0" sz="1400" u="none" cap="none" strike="noStrike">
              <a:solidFill>
                <a:srgbClr val="000000"/>
              </a:solidFill>
              <a:latin typeface="Arial"/>
              <a:ea typeface="Arial"/>
              <a:cs typeface="Arial"/>
              <a:sym typeface="Arial"/>
            </a:endParaRPr>
          </a:p>
        </p:txBody>
      </p:sp>
      <p:sp>
        <p:nvSpPr>
          <p:cNvPr id="610" name="Google Shape;610;p50"/>
          <p:cNvSpPr txBox="1"/>
          <p:nvPr/>
        </p:nvSpPr>
        <p:spPr>
          <a:xfrm>
            <a:off x="731520" y="1188720"/>
            <a:ext cx="2286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41413"/>
                </a:solidFill>
                <a:latin typeface="Calibri"/>
                <a:ea typeface="Calibri"/>
                <a:cs typeface="Calibri"/>
                <a:sym typeface="Calibri"/>
              </a:rPr>
              <a:t>Step 1: Create plugin directory</a:t>
            </a:r>
            <a:endParaRPr b="0" i="0" sz="1400" u="none" cap="none" strike="noStrike">
              <a:solidFill>
                <a:srgbClr val="000000"/>
              </a:solidFill>
              <a:latin typeface="Arial"/>
              <a:ea typeface="Arial"/>
              <a:cs typeface="Arial"/>
              <a:sym typeface="Arial"/>
            </a:endParaRPr>
          </a:p>
        </p:txBody>
      </p:sp>
      <p:sp>
        <p:nvSpPr>
          <p:cNvPr id="611" name="Google Shape;611;p50"/>
          <p:cNvSpPr/>
          <p:nvPr/>
        </p:nvSpPr>
        <p:spPr>
          <a:xfrm>
            <a:off x="3108960" y="1188720"/>
            <a:ext cx="3657600" cy="27432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FFFF"/>
                </a:solidFill>
                <a:latin typeface="Consolas"/>
                <a:ea typeface="Consolas"/>
                <a:cs typeface="Consolas"/>
                <a:sym typeface="Consolas"/>
              </a:rPr>
              <a:t>mkdir my-first-plugin &amp;&amp; mkdir my-first-plugin/.claude-plugin</a:t>
            </a:r>
            <a:endParaRPr b="0" i="0" sz="1400" u="none" cap="none" strike="noStrike">
              <a:solidFill>
                <a:srgbClr val="000000"/>
              </a:solidFill>
              <a:latin typeface="Arial"/>
              <a:ea typeface="Arial"/>
              <a:cs typeface="Arial"/>
              <a:sym typeface="Arial"/>
            </a:endParaRPr>
          </a:p>
        </p:txBody>
      </p:sp>
      <p:sp>
        <p:nvSpPr>
          <p:cNvPr id="612" name="Google Shape;612;p50"/>
          <p:cNvSpPr txBox="1"/>
          <p:nvPr/>
        </p:nvSpPr>
        <p:spPr>
          <a:xfrm>
            <a:off x="6858000" y="1188720"/>
            <a:ext cx="15544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Sets up basic structure</a:t>
            </a:r>
            <a:endParaRPr b="0" i="0" sz="1400" u="none" cap="none" strike="noStrike">
              <a:solidFill>
                <a:srgbClr val="000000"/>
              </a:solidFill>
              <a:latin typeface="Arial"/>
              <a:ea typeface="Arial"/>
              <a:cs typeface="Arial"/>
              <a:sym typeface="Arial"/>
            </a:endParaRPr>
          </a:p>
        </p:txBody>
      </p:sp>
      <p:sp>
        <p:nvSpPr>
          <p:cNvPr id="613" name="Google Shape;613;p50"/>
          <p:cNvSpPr txBox="1"/>
          <p:nvPr/>
        </p:nvSpPr>
        <p:spPr>
          <a:xfrm>
            <a:off x="731520" y="1783080"/>
            <a:ext cx="2286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41413"/>
                </a:solidFill>
                <a:latin typeface="Calibri"/>
                <a:ea typeface="Calibri"/>
                <a:cs typeface="Calibri"/>
                <a:sym typeface="Calibri"/>
              </a:rPr>
              <a:t>Step 2: Create manifest</a:t>
            </a:r>
            <a:endParaRPr b="0" i="0" sz="1400" u="none" cap="none" strike="noStrike">
              <a:solidFill>
                <a:srgbClr val="000000"/>
              </a:solidFill>
              <a:latin typeface="Arial"/>
              <a:ea typeface="Arial"/>
              <a:cs typeface="Arial"/>
              <a:sym typeface="Arial"/>
            </a:endParaRPr>
          </a:p>
        </p:txBody>
      </p:sp>
      <p:sp>
        <p:nvSpPr>
          <p:cNvPr id="614" name="Google Shape;614;p50"/>
          <p:cNvSpPr txBox="1"/>
          <p:nvPr/>
        </p:nvSpPr>
        <p:spPr>
          <a:xfrm>
            <a:off x="3108960" y="178308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1" lang="en-US" sz="1100" u="none" cap="none" strike="noStrike">
                <a:solidFill>
                  <a:srgbClr val="36454F"/>
                </a:solidFill>
                <a:latin typeface="Calibri"/>
                <a:ea typeface="Calibri"/>
                <a:cs typeface="Calibri"/>
                <a:sym typeface="Calibri"/>
              </a:rPr>
              <a:t>Create plugin.json with name, description, version</a:t>
            </a:r>
            <a:endParaRPr b="0" i="0" sz="1400" u="none" cap="none" strike="noStrike">
              <a:solidFill>
                <a:srgbClr val="000000"/>
              </a:solidFill>
              <a:latin typeface="Arial"/>
              <a:ea typeface="Arial"/>
              <a:cs typeface="Arial"/>
              <a:sym typeface="Arial"/>
            </a:endParaRPr>
          </a:p>
        </p:txBody>
      </p:sp>
      <p:sp>
        <p:nvSpPr>
          <p:cNvPr id="615" name="Google Shape;615;p50"/>
          <p:cNvSpPr txBox="1"/>
          <p:nvPr/>
        </p:nvSpPr>
        <p:spPr>
          <a:xfrm>
            <a:off x="6858000" y="1783080"/>
            <a:ext cx="15544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Define plugin identity</a:t>
            </a:r>
            <a:endParaRPr b="0" i="0" sz="1400" u="none" cap="none" strike="noStrike">
              <a:solidFill>
                <a:srgbClr val="000000"/>
              </a:solidFill>
              <a:latin typeface="Arial"/>
              <a:ea typeface="Arial"/>
              <a:cs typeface="Arial"/>
              <a:sym typeface="Arial"/>
            </a:endParaRPr>
          </a:p>
        </p:txBody>
      </p:sp>
      <p:sp>
        <p:nvSpPr>
          <p:cNvPr id="616" name="Google Shape;616;p50"/>
          <p:cNvSpPr txBox="1"/>
          <p:nvPr/>
        </p:nvSpPr>
        <p:spPr>
          <a:xfrm>
            <a:off x="731520" y="2377440"/>
            <a:ext cx="2286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41413"/>
                </a:solidFill>
                <a:latin typeface="Calibri"/>
                <a:ea typeface="Calibri"/>
                <a:cs typeface="Calibri"/>
                <a:sym typeface="Calibri"/>
              </a:rPr>
              <a:t>Step 3: Add skill directory</a:t>
            </a:r>
            <a:endParaRPr b="0" i="0" sz="1400" u="none" cap="none" strike="noStrike">
              <a:solidFill>
                <a:srgbClr val="000000"/>
              </a:solidFill>
              <a:latin typeface="Arial"/>
              <a:ea typeface="Arial"/>
              <a:cs typeface="Arial"/>
              <a:sym typeface="Arial"/>
            </a:endParaRPr>
          </a:p>
        </p:txBody>
      </p:sp>
      <p:sp>
        <p:nvSpPr>
          <p:cNvPr id="617" name="Google Shape;617;p50"/>
          <p:cNvSpPr/>
          <p:nvPr/>
        </p:nvSpPr>
        <p:spPr>
          <a:xfrm>
            <a:off x="3108960" y="2377440"/>
            <a:ext cx="3657600" cy="27432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FFFF"/>
                </a:solidFill>
                <a:latin typeface="Consolas"/>
                <a:ea typeface="Consolas"/>
                <a:cs typeface="Consolas"/>
                <a:sym typeface="Consolas"/>
              </a:rPr>
              <a:t>mkdir -p my-first-plugin/skills/hello</a:t>
            </a:r>
            <a:endParaRPr b="0" i="0" sz="1400" u="none" cap="none" strike="noStrike">
              <a:solidFill>
                <a:srgbClr val="000000"/>
              </a:solidFill>
              <a:latin typeface="Arial"/>
              <a:ea typeface="Arial"/>
              <a:cs typeface="Arial"/>
              <a:sym typeface="Arial"/>
            </a:endParaRPr>
          </a:p>
        </p:txBody>
      </p:sp>
      <p:sp>
        <p:nvSpPr>
          <p:cNvPr id="618" name="Google Shape;618;p50"/>
          <p:cNvSpPr txBox="1"/>
          <p:nvPr/>
        </p:nvSpPr>
        <p:spPr>
          <a:xfrm>
            <a:off x="6858000" y="2377440"/>
            <a:ext cx="15544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Skills use directory/SKILL.md pattern</a:t>
            </a:r>
            <a:endParaRPr b="0" i="0" sz="1400" u="none" cap="none" strike="noStrike">
              <a:solidFill>
                <a:srgbClr val="000000"/>
              </a:solidFill>
              <a:latin typeface="Arial"/>
              <a:ea typeface="Arial"/>
              <a:cs typeface="Arial"/>
              <a:sym typeface="Arial"/>
            </a:endParaRPr>
          </a:p>
        </p:txBody>
      </p:sp>
      <p:sp>
        <p:nvSpPr>
          <p:cNvPr id="619" name="Google Shape;619;p50"/>
          <p:cNvSpPr txBox="1"/>
          <p:nvPr/>
        </p:nvSpPr>
        <p:spPr>
          <a:xfrm>
            <a:off x="731520" y="2971800"/>
            <a:ext cx="2286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41413"/>
                </a:solidFill>
                <a:latin typeface="Calibri"/>
                <a:ea typeface="Calibri"/>
                <a:cs typeface="Calibri"/>
                <a:sym typeface="Calibri"/>
              </a:rPr>
              <a:t>Step 4: Create SKILL.md</a:t>
            </a:r>
            <a:endParaRPr b="0" i="0" sz="1400" u="none" cap="none" strike="noStrike">
              <a:solidFill>
                <a:srgbClr val="000000"/>
              </a:solidFill>
              <a:latin typeface="Arial"/>
              <a:ea typeface="Arial"/>
              <a:cs typeface="Arial"/>
              <a:sym typeface="Arial"/>
            </a:endParaRPr>
          </a:p>
        </p:txBody>
      </p:sp>
      <p:sp>
        <p:nvSpPr>
          <p:cNvPr id="620" name="Google Shape;620;p50"/>
          <p:cNvSpPr txBox="1"/>
          <p:nvPr/>
        </p:nvSpPr>
        <p:spPr>
          <a:xfrm>
            <a:off x="3108960" y="297180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1" lang="en-US" sz="1100" u="none" cap="none" strike="noStrike">
                <a:solidFill>
                  <a:srgbClr val="36454F"/>
                </a:solidFill>
                <a:latin typeface="Calibri"/>
                <a:ea typeface="Calibri"/>
                <a:cs typeface="Calibri"/>
                <a:sym typeface="Calibri"/>
              </a:rPr>
              <a:t>Add frontmatter + instructions</a:t>
            </a:r>
            <a:endParaRPr b="0" i="0" sz="1400" u="none" cap="none" strike="noStrike">
              <a:solidFill>
                <a:srgbClr val="000000"/>
              </a:solidFill>
              <a:latin typeface="Arial"/>
              <a:ea typeface="Arial"/>
              <a:cs typeface="Arial"/>
              <a:sym typeface="Arial"/>
            </a:endParaRPr>
          </a:p>
        </p:txBody>
      </p:sp>
      <p:sp>
        <p:nvSpPr>
          <p:cNvPr id="621" name="Google Shape;621;p50"/>
          <p:cNvSpPr txBox="1"/>
          <p:nvPr/>
        </p:nvSpPr>
        <p:spPr>
          <a:xfrm>
            <a:off x="6858000" y="2971800"/>
            <a:ext cx="15544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description field + skill behavior</a:t>
            </a:r>
            <a:endParaRPr b="0" i="0" sz="1400" u="none" cap="none" strike="noStrike">
              <a:solidFill>
                <a:srgbClr val="000000"/>
              </a:solidFill>
              <a:latin typeface="Arial"/>
              <a:ea typeface="Arial"/>
              <a:cs typeface="Arial"/>
              <a:sym typeface="Arial"/>
            </a:endParaRPr>
          </a:p>
        </p:txBody>
      </p:sp>
      <p:sp>
        <p:nvSpPr>
          <p:cNvPr id="622" name="Google Shape;622;p50"/>
          <p:cNvSpPr txBox="1"/>
          <p:nvPr/>
        </p:nvSpPr>
        <p:spPr>
          <a:xfrm>
            <a:off x="731520" y="3566160"/>
            <a:ext cx="2286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41413"/>
                </a:solidFill>
                <a:latin typeface="Calibri"/>
                <a:ea typeface="Calibri"/>
                <a:cs typeface="Calibri"/>
                <a:sym typeface="Calibri"/>
              </a:rPr>
              <a:t>Step 5: Test with --plugin-dir</a:t>
            </a:r>
            <a:endParaRPr b="0" i="0" sz="1400" u="none" cap="none" strike="noStrike">
              <a:solidFill>
                <a:srgbClr val="000000"/>
              </a:solidFill>
              <a:latin typeface="Arial"/>
              <a:ea typeface="Arial"/>
              <a:cs typeface="Arial"/>
              <a:sym typeface="Arial"/>
            </a:endParaRPr>
          </a:p>
        </p:txBody>
      </p:sp>
      <p:sp>
        <p:nvSpPr>
          <p:cNvPr id="623" name="Google Shape;623;p50"/>
          <p:cNvSpPr/>
          <p:nvPr/>
        </p:nvSpPr>
        <p:spPr>
          <a:xfrm>
            <a:off x="3108960" y="3566160"/>
            <a:ext cx="3657600" cy="27432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FFFF"/>
                </a:solidFill>
                <a:latin typeface="Consolas"/>
                <a:ea typeface="Consolas"/>
                <a:cs typeface="Consolas"/>
                <a:sym typeface="Consolas"/>
              </a:rPr>
              <a:t>claude --plugin-dir ./my-first-plugin</a:t>
            </a:r>
            <a:endParaRPr b="0" i="0" sz="1400" u="none" cap="none" strike="noStrike">
              <a:solidFill>
                <a:srgbClr val="000000"/>
              </a:solidFill>
              <a:latin typeface="Arial"/>
              <a:ea typeface="Arial"/>
              <a:cs typeface="Arial"/>
              <a:sym typeface="Arial"/>
            </a:endParaRPr>
          </a:p>
        </p:txBody>
      </p:sp>
      <p:sp>
        <p:nvSpPr>
          <p:cNvPr id="624" name="Google Shape;624;p50"/>
          <p:cNvSpPr txBox="1"/>
          <p:nvPr/>
        </p:nvSpPr>
        <p:spPr>
          <a:xfrm>
            <a:off x="6858000" y="3566160"/>
            <a:ext cx="15544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Load without installing</a:t>
            </a:r>
            <a:endParaRPr b="0" i="0" sz="1400" u="none" cap="none" strike="noStrike">
              <a:solidFill>
                <a:srgbClr val="000000"/>
              </a:solidFill>
              <a:latin typeface="Arial"/>
              <a:ea typeface="Arial"/>
              <a:cs typeface="Arial"/>
              <a:sym typeface="Arial"/>
            </a:endParaRPr>
          </a:p>
        </p:txBody>
      </p:sp>
      <p:sp>
        <p:nvSpPr>
          <p:cNvPr id="625" name="Google Shape;625;p50"/>
          <p:cNvSpPr txBox="1"/>
          <p:nvPr/>
        </p:nvSpPr>
        <p:spPr>
          <a:xfrm>
            <a:off x="731520" y="4160520"/>
            <a:ext cx="2286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41413"/>
                </a:solidFill>
                <a:latin typeface="Calibri"/>
                <a:ea typeface="Calibri"/>
                <a:cs typeface="Calibri"/>
                <a:sym typeface="Calibri"/>
              </a:rPr>
              <a:t>Step 6: Try your command</a:t>
            </a:r>
            <a:endParaRPr b="0" i="0" sz="1400" u="none" cap="none" strike="noStrike">
              <a:solidFill>
                <a:srgbClr val="000000"/>
              </a:solidFill>
              <a:latin typeface="Arial"/>
              <a:ea typeface="Arial"/>
              <a:cs typeface="Arial"/>
              <a:sym typeface="Arial"/>
            </a:endParaRPr>
          </a:p>
        </p:txBody>
      </p:sp>
      <p:sp>
        <p:nvSpPr>
          <p:cNvPr id="626" name="Google Shape;626;p50"/>
          <p:cNvSpPr/>
          <p:nvPr/>
        </p:nvSpPr>
        <p:spPr>
          <a:xfrm>
            <a:off x="3108960" y="4160520"/>
            <a:ext cx="3657600" cy="27432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FFFF"/>
                </a:solidFill>
                <a:latin typeface="Consolas"/>
                <a:ea typeface="Consolas"/>
                <a:cs typeface="Consolas"/>
                <a:sym typeface="Consolas"/>
              </a:rPr>
              <a:t>/my-first-plugin:hello</a:t>
            </a:r>
            <a:endParaRPr b="0" i="0" sz="1400" u="none" cap="none" strike="noStrike">
              <a:solidFill>
                <a:srgbClr val="000000"/>
              </a:solidFill>
              <a:latin typeface="Arial"/>
              <a:ea typeface="Arial"/>
              <a:cs typeface="Arial"/>
              <a:sym typeface="Arial"/>
            </a:endParaRPr>
          </a:p>
        </p:txBody>
      </p:sp>
      <p:sp>
        <p:nvSpPr>
          <p:cNvPr id="627" name="Google Shape;627;p50"/>
          <p:cNvSpPr txBox="1"/>
          <p:nvPr/>
        </p:nvSpPr>
        <p:spPr>
          <a:xfrm>
            <a:off x="6858000" y="4160520"/>
            <a:ext cx="15544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Namespaced with plugin name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32" name="Shape 632"/>
        <p:cNvGrpSpPr/>
        <p:nvPr/>
      </p:nvGrpSpPr>
      <p:grpSpPr>
        <a:xfrm>
          <a:off x="0" y="0"/>
          <a:ext cx="0" cy="0"/>
          <a:chOff x="0" y="0"/>
          <a:chExt cx="0" cy="0"/>
        </a:xfrm>
      </p:grpSpPr>
      <p:sp>
        <p:nvSpPr>
          <p:cNvPr id="633" name="Google Shape;633;p51"/>
          <p:cNvSpPr/>
          <p:nvPr/>
        </p:nvSpPr>
        <p:spPr>
          <a:xfrm>
            <a:off x="0" y="0"/>
            <a:ext cx="2632364" cy="5143500"/>
          </a:xfrm>
          <a:prstGeom prst="rect">
            <a:avLst/>
          </a:prstGeom>
          <a:solidFill>
            <a:srgbClr val="788C5D"/>
          </a:solidFill>
          <a:ln cap="flat" cmpd="sng" w="9525">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4" name="Google Shape;634;p51"/>
          <p:cNvSpPr txBox="1"/>
          <p:nvPr/>
        </p:nvSpPr>
        <p:spPr>
          <a:xfrm>
            <a:off x="278911" y="3079865"/>
            <a:ext cx="2074542" cy="15696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Module 7:</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Knowledge</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Check</a:t>
            </a:r>
            <a:endParaRPr b="0" i="0" sz="1400" u="none" cap="none" strike="noStrike">
              <a:solidFill>
                <a:srgbClr val="000000"/>
              </a:solidFill>
              <a:latin typeface="Arial"/>
              <a:ea typeface="Arial"/>
              <a:cs typeface="Arial"/>
              <a:sym typeface="Arial"/>
            </a:endParaRPr>
          </a:p>
        </p:txBody>
      </p:sp>
      <p:pic>
        <p:nvPicPr>
          <p:cNvPr descr="Brain with solid fill" id="635" name="Google Shape;635;p51"/>
          <p:cNvPicPr preferRelativeResize="0"/>
          <p:nvPr/>
        </p:nvPicPr>
        <p:blipFill rotWithShape="1">
          <a:blip r:embed="rId3">
            <a:alphaModFix/>
          </a:blip>
          <a:srcRect b="0" l="0" r="0" t="0"/>
          <a:stretch/>
        </p:blipFill>
        <p:spPr>
          <a:xfrm>
            <a:off x="969818" y="2376055"/>
            <a:ext cx="703810" cy="703810"/>
          </a:xfrm>
          <a:prstGeom prst="rect">
            <a:avLst/>
          </a:prstGeom>
          <a:noFill/>
          <a:ln>
            <a:noFill/>
          </a:ln>
        </p:spPr>
      </p:pic>
      <p:sp>
        <p:nvSpPr>
          <p:cNvPr id="636" name="Google Shape;636;p51"/>
          <p:cNvSpPr txBox="1"/>
          <p:nvPr/>
        </p:nvSpPr>
        <p:spPr>
          <a:xfrm>
            <a:off x="3129308" y="834391"/>
            <a:ext cx="531890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What is the correct pattern for creating a skill in a plugin?</a:t>
            </a:r>
            <a:endParaRPr b="0" i="0" sz="1400" u="none" cap="none" strike="noStrike">
              <a:solidFill>
                <a:srgbClr val="000000"/>
              </a:solidFill>
              <a:latin typeface="Arial"/>
              <a:ea typeface="Arial"/>
              <a:cs typeface="Arial"/>
              <a:sym typeface="Arial"/>
            </a:endParaRPr>
          </a:p>
        </p:txBody>
      </p:sp>
      <p:sp>
        <p:nvSpPr>
          <p:cNvPr id="637" name="Google Shape;637;p51"/>
          <p:cNvSpPr txBox="1"/>
          <p:nvPr/>
        </p:nvSpPr>
        <p:spPr>
          <a:xfrm>
            <a:off x="3312188" y="1291590"/>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A) skills/SKILL.md</a:t>
            </a:r>
            <a:endParaRPr i="0" sz="1800" u="none" cap="none" strike="noStrike">
              <a:solidFill>
                <a:schemeClr val="dk1"/>
              </a:solidFill>
              <a:latin typeface="Calibri"/>
              <a:ea typeface="Calibri"/>
              <a:cs typeface="Calibri"/>
              <a:sym typeface="Calibri"/>
            </a:endParaRPr>
          </a:p>
        </p:txBody>
      </p:sp>
      <p:sp>
        <p:nvSpPr>
          <p:cNvPr id="638" name="Google Shape;638;p51"/>
          <p:cNvSpPr txBox="1"/>
          <p:nvPr/>
        </p:nvSpPr>
        <p:spPr>
          <a:xfrm>
            <a:off x="3312188" y="1565910"/>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B) skills/skill-name/SKILL.md</a:t>
            </a:r>
            <a:endParaRPr i="0" sz="1400" u="none" cap="none" strike="noStrike">
              <a:solidFill>
                <a:schemeClr val="dk1"/>
              </a:solidFill>
            </a:endParaRPr>
          </a:p>
        </p:txBody>
      </p:sp>
      <p:sp>
        <p:nvSpPr>
          <p:cNvPr id="639" name="Google Shape;639;p51"/>
          <p:cNvSpPr txBox="1"/>
          <p:nvPr/>
        </p:nvSpPr>
        <p:spPr>
          <a:xfrm>
            <a:off x="3312188" y="1840229"/>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C) commands/skill-name.md</a:t>
            </a:r>
            <a:endParaRPr i="0" sz="1400" u="none" cap="none" strike="noStrike">
              <a:solidFill>
                <a:schemeClr val="dk1"/>
              </a:solidFill>
            </a:endParaRPr>
          </a:p>
        </p:txBody>
      </p:sp>
      <p:sp>
        <p:nvSpPr>
          <p:cNvPr id="640" name="Google Shape;640;p51"/>
          <p:cNvSpPr txBox="1"/>
          <p:nvPr/>
        </p:nvSpPr>
        <p:spPr>
          <a:xfrm>
            <a:off x="3312188" y="2114549"/>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D) .claude-plugin/skills/SKILL.md</a:t>
            </a:r>
            <a:endParaRPr i="0" sz="1400" u="none" cap="none" strike="noStrike">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45" name="Shape 645"/>
        <p:cNvGrpSpPr/>
        <p:nvPr/>
      </p:nvGrpSpPr>
      <p:grpSpPr>
        <a:xfrm>
          <a:off x="0" y="0"/>
          <a:ext cx="0" cy="0"/>
          <a:chOff x="0" y="0"/>
          <a:chExt cx="0" cy="0"/>
        </a:xfrm>
      </p:grpSpPr>
      <p:sp>
        <p:nvSpPr>
          <p:cNvPr id="646" name="Google Shape;646;p52"/>
          <p:cNvSpPr txBox="1"/>
          <p:nvPr/>
        </p:nvSpPr>
        <p:spPr>
          <a:xfrm>
            <a:off x="457200" y="502920"/>
            <a:ext cx="353032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Module 8 Summary</a:t>
            </a:r>
            <a:endParaRPr b="0" i="0" sz="1400" u="none" cap="none" strike="noStrike">
              <a:solidFill>
                <a:srgbClr val="000000"/>
              </a:solidFill>
              <a:latin typeface="Arial"/>
              <a:ea typeface="Arial"/>
              <a:cs typeface="Arial"/>
              <a:sym typeface="Arial"/>
            </a:endParaRPr>
          </a:p>
        </p:txBody>
      </p:sp>
      <p:sp>
        <p:nvSpPr>
          <p:cNvPr id="647" name="Google Shape;647;p52"/>
          <p:cNvSpPr txBox="1"/>
          <p:nvPr/>
        </p:nvSpPr>
        <p:spPr>
          <a:xfrm>
            <a:off x="457200" y="1051560"/>
            <a:ext cx="206338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36454F"/>
                </a:solidFill>
                <a:latin typeface="Calibri"/>
                <a:ea typeface="Calibri"/>
                <a:cs typeface="Calibri"/>
                <a:sym typeface="Calibri"/>
              </a:rPr>
              <a:t>Lab: Creating Plugin</a:t>
            </a:r>
            <a:endParaRPr b="0" i="0" sz="1400" u="none" cap="none" strike="noStrike">
              <a:solidFill>
                <a:srgbClr val="000000"/>
              </a:solidFill>
              <a:latin typeface="Arial"/>
              <a:ea typeface="Arial"/>
              <a:cs typeface="Arial"/>
              <a:sym typeface="Arial"/>
            </a:endParaRPr>
          </a:p>
        </p:txBody>
      </p:sp>
      <p:sp>
        <p:nvSpPr>
          <p:cNvPr id="648" name="Google Shape;648;p52"/>
          <p:cNvSpPr txBox="1"/>
          <p:nvPr/>
        </p:nvSpPr>
        <p:spPr>
          <a:xfrm>
            <a:off x="45720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Key Takeaways</a:t>
            </a:r>
            <a:endParaRPr b="0" i="0" sz="1400" u="none" cap="none" strike="noStrike">
              <a:solidFill>
                <a:srgbClr val="000000"/>
              </a:solidFill>
              <a:latin typeface="Arial"/>
              <a:ea typeface="Arial"/>
              <a:cs typeface="Arial"/>
              <a:sym typeface="Arial"/>
            </a:endParaRPr>
          </a:p>
        </p:txBody>
      </p:sp>
      <p:sp>
        <p:nvSpPr>
          <p:cNvPr id="649" name="Google Shape;649;p52"/>
          <p:cNvSpPr txBox="1"/>
          <p:nvPr/>
        </p:nvSpPr>
        <p:spPr>
          <a:xfrm>
            <a:off x="457200" y="2103120"/>
            <a:ext cx="5389418" cy="2472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Plugin creation workflow: directory → manifest → skills → test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Skills follow directory/SKILL.md pattern where directory name = skill 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Manifest minimum: name, description, version fields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Test immediately with --plugin-dir before distributing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Namespaced commands ensure no conflicts: /plugin-name:command</a:t>
            </a:r>
            <a:endParaRPr b="0" i="0" sz="1800" u="none" cap="none" strike="noStrike">
              <a:solidFill>
                <a:schemeClr val="dk1"/>
              </a:solidFill>
              <a:latin typeface="Calibri"/>
              <a:ea typeface="Calibri"/>
              <a:cs typeface="Calibri"/>
              <a:sym typeface="Calibri"/>
            </a:endParaRPr>
          </a:p>
        </p:txBody>
      </p:sp>
      <p:sp>
        <p:nvSpPr>
          <p:cNvPr id="650" name="Google Shape;650;p52"/>
          <p:cNvSpPr/>
          <p:nvPr/>
        </p:nvSpPr>
        <p:spPr>
          <a:xfrm>
            <a:off x="6511636" y="0"/>
            <a:ext cx="2632364" cy="5143500"/>
          </a:xfrm>
          <a:prstGeom prst="rect">
            <a:avLst/>
          </a:prstGeom>
          <a:solidFill>
            <a:srgbClr val="D97757"/>
          </a:solidFill>
          <a:ln cap="flat" cmpd="sng" w="9525">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Key with solid fill" id="651" name="Google Shape;651;p52"/>
          <p:cNvPicPr preferRelativeResize="0"/>
          <p:nvPr/>
        </p:nvPicPr>
        <p:blipFill rotWithShape="1">
          <a:blip r:embed="rId3">
            <a:alphaModFix/>
          </a:blip>
          <a:srcRect b="0" l="0" r="0" t="0"/>
          <a:stretch/>
        </p:blipFill>
        <p:spPr>
          <a:xfrm>
            <a:off x="7370618" y="502920"/>
            <a:ext cx="914400" cy="9144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7757"/>
        </a:solidFill>
      </p:bgPr>
    </p:bg>
    <p:spTree>
      <p:nvGrpSpPr>
        <p:cNvPr id="656" name="Shape 656"/>
        <p:cNvGrpSpPr/>
        <p:nvPr/>
      </p:nvGrpSpPr>
      <p:grpSpPr>
        <a:xfrm>
          <a:off x="0" y="0"/>
          <a:ext cx="0" cy="0"/>
          <a:chOff x="0" y="0"/>
          <a:chExt cx="0" cy="0"/>
        </a:xfrm>
      </p:grpSpPr>
      <p:sp>
        <p:nvSpPr>
          <p:cNvPr id="657" name="Google Shape;657;p53"/>
          <p:cNvSpPr txBox="1"/>
          <p:nvPr/>
        </p:nvSpPr>
        <p:spPr>
          <a:xfrm>
            <a:off x="609600" y="655320"/>
            <a:ext cx="7712689" cy="5539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Calibri"/>
                <a:ea typeface="Calibri"/>
                <a:cs typeface="Calibri"/>
                <a:sym typeface="Calibri"/>
              </a:rPr>
              <a:t>Module 8: Converting Configurations to Plugins</a:t>
            </a:r>
            <a:endParaRPr b="0" i="0" sz="1400" u="none" cap="none" strike="noStrike">
              <a:solidFill>
                <a:srgbClr val="000000"/>
              </a:solidFill>
              <a:latin typeface="Arial"/>
              <a:ea typeface="Arial"/>
              <a:cs typeface="Arial"/>
              <a:sym typeface="Arial"/>
            </a:endParaRPr>
          </a:p>
        </p:txBody>
      </p:sp>
      <p:sp>
        <p:nvSpPr>
          <p:cNvPr id="658" name="Google Shape;658;p53"/>
          <p:cNvSpPr txBox="1"/>
          <p:nvPr/>
        </p:nvSpPr>
        <p:spPr>
          <a:xfrm>
            <a:off x="609600" y="1203960"/>
            <a:ext cx="223080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Learning Objectives</a:t>
            </a:r>
            <a:endParaRPr b="0" i="0" sz="1400" u="none" cap="none" strike="noStrike">
              <a:solidFill>
                <a:srgbClr val="000000"/>
              </a:solidFill>
              <a:latin typeface="Arial"/>
              <a:ea typeface="Arial"/>
              <a:cs typeface="Arial"/>
              <a:sym typeface="Arial"/>
            </a:endParaRPr>
          </a:p>
        </p:txBody>
      </p:sp>
      <p:sp>
        <p:nvSpPr>
          <p:cNvPr id="659" name="Google Shape;659;p53"/>
          <p:cNvSpPr txBox="1"/>
          <p:nvPr/>
        </p:nvSpPr>
        <p:spPr>
          <a:xfrm>
            <a:off x="609600" y="1798320"/>
            <a:ext cx="5447069" cy="1308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Identify when to convert standalone configurations to plugins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Execute the migration workflow systematically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Adapt hooks from settings.json format to hooks.json format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Verify migrated plugins work correctly</a:t>
            </a:r>
            <a:endParaRPr b="0" i="0" sz="1400" u="none" cap="none" strike="noStrike">
              <a:solidFill>
                <a:srgbClr val="000000"/>
              </a:solidFill>
              <a:latin typeface="Arial"/>
              <a:ea typeface="Arial"/>
              <a:cs typeface="Arial"/>
              <a:sym typeface="Arial"/>
            </a:endParaRPr>
          </a:p>
        </p:txBody>
      </p:sp>
      <p:sp>
        <p:nvSpPr>
          <p:cNvPr id="660" name="Google Shape;660;p53"/>
          <p:cNvSpPr/>
          <p:nvPr/>
        </p:nvSpPr>
        <p:spPr>
          <a:xfrm>
            <a:off x="7467600" y="4541520"/>
            <a:ext cx="1371600" cy="457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 30 minutes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65" name="Shape 665"/>
        <p:cNvGrpSpPr/>
        <p:nvPr/>
      </p:nvGrpSpPr>
      <p:grpSpPr>
        <a:xfrm>
          <a:off x="0" y="0"/>
          <a:ext cx="0" cy="0"/>
          <a:chOff x="0" y="0"/>
          <a:chExt cx="0" cy="0"/>
        </a:xfrm>
      </p:grpSpPr>
      <p:sp>
        <p:nvSpPr>
          <p:cNvPr id="666" name="Google Shape;666;p54"/>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When to Convert to Plugins</a:t>
            </a:r>
            <a:endParaRPr b="0" i="0" sz="1400" u="none" cap="none" strike="noStrike">
              <a:solidFill>
                <a:srgbClr val="000000"/>
              </a:solidFill>
              <a:latin typeface="Arial"/>
              <a:ea typeface="Arial"/>
              <a:cs typeface="Arial"/>
              <a:sym typeface="Arial"/>
            </a:endParaRPr>
          </a:p>
        </p:txBody>
      </p:sp>
      <p:sp>
        <p:nvSpPr>
          <p:cNvPr id="667" name="Google Shape;667;p54"/>
          <p:cNvSpPr txBox="1"/>
          <p:nvPr/>
        </p:nvSpPr>
        <p:spPr>
          <a:xfrm>
            <a:off x="731520" y="1188720"/>
            <a:ext cx="36576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Conversion Triggers</a:t>
            </a:r>
            <a:endParaRPr b="0" i="0" sz="1400" u="none" cap="none" strike="noStrike">
              <a:solidFill>
                <a:srgbClr val="000000"/>
              </a:solidFill>
              <a:latin typeface="Arial"/>
              <a:ea typeface="Arial"/>
              <a:cs typeface="Arial"/>
              <a:sym typeface="Arial"/>
            </a:endParaRPr>
          </a:p>
        </p:txBody>
      </p:sp>
      <p:sp>
        <p:nvSpPr>
          <p:cNvPr id="668" name="Google Shape;668;p54"/>
          <p:cNvSpPr txBox="1"/>
          <p:nvPr/>
        </p:nvSpPr>
        <p:spPr>
          <a:xfrm>
            <a:off x="731520" y="1645920"/>
            <a:ext cx="3657600" cy="182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Team members asking for your configs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Manually copying files to new projects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Want version control for your tools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Need to share across multiple repos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Configurations are stable and tested</a:t>
            </a:r>
            <a:endParaRPr b="0" i="0" sz="1400" u="none" cap="none" strike="noStrike">
              <a:solidFill>
                <a:srgbClr val="000000"/>
              </a:solidFill>
              <a:latin typeface="Arial"/>
              <a:ea typeface="Arial"/>
              <a:cs typeface="Arial"/>
              <a:sym typeface="Arial"/>
            </a:endParaRPr>
          </a:p>
        </p:txBody>
      </p:sp>
      <p:sp>
        <p:nvSpPr>
          <p:cNvPr id="669" name="Google Shape;669;p54"/>
          <p:cNvSpPr/>
          <p:nvPr/>
        </p:nvSpPr>
        <p:spPr>
          <a:xfrm>
            <a:off x="4754880" y="1188720"/>
            <a:ext cx="3931920" cy="3200400"/>
          </a:xfrm>
          <a:prstGeom prst="rect">
            <a:avLst/>
          </a:prstGeom>
          <a:solidFill>
            <a:srgbClr val="788C5D"/>
          </a:solidFill>
          <a:ln cap="flat" cmpd="sng" w="25400">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0" name="Google Shape;670;p54"/>
          <p:cNvSpPr txBox="1"/>
          <p:nvPr/>
        </p:nvSpPr>
        <p:spPr>
          <a:xfrm>
            <a:off x="4937760" y="1371600"/>
            <a:ext cx="3566160" cy="21390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Real-World Scenario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en-US" sz="1200" u="none" cap="none" strike="noStrike">
                <a:solidFill>
                  <a:schemeClr val="lt1"/>
                </a:solidFill>
                <a:latin typeface="Calibri"/>
                <a:ea typeface="Calibri"/>
                <a:cs typeface="Calibri"/>
                <a:sym typeface="Calibri"/>
              </a:rPr>
              <a:t>Developer has powerful linter config in .claude/hooks that catches issues early. Three teammates ask for it via Slack.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1" lang="en-US" sz="1100" u="none" cap="none" strike="noStrike">
                <a:solidFill>
                  <a:schemeClr val="lt1"/>
                </a:solidFill>
                <a:latin typeface="Calibri"/>
                <a:ea typeface="Calibri"/>
                <a:cs typeface="Calibri"/>
                <a:sym typeface="Calibri"/>
              </a:rPr>
              <a:t>Instead of: Sending JSON snippets that break in copy-paste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Solution: Convert to plugin, publish to team marketplace, everyone installs with one command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en-US" sz="1200" u="none" cap="none" strike="noStrike">
                <a:solidFill>
                  <a:schemeClr val="lt1"/>
                </a:solidFill>
                <a:latin typeface="Calibri"/>
                <a:ea typeface="Calibri"/>
                <a:cs typeface="Calibri"/>
                <a:sym typeface="Calibri"/>
              </a:rPr>
              <a:t>Result: Team has identical config, updates push automatically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75" name="Shape 675"/>
        <p:cNvGrpSpPr/>
        <p:nvPr/>
      </p:nvGrpSpPr>
      <p:grpSpPr>
        <a:xfrm>
          <a:off x="0" y="0"/>
          <a:ext cx="0" cy="0"/>
          <a:chOff x="0" y="0"/>
          <a:chExt cx="0" cy="0"/>
        </a:xfrm>
      </p:grpSpPr>
      <p:sp>
        <p:nvSpPr>
          <p:cNvPr id="676" name="Google Shape;676;p55"/>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Migration Workflow</a:t>
            </a:r>
            <a:endParaRPr b="0" i="0" sz="1400" u="none" cap="none" strike="noStrike">
              <a:solidFill>
                <a:srgbClr val="000000"/>
              </a:solidFill>
              <a:latin typeface="Arial"/>
              <a:ea typeface="Arial"/>
              <a:cs typeface="Arial"/>
              <a:sym typeface="Arial"/>
            </a:endParaRPr>
          </a:p>
        </p:txBody>
      </p:sp>
      <p:sp>
        <p:nvSpPr>
          <p:cNvPr id="677" name="Google Shape;677;p55"/>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Step-by-Step Conversion</a:t>
            </a:r>
            <a:endParaRPr b="0" i="0" sz="1400" u="none" cap="none" strike="noStrike">
              <a:solidFill>
                <a:srgbClr val="000000"/>
              </a:solidFill>
              <a:latin typeface="Arial"/>
              <a:ea typeface="Arial"/>
              <a:cs typeface="Arial"/>
              <a:sym typeface="Arial"/>
            </a:endParaRPr>
          </a:p>
        </p:txBody>
      </p:sp>
      <p:sp>
        <p:nvSpPr>
          <p:cNvPr id="678" name="Google Shape;678;p55"/>
          <p:cNvSpPr txBox="1"/>
          <p:nvPr/>
        </p:nvSpPr>
        <p:spPr>
          <a:xfrm>
            <a:off x="731520" y="1645920"/>
            <a:ext cx="7680900" cy="1169700"/>
          </a:xfrm>
          <a:prstGeom prst="rect">
            <a:avLst/>
          </a:prstGeom>
          <a:noFill/>
          <a:ln>
            <a:noFill/>
          </a:ln>
        </p:spPr>
        <p:txBody>
          <a:bodyPr anchorCtr="0" anchor="t" bIns="45700" lIns="91425" spcFirstLastPara="1" rIns="91425" wrap="square" tIns="45700">
            <a:spAutoFit/>
          </a:bodyPr>
          <a:lstStyle/>
          <a:p>
            <a:pPr indent="-317500" lvl="0" marL="457200" marR="0" rtl="0" algn="l">
              <a:lnSpc>
                <a:spcPct val="100000"/>
              </a:lnSpc>
              <a:spcBef>
                <a:spcPts val="0"/>
              </a:spcBef>
              <a:spcAft>
                <a:spcPts val="0"/>
              </a:spcAft>
              <a:buClr>
                <a:srgbClr val="141413"/>
              </a:buClr>
              <a:buSzPts val="1400"/>
              <a:buFont typeface="Calibri"/>
              <a:buAutoNum type="arabicPeriod"/>
            </a:pPr>
            <a:r>
              <a:rPr b="0" i="0" lang="en-US" sz="1400" u="none" cap="none" strike="noStrike">
                <a:solidFill>
                  <a:srgbClr val="141413"/>
                </a:solidFill>
                <a:latin typeface="Calibri"/>
                <a:ea typeface="Calibri"/>
                <a:cs typeface="Calibri"/>
                <a:sym typeface="Calibri"/>
              </a:rPr>
              <a:t>Create plugin structure (directory + .claude-plugin/plugin.json).</a:t>
            </a:r>
            <a:endParaRPr/>
          </a:p>
          <a:p>
            <a:pPr indent="-317500" lvl="0" marL="457200" marR="0" rtl="0" algn="l">
              <a:lnSpc>
                <a:spcPct val="100000"/>
              </a:lnSpc>
              <a:spcBef>
                <a:spcPts val="0"/>
              </a:spcBef>
              <a:spcAft>
                <a:spcPts val="0"/>
              </a:spcAft>
              <a:buClr>
                <a:srgbClr val="141413"/>
              </a:buClr>
              <a:buSzPts val="1400"/>
              <a:buFont typeface="Calibri"/>
              <a:buAutoNum type="arabicPeriod"/>
            </a:pPr>
            <a:r>
              <a:rPr b="0" i="0" lang="en-US" sz="1400" u="none" cap="none" strike="noStrike">
                <a:solidFill>
                  <a:srgbClr val="141413"/>
                </a:solidFill>
                <a:latin typeface="Calibri"/>
                <a:ea typeface="Calibri"/>
                <a:cs typeface="Calibri"/>
                <a:sym typeface="Calibri"/>
              </a:rPr>
              <a:t>Copy existing files (commands, agents, skills).</a:t>
            </a:r>
            <a:endParaRPr/>
          </a:p>
          <a:p>
            <a:pPr indent="-317500" lvl="0" marL="457200" marR="0" rtl="0" algn="l">
              <a:lnSpc>
                <a:spcPct val="100000"/>
              </a:lnSpc>
              <a:spcBef>
                <a:spcPts val="0"/>
              </a:spcBef>
              <a:spcAft>
                <a:spcPts val="0"/>
              </a:spcAft>
              <a:buClr>
                <a:srgbClr val="141413"/>
              </a:buClr>
              <a:buSzPts val="1400"/>
              <a:buFont typeface="Calibri"/>
              <a:buAutoNum type="arabicPeriod"/>
            </a:pPr>
            <a:r>
              <a:rPr b="0" i="0" lang="en-US" sz="1400" u="none" cap="none" strike="noStrike">
                <a:solidFill>
                  <a:srgbClr val="141413"/>
                </a:solidFill>
                <a:latin typeface="Calibri"/>
                <a:ea typeface="Calibri"/>
                <a:cs typeface="Calibri"/>
                <a:sym typeface="Calibri"/>
              </a:rPr>
              <a:t>Migrate hooks from settings.json to hooks/hooks.json.</a:t>
            </a:r>
            <a:endParaRPr/>
          </a:p>
          <a:p>
            <a:pPr indent="-317500" lvl="0" marL="457200" marR="0" rtl="0" algn="l">
              <a:lnSpc>
                <a:spcPct val="100000"/>
              </a:lnSpc>
              <a:spcBef>
                <a:spcPts val="0"/>
              </a:spcBef>
              <a:spcAft>
                <a:spcPts val="0"/>
              </a:spcAft>
              <a:buClr>
                <a:srgbClr val="141413"/>
              </a:buClr>
              <a:buSzPts val="1400"/>
              <a:buFont typeface="Calibri"/>
              <a:buAutoNum type="arabicPeriod"/>
            </a:pPr>
            <a:r>
              <a:rPr b="0" i="0" lang="en-US" sz="1400" u="none" cap="none" strike="noStrike">
                <a:solidFill>
                  <a:srgbClr val="141413"/>
                </a:solidFill>
                <a:latin typeface="Calibri"/>
                <a:ea typeface="Calibri"/>
                <a:cs typeface="Calibri"/>
                <a:sym typeface="Calibri"/>
              </a:rPr>
              <a:t>Test with --plugin-dir flag.</a:t>
            </a:r>
            <a:endParaRPr/>
          </a:p>
          <a:p>
            <a:pPr indent="-317500" lvl="0" marL="457200" marR="0" rtl="0" algn="l">
              <a:lnSpc>
                <a:spcPct val="100000"/>
              </a:lnSpc>
              <a:spcBef>
                <a:spcPts val="0"/>
              </a:spcBef>
              <a:spcAft>
                <a:spcPts val="0"/>
              </a:spcAft>
              <a:buClr>
                <a:srgbClr val="141413"/>
              </a:buClr>
              <a:buSzPts val="1400"/>
              <a:buFont typeface="Calibri"/>
              <a:buAutoNum type="arabicPeriod"/>
            </a:pPr>
            <a:r>
              <a:rPr b="0" i="0" lang="en-US" sz="1400" u="none" cap="none" strike="noStrike">
                <a:solidFill>
                  <a:srgbClr val="141413"/>
                </a:solidFill>
                <a:latin typeface="Calibri"/>
                <a:ea typeface="Calibri"/>
                <a:cs typeface="Calibri"/>
                <a:sym typeface="Calibri"/>
              </a:rPr>
              <a:t>Remove original .claude/ files to avoid duplicates.</a:t>
            </a:r>
            <a:endParaRPr b="0" i="0" sz="1400" u="none" cap="none" strike="noStrike">
              <a:solidFill>
                <a:srgbClr val="000000"/>
              </a:solidFill>
              <a:latin typeface="Arial"/>
              <a:ea typeface="Arial"/>
              <a:cs typeface="Arial"/>
              <a:sym typeface="Arial"/>
            </a:endParaRPr>
          </a:p>
        </p:txBody>
      </p:sp>
      <p:sp>
        <p:nvSpPr>
          <p:cNvPr id="679" name="Google Shape;679;p55"/>
          <p:cNvSpPr txBox="1"/>
          <p:nvPr/>
        </p:nvSpPr>
        <p:spPr>
          <a:xfrm>
            <a:off x="731520" y="294894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What Changes</a:t>
            </a:r>
            <a:endParaRPr b="0" i="0" sz="1400" u="none" cap="none" strike="noStrike">
              <a:solidFill>
                <a:srgbClr val="000000"/>
              </a:solidFill>
              <a:latin typeface="Arial"/>
              <a:ea typeface="Arial"/>
              <a:cs typeface="Arial"/>
              <a:sym typeface="Arial"/>
            </a:endParaRPr>
          </a:p>
        </p:txBody>
      </p:sp>
      <p:sp>
        <p:nvSpPr>
          <p:cNvPr id="680" name="Google Shape;680;p55"/>
          <p:cNvSpPr txBox="1"/>
          <p:nvPr/>
        </p:nvSpPr>
        <p:spPr>
          <a:xfrm>
            <a:off x="731520" y="340614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36454F"/>
                </a:solidFill>
                <a:latin typeface="Calibri"/>
                <a:ea typeface="Calibri"/>
                <a:cs typeface="Calibri"/>
                <a:sym typeface="Calibri"/>
              </a:rPr>
              <a:t>.claude/commands/ → plugin-name/commands/</a:t>
            </a:r>
            <a:endParaRPr b="0" i="0" sz="1400" u="none" cap="none" strike="noStrike">
              <a:solidFill>
                <a:srgbClr val="000000"/>
              </a:solidFill>
              <a:latin typeface="Arial"/>
              <a:ea typeface="Arial"/>
              <a:cs typeface="Arial"/>
              <a:sym typeface="Arial"/>
            </a:endParaRPr>
          </a:p>
        </p:txBody>
      </p:sp>
      <p:sp>
        <p:nvSpPr>
          <p:cNvPr id="681" name="Google Shape;681;p55"/>
          <p:cNvSpPr txBox="1"/>
          <p:nvPr/>
        </p:nvSpPr>
        <p:spPr>
          <a:xfrm>
            <a:off x="731520" y="3808270"/>
            <a:ext cx="7680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36454F"/>
                </a:solidFill>
                <a:latin typeface="Calibri"/>
                <a:ea typeface="Calibri"/>
                <a:cs typeface="Calibri"/>
                <a:sym typeface="Calibri"/>
              </a:rPr>
              <a:t>settings.json hooks → hooks/hooks.json</a:t>
            </a:r>
            <a:endParaRPr b="0" i="0" sz="1400" u="none" cap="none" strike="noStrike">
              <a:solidFill>
                <a:srgbClr val="000000"/>
              </a:solidFill>
              <a:latin typeface="Arial"/>
              <a:ea typeface="Arial"/>
              <a:cs typeface="Arial"/>
              <a:sym typeface="Arial"/>
            </a:endParaRPr>
          </a:p>
        </p:txBody>
      </p:sp>
      <p:sp>
        <p:nvSpPr>
          <p:cNvPr id="682" name="Google Shape;682;p55"/>
          <p:cNvSpPr txBox="1"/>
          <p:nvPr/>
        </p:nvSpPr>
        <p:spPr>
          <a:xfrm>
            <a:off x="731520" y="4199370"/>
            <a:ext cx="7680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36454F"/>
                </a:solidFill>
                <a:latin typeface="Calibri"/>
                <a:ea typeface="Calibri"/>
                <a:cs typeface="Calibri"/>
                <a:sym typeface="Calibri"/>
              </a:rPr>
              <a:t>/command → /plugin-name:command</a:t>
            </a:r>
            <a:endParaRPr b="0" i="0" sz="1400" u="none" cap="none" strike="noStrike">
              <a:solidFill>
                <a:srgbClr val="000000"/>
              </a:solidFill>
              <a:latin typeface="Arial"/>
              <a:ea typeface="Arial"/>
              <a:cs typeface="Arial"/>
              <a:sym typeface="Arial"/>
            </a:endParaRPr>
          </a:p>
        </p:txBody>
      </p:sp>
      <p:sp>
        <p:nvSpPr>
          <p:cNvPr id="683" name="Google Shape;683;p55"/>
          <p:cNvSpPr/>
          <p:nvPr/>
        </p:nvSpPr>
        <p:spPr>
          <a:xfrm>
            <a:off x="6906491" y="1330036"/>
            <a:ext cx="1780308" cy="3059084"/>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Calibri"/>
                <a:ea typeface="Calibri"/>
                <a:cs typeface="Calibri"/>
                <a:sym typeface="Calibri"/>
              </a:rPr>
              <a:t>Hook format stays the same—just move from settings.json to hooks.json</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88" name="Shape 688"/>
        <p:cNvGrpSpPr/>
        <p:nvPr/>
      </p:nvGrpSpPr>
      <p:grpSpPr>
        <a:xfrm>
          <a:off x="0" y="0"/>
          <a:ext cx="0" cy="0"/>
          <a:chOff x="0" y="0"/>
          <a:chExt cx="0" cy="0"/>
        </a:xfrm>
      </p:grpSpPr>
      <p:sp>
        <p:nvSpPr>
          <p:cNvPr id="689" name="Google Shape;689;p56"/>
          <p:cNvSpPr/>
          <p:nvPr/>
        </p:nvSpPr>
        <p:spPr>
          <a:xfrm>
            <a:off x="0" y="0"/>
            <a:ext cx="2632364" cy="5143500"/>
          </a:xfrm>
          <a:prstGeom prst="rect">
            <a:avLst/>
          </a:prstGeom>
          <a:solidFill>
            <a:srgbClr val="788C5D"/>
          </a:solidFill>
          <a:ln cap="flat" cmpd="sng" w="9525">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0" name="Google Shape;690;p56"/>
          <p:cNvSpPr txBox="1"/>
          <p:nvPr/>
        </p:nvSpPr>
        <p:spPr>
          <a:xfrm>
            <a:off x="278911" y="3079865"/>
            <a:ext cx="2074542" cy="15696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Module 6:</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Knowledge</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Check</a:t>
            </a:r>
            <a:endParaRPr b="0" i="0" sz="1400" u="none" cap="none" strike="noStrike">
              <a:solidFill>
                <a:srgbClr val="000000"/>
              </a:solidFill>
              <a:latin typeface="Arial"/>
              <a:ea typeface="Arial"/>
              <a:cs typeface="Arial"/>
              <a:sym typeface="Arial"/>
            </a:endParaRPr>
          </a:p>
        </p:txBody>
      </p:sp>
      <p:pic>
        <p:nvPicPr>
          <p:cNvPr descr="Brain with solid fill" id="691" name="Google Shape;691;p56"/>
          <p:cNvPicPr preferRelativeResize="0"/>
          <p:nvPr/>
        </p:nvPicPr>
        <p:blipFill rotWithShape="1">
          <a:blip r:embed="rId3">
            <a:alphaModFix/>
          </a:blip>
          <a:srcRect b="0" l="0" r="0" t="0"/>
          <a:stretch/>
        </p:blipFill>
        <p:spPr>
          <a:xfrm>
            <a:off x="969818" y="2376055"/>
            <a:ext cx="703810" cy="703810"/>
          </a:xfrm>
          <a:prstGeom prst="rect">
            <a:avLst/>
          </a:prstGeom>
          <a:noFill/>
          <a:ln>
            <a:noFill/>
          </a:ln>
        </p:spPr>
      </p:pic>
      <p:sp>
        <p:nvSpPr>
          <p:cNvPr id="692" name="Google Shape;692;p56"/>
          <p:cNvSpPr txBox="1"/>
          <p:nvPr/>
        </p:nvSpPr>
        <p:spPr>
          <a:xfrm>
            <a:off x="3129308" y="834391"/>
            <a:ext cx="531890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What is the primary difference in hooks configuration between standalone and plugin formats?</a:t>
            </a:r>
            <a:endParaRPr b="0" i="0" sz="1400" u="none" cap="none" strike="noStrike">
              <a:solidFill>
                <a:srgbClr val="000000"/>
              </a:solidFill>
              <a:latin typeface="Arial"/>
              <a:ea typeface="Arial"/>
              <a:cs typeface="Arial"/>
              <a:sym typeface="Arial"/>
            </a:endParaRPr>
          </a:p>
        </p:txBody>
      </p:sp>
      <p:sp>
        <p:nvSpPr>
          <p:cNvPr id="693" name="Google Shape;693;p56"/>
          <p:cNvSpPr txBox="1"/>
          <p:nvPr/>
        </p:nvSpPr>
        <p:spPr>
          <a:xfrm>
            <a:off x="3129308" y="2571750"/>
            <a:ext cx="531890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After converting configs to a plugin, what should you do with original .claude/ files?</a:t>
            </a:r>
            <a:endParaRPr b="0" i="0" sz="1400" u="none" cap="none" strike="noStrike">
              <a:solidFill>
                <a:srgbClr val="000000"/>
              </a:solidFill>
              <a:latin typeface="Arial"/>
              <a:ea typeface="Arial"/>
              <a:cs typeface="Arial"/>
              <a:sym typeface="Arial"/>
            </a:endParaRPr>
          </a:p>
        </p:txBody>
      </p:sp>
      <p:sp>
        <p:nvSpPr>
          <p:cNvPr id="694" name="Google Shape;694;p56"/>
          <p:cNvSpPr txBox="1"/>
          <p:nvPr/>
        </p:nvSpPr>
        <p:spPr>
          <a:xfrm>
            <a:off x="3312188" y="1292458"/>
            <a:ext cx="531890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A) Plugins use YAML instead of JSON</a:t>
            </a:r>
            <a:endParaRPr i="0" sz="1400" u="none" cap="none" strike="noStrike">
              <a:solidFill>
                <a:schemeClr val="dk1"/>
              </a:solidFill>
            </a:endParaRPr>
          </a:p>
        </p:txBody>
      </p:sp>
      <p:sp>
        <p:nvSpPr>
          <p:cNvPr id="695" name="Google Shape;695;p56"/>
          <p:cNvSpPr txBox="1"/>
          <p:nvPr/>
        </p:nvSpPr>
        <p:spPr>
          <a:xfrm>
            <a:off x="3312188" y="1566778"/>
            <a:ext cx="531890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B) Standalone uses settings.json, plugins use hooks/hooks.json</a:t>
            </a:r>
            <a:endParaRPr i="0" sz="1400" u="none" cap="none" strike="noStrike">
              <a:solidFill>
                <a:schemeClr val="dk1"/>
              </a:solidFill>
            </a:endParaRPr>
          </a:p>
        </p:txBody>
      </p:sp>
      <p:sp>
        <p:nvSpPr>
          <p:cNvPr id="696" name="Google Shape;696;p56"/>
          <p:cNvSpPr txBox="1"/>
          <p:nvPr/>
        </p:nvSpPr>
        <p:spPr>
          <a:xfrm>
            <a:off x="3312188" y="1841097"/>
            <a:ext cx="531890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C) Plugins require different hook event names</a:t>
            </a:r>
            <a:endParaRPr i="0" sz="1400" u="none" cap="none" strike="noStrike">
              <a:solidFill>
                <a:schemeClr val="dk1"/>
              </a:solidFill>
            </a:endParaRPr>
          </a:p>
        </p:txBody>
      </p:sp>
      <p:sp>
        <p:nvSpPr>
          <p:cNvPr id="697" name="Google Shape;697;p56"/>
          <p:cNvSpPr txBox="1"/>
          <p:nvPr/>
        </p:nvSpPr>
        <p:spPr>
          <a:xfrm>
            <a:off x="3312188" y="2115417"/>
            <a:ext cx="531890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D) Standalone hooks are more powerful</a:t>
            </a:r>
            <a:endParaRPr i="0" sz="1400" u="none" cap="none" strike="noStrike">
              <a:solidFill>
                <a:schemeClr val="dk1"/>
              </a:solidFill>
            </a:endParaRPr>
          </a:p>
        </p:txBody>
      </p:sp>
      <p:sp>
        <p:nvSpPr>
          <p:cNvPr id="698" name="Google Shape;698;p56"/>
          <p:cNvSpPr txBox="1"/>
          <p:nvPr/>
        </p:nvSpPr>
        <p:spPr>
          <a:xfrm>
            <a:off x="3312188" y="3029817"/>
            <a:ext cx="531890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A) Leave them as backup</a:t>
            </a:r>
            <a:endParaRPr i="0" sz="1400" u="none" cap="none" strike="noStrike">
              <a:solidFill>
                <a:schemeClr val="dk1"/>
              </a:solidFill>
            </a:endParaRPr>
          </a:p>
        </p:txBody>
      </p:sp>
      <p:sp>
        <p:nvSpPr>
          <p:cNvPr id="699" name="Google Shape;699;p56"/>
          <p:cNvSpPr txBox="1"/>
          <p:nvPr/>
        </p:nvSpPr>
        <p:spPr>
          <a:xfrm>
            <a:off x="3312188" y="3304137"/>
            <a:ext cx="531890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B) Delete them immediately</a:t>
            </a:r>
            <a:endParaRPr i="0" sz="1400" u="none" cap="none" strike="noStrike">
              <a:solidFill>
                <a:schemeClr val="dk1"/>
              </a:solidFill>
            </a:endParaRPr>
          </a:p>
        </p:txBody>
      </p:sp>
      <p:sp>
        <p:nvSpPr>
          <p:cNvPr id="700" name="Google Shape;700;p56"/>
          <p:cNvSpPr txBox="1"/>
          <p:nvPr/>
        </p:nvSpPr>
        <p:spPr>
          <a:xfrm>
            <a:off x="3312188" y="3578457"/>
            <a:ext cx="531890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C) Remove them to avoid duplicates</a:t>
            </a:r>
            <a:endParaRPr i="0" sz="1400" u="none" cap="none" strike="noStrike">
              <a:solidFill>
                <a:schemeClr val="dk1"/>
              </a:solidFill>
            </a:endParaRPr>
          </a:p>
        </p:txBody>
      </p:sp>
      <p:sp>
        <p:nvSpPr>
          <p:cNvPr id="701" name="Google Shape;701;p56"/>
          <p:cNvSpPr txBox="1"/>
          <p:nvPr/>
        </p:nvSpPr>
        <p:spPr>
          <a:xfrm>
            <a:off x="3312188" y="3852777"/>
            <a:ext cx="531890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D) Keep both for flexibility</a:t>
            </a:r>
            <a:endParaRPr i="0" sz="1400" u="none" cap="none" strike="noStrike">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706" name="Shape 706"/>
        <p:cNvGrpSpPr/>
        <p:nvPr/>
      </p:nvGrpSpPr>
      <p:grpSpPr>
        <a:xfrm>
          <a:off x="0" y="0"/>
          <a:ext cx="0" cy="0"/>
          <a:chOff x="0" y="0"/>
          <a:chExt cx="0" cy="0"/>
        </a:xfrm>
      </p:grpSpPr>
      <p:sp>
        <p:nvSpPr>
          <p:cNvPr id="707" name="Google Shape;707;p57"/>
          <p:cNvSpPr txBox="1"/>
          <p:nvPr/>
        </p:nvSpPr>
        <p:spPr>
          <a:xfrm>
            <a:off x="457200" y="502920"/>
            <a:ext cx="353032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Module 8 Summary</a:t>
            </a:r>
            <a:endParaRPr b="0" i="0" sz="1400" u="none" cap="none" strike="noStrike">
              <a:solidFill>
                <a:srgbClr val="000000"/>
              </a:solidFill>
              <a:latin typeface="Arial"/>
              <a:ea typeface="Arial"/>
              <a:cs typeface="Arial"/>
              <a:sym typeface="Arial"/>
            </a:endParaRPr>
          </a:p>
        </p:txBody>
      </p:sp>
      <p:sp>
        <p:nvSpPr>
          <p:cNvPr id="708" name="Google Shape;708;p57"/>
          <p:cNvSpPr txBox="1"/>
          <p:nvPr/>
        </p:nvSpPr>
        <p:spPr>
          <a:xfrm>
            <a:off x="457200" y="1051560"/>
            <a:ext cx="2622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36454F"/>
                </a:solidFill>
                <a:latin typeface="Calibri"/>
                <a:ea typeface="Calibri"/>
                <a:cs typeface="Calibri"/>
                <a:sym typeface="Calibri"/>
              </a:rPr>
              <a:t>Converting Configurations</a:t>
            </a:r>
            <a:endParaRPr b="0" i="0" sz="1400" u="none" cap="none" strike="noStrike">
              <a:solidFill>
                <a:srgbClr val="000000"/>
              </a:solidFill>
              <a:latin typeface="Arial"/>
              <a:ea typeface="Arial"/>
              <a:cs typeface="Arial"/>
              <a:sym typeface="Arial"/>
            </a:endParaRPr>
          </a:p>
        </p:txBody>
      </p:sp>
      <p:sp>
        <p:nvSpPr>
          <p:cNvPr id="709" name="Google Shape;709;p57"/>
          <p:cNvSpPr txBox="1"/>
          <p:nvPr/>
        </p:nvSpPr>
        <p:spPr>
          <a:xfrm>
            <a:off x="45720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Key Takeaways</a:t>
            </a:r>
            <a:endParaRPr b="0" i="0" sz="1400" u="none" cap="none" strike="noStrike">
              <a:solidFill>
                <a:srgbClr val="000000"/>
              </a:solidFill>
              <a:latin typeface="Arial"/>
              <a:ea typeface="Arial"/>
              <a:cs typeface="Arial"/>
              <a:sym typeface="Arial"/>
            </a:endParaRPr>
          </a:p>
        </p:txBody>
      </p:sp>
      <p:sp>
        <p:nvSpPr>
          <p:cNvPr id="710" name="Google Shape;710;p57"/>
          <p:cNvSpPr txBox="1"/>
          <p:nvPr/>
        </p:nvSpPr>
        <p:spPr>
          <a:xfrm>
            <a:off x="457200" y="2103120"/>
            <a:ext cx="5389418" cy="29649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Convert when: team asks for configs, manually copying between projects, ready to share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Migration: create structure → copy files → migrate hooks → test → clean up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Hook format unchanged, just moves from settings.json to hooks/hooks.json</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Remove original .claude/ files after successful migration to prevent duplicates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Commands become namespaced: /cmd becomes /plugin-name:cmd</a:t>
            </a:r>
            <a:endParaRPr b="0" i="0" sz="1800" u="none" cap="none" strike="noStrike">
              <a:solidFill>
                <a:schemeClr val="dk1"/>
              </a:solidFill>
              <a:latin typeface="Calibri"/>
              <a:ea typeface="Calibri"/>
              <a:cs typeface="Calibri"/>
              <a:sym typeface="Calibri"/>
            </a:endParaRPr>
          </a:p>
        </p:txBody>
      </p:sp>
      <p:sp>
        <p:nvSpPr>
          <p:cNvPr id="711" name="Google Shape;711;p57"/>
          <p:cNvSpPr/>
          <p:nvPr/>
        </p:nvSpPr>
        <p:spPr>
          <a:xfrm>
            <a:off x="6511636" y="0"/>
            <a:ext cx="2632364" cy="5143500"/>
          </a:xfrm>
          <a:prstGeom prst="rect">
            <a:avLst/>
          </a:prstGeom>
          <a:solidFill>
            <a:srgbClr val="D97757"/>
          </a:solidFill>
          <a:ln cap="flat" cmpd="sng" w="9525">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Key with solid fill" id="712" name="Google Shape;712;p57"/>
          <p:cNvPicPr preferRelativeResize="0"/>
          <p:nvPr/>
        </p:nvPicPr>
        <p:blipFill rotWithShape="1">
          <a:blip r:embed="rId3">
            <a:alphaModFix/>
          </a:blip>
          <a:srcRect b="0" l="0" r="0" t="0"/>
          <a:stretch/>
        </p:blipFill>
        <p:spPr>
          <a:xfrm>
            <a:off x="7370618" y="502920"/>
            <a:ext cx="914400" cy="9144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9BCC"/>
        </a:solidFill>
      </p:bgPr>
    </p:bg>
    <p:spTree>
      <p:nvGrpSpPr>
        <p:cNvPr id="717" name="Shape 717"/>
        <p:cNvGrpSpPr/>
        <p:nvPr/>
      </p:nvGrpSpPr>
      <p:grpSpPr>
        <a:xfrm>
          <a:off x="0" y="0"/>
          <a:ext cx="0" cy="0"/>
          <a:chOff x="0" y="0"/>
          <a:chExt cx="0" cy="0"/>
        </a:xfrm>
      </p:grpSpPr>
      <p:sp>
        <p:nvSpPr>
          <p:cNvPr id="718" name="Google Shape;718;p58"/>
          <p:cNvSpPr txBox="1"/>
          <p:nvPr/>
        </p:nvSpPr>
        <p:spPr>
          <a:xfrm>
            <a:off x="609600" y="655320"/>
            <a:ext cx="7120860" cy="5539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Calibri"/>
                <a:ea typeface="Calibri"/>
                <a:cs typeface="Calibri"/>
                <a:sym typeface="Calibri"/>
              </a:rPr>
              <a:t>Module 9: Lab: Converting Hooks to Plugins</a:t>
            </a:r>
            <a:endParaRPr b="0" i="0" sz="1400" u="none" cap="none" strike="noStrike">
              <a:solidFill>
                <a:srgbClr val="000000"/>
              </a:solidFill>
              <a:latin typeface="Arial"/>
              <a:ea typeface="Arial"/>
              <a:cs typeface="Arial"/>
              <a:sym typeface="Arial"/>
            </a:endParaRPr>
          </a:p>
        </p:txBody>
      </p:sp>
      <p:sp>
        <p:nvSpPr>
          <p:cNvPr id="719" name="Google Shape;719;p58"/>
          <p:cNvSpPr txBox="1"/>
          <p:nvPr/>
        </p:nvSpPr>
        <p:spPr>
          <a:xfrm>
            <a:off x="609600" y="1203960"/>
            <a:ext cx="212019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Hands-On Exercise</a:t>
            </a:r>
            <a:endParaRPr b="0" i="0" sz="1400" u="none" cap="none" strike="noStrike">
              <a:solidFill>
                <a:srgbClr val="000000"/>
              </a:solidFill>
              <a:latin typeface="Arial"/>
              <a:ea typeface="Arial"/>
              <a:cs typeface="Arial"/>
              <a:sym typeface="Arial"/>
            </a:endParaRPr>
          </a:p>
        </p:txBody>
      </p:sp>
      <p:sp>
        <p:nvSpPr>
          <p:cNvPr id="720" name="Google Shape;720;p58"/>
          <p:cNvSpPr txBox="1"/>
          <p:nvPr/>
        </p:nvSpPr>
        <p:spPr>
          <a:xfrm>
            <a:off x="609600" y="1798320"/>
            <a:ext cx="4845750"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Create plugin structure from existing config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Copy commands and skills to plugin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Migrate hooks from settings.json to hooks.json format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Test migrated plugin to ensure functionality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Verify hooks trigger correctly</a:t>
            </a:r>
            <a:endParaRPr b="0" i="0" sz="1400" u="none" cap="none" strike="noStrike">
              <a:solidFill>
                <a:srgbClr val="000000"/>
              </a:solidFill>
              <a:latin typeface="Arial"/>
              <a:ea typeface="Arial"/>
              <a:cs typeface="Arial"/>
              <a:sym typeface="Arial"/>
            </a:endParaRPr>
          </a:p>
        </p:txBody>
      </p:sp>
      <p:sp>
        <p:nvSpPr>
          <p:cNvPr id="721" name="Google Shape;721;p58"/>
          <p:cNvSpPr/>
          <p:nvPr/>
        </p:nvSpPr>
        <p:spPr>
          <a:xfrm>
            <a:off x="7467600" y="4541520"/>
            <a:ext cx="1371600" cy="457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 30 minutes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726" name="Shape 726"/>
        <p:cNvGrpSpPr/>
        <p:nvPr/>
      </p:nvGrpSpPr>
      <p:grpSpPr>
        <a:xfrm>
          <a:off x="0" y="0"/>
          <a:ext cx="0" cy="0"/>
          <a:chOff x="0" y="0"/>
          <a:chExt cx="0" cy="0"/>
        </a:xfrm>
      </p:grpSpPr>
      <p:sp>
        <p:nvSpPr>
          <p:cNvPr id="727" name="Google Shape;727;p59"/>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Lab Steps: Hook Migration</a:t>
            </a:r>
            <a:endParaRPr b="0" i="0" sz="1400" u="none" cap="none" strike="noStrike">
              <a:solidFill>
                <a:srgbClr val="000000"/>
              </a:solidFill>
              <a:latin typeface="Arial"/>
              <a:ea typeface="Arial"/>
              <a:cs typeface="Arial"/>
              <a:sym typeface="Arial"/>
            </a:endParaRPr>
          </a:p>
        </p:txBody>
      </p:sp>
      <p:sp>
        <p:nvSpPr>
          <p:cNvPr id="728" name="Google Shape;728;p59"/>
          <p:cNvSpPr txBox="1"/>
          <p:nvPr/>
        </p:nvSpPr>
        <p:spPr>
          <a:xfrm>
            <a:off x="731520" y="1188720"/>
            <a:ext cx="210312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41413"/>
                </a:solidFill>
                <a:latin typeface="Calibri"/>
                <a:ea typeface="Calibri"/>
                <a:cs typeface="Calibri"/>
                <a:sym typeface="Calibri"/>
              </a:rPr>
              <a:t>Step 1: Create plugin structure</a:t>
            </a:r>
            <a:endParaRPr b="0" i="0" sz="1400" u="none" cap="none" strike="noStrike">
              <a:solidFill>
                <a:srgbClr val="000000"/>
              </a:solidFill>
              <a:latin typeface="Arial"/>
              <a:ea typeface="Arial"/>
              <a:cs typeface="Arial"/>
              <a:sym typeface="Arial"/>
            </a:endParaRPr>
          </a:p>
        </p:txBody>
      </p:sp>
      <p:sp>
        <p:nvSpPr>
          <p:cNvPr id="729" name="Google Shape;729;p59"/>
          <p:cNvSpPr/>
          <p:nvPr/>
        </p:nvSpPr>
        <p:spPr>
          <a:xfrm>
            <a:off x="2926080" y="1188720"/>
            <a:ext cx="3840600" cy="274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Consolas"/>
                <a:ea typeface="Consolas"/>
                <a:cs typeface="Consolas"/>
                <a:sym typeface="Consolas"/>
              </a:rPr>
              <a:t>mkdir my-plugin &amp;&amp; mkdir my-plugin/.claude-plugin</a:t>
            </a:r>
            <a:endParaRPr b="0" i="0" sz="1400" u="none" cap="none" strike="noStrike">
              <a:solidFill>
                <a:srgbClr val="000000"/>
              </a:solidFill>
              <a:latin typeface="Arial"/>
              <a:ea typeface="Arial"/>
              <a:cs typeface="Arial"/>
              <a:sym typeface="Arial"/>
            </a:endParaRPr>
          </a:p>
        </p:txBody>
      </p:sp>
      <p:sp>
        <p:nvSpPr>
          <p:cNvPr id="730" name="Google Shape;730;p59"/>
          <p:cNvSpPr txBox="1"/>
          <p:nvPr/>
        </p:nvSpPr>
        <p:spPr>
          <a:xfrm>
            <a:off x="6858000" y="1188720"/>
            <a:ext cx="155448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Basic plugin skeleton</a:t>
            </a:r>
            <a:endParaRPr b="0" i="0" sz="1400" u="none" cap="none" strike="noStrike">
              <a:solidFill>
                <a:srgbClr val="000000"/>
              </a:solidFill>
              <a:latin typeface="Arial"/>
              <a:ea typeface="Arial"/>
              <a:cs typeface="Arial"/>
              <a:sym typeface="Arial"/>
            </a:endParaRPr>
          </a:p>
        </p:txBody>
      </p:sp>
      <p:sp>
        <p:nvSpPr>
          <p:cNvPr id="731" name="Google Shape;731;p59"/>
          <p:cNvSpPr txBox="1"/>
          <p:nvPr/>
        </p:nvSpPr>
        <p:spPr>
          <a:xfrm>
            <a:off x="731520" y="1645920"/>
            <a:ext cx="210312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41413"/>
                </a:solidFill>
                <a:latin typeface="Calibri"/>
                <a:ea typeface="Calibri"/>
                <a:cs typeface="Calibri"/>
                <a:sym typeface="Calibri"/>
              </a:rPr>
              <a:t>Step 2: Write manifest</a:t>
            </a:r>
            <a:endParaRPr b="0" i="0" sz="1400" u="none" cap="none" strike="noStrike">
              <a:solidFill>
                <a:srgbClr val="000000"/>
              </a:solidFill>
              <a:latin typeface="Arial"/>
              <a:ea typeface="Arial"/>
              <a:cs typeface="Arial"/>
              <a:sym typeface="Arial"/>
            </a:endParaRPr>
          </a:p>
        </p:txBody>
      </p:sp>
      <p:sp>
        <p:nvSpPr>
          <p:cNvPr id="732" name="Google Shape;732;p59"/>
          <p:cNvSpPr txBox="1"/>
          <p:nvPr/>
        </p:nvSpPr>
        <p:spPr>
          <a:xfrm>
            <a:off x="2926080" y="1645920"/>
            <a:ext cx="384048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36454F"/>
                </a:solidFill>
                <a:latin typeface="Calibri"/>
                <a:ea typeface="Calibri"/>
                <a:cs typeface="Calibri"/>
                <a:sym typeface="Calibri"/>
              </a:rPr>
              <a:t>Create plugin.json with name, description, version</a:t>
            </a:r>
            <a:endParaRPr b="0" i="0" sz="1400" u="none" cap="none" strike="noStrike">
              <a:solidFill>
                <a:srgbClr val="000000"/>
              </a:solidFill>
              <a:latin typeface="Arial"/>
              <a:ea typeface="Arial"/>
              <a:cs typeface="Arial"/>
              <a:sym typeface="Arial"/>
            </a:endParaRPr>
          </a:p>
        </p:txBody>
      </p:sp>
      <p:sp>
        <p:nvSpPr>
          <p:cNvPr id="733" name="Google Shape;733;p59"/>
          <p:cNvSpPr txBox="1"/>
          <p:nvPr/>
        </p:nvSpPr>
        <p:spPr>
          <a:xfrm>
            <a:off x="6858000" y="1645920"/>
            <a:ext cx="155448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Plugin identity</a:t>
            </a:r>
            <a:endParaRPr b="0" i="0" sz="1400" u="none" cap="none" strike="noStrike">
              <a:solidFill>
                <a:srgbClr val="000000"/>
              </a:solidFill>
              <a:latin typeface="Arial"/>
              <a:ea typeface="Arial"/>
              <a:cs typeface="Arial"/>
              <a:sym typeface="Arial"/>
            </a:endParaRPr>
          </a:p>
        </p:txBody>
      </p:sp>
      <p:sp>
        <p:nvSpPr>
          <p:cNvPr id="734" name="Google Shape;734;p59"/>
          <p:cNvSpPr txBox="1"/>
          <p:nvPr/>
        </p:nvSpPr>
        <p:spPr>
          <a:xfrm>
            <a:off x="731520" y="2103120"/>
            <a:ext cx="210312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41413"/>
                </a:solidFill>
                <a:latin typeface="Calibri"/>
                <a:ea typeface="Calibri"/>
                <a:cs typeface="Calibri"/>
                <a:sym typeface="Calibri"/>
              </a:rPr>
              <a:t>Step 3: Copy existing files</a:t>
            </a:r>
            <a:endParaRPr b="0" i="0" sz="1400" u="none" cap="none" strike="noStrike">
              <a:solidFill>
                <a:srgbClr val="000000"/>
              </a:solidFill>
              <a:latin typeface="Arial"/>
              <a:ea typeface="Arial"/>
              <a:cs typeface="Arial"/>
              <a:sym typeface="Arial"/>
            </a:endParaRPr>
          </a:p>
        </p:txBody>
      </p:sp>
      <p:sp>
        <p:nvSpPr>
          <p:cNvPr id="735" name="Google Shape;735;p59"/>
          <p:cNvSpPr/>
          <p:nvPr/>
        </p:nvSpPr>
        <p:spPr>
          <a:xfrm>
            <a:off x="2926080" y="2103120"/>
            <a:ext cx="3840600" cy="274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Consolas"/>
                <a:ea typeface="Consolas"/>
                <a:cs typeface="Consolas"/>
                <a:sym typeface="Consolas"/>
              </a:rPr>
              <a:t>cp -r .claude/commands my-plugin/</a:t>
            </a:r>
            <a:endParaRPr b="0" i="0" sz="1400" u="none" cap="none" strike="noStrike">
              <a:solidFill>
                <a:srgbClr val="000000"/>
              </a:solidFill>
              <a:latin typeface="Arial"/>
              <a:ea typeface="Arial"/>
              <a:cs typeface="Arial"/>
              <a:sym typeface="Arial"/>
            </a:endParaRPr>
          </a:p>
        </p:txBody>
      </p:sp>
      <p:sp>
        <p:nvSpPr>
          <p:cNvPr id="736" name="Google Shape;736;p59"/>
          <p:cNvSpPr txBox="1"/>
          <p:nvPr/>
        </p:nvSpPr>
        <p:spPr>
          <a:xfrm>
            <a:off x="6858000" y="2103120"/>
            <a:ext cx="155448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Migrate commands</a:t>
            </a:r>
            <a:endParaRPr b="0" i="0" sz="1400" u="none" cap="none" strike="noStrike">
              <a:solidFill>
                <a:srgbClr val="000000"/>
              </a:solidFill>
              <a:latin typeface="Arial"/>
              <a:ea typeface="Arial"/>
              <a:cs typeface="Arial"/>
              <a:sym typeface="Arial"/>
            </a:endParaRPr>
          </a:p>
        </p:txBody>
      </p:sp>
      <p:sp>
        <p:nvSpPr>
          <p:cNvPr id="737" name="Google Shape;737;p59"/>
          <p:cNvSpPr txBox="1"/>
          <p:nvPr/>
        </p:nvSpPr>
        <p:spPr>
          <a:xfrm>
            <a:off x="731520" y="2560320"/>
            <a:ext cx="210312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41413"/>
                </a:solidFill>
                <a:latin typeface="Calibri"/>
                <a:ea typeface="Calibri"/>
                <a:cs typeface="Calibri"/>
                <a:sym typeface="Calibri"/>
              </a:rPr>
              <a:t>Step 4: Create hooks directory</a:t>
            </a:r>
            <a:endParaRPr b="0" i="0" sz="1400" u="none" cap="none" strike="noStrike">
              <a:solidFill>
                <a:srgbClr val="000000"/>
              </a:solidFill>
              <a:latin typeface="Arial"/>
              <a:ea typeface="Arial"/>
              <a:cs typeface="Arial"/>
              <a:sym typeface="Arial"/>
            </a:endParaRPr>
          </a:p>
        </p:txBody>
      </p:sp>
      <p:sp>
        <p:nvSpPr>
          <p:cNvPr id="738" name="Google Shape;738;p59"/>
          <p:cNvSpPr/>
          <p:nvPr/>
        </p:nvSpPr>
        <p:spPr>
          <a:xfrm>
            <a:off x="2926080" y="2560320"/>
            <a:ext cx="3840600" cy="274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Consolas"/>
                <a:ea typeface="Consolas"/>
                <a:cs typeface="Consolas"/>
                <a:sym typeface="Consolas"/>
              </a:rPr>
              <a:t>mkdir my-plugin/hooks</a:t>
            </a:r>
            <a:endParaRPr b="0" i="0" sz="1400" u="none" cap="none" strike="noStrike">
              <a:solidFill>
                <a:srgbClr val="000000"/>
              </a:solidFill>
              <a:latin typeface="Arial"/>
              <a:ea typeface="Arial"/>
              <a:cs typeface="Arial"/>
              <a:sym typeface="Arial"/>
            </a:endParaRPr>
          </a:p>
        </p:txBody>
      </p:sp>
      <p:sp>
        <p:nvSpPr>
          <p:cNvPr id="739" name="Google Shape;739;p59"/>
          <p:cNvSpPr txBox="1"/>
          <p:nvPr/>
        </p:nvSpPr>
        <p:spPr>
          <a:xfrm>
            <a:off x="6858000" y="2560320"/>
            <a:ext cx="155448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Hooks go here</a:t>
            </a:r>
            <a:endParaRPr b="0" i="0" sz="1400" u="none" cap="none" strike="noStrike">
              <a:solidFill>
                <a:srgbClr val="000000"/>
              </a:solidFill>
              <a:latin typeface="Arial"/>
              <a:ea typeface="Arial"/>
              <a:cs typeface="Arial"/>
              <a:sym typeface="Arial"/>
            </a:endParaRPr>
          </a:p>
        </p:txBody>
      </p:sp>
      <p:sp>
        <p:nvSpPr>
          <p:cNvPr id="740" name="Google Shape;740;p59"/>
          <p:cNvSpPr txBox="1"/>
          <p:nvPr/>
        </p:nvSpPr>
        <p:spPr>
          <a:xfrm>
            <a:off x="731520" y="3017520"/>
            <a:ext cx="210312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41413"/>
                </a:solidFill>
                <a:latin typeface="Calibri"/>
                <a:ea typeface="Calibri"/>
                <a:cs typeface="Calibri"/>
                <a:sym typeface="Calibri"/>
              </a:rPr>
              <a:t>Step 5: Extract hooks config</a:t>
            </a:r>
            <a:endParaRPr b="0" i="0" sz="1400" u="none" cap="none" strike="noStrike">
              <a:solidFill>
                <a:srgbClr val="000000"/>
              </a:solidFill>
              <a:latin typeface="Arial"/>
              <a:ea typeface="Arial"/>
              <a:cs typeface="Arial"/>
              <a:sym typeface="Arial"/>
            </a:endParaRPr>
          </a:p>
        </p:txBody>
      </p:sp>
      <p:sp>
        <p:nvSpPr>
          <p:cNvPr id="741" name="Google Shape;741;p59"/>
          <p:cNvSpPr txBox="1"/>
          <p:nvPr/>
        </p:nvSpPr>
        <p:spPr>
          <a:xfrm>
            <a:off x="2926080" y="3017520"/>
            <a:ext cx="384048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36454F"/>
                </a:solidFill>
                <a:latin typeface="Calibri"/>
                <a:ea typeface="Calibri"/>
                <a:cs typeface="Calibri"/>
                <a:sym typeface="Calibri"/>
              </a:rPr>
              <a:t>Copy hooks object from settings.json</a:t>
            </a:r>
            <a:endParaRPr b="0" i="0" sz="1400" u="none" cap="none" strike="noStrike">
              <a:solidFill>
                <a:srgbClr val="000000"/>
              </a:solidFill>
              <a:latin typeface="Arial"/>
              <a:ea typeface="Arial"/>
              <a:cs typeface="Arial"/>
              <a:sym typeface="Arial"/>
            </a:endParaRPr>
          </a:p>
        </p:txBody>
      </p:sp>
      <p:sp>
        <p:nvSpPr>
          <p:cNvPr id="742" name="Google Shape;742;p59"/>
          <p:cNvSpPr txBox="1"/>
          <p:nvPr/>
        </p:nvSpPr>
        <p:spPr>
          <a:xfrm>
            <a:off x="6858000" y="3017520"/>
            <a:ext cx="155448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Same format</a:t>
            </a:r>
            <a:endParaRPr b="0" i="0" sz="1400" u="none" cap="none" strike="noStrike">
              <a:solidFill>
                <a:srgbClr val="000000"/>
              </a:solidFill>
              <a:latin typeface="Arial"/>
              <a:ea typeface="Arial"/>
              <a:cs typeface="Arial"/>
              <a:sym typeface="Arial"/>
            </a:endParaRPr>
          </a:p>
        </p:txBody>
      </p:sp>
      <p:sp>
        <p:nvSpPr>
          <p:cNvPr id="743" name="Google Shape;743;p59"/>
          <p:cNvSpPr txBox="1"/>
          <p:nvPr/>
        </p:nvSpPr>
        <p:spPr>
          <a:xfrm>
            <a:off x="731520" y="3474720"/>
            <a:ext cx="210312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41413"/>
                </a:solidFill>
                <a:latin typeface="Calibri"/>
                <a:ea typeface="Calibri"/>
                <a:cs typeface="Calibri"/>
                <a:sym typeface="Calibri"/>
              </a:rPr>
              <a:t>Step 6: Create hooks.json</a:t>
            </a:r>
            <a:endParaRPr b="0" i="0" sz="1400" u="none" cap="none" strike="noStrike">
              <a:solidFill>
                <a:srgbClr val="000000"/>
              </a:solidFill>
              <a:latin typeface="Arial"/>
              <a:ea typeface="Arial"/>
              <a:cs typeface="Arial"/>
              <a:sym typeface="Arial"/>
            </a:endParaRPr>
          </a:p>
        </p:txBody>
      </p:sp>
      <p:sp>
        <p:nvSpPr>
          <p:cNvPr id="744" name="Google Shape;744;p59"/>
          <p:cNvSpPr txBox="1"/>
          <p:nvPr/>
        </p:nvSpPr>
        <p:spPr>
          <a:xfrm>
            <a:off x="2926080" y="3474720"/>
            <a:ext cx="384048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36454F"/>
                </a:solidFill>
                <a:latin typeface="Calibri"/>
                <a:ea typeface="Calibri"/>
                <a:cs typeface="Calibri"/>
                <a:sym typeface="Calibri"/>
              </a:rPr>
              <a:t>Paste into my-plugin/hooks/hooks.json</a:t>
            </a:r>
            <a:endParaRPr b="0" i="0" sz="1400" u="none" cap="none" strike="noStrike">
              <a:solidFill>
                <a:srgbClr val="000000"/>
              </a:solidFill>
              <a:latin typeface="Arial"/>
              <a:ea typeface="Arial"/>
              <a:cs typeface="Arial"/>
              <a:sym typeface="Arial"/>
            </a:endParaRPr>
          </a:p>
        </p:txBody>
      </p:sp>
      <p:sp>
        <p:nvSpPr>
          <p:cNvPr id="745" name="Google Shape;745;p59"/>
          <p:cNvSpPr txBox="1"/>
          <p:nvPr/>
        </p:nvSpPr>
        <p:spPr>
          <a:xfrm>
            <a:off x="6858000" y="3474720"/>
            <a:ext cx="155448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Format unchanged</a:t>
            </a:r>
            <a:endParaRPr b="0" i="0" sz="1400" u="none" cap="none" strike="noStrike">
              <a:solidFill>
                <a:srgbClr val="000000"/>
              </a:solidFill>
              <a:latin typeface="Arial"/>
              <a:ea typeface="Arial"/>
              <a:cs typeface="Arial"/>
              <a:sym typeface="Arial"/>
            </a:endParaRPr>
          </a:p>
        </p:txBody>
      </p:sp>
      <p:sp>
        <p:nvSpPr>
          <p:cNvPr id="746" name="Google Shape;746;p59"/>
          <p:cNvSpPr txBox="1"/>
          <p:nvPr/>
        </p:nvSpPr>
        <p:spPr>
          <a:xfrm>
            <a:off x="731520" y="3931920"/>
            <a:ext cx="210312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41413"/>
                </a:solidFill>
                <a:latin typeface="Calibri"/>
                <a:ea typeface="Calibri"/>
                <a:cs typeface="Calibri"/>
                <a:sym typeface="Calibri"/>
              </a:rPr>
              <a:t>Step 7: Test migrated plugin</a:t>
            </a:r>
            <a:endParaRPr b="0" i="0" sz="1400" u="none" cap="none" strike="noStrike">
              <a:solidFill>
                <a:srgbClr val="000000"/>
              </a:solidFill>
              <a:latin typeface="Arial"/>
              <a:ea typeface="Arial"/>
              <a:cs typeface="Arial"/>
              <a:sym typeface="Arial"/>
            </a:endParaRPr>
          </a:p>
        </p:txBody>
      </p:sp>
      <p:sp>
        <p:nvSpPr>
          <p:cNvPr id="747" name="Google Shape;747;p59"/>
          <p:cNvSpPr/>
          <p:nvPr/>
        </p:nvSpPr>
        <p:spPr>
          <a:xfrm>
            <a:off x="2926080" y="3931920"/>
            <a:ext cx="3840600" cy="274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Consolas"/>
                <a:ea typeface="Consolas"/>
                <a:cs typeface="Consolas"/>
                <a:sym typeface="Consolas"/>
              </a:rPr>
              <a:t>claude --plugin-dir ./my-plugin</a:t>
            </a:r>
            <a:endParaRPr b="0" i="0" sz="1400" u="none" cap="none" strike="noStrike">
              <a:solidFill>
                <a:srgbClr val="000000"/>
              </a:solidFill>
              <a:latin typeface="Arial"/>
              <a:ea typeface="Arial"/>
              <a:cs typeface="Arial"/>
              <a:sym typeface="Arial"/>
            </a:endParaRPr>
          </a:p>
        </p:txBody>
      </p:sp>
      <p:sp>
        <p:nvSpPr>
          <p:cNvPr id="748" name="Google Shape;748;p59"/>
          <p:cNvSpPr txBox="1"/>
          <p:nvPr/>
        </p:nvSpPr>
        <p:spPr>
          <a:xfrm>
            <a:off x="6858000" y="3931920"/>
            <a:ext cx="155448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6454F"/>
                </a:solidFill>
                <a:latin typeface="Calibri"/>
                <a:ea typeface="Calibri"/>
                <a:cs typeface="Calibri"/>
                <a:sym typeface="Calibri"/>
              </a:rPr>
              <a:t>Verify everything works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753" name="Shape 753"/>
        <p:cNvGrpSpPr/>
        <p:nvPr/>
      </p:nvGrpSpPr>
      <p:grpSpPr>
        <a:xfrm>
          <a:off x="0" y="0"/>
          <a:ext cx="0" cy="0"/>
          <a:chOff x="0" y="0"/>
          <a:chExt cx="0" cy="0"/>
        </a:xfrm>
      </p:grpSpPr>
      <p:sp>
        <p:nvSpPr>
          <p:cNvPr id="754" name="Google Shape;754;p60"/>
          <p:cNvSpPr/>
          <p:nvPr/>
        </p:nvSpPr>
        <p:spPr>
          <a:xfrm>
            <a:off x="0" y="0"/>
            <a:ext cx="2632364" cy="5143500"/>
          </a:xfrm>
          <a:prstGeom prst="rect">
            <a:avLst/>
          </a:prstGeom>
          <a:solidFill>
            <a:srgbClr val="788C5D"/>
          </a:solidFill>
          <a:ln cap="flat" cmpd="sng" w="9525">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5" name="Google Shape;755;p60"/>
          <p:cNvSpPr txBox="1"/>
          <p:nvPr/>
        </p:nvSpPr>
        <p:spPr>
          <a:xfrm>
            <a:off x="278911" y="3079865"/>
            <a:ext cx="2074542" cy="15696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Module 9:</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Knowledge</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alibri"/>
                <a:ea typeface="Calibri"/>
                <a:cs typeface="Calibri"/>
                <a:sym typeface="Calibri"/>
              </a:rPr>
              <a:t>Check</a:t>
            </a:r>
            <a:endParaRPr b="0" i="0" sz="1400" u="none" cap="none" strike="noStrike">
              <a:solidFill>
                <a:srgbClr val="000000"/>
              </a:solidFill>
              <a:latin typeface="Arial"/>
              <a:ea typeface="Arial"/>
              <a:cs typeface="Arial"/>
              <a:sym typeface="Arial"/>
            </a:endParaRPr>
          </a:p>
        </p:txBody>
      </p:sp>
      <p:pic>
        <p:nvPicPr>
          <p:cNvPr descr="Brain with solid fill" id="756" name="Google Shape;756;p60"/>
          <p:cNvPicPr preferRelativeResize="0"/>
          <p:nvPr/>
        </p:nvPicPr>
        <p:blipFill rotWithShape="1">
          <a:blip r:embed="rId3">
            <a:alphaModFix/>
          </a:blip>
          <a:srcRect b="0" l="0" r="0" t="0"/>
          <a:stretch/>
        </p:blipFill>
        <p:spPr>
          <a:xfrm>
            <a:off x="969818" y="2376055"/>
            <a:ext cx="703810" cy="703810"/>
          </a:xfrm>
          <a:prstGeom prst="rect">
            <a:avLst/>
          </a:prstGeom>
          <a:noFill/>
          <a:ln>
            <a:noFill/>
          </a:ln>
        </p:spPr>
      </p:pic>
      <p:sp>
        <p:nvSpPr>
          <p:cNvPr id="757" name="Google Shape;757;p60"/>
          <p:cNvSpPr txBox="1"/>
          <p:nvPr/>
        </p:nvSpPr>
        <p:spPr>
          <a:xfrm>
            <a:off x="3129308" y="834391"/>
            <a:ext cx="531890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What is the correct plugin structure for hooks?</a:t>
            </a:r>
            <a:endParaRPr b="0" i="0" sz="1400" u="none" cap="none" strike="noStrike">
              <a:solidFill>
                <a:srgbClr val="000000"/>
              </a:solidFill>
              <a:latin typeface="Arial"/>
              <a:ea typeface="Arial"/>
              <a:cs typeface="Arial"/>
              <a:sym typeface="Arial"/>
            </a:endParaRPr>
          </a:p>
        </p:txBody>
      </p:sp>
      <p:sp>
        <p:nvSpPr>
          <p:cNvPr id="758" name="Google Shape;758;p60"/>
          <p:cNvSpPr txBox="1"/>
          <p:nvPr/>
        </p:nvSpPr>
        <p:spPr>
          <a:xfrm>
            <a:off x="3312188" y="1289443"/>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A) hooks.json at plugin root</a:t>
            </a:r>
            <a:endParaRPr i="0" sz="1400" u="none" cap="none" strike="noStrike">
              <a:solidFill>
                <a:schemeClr val="dk1"/>
              </a:solidFill>
            </a:endParaRPr>
          </a:p>
        </p:txBody>
      </p:sp>
      <p:sp>
        <p:nvSpPr>
          <p:cNvPr id="759" name="Google Shape;759;p60"/>
          <p:cNvSpPr txBox="1"/>
          <p:nvPr/>
        </p:nvSpPr>
        <p:spPr>
          <a:xfrm>
            <a:off x="3312188" y="1563763"/>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B) .claude-plugin/hooks.json</a:t>
            </a:r>
            <a:endParaRPr i="0" sz="1400" u="none" cap="none" strike="noStrike">
              <a:solidFill>
                <a:schemeClr val="dk1"/>
              </a:solidFill>
            </a:endParaRPr>
          </a:p>
        </p:txBody>
      </p:sp>
      <p:sp>
        <p:nvSpPr>
          <p:cNvPr id="760" name="Google Shape;760;p60"/>
          <p:cNvSpPr txBox="1"/>
          <p:nvPr/>
        </p:nvSpPr>
        <p:spPr>
          <a:xfrm>
            <a:off x="3312188" y="1838082"/>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C) hooks/hooks.json</a:t>
            </a:r>
            <a:endParaRPr i="0" sz="1400" u="none" cap="none" strike="noStrike">
              <a:solidFill>
                <a:schemeClr val="dk1"/>
              </a:solidFill>
            </a:endParaRPr>
          </a:p>
        </p:txBody>
      </p:sp>
      <p:sp>
        <p:nvSpPr>
          <p:cNvPr id="761" name="Google Shape;761;p60"/>
          <p:cNvSpPr txBox="1"/>
          <p:nvPr/>
        </p:nvSpPr>
        <p:spPr>
          <a:xfrm>
            <a:off x="3312188" y="2112402"/>
            <a:ext cx="51360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100" u="none" cap="none" strike="noStrike">
                <a:solidFill>
                  <a:schemeClr val="dk1"/>
                </a:solidFill>
                <a:latin typeface="Calibri"/>
                <a:ea typeface="Calibri"/>
                <a:cs typeface="Calibri"/>
                <a:sym typeface="Calibri"/>
              </a:rPr>
              <a:t>D) config/hooks.json</a:t>
            </a:r>
            <a:endParaRPr i="0" sz="1400" u="none" cap="none" strike="noStrike">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766" name="Shape 766"/>
        <p:cNvGrpSpPr/>
        <p:nvPr/>
      </p:nvGrpSpPr>
      <p:grpSpPr>
        <a:xfrm>
          <a:off x="0" y="0"/>
          <a:ext cx="0" cy="0"/>
          <a:chOff x="0" y="0"/>
          <a:chExt cx="0" cy="0"/>
        </a:xfrm>
      </p:grpSpPr>
      <p:sp>
        <p:nvSpPr>
          <p:cNvPr id="767" name="Google Shape;767;p61"/>
          <p:cNvSpPr txBox="1"/>
          <p:nvPr/>
        </p:nvSpPr>
        <p:spPr>
          <a:xfrm>
            <a:off x="457200" y="502920"/>
            <a:ext cx="353032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Module 9 Summary</a:t>
            </a:r>
            <a:endParaRPr b="0" i="0" sz="1400" u="none" cap="none" strike="noStrike">
              <a:solidFill>
                <a:srgbClr val="000000"/>
              </a:solidFill>
              <a:latin typeface="Arial"/>
              <a:ea typeface="Arial"/>
              <a:cs typeface="Arial"/>
              <a:sym typeface="Arial"/>
            </a:endParaRPr>
          </a:p>
        </p:txBody>
      </p:sp>
      <p:sp>
        <p:nvSpPr>
          <p:cNvPr id="768" name="Google Shape;768;p61"/>
          <p:cNvSpPr txBox="1"/>
          <p:nvPr/>
        </p:nvSpPr>
        <p:spPr>
          <a:xfrm>
            <a:off x="457200" y="1051560"/>
            <a:ext cx="232653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36454F"/>
                </a:solidFill>
                <a:latin typeface="Calibri"/>
                <a:ea typeface="Calibri"/>
                <a:cs typeface="Calibri"/>
                <a:sym typeface="Calibri"/>
              </a:rPr>
              <a:t>Lab: Converting Hooks </a:t>
            </a:r>
            <a:endParaRPr b="0" i="0" sz="1400" u="none" cap="none" strike="noStrike">
              <a:solidFill>
                <a:srgbClr val="000000"/>
              </a:solidFill>
              <a:latin typeface="Arial"/>
              <a:ea typeface="Arial"/>
              <a:cs typeface="Arial"/>
              <a:sym typeface="Arial"/>
            </a:endParaRPr>
          </a:p>
        </p:txBody>
      </p:sp>
      <p:sp>
        <p:nvSpPr>
          <p:cNvPr id="769" name="Google Shape;769;p61"/>
          <p:cNvSpPr txBox="1"/>
          <p:nvPr/>
        </p:nvSpPr>
        <p:spPr>
          <a:xfrm>
            <a:off x="45720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Key Takeaways</a:t>
            </a:r>
            <a:endParaRPr b="0" i="0" sz="1400" u="none" cap="none" strike="noStrike">
              <a:solidFill>
                <a:srgbClr val="000000"/>
              </a:solidFill>
              <a:latin typeface="Arial"/>
              <a:ea typeface="Arial"/>
              <a:cs typeface="Arial"/>
              <a:sym typeface="Arial"/>
            </a:endParaRPr>
          </a:p>
        </p:txBody>
      </p:sp>
      <p:sp>
        <p:nvSpPr>
          <p:cNvPr id="770" name="Google Shape;770;p61"/>
          <p:cNvSpPr txBox="1"/>
          <p:nvPr/>
        </p:nvSpPr>
        <p:spPr>
          <a:xfrm>
            <a:off x="457200" y="2103120"/>
            <a:ext cx="5389418" cy="271869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Migration preserves hook functionality while enabling sharing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Hook JSON format remains identical—just changes location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Test thoroughly with --plugin-dir before removing original files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After successful migration, remove .claude/ files to prevent duplicates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141413"/>
                </a:solidFill>
                <a:latin typeface="Calibri"/>
                <a:ea typeface="Calibri"/>
                <a:cs typeface="Calibri"/>
                <a:sym typeface="Calibri"/>
              </a:rPr>
              <a:t>• Converted plugins can be shared via marketplaces immediately</a:t>
            </a:r>
            <a:endParaRPr b="0" i="0" sz="1400" u="none" cap="none" strike="noStrike">
              <a:solidFill>
                <a:srgbClr val="000000"/>
              </a:solidFill>
              <a:latin typeface="Arial"/>
              <a:ea typeface="Arial"/>
              <a:cs typeface="Arial"/>
              <a:sym typeface="Arial"/>
            </a:endParaRPr>
          </a:p>
        </p:txBody>
      </p:sp>
      <p:sp>
        <p:nvSpPr>
          <p:cNvPr id="771" name="Google Shape;771;p61"/>
          <p:cNvSpPr/>
          <p:nvPr/>
        </p:nvSpPr>
        <p:spPr>
          <a:xfrm>
            <a:off x="6511636" y="0"/>
            <a:ext cx="2632364" cy="5143500"/>
          </a:xfrm>
          <a:prstGeom prst="rect">
            <a:avLst/>
          </a:prstGeom>
          <a:solidFill>
            <a:srgbClr val="D97757"/>
          </a:solidFill>
          <a:ln cap="flat" cmpd="sng" w="9525">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Key with solid fill" id="772" name="Google Shape;772;p61"/>
          <p:cNvPicPr preferRelativeResize="0"/>
          <p:nvPr/>
        </p:nvPicPr>
        <p:blipFill rotWithShape="1">
          <a:blip r:embed="rId3">
            <a:alphaModFix/>
          </a:blip>
          <a:srcRect b="0" l="0" r="0" t="0"/>
          <a:stretch/>
        </p:blipFill>
        <p:spPr>
          <a:xfrm>
            <a:off x="7370618" y="502920"/>
            <a:ext cx="914400" cy="9144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454F"/>
        </a:solidFill>
      </p:bgPr>
    </p:bg>
    <p:spTree>
      <p:nvGrpSpPr>
        <p:cNvPr id="777" name="Shape 777"/>
        <p:cNvGrpSpPr/>
        <p:nvPr/>
      </p:nvGrpSpPr>
      <p:grpSpPr>
        <a:xfrm>
          <a:off x="0" y="0"/>
          <a:ext cx="0" cy="0"/>
          <a:chOff x="0" y="0"/>
          <a:chExt cx="0" cy="0"/>
        </a:xfrm>
      </p:grpSpPr>
      <p:sp>
        <p:nvSpPr>
          <p:cNvPr id="778" name="Google Shape;778;p62"/>
          <p:cNvSpPr txBox="1"/>
          <p:nvPr/>
        </p:nvSpPr>
        <p:spPr>
          <a:xfrm>
            <a:off x="3362374" y="2103120"/>
            <a:ext cx="2419252"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FFFFFF"/>
                </a:solidFill>
                <a:latin typeface="Calibri"/>
                <a:ea typeface="Calibri"/>
                <a:cs typeface="Calibri"/>
                <a:sym typeface="Calibri"/>
              </a:rPr>
              <a:t>Appendix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783" name="Shape 783"/>
        <p:cNvGrpSpPr/>
        <p:nvPr/>
      </p:nvGrpSpPr>
      <p:grpSpPr>
        <a:xfrm>
          <a:off x="0" y="0"/>
          <a:ext cx="0" cy="0"/>
          <a:chOff x="0" y="0"/>
          <a:chExt cx="0" cy="0"/>
        </a:xfrm>
      </p:grpSpPr>
      <p:sp>
        <p:nvSpPr>
          <p:cNvPr id="784" name="Google Shape;784;p63"/>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Plugin Development Best Practices</a:t>
            </a:r>
            <a:endParaRPr b="0" i="0" sz="1400" u="none" cap="none" strike="noStrike">
              <a:solidFill>
                <a:srgbClr val="000000"/>
              </a:solidFill>
              <a:latin typeface="Arial"/>
              <a:ea typeface="Arial"/>
              <a:cs typeface="Arial"/>
              <a:sym typeface="Arial"/>
            </a:endParaRPr>
          </a:p>
        </p:txBody>
      </p:sp>
      <p:sp>
        <p:nvSpPr>
          <p:cNvPr id="785" name="Google Shape;785;p63"/>
          <p:cNvSpPr/>
          <p:nvPr/>
        </p:nvSpPr>
        <p:spPr>
          <a:xfrm>
            <a:off x="731520" y="1280160"/>
            <a:ext cx="7680960" cy="640080"/>
          </a:xfrm>
          <a:prstGeom prst="rect">
            <a:avLst/>
          </a:prstGeom>
          <a:solidFill>
            <a:srgbClr val="FFFFFF"/>
          </a:solidFill>
          <a:ln cap="flat" cmpd="sng" w="12700">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86" name="Google Shape;786;p63"/>
          <p:cNvSpPr txBox="1"/>
          <p:nvPr/>
        </p:nvSpPr>
        <p:spPr>
          <a:xfrm>
            <a:off x="914400" y="1325880"/>
            <a:ext cx="73152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Start with standalone, convert later</a:t>
            </a:r>
            <a:endParaRPr b="0" i="0" sz="1400" u="none" cap="none" strike="noStrike">
              <a:solidFill>
                <a:srgbClr val="000000"/>
              </a:solidFill>
              <a:latin typeface="Arial"/>
              <a:ea typeface="Arial"/>
              <a:cs typeface="Arial"/>
              <a:sym typeface="Arial"/>
            </a:endParaRPr>
          </a:p>
        </p:txBody>
      </p:sp>
      <p:sp>
        <p:nvSpPr>
          <p:cNvPr id="787" name="Google Shape;787;p63"/>
          <p:cNvSpPr txBox="1"/>
          <p:nvPr/>
        </p:nvSpPr>
        <p:spPr>
          <a:xfrm>
            <a:off x="914400" y="1600200"/>
            <a:ext cx="73152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1" lang="en-US" sz="1100" u="none" cap="none" strike="noStrike">
                <a:solidFill>
                  <a:srgbClr val="36454F"/>
                </a:solidFill>
                <a:latin typeface="Calibri"/>
                <a:ea typeface="Calibri"/>
                <a:cs typeface="Calibri"/>
                <a:sym typeface="Calibri"/>
              </a:rPr>
              <a:t>WHY: Faster iteration without packaging overhead, easy to test and refine</a:t>
            </a:r>
            <a:endParaRPr b="0" i="0" sz="1400" u="none" cap="none" strike="noStrike">
              <a:solidFill>
                <a:srgbClr val="000000"/>
              </a:solidFill>
              <a:latin typeface="Arial"/>
              <a:ea typeface="Arial"/>
              <a:cs typeface="Arial"/>
              <a:sym typeface="Arial"/>
            </a:endParaRPr>
          </a:p>
        </p:txBody>
      </p:sp>
      <p:sp>
        <p:nvSpPr>
          <p:cNvPr id="788" name="Google Shape;788;p63"/>
          <p:cNvSpPr/>
          <p:nvPr/>
        </p:nvSpPr>
        <p:spPr>
          <a:xfrm>
            <a:off x="731520" y="2011680"/>
            <a:ext cx="7680960" cy="640080"/>
          </a:xfrm>
          <a:prstGeom prst="rect">
            <a:avLst/>
          </a:prstGeom>
          <a:solidFill>
            <a:srgbClr val="FFFFFF"/>
          </a:solidFill>
          <a:ln cap="flat" cmpd="sng" w="12700">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89" name="Google Shape;789;p63"/>
          <p:cNvSpPr txBox="1"/>
          <p:nvPr/>
        </p:nvSpPr>
        <p:spPr>
          <a:xfrm>
            <a:off x="914400" y="2057400"/>
            <a:ext cx="73152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Use semantic versioning</a:t>
            </a:r>
            <a:endParaRPr b="0" i="0" sz="1400" u="none" cap="none" strike="noStrike">
              <a:solidFill>
                <a:srgbClr val="000000"/>
              </a:solidFill>
              <a:latin typeface="Arial"/>
              <a:ea typeface="Arial"/>
              <a:cs typeface="Arial"/>
              <a:sym typeface="Arial"/>
            </a:endParaRPr>
          </a:p>
        </p:txBody>
      </p:sp>
      <p:sp>
        <p:nvSpPr>
          <p:cNvPr id="790" name="Google Shape;790;p63"/>
          <p:cNvSpPr txBox="1"/>
          <p:nvPr/>
        </p:nvSpPr>
        <p:spPr>
          <a:xfrm>
            <a:off x="914400" y="2331720"/>
            <a:ext cx="73152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1" lang="en-US" sz="1100" u="none" cap="none" strike="noStrike">
                <a:solidFill>
                  <a:srgbClr val="36454F"/>
                </a:solidFill>
                <a:latin typeface="Calibri"/>
                <a:ea typeface="Calibri"/>
                <a:cs typeface="Calibri"/>
                <a:sym typeface="Calibri"/>
              </a:rPr>
              <a:t>WHY: Users can track breaking changes and updates reliably</a:t>
            </a:r>
            <a:endParaRPr b="0" i="0" sz="1400" u="none" cap="none" strike="noStrike">
              <a:solidFill>
                <a:srgbClr val="000000"/>
              </a:solidFill>
              <a:latin typeface="Arial"/>
              <a:ea typeface="Arial"/>
              <a:cs typeface="Arial"/>
              <a:sym typeface="Arial"/>
            </a:endParaRPr>
          </a:p>
        </p:txBody>
      </p:sp>
      <p:sp>
        <p:nvSpPr>
          <p:cNvPr id="791" name="Google Shape;791;p63"/>
          <p:cNvSpPr/>
          <p:nvPr/>
        </p:nvSpPr>
        <p:spPr>
          <a:xfrm>
            <a:off x="731520" y="2743200"/>
            <a:ext cx="7680960" cy="640080"/>
          </a:xfrm>
          <a:prstGeom prst="rect">
            <a:avLst/>
          </a:prstGeom>
          <a:solidFill>
            <a:srgbClr val="FFFFFF"/>
          </a:solidFill>
          <a:ln cap="flat" cmpd="sng" w="12700">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2" name="Google Shape;792;p63"/>
          <p:cNvSpPr txBox="1"/>
          <p:nvPr/>
        </p:nvSpPr>
        <p:spPr>
          <a:xfrm>
            <a:off x="914400" y="2788920"/>
            <a:ext cx="73152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Include a README.md</a:t>
            </a:r>
            <a:endParaRPr b="0" i="0" sz="1400" u="none" cap="none" strike="noStrike">
              <a:solidFill>
                <a:srgbClr val="000000"/>
              </a:solidFill>
              <a:latin typeface="Arial"/>
              <a:ea typeface="Arial"/>
              <a:cs typeface="Arial"/>
              <a:sym typeface="Arial"/>
            </a:endParaRPr>
          </a:p>
        </p:txBody>
      </p:sp>
      <p:sp>
        <p:nvSpPr>
          <p:cNvPr id="793" name="Google Shape;793;p63"/>
          <p:cNvSpPr txBox="1"/>
          <p:nvPr/>
        </p:nvSpPr>
        <p:spPr>
          <a:xfrm>
            <a:off x="914400" y="3063240"/>
            <a:ext cx="73152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1" lang="en-US" sz="1100" u="none" cap="none" strike="noStrike">
                <a:solidFill>
                  <a:srgbClr val="36454F"/>
                </a:solidFill>
                <a:latin typeface="Calibri"/>
                <a:ea typeface="Calibri"/>
                <a:cs typeface="Calibri"/>
                <a:sym typeface="Calibri"/>
              </a:rPr>
              <a:t>WHY: Others need to understand installation and usage without guessing</a:t>
            </a:r>
            <a:endParaRPr b="0" i="0" sz="1400" u="none" cap="none" strike="noStrike">
              <a:solidFill>
                <a:srgbClr val="000000"/>
              </a:solidFill>
              <a:latin typeface="Arial"/>
              <a:ea typeface="Arial"/>
              <a:cs typeface="Arial"/>
              <a:sym typeface="Arial"/>
            </a:endParaRPr>
          </a:p>
        </p:txBody>
      </p:sp>
      <p:sp>
        <p:nvSpPr>
          <p:cNvPr id="794" name="Google Shape;794;p63"/>
          <p:cNvSpPr/>
          <p:nvPr/>
        </p:nvSpPr>
        <p:spPr>
          <a:xfrm>
            <a:off x="731520" y="3474720"/>
            <a:ext cx="7680960" cy="640080"/>
          </a:xfrm>
          <a:prstGeom prst="rect">
            <a:avLst/>
          </a:prstGeom>
          <a:solidFill>
            <a:srgbClr val="FFFFFF"/>
          </a:solidFill>
          <a:ln cap="flat" cmpd="sng" w="12700">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5" name="Google Shape;795;p63"/>
          <p:cNvSpPr txBox="1"/>
          <p:nvPr/>
        </p:nvSpPr>
        <p:spPr>
          <a:xfrm>
            <a:off x="914400" y="3520439"/>
            <a:ext cx="73152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Test with --plugin-dir during development</a:t>
            </a:r>
            <a:endParaRPr b="0" i="0" sz="1400" u="none" cap="none" strike="noStrike">
              <a:solidFill>
                <a:srgbClr val="000000"/>
              </a:solidFill>
              <a:latin typeface="Arial"/>
              <a:ea typeface="Arial"/>
              <a:cs typeface="Arial"/>
              <a:sym typeface="Arial"/>
            </a:endParaRPr>
          </a:p>
        </p:txBody>
      </p:sp>
      <p:sp>
        <p:nvSpPr>
          <p:cNvPr id="796" name="Google Shape;796;p63"/>
          <p:cNvSpPr txBox="1"/>
          <p:nvPr/>
        </p:nvSpPr>
        <p:spPr>
          <a:xfrm>
            <a:off x="914400" y="3794759"/>
            <a:ext cx="73152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1" lang="en-US" sz="1100" u="none" cap="none" strike="noStrike">
                <a:solidFill>
                  <a:srgbClr val="36454F"/>
                </a:solidFill>
                <a:latin typeface="Calibri"/>
                <a:ea typeface="Calibri"/>
                <a:cs typeface="Calibri"/>
                <a:sym typeface="Calibri"/>
              </a:rPr>
              <a:t>WHY: No installation needed, immediate feedback on changes</a:t>
            </a:r>
            <a:endParaRPr b="0" i="0" sz="1400" u="none" cap="none" strike="noStrike">
              <a:solidFill>
                <a:srgbClr val="000000"/>
              </a:solidFill>
              <a:latin typeface="Arial"/>
              <a:ea typeface="Arial"/>
              <a:cs typeface="Arial"/>
              <a:sym typeface="Arial"/>
            </a:endParaRPr>
          </a:p>
        </p:txBody>
      </p:sp>
      <p:sp>
        <p:nvSpPr>
          <p:cNvPr id="797" name="Google Shape;797;p63"/>
          <p:cNvSpPr/>
          <p:nvPr/>
        </p:nvSpPr>
        <p:spPr>
          <a:xfrm>
            <a:off x="731520" y="4206240"/>
            <a:ext cx="7680960" cy="640080"/>
          </a:xfrm>
          <a:prstGeom prst="rect">
            <a:avLst/>
          </a:prstGeom>
          <a:solidFill>
            <a:srgbClr val="FFFFFF"/>
          </a:solidFill>
          <a:ln cap="flat" cmpd="sng" w="12700">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8" name="Google Shape;798;p63"/>
          <p:cNvSpPr txBox="1"/>
          <p:nvPr/>
        </p:nvSpPr>
        <p:spPr>
          <a:xfrm>
            <a:off x="914400" y="4251959"/>
            <a:ext cx="73152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Keep plugin directories at root level</a:t>
            </a:r>
            <a:endParaRPr b="0" i="0" sz="1400" u="none" cap="none" strike="noStrike">
              <a:solidFill>
                <a:srgbClr val="000000"/>
              </a:solidFill>
              <a:latin typeface="Arial"/>
              <a:ea typeface="Arial"/>
              <a:cs typeface="Arial"/>
              <a:sym typeface="Arial"/>
            </a:endParaRPr>
          </a:p>
        </p:txBody>
      </p:sp>
      <p:sp>
        <p:nvSpPr>
          <p:cNvPr id="799" name="Google Shape;799;p63"/>
          <p:cNvSpPr txBox="1"/>
          <p:nvPr/>
        </p:nvSpPr>
        <p:spPr>
          <a:xfrm>
            <a:off x="914400" y="4526279"/>
            <a:ext cx="73152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1" lang="en-US" sz="1100" u="none" cap="none" strike="noStrike">
                <a:solidFill>
                  <a:srgbClr val="36454F"/>
                </a:solidFill>
                <a:latin typeface="Calibri"/>
                <a:ea typeface="Calibri"/>
                <a:cs typeface="Calibri"/>
                <a:sym typeface="Calibri"/>
              </a:rPr>
              <a:t>WHY: Prevents common structure mistakes that break plugin loading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804" name="Shape 804"/>
        <p:cNvGrpSpPr/>
        <p:nvPr/>
      </p:nvGrpSpPr>
      <p:grpSpPr>
        <a:xfrm>
          <a:off x="0" y="0"/>
          <a:ext cx="0" cy="0"/>
          <a:chOff x="0" y="0"/>
          <a:chExt cx="0" cy="0"/>
        </a:xfrm>
      </p:grpSpPr>
      <p:sp>
        <p:nvSpPr>
          <p:cNvPr id="805" name="Google Shape;805;p64"/>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Distribution Best Practices</a:t>
            </a:r>
            <a:endParaRPr b="0" i="0" sz="1400" u="none" cap="none" strike="noStrike">
              <a:solidFill>
                <a:srgbClr val="000000"/>
              </a:solidFill>
              <a:latin typeface="Arial"/>
              <a:ea typeface="Arial"/>
              <a:cs typeface="Arial"/>
              <a:sym typeface="Arial"/>
            </a:endParaRPr>
          </a:p>
        </p:txBody>
      </p:sp>
      <p:sp>
        <p:nvSpPr>
          <p:cNvPr id="806" name="Google Shape;806;p64"/>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Before Distributing</a:t>
            </a:r>
            <a:endParaRPr b="0" i="0" sz="1400" u="none" cap="none" strike="noStrike">
              <a:solidFill>
                <a:srgbClr val="000000"/>
              </a:solidFill>
              <a:latin typeface="Arial"/>
              <a:ea typeface="Arial"/>
              <a:cs typeface="Arial"/>
              <a:sym typeface="Arial"/>
            </a:endParaRPr>
          </a:p>
        </p:txBody>
      </p:sp>
      <p:sp>
        <p:nvSpPr>
          <p:cNvPr id="807" name="Google Shape;807;p64"/>
          <p:cNvSpPr txBox="1"/>
          <p:nvPr/>
        </p:nvSpPr>
        <p:spPr>
          <a:xfrm>
            <a:off x="731520" y="1645920"/>
            <a:ext cx="7680960" cy="182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Document all dependencies and prerequisites clearly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Test with multiple team members to catch environment issues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Version your plugin using semantic versioning (1.0.0, 1.1.0, 2.0.0)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Add license information to clarify usage rights</a:t>
            </a:r>
            <a:endParaRPr b="0" i="0" sz="1400" u="none" cap="none" strike="noStrike">
              <a:solidFill>
                <a:srgbClr val="000000"/>
              </a:solidFill>
              <a:latin typeface="Arial"/>
              <a:ea typeface="Arial"/>
              <a:cs typeface="Arial"/>
              <a:sym typeface="Arial"/>
            </a:endParaRPr>
          </a:p>
        </p:txBody>
      </p:sp>
      <p:sp>
        <p:nvSpPr>
          <p:cNvPr id="808" name="Google Shape;808;p64"/>
          <p:cNvSpPr txBox="1"/>
          <p:nvPr/>
        </p:nvSpPr>
        <p:spPr>
          <a:xfrm>
            <a:off x="731520" y="285750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Marketplace Setup</a:t>
            </a:r>
            <a:endParaRPr b="0" i="0" sz="1400" u="none" cap="none" strike="noStrike">
              <a:solidFill>
                <a:srgbClr val="000000"/>
              </a:solidFill>
              <a:latin typeface="Arial"/>
              <a:ea typeface="Arial"/>
              <a:cs typeface="Arial"/>
              <a:sym typeface="Arial"/>
            </a:endParaRPr>
          </a:p>
        </p:txBody>
      </p:sp>
      <p:sp>
        <p:nvSpPr>
          <p:cNvPr id="809" name="Google Shape;809;p64"/>
          <p:cNvSpPr txBox="1"/>
          <p:nvPr/>
        </p:nvSpPr>
        <p:spPr>
          <a:xfrm>
            <a:off x="731520" y="3314700"/>
            <a:ext cx="7680960" cy="182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Use clear, descriptive plugin names (avoid generic names like 'utils')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Write concise descriptions that explain what the plugin does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Link to homepage or repository for detailed documentation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Keep marketplace.json metadata up to date</a:t>
            </a:r>
            <a:endParaRPr b="0" i="0" sz="1400" u="none" cap="none" strike="noStrike">
              <a:solidFill>
                <a:srgbClr val="000000"/>
              </a:solidFill>
              <a:latin typeface="Arial"/>
              <a:ea typeface="Arial"/>
              <a:cs typeface="Arial"/>
              <a:sym typeface="Arial"/>
            </a:endParaRPr>
          </a:p>
        </p:txBody>
      </p:sp>
      <p:sp>
        <p:nvSpPr>
          <p:cNvPr id="810" name="Google Shape;810;p64"/>
          <p:cNvSpPr/>
          <p:nvPr/>
        </p:nvSpPr>
        <p:spPr>
          <a:xfrm>
            <a:off x="6906491" y="1330036"/>
            <a:ext cx="1780308" cy="3059084"/>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Calibri"/>
                <a:ea typeface="Calibri"/>
                <a:cs typeface="Calibri"/>
                <a:sym typeface="Calibri"/>
              </a:rPr>
              <a:t>Good documentation prevents support requests and helps users adopt your plugin successfully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815" name="Shape 815"/>
        <p:cNvGrpSpPr/>
        <p:nvPr/>
      </p:nvGrpSpPr>
      <p:grpSpPr>
        <a:xfrm>
          <a:off x="0" y="0"/>
          <a:ext cx="0" cy="0"/>
          <a:chOff x="0" y="0"/>
          <a:chExt cx="0" cy="0"/>
        </a:xfrm>
      </p:grpSpPr>
      <p:sp>
        <p:nvSpPr>
          <p:cNvPr id="816" name="Google Shape;816;p65"/>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Troubleshooting Common Issues</a:t>
            </a:r>
            <a:endParaRPr b="0" i="0" sz="1400" u="none" cap="none" strike="noStrike">
              <a:solidFill>
                <a:srgbClr val="000000"/>
              </a:solidFill>
              <a:latin typeface="Arial"/>
              <a:ea typeface="Arial"/>
              <a:cs typeface="Arial"/>
              <a:sym typeface="Arial"/>
            </a:endParaRPr>
          </a:p>
        </p:txBody>
      </p:sp>
      <p:sp>
        <p:nvSpPr>
          <p:cNvPr id="817" name="Google Shape;817;p65"/>
          <p:cNvSpPr/>
          <p:nvPr/>
        </p:nvSpPr>
        <p:spPr>
          <a:xfrm>
            <a:off x="731520" y="1280160"/>
            <a:ext cx="320040" cy="320040"/>
          </a:xfrm>
          <a:prstGeom prst="ellipse">
            <a:avLst/>
          </a:prstGeom>
          <a:solidFill>
            <a:srgbClr val="D97757"/>
          </a:solidFill>
          <a:ln>
            <a:noFill/>
          </a:ln>
        </p:spPr>
        <p:txBody>
          <a:bodyPr anchorCtr="0" anchor="ctr" bIns="45700" lIns="54850"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chemeClr val="lt1"/>
                </a:solidFill>
                <a:latin typeface="Calibri"/>
                <a:ea typeface="Calibri"/>
                <a:cs typeface="Calibri"/>
                <a:sym typeface="Calibri"/>
              </a:rPr>
              <a:t>?</a:t>
            </a:r>
            <a:endParaRPr b="0" i="0" sz="1800" u="none" cap="none" strike="noStrike">
              <a:solidFill>
                <a:schemeClr val="lt1"/>
              </a:solidFill>
              <a:latin typeface="Calibri"/>
              <a:ea typeface="Calibri"/>
              <a:cs typeface="Calibri"/>
              <a:sym typeface="Calibri"/>
            </a:endParaRPr>
          </a:p>
        </p:txBody>
      </p:sp>
      <p:sp>
        <p:nvSpPr>
          <p:cNvPr id="818" name="Google Shape;818;p65"/>
          <p:cNvSpPr txBox="1"/>
          <p:nvPr/>
        </p:nvSpPr>
        <p:spPr>
          <a:xfrm>
            <a:off x="1188720" y="1280160"/>
            <a:ext cx="3200400" cy="3200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Plugin not loading</a:t>
            </a:r>
            <a:endParaRPr b="0" i="0" sz="1400" u="none" cap="none" strike="noStrike">
              <a:solidFill>
                <a:srgbClr val="000000"/>
              </a:solidFill>
              <a:latin typeface="Arial"/>
              <a:ea typeface="Arial"/>
              <a:cs typeface="Arial"/>
              <a:sym typeface="Arial"/>
            </a:endParaRPr>
          </a:p>
        </p:txBody>
      </p:sp>
      <p:sp>
        <p:nvSpPr>
          <p:cNvPr id="819" name="Google Shape;819;p65"/>
          <p:cNvSpPr txBox="1"/>
          <p:nvPr/>
        </p:nvSpPr>
        <p:spPr>
          <a:xfrm>
            <a:off x="4572000" y="1280160"/>
            <a:ext cx="3840480" cy="3200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6454F"/>
                </a:solidFill>
                <a:latin typeface="Calibri"/>
                <a:ea typeface="Calibri"/>
                <a:cs typeface="Calibri"/>
                <a:sym typeface="Calibri"/>
              </a:rPr>
              <a:t>Check: Structure (directories at root, not inside .claude-plugin/)</a:t>
            </a:r>
            <a:endParaRPr b="0" i="0" sz="1400" u="none" cap="none" strike="noStrike">
              <a:solidFill>
                <a:srgbClr val="000000"/>
              </a:solidFill>
              <a:latin typeface="Arial"/>
              <a:ea typeface="Arial"/>
              <a:cs typeface="Arial"/>
              <a:sym typeface="Arial"/>
            </a:endParaRPr>
          </a:p>
        </p:txBody>
      </p:sp>
      <p:sp>
        <p:nvSpPr>
          <p:cNvPr id="820" name="Google Shape;820;p65"/>
          <p:cNvSpPr/>
          <p:nvPr/>
        </p:nvSpPr>
        <p:spPr>
          <a:xfrm>
            <a:off x="731520" y="1874519"/>
            <a:ext cx="320040" cy="320040"/>
          </a:xfrm>
          <a:prstGeom prst="ellipse">
            <a:avLst/>
          </a:prstGeom>
          <a:solidFill>
            <a:srgbClr val="D97757"/>
          </a:solidFill>
          <a:ln>
            <a:noFill/>
          </a:ln>
        </p:spPr>
        <p:txBody>
          <a:bodyPr anchorCtr="0" anchor="ctr" bIns="45700" lIns="54850"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chemeClr val="lt1"/>
                </a:solidFill>
                <a:latin typeface="Calibri"/>
                <a:ea typeface="Calibri"/>
                <a:cs typeface="Calibri"/>
                <a:sym typeface="Calibri"/>
              </a:rPr>
              <a:t>?</a:t>
            </a:r>
            <a:endParaRPr b="0" i="0" sz="1800" u="none" cap="none" strike="noStrike">
              <a:solidFill>
                <a:schemeClr val="lt1"/>
              </a:solidFill>
              <a:latin typeface="Calibri"/>
              <a:ea typeface="Calibri"/>
              <a:cs typeface="Calibri"/>
              <a:sym typeface="Calibri"/>
            </a:endParaRPr>
          </a:p>
        </p:txBody>
      </p:sp>
      <p:sp>
        <p:nvSpPr>
          <p:cNvPr id="821" name="Google Shape;821;p65"/>
          <p:cNvSpPr txBox="1"/>
          <p:nvPr/>
        </p:nvSpPr>
        <p:spPr>
          <a:xfrm>
            <a:off x="1188720" y="1874519"/>
            <a:ext cx="3200400" cy="3200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Command not appearing</a:t>
            </a:r>
            <a:endParaRPr b="0" i="0" sz="1400" u="none" cap="none" strike="noStrike">
              <a:solidFill>
                <a:srgbClr val="000000"/>
              </a:solidFill>
              <a:latin typeface="Arial"/>
              <a:ea typeface="Arial"/>
              <a:cs typeface="Arial"/>
              <a:sym typeface="Arial"/>
            </a:endParaRPr>
          </a:p>
        </p:txBody>
      </p:sp>
      <p:sp>
        <p:nvSpPr>
          <p:cNvPr id="822" name="Google Shape;822;p65"/>
          <p:cNvSpPr txBox="1"/>
          <p:nvPr/>
        </p:nvSpPr>
        <p:spPr>
          <a:xfrm>
            <a:off x="4572000" y="1874519"/>
            <a:ext cx="3840480" cy="3200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6454F"/>
                </a:solidFill>
                <a:latin typeface="Calibri"/>
                <a:ea typeface="Calibri"/>
                <a:cs typeface="Calibri"/>
                <a:sym typeface="Calibri"/>
              </a:rPr>
              <a:t>Check: Restart Claude Code, verify manifest name matches directory</a:t>
            </a:r>
            <a:endParaRPr b="0" i="0" sz="1400" u="none" cap="none" strike="noStrike">
              <a:solidFill>
                <a:srgbClr val="000000"/>
              </a:solidFill>
              <a:latin typeface="Arial"/>
              <a:ea typeface="Arial"/>
              <a:cs typeface="Arial"/>
              <a:sym typeface="Arial"/>
            </a:endParaRPr>
          </a:p>
        </p:txBody>
      </p:sp>
      <p:sp>
        <p:nvSpPr>
          <p:cNvPr id="823" name="Google Shape;823;p65"/>
          <p:cNvSpPr/>
          <p:nvPr/>
        </p:nvSpPr>
        <p:spPr>
          <a:xfrm>
            <a:off x="731520" y="2468879"/>
            <a:ext cx="320040" cy="320040"/>
          </a:xfrm>
          <a:prstGeom prst="ellipse">
            <a:avLst/>
          </a:prstGeom>
          <a:solidFill>
            <a:srgbClr val="D97757"/>
          </a:solidFill>
          <a:ln>
            <a:noFill/>
          </a:ln>
        </p:spPr>
        <p:txBody>
          <a:bodyPr anchorCtr="0" anchor="ctr" bIns="45700" lIns="54850"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chemeClr val="lt1"/>
                </a:solidFill>
                <a:latin typeface="Calibri"/>
                <a:ea typeface="Calibri"/>
                <a:cs typeface="Calibri"/>
                <a:sym typeface="Calibri"/>
              </a:rPr>
              <a:t>?</a:t>
            </a:r>
            <a:endParaRPr b="0" i="0" sz="1800" u="none" cap="none" strike="noStrike">
              <a:solidFill>
                <a:schemeClr val="lt1"/>
              </a:solidFill>
              <a:latin typeface="Calibri"/>
              <a:ea typeface="Calibri"/>
              <a:cs typeface="Calibri"/>
              <a:sym typeface="Calibri"/>
            </a:endParaRPr>
          </a:p>
        </p:txBody>
      </p:sp>
      <p:sp>
        <p:nvSpPr>
          <p:cNvPr id="824" name="Google Shape;824;p65"/>
          <p:cNvSpPr txBox="1"/>
          <p:nvPr/>
        </p:nvSpPr>
        <p:spPr>
          <a:xfrm>
            <a:off x="1188720" y="2468879"/>
            <a:ext cx="3200400" cy="3200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Hooks not triggering</a:t>
            </a:r>
            <a:endParaRPr b="0" i="0" sz="1400" u="none" cap="none" strike="noStrike">
              <a:solidFill>
                <a:srgbClr val="000000"/>
              </a:solidFill>
              <a:latin typeface="Arial"/>
              <a:ea typeface="Arial"/>
              <a:cs typeface="Arial"/>
              <a:sym typeface="Arial"/>
            </a:endParaRPr>
          </a:p>
        </p:txBody>
      </p:sp>
      <p:sp>
        <p:nvSpPr>
          <p:cNvPr id="825" name="Google Shape;825;p65"/>
          <p:cNvSpPr txBox="1"/>
          <p:nvPr/>
        </p:nvSpPr>
        <p:spPr>
          <a:xfrm>
            <a:off x="4572000" y="2468879"/>
            <a:ext cx="3840480" cy="3200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6454F"/>
                </a:solidFill>
                <a:latin typeface="Calibri"/>
                <a:ea typeface="Calibri"/>
                <a:cs typeface="Calibri"/>
                <a:sym typeface="Calibri"/>
              </a:rPr>
              <a:t>Check: hooks.json format, matcher patterns, hook type spelling</a:t>
            </a:r>
            <a:endParaRPr b="0" i="0" sz="1400" u="none" cap="none" strike="noStrike">
              <a:solidFill>
                <a:srgbClr val="000000"/>
              </a:solidFill>
              <a:latin typeface="Arial"/>
              <a:ea typeface="Arial"/>
              <a:cs typeface="Arial"/>
              <a:sym typeface="Arial"/>
            </a:endParaRPr>
          </a:p>
        </p:txBody>
      </p:sp>
      <p:sp>
        <p:nvSpPr>
          <p:cNvPr id="826" name="Google Shape;826;p65"/>
          <p:cNvSpPr/>
          <p:nvPr/>
        </p:nvSpPr>
        <p:spPr>
          <a:xfrm>
            <a:off x="731520" y="3063239"/>
            <a:ext cx="320040" cy="320040"/>
          </a:xfrm>
          <a:prstGeom prst="ellipse">
            <a:avLst/>
          </a:prstGeom>
          <a:solidFill>
            <a:srgbClr val="D97757"/>
          </a:solidFill>
          <a:ln>
            <a:noFill/>
          </a:ln>
        </p:spPr>
        <p:txBody>
          <a:bodyPr anchorCtr="0" anchor="ctr" bIns="45700" lIns="54850"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chemeClr val="lt1"/>
                </a:solidFill>
                <a:latin typeface="Calibri"/>
                <a:ea typeface="Calibri"/>
                <a:cs typeface="Calibri"/>
                <a:sym typeface="Calibri"/>
              </a:rPr>
              <a:t>?</a:t>
            </a:r>
            <a:endParaRPr b="0" i="0" sz="1800" u="none" cap="none" strike="noStrike">
              <a:solidFill>
                <a:schemeClr val="lt1"/>
              </a:solidFill>
              <a:latin typeface="Calibri"/>
              <a:ea typeface="Calibri"/>
              <a:cs typeface="Calibri"/>
              <a:sym typeface="Calibri"/>
            </a:endParaRPr>
          </a:p>
        </p:txBody>
      </p:sp>
      <p:sp>
        <p:nvSpPr>
          <p:cNvPr id="827" name="Google Shape;827;p65"/>
          <p:cNvSpPr txBox="1"/>
          <p:nvPr/>
        </p:nvSpPr>
        <p:spPr>
          <a:xfrm>
            <a:off x="1188720" y="3063239"/>
            <a:ext cx="3200400" cy="3200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Version conflicts</a:t>
            </a:r>
            <a:endParaRPr b="0" i="0" sz="1400" u="none" cap="none" strike="noStrike">
              <a:solidFill>
                <a:srgbClr val="000000"/>
              </a:solidFill>
              <a:latin typeface="Arial"/>
              <a:ea typeface="Arial"/>
              <a:cs typeface="Arial"/>
              <a:sym typeface="Arial"/>
            </a:endParaRPr>
          </a:p>
        </p:txBody>
      </p:sp>
      <p:sp>
        <p:nvSpPr>
          <p:cNvPr id="828" name="Google Shape;828;p65"/>
          <p:cNvSpPr txBox="1"/>
          <p:nvPr/>
        </p:nvSpPr>
        <p:spPr>
          <a:xfrm>
            <a:off x="4572000" y="3063239"/>
            <a:ext cx="3840480" cy="3200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6454F"/>
                </a:solidFill>
                <a:latin typeface="Calibri"/>
                <a:ea typeface="Calibri"/>
                <a:cs typeface="Calibri"/>
                <a:sym typeface="Calibri"/>
              </a:rPr>
              <a:t>Check: /plugin → Errors tab for detailed error messages</a:t>
            </a:r>
            <a:endParaRPr b="0" i="0" sz="1400" u="none" cap="none" strike="noStrike">
              <a:solidFill>
                <a:srgbClr val="000000"/>
              </a:solidFill>
              <a:latin typeface="Arial"/>
              <a:ea typeface="Arial"/>
              <a:cs typeface="Arial"/>
              <a:sym typeface="Arial"/>
            </a:endParaRPr>
          </a:p>
        </p:txBody>
      </p:sp>
      <p:sp>
        <p:nvSpPr>
          <p:cNvPr id="829" name="Google Shape;829;p65"/>
          <p:cNvSpPr/>
          <p:nvPr/>
        </p:nvSpPr>
        <p:spPr>
          <a:xfrm>
            <a:off x="731520" y="3657599"/>
            <a:ext cx="320040" cy="320040"/>
          </a:xfrm>
          <a:prstGeom prst="ellipse">
            <a:avLst/>
          </a:prstGeom>
          <a:solidFill>
            <a:srgbClr val="D97757"/>
          </a:solidFill>
          <a:ln>
            <a:noFill/>
          </a:ln>
        </p:spPr>
        <p:txBody>
          <a:bodyPr anchorCtr="0" anchor="ctr" bIns="45700" lIns="54850"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chemeClr val="lt1"/>
                </a:solidFill>
                <a:latin typeface="Calibri"/>
                <a:ea typeface="Calibri"/>
                <a:cs typeface="Calibri"/>
                <a:sym typeface="Calibri"/>
              </a:rPr>
              <a:t>?</a:t>
            </a:r>
            <a:endParaRPr b="0" i="0" sz="1800" u="none" cap="none" strike="noStrike">
              <a:solidFill>
                <a:schemeClr val="lt1"/>
              </a:solidFill>
              <a:latin typeface="Calibri"/>
              <a:ea typeface="Calibri"/>
              <a:cs typeface="Calibri"/>
              <a:sym typeface="Calibri"/>
            </a:endParaRPr>
          </a:p>
        </p:txBody>
      </p:sp>
      <p:sp>
        <p:nvSpPr>
          <p:cNvPr id="830" name="Google Shape;830;p65"/>
          <p:cNvSpPr txBox="1"/>
          <p:nvPr/>
        </p:nvSpPr>
        <p:spPr>
          <a:xfrm>
            <a:off x="1188720" y="3657599"/>
            <a:ext cx="3200400" cy="3200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413"/>
                </a:solidFill>
                <a:latin typeface="Calibri"/>
                <a:ea typeface="Calibri"/>
                <a:cs typeface="Calibri"/>
                <a:sym typeface="Calibri"/>
              </a:rPr>
              <a:t>Marketplace not found</a:t>
            </a:r>
            <a:endParaRPr b="0" i="0" sz="1400" u="none" cap="none" strike="noStrike">
              <a:solidFill>
                <a:srgbClr val="000000"/>
              </a:solidFill>
              <a:latin typeface="Arial"/>
              <a:ea typeface="Arial"/>
              <a:cs typeface="Arial"/>
              <a:sym typeface="Arial"/>
            </a:endParaRPr>
          </a:p>
        </p:txBody>
      </p:sp>
      <p:sp>
        <p:nvSpPr>
          <p:cNvPr id="831" name="Google Shape;831;p65"/>
          <p:cNvSpPr txBox="1"/>
          <p:nvPr/>
        </p:nvSpPr>
        <p:spPr>
          <a:xfrm>
            <a:off x="4572000" y="3657599"/>
            <a:ext cx="3840480" cy="3200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6454F"/>
                </a:solidFill>
                <a:latin typeface="Calibri"/>
                <a:ea typeface="Calibri"/>
                <a:cs typeface="Calibri"/>
                <a:sym typeface="Calibri"/>
              </a:rPr>
              <a:t>Check: URL/path correctness, network access for remote marketplaces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836" name="Shape 836"/>
        <p:cNvGrpSpPr/>
        <p:nvPr/>
      </p:nvGrpSpPr>
      <p:grpSpPr>
        <a:xfrm>
          <a:off x="0" y="0"/>
          <a:ext cx="0" cy="0"/>
          <a:chOff x="0" y="0"/>
          <a:chExt cx="0" cy="0"/>
        </a:xfrm>
      </p:grpSpPr>
      <p:sp>
        <p:nvSpPr>
          <p:cNvPr id="837" name="Google Shape;837;p66"/>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Debugging Workflow</a:t>
            </a:r>
            <a:endParaRPr b="0" i="0" sz="1400" u="none" cap="none" strike="noStrike">
              <a:solidFill>
                <a:srgbClr val="000000"/>
              </a:solidFill>
              <a:latin typeface="Arial"/>
              <a:ea typeface="Arial"/>
              <a:cs typeface="Arial"/>
              <a:sym typeface="Arial"/>
            </a:endParaRPr>
          </a:p>
        </p:txBody>
      </p:sp>
      <p:sp>
        <p:nvSpPr>
          <p:cNvPr id="838" name="Google Shape;838;p66"/>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Step-by-Step Debugging</a:t>
            </a:r>
            <a:endParaRPr b="0" i="0" sz="1400" u="none" cap="none" strike="noStrike">
              <a:solidFill>
                <a:srgbClr val="000000"/>
              </a:solidFill>
              <a:latin typeface="Arial"/>
              <a:ea typeface="Arial"/>
              <a:cs typeface="Arial"/>
              <a:sym typeface="Arial"/>
            </a:endParaRPr>
          </a:p>
        </p:txBody>
      </p:sp>
      <p:sp>
        <p:nvSpPr>
          <p:cNvPr id="839" name="Google Shape;839;p66"/>
          <p:cNvSpPr txBox="1"/>
          <p:nvPr/>
        </p:nvSpPr>
        <p:spPr>
          <a:xfrm>
            <a:off x="914395" y="1648495"/>
            <a:ext cx="7680900" cy="1169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1. Check /plugin → Errors tab for specific error messages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2. Verify plugin structure: directories at root, plugin.json exists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3. Test with --plugin-dir flag to isolate issues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4. Disable other plugins to rule out conflicts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5. Check docs.claude.com/en/troubleshooting for known issues</a:t>
            </a:r>
            <a:endParaRPr b="0" i="0" sz="1400" u="none" cap="none" strike="noStrike">
              <a:solidFill>
                <a:srgbClr val="000000"/>
              </a:solidFill>
              <a:latin typeface="Arial"/>
              <a:ea typeface="Arial"/>
              <a:cs typeface="Arial"/>
              <a:sym typeface="Arial"/>
            </a:endParaRPr>
          </a:p>
        </p:txBody>
      </p:sp>
      <p:sp>
        <p:nvSpPr>
          <p:cNvPr id="840" name="Google Shape;840;p66"/>
          <p:cNvSpPr txBox="1"/>
          <p:nvPr/>
        </p:nvSpPr>
        <p:spPr>
          <a:xfrm>
            <a:off x="731520" y="2912224"/>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Useful Commands for Debugging</a:t>
            </a:r>
            <a:endParaRPr b="0" i="0" sz="1400" u="none" cap="none" strike="noStrike">
              <a:solidFill>
                <a:srgbClr val="000000"/>
              </a:solidFill>
              <a:latin typeface="Arial"/>
              <a:ea typeface="Arial"/>
              <a:cs typeface="Arial"/>
              <a:sym typeface="Arial"/>
            </a:endParaRPr>
          </a:p>
        </p:txBody>
      </p:sp>
      <p:sp>
        <p:nvSpPr>
          <p:cNvPr id="841" name="Google Shape;841;p66"/>
          <p:cNvSpPr/>
          <p:nvPr/>
        </p:nvSpPr>
        <p:spPr>
          <a:xfrm>
            <a:off x="914400" y="3369424"/>
            <a:ext cx="5354700" cy="274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Consolas"/>
                <a:ea typeface="Consolas"/>
                <a:cs typeface="Consolas"/>
                <a:sym typeface="Consolas"/>
              </a:rPr>
              <a:t>claude --plugin-dir ./my-plugin  # Test without installing</a:t>
            </a:r>
            <a:endParaRPr b="0" i="0" sz="1400" u="none" cap="none" strike="noStrike">
              <a:solidFill>
                <a:srgbClr val="000000"/>
              </a:solidFill>
              <a:latin typeface="Arial"/>
              <a:ea typeface="Arial"/>
              <a:cs typeface="Arial"/>
              <a:sym typeface="Arial"/>
            </a:endParaRPr>
          </a:p>
        </p:txBody>
      </p:sp>
      <p:sp>
        <p:nvSpPr>
          <p:cNvPr id="842" name="Google Shape;842;p66"/>
          <p:cNvSpPr/>
          <p:nvPr/>
        </p:nvSpPr>
        <p:spPr>
          <a:xfrm>
            <a:off x="914400" y="3833551"/>
            <a:ext cx="5354700" cy="274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Consolas"/>
                <a:ea typeface="Consolas"/>
                <a:cs typeface="Consolas"/>
                <a:sym typeface="Consolas"/>
              </a:rPr>
              <a:t>/plugin  # Check Errors tab</a:t>
            </a:r>
            <a:endParaRPr b="0" i="0" sz="1400" u="none" cap="none" strike="noStrike">
              <a:solidFill>
                <a:srgbClr val="000000"/>
              </a:solidFill>
              <a:latin typeface="Arial"/>
              <a:ea typeface="Arial"/>
              <a:cs typeface="Arial"/>
              <a:sym typeface="Arial"/>
            </a:endParaRPr>
          </a:p>
        </p:txBody>
      </p:sp>
      <p:sp>
        <p:nvSpPr>
          <p:cNvPr id="843" name="Google Shape;843;p66"/>
          <p:cNvSpPr/>
          <p:nvPr/>
        </p:nvSpPr>
        <p:spPr>
          <a:xfrm>
            <a:off x="914400" y="4282440"/>
            <a:ext cx="5354700" cy="274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Consolas"/>
                <a:ea typeface="Consolas"/>
                <a:cs typeface="Consolas"/>
                <a:sym typeface="Consolas"/>
              </a:rPr>
              <a:t>/help  # Verify commands appear</a:t>
            </a:r>
            <a:endParaRPr b="0" i="0" sz="1400" u="none" cap="none" strike="noStrike">
              <a:solidFill>
                <a:srgbClr val="000000"/>
              </a:solidFill>
              <a:latin typeface="Arial"/>
              <a:ea typeface="Arial"/>
              <a:cs typeface="Arial"/>
              <a:sym typeface="Arial"/>
            </a:endParaRPr>
          </a:p>
        </p:txBody>
      </p:sp>
      <p:sp>
        <p:nvSpPr>
          <p:cNvPr id="844" name="Google Shape;844;p66"/>
          <p:cNvSpPr/>
          <p:nvPr/>
        </p:nvSpPr>
        <p:spPr>
          <a:xfrm>
            <a:off x="6906491" y="1330036"/>
            <a:ext cx="1780308" cy="3059084"/>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Calibri"/>
                <a:ea typeface="Calibri"/>
                <a:cs typeface="Calibri"/>
                <a:sym typeface="Calibri"/>
              </a:rPr>
              <a:t>When reporting issues: include plugin structure, error messages, and Claude Code version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849" name="Shape 849"/>
        <p:cNvGrpSpPr/>
        <p:nvPr/>
      </p:nvGrpSpPr>
      <p:grpSpPr>
        <a:xfrm>
          <a:off x="0" y="0"/>
          <a:ext cx="0" cy="0"/>
          <a:chOff x="0" y="0"/>
          <a:chExt cx="0" cy="0"/>
        </a:xfrm>
      </p:grpSpPr>
      <p:sp>
        <p:nvSpPr>
          <p:cNvPr id="850" name="Google Shape;850;p67"/>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Resources &amp; Next Steps</a:t>
            </a:r>
            <a:endParaRPr b="0" i="0" sz="1400" u="none" cap="none" strike="noStrike">
              <a:solidFill>
                <a:srgbClr val="000000"/>
              </a:solidFill>
              <a:latin typeface="Arial"/>
              <a:ea typeface="Arial"/>
              <a:cs typeface="Arial"/>
              <a:sym typeface="Arial"/>
            </a:endParaRPr>
          </a:p>
        </p:txBody>
      </p:sp>
      <p:sp>
        <p:nvSpPr>
          <p:cNvPr id="851" name="Google Shape;851;p67"/>
          <p:cNvSpPr txBox="1"/>
          <p:nvPr/>
        </p:nvSpPr>
        <p:spPr>
          <a:xfrm>
            <a:off x="731520" y="1188720"/>
            <a:ext cx="36576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 Documentation</a:t>
            </a:r>
            <a:endParaRPr b="0" i="0" sz="1400" u="none" cap="none" strike="noStrike">
              <a:solidFill>
                <a:srgbClr val="000000"/>
              </a:solidFill>
              <a:latin typeface="Arial"/>
              <a:ea typeface="Arial"/>
              <a:cs typeface="Arial"/>
              <a:sym typeface="Arial"/>
            </a:endParaRPr>
          </a:p>
        </p:txBody>
      </p:sp>
      <p:sp>
        <p:nvSpPr>
          <p:cNvPr id="852" name="Google Shape;852;p67"/>
          <p:cNvSpPr txBox="1"/>
          <p:nvPr/>
        </p:nvSpPr>
        <p:spPr>
          <a:xfrm>
            <a:off x="914400" y="1645920"/>
            <a:ext cx="34746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lang="en-US" sz="1200" u="sng">
                <a:solidFill>
                  <a:srgbClr val="6A9BCC"/>
                </a:solidFill>
                <a:latin typeface="Calibri"/>
                <a:ea typeface="Calibri"/>
                <a:cs typeface="Calibri"/>
                <a:sym typeface="Calibri"/>
              </a:rPr>
              <a:t>https://code.claude.com/docs/en/plugins</a:t>
            </a:r>
            <a:endParaRPr b="0" i="0" sz="1400" u="none" cap="none" strike="noStrike">
              <a:solidFill>
                <a:srgbClr val="000000"/>
              </a:solidFill>
              <a:latin typeface="Arial"/>
              <a:ea typeface="Arial"/>
              <a:cs typeface="Arial"/>
              <a:sym typeface="Arial"/>
            </a:endParaRPr>
          </a:p>
        </p:txBody>
      </p:sp>
      <p:sp>
        <p:nvSpPr>
          <p:cNvPr id="853" name="Google Shape;853;p67"/>
          <p:cNvSpPr txBox="1"/>
          <p:nvPr/>
        </p:nvSpPr>
        <p:spPr>
          <a:xfrm>
            <a:off x="914400" y="1965950"/>
            <a:ext cx="37335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lang="en-US" sz="1200" u="sng">
                <a:solidFill>
                  <a:srgbClr val="6A9BCC"/>
                </a:solidFill>
                <a:latin typeface="Calibri"/>
                <a:ea typeface="Calibri"/>
                <a:cs typeface="Calibri"/>
                <a:sym typeface="Calibri"/>
              </a:rPr>
              <a:t>https://code.claude.com/docs/en/plugin-marketplace</a:t>
            </a:r>
            <a:r>
              <a:rPr lang="en-US" sz="1200" u="sng">
                <a:solidFill>
                  <a:srgbClr val="6A9BCC"/>
                </a:solidFill>
                <a:latin typeface="Calibri"/>
                <a:ea typeface="Calibri"/>
                <a:cs typeface="Calibri"/>
                <a:sym typeface="Calibri"/>
              </a:rPr>
              <a:t>s</a:t>
            </a:r>
            <a:endParaRPr b="0" i="0" sz="1400" u="none" cap="none" strike="noStrike">
              <a:solidFill>
                <a:srgbClr val="000000"/>
              </a:solidFill>
              <a:latin typeface="Arial"/>
              <a:ea typeface="Arial"/>
              <a:cs typeface="Arial"/>
              <a:sym typeface="Arial"/>
            </a:endParaRPr>
          </a:p>
        </p:txBody>
      </p:sp>
      <p:sp>
        <p:nvSpPr>
          <p:cNvPr id="854" name="Google Shape;854;p67"/>
          <p:cNvSpPr txBox="1"/>
          <p:nvPr/>
        </p:nvSpPr>
        <p:spPr>
          <a:xfrm>
            <a:off x="914400" y="2286000"/>
            <a:ext cx="34746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lang="en-US" sz="1200" u="sng">
                <a:solidFill>
                  <a:srgbClr val="6A9BCC"/>
                </a:solidFill>
                <a:latin typeface="Calibri"/>
                <a:ea typeface="Calibri"/>
                <a:cs typeface="Calibri"/>
                <a:sym typeface="Calibri"/>
              </a:rPr>
              <a:t>https://code.claude.com/docs/en/skills</a:t>
            </a:r>
            <a:endParaRPr b="0" i="0" sz="1400" u="none" cap="none" strike="noStrike">
              <a:solidFill>
                <a:srgbClr val="000000"/>
              </a:solidFill>
              <a:latin typeface="Arial"/>
              <a:ea typeface="Arial"/>
              <a:cs typeface="Arial"/>
              <a:sym typeface="Arial"/>
            </a:endParaRPr>
          </a:p>
        </p:txBody>
      </p:sp>
      <p:sp>
        <p:nvSpPr>
          <p:cNvPr id="855" name="Google Shape;855;p67"/>
          <p:cNvSpPr txBox="1"/>
          <p:nvPr/>
        </p:nvSpPr>
        <p:spPr>
          <a:xfrm>
            <a:off x="914400" y="2606040"/>
            <a:ext cx="34746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lang="en-US" sz="1200" u="sng">
                <a:solidFill>
                  <a:srgbClr val="6A9BCC"/>
                </a:solidFill>
                <a:latin typeface="Calibri"/>
                <a:ea typeface="Calibri"/>
                <a:cs typeface="Calibri"/>
                <a:sym typeface="Calibri"/>
              </a:rPr>
              <a:t>https://code.claude.com/docs/en/mcp</a:t>
            </a:r>
            <a:endParaRPr b="0" i="0" sz="1400" u="none" cap="none" strike="noStrike">
              <a:solidFill>
                <a:srgbClr val="000000"/>
              </a:solidFill>
              <a:latin typeface="Arial"/>
              <a:ea typeface="Arial"/>
              <a:cs typeface="Arial"/>
              <a:sym typeface="Arial"/>
            </a:endParaRPr>
          </a:p>
        </p:txBody>
      </p:sp>
      <p:sp>
        <p:nvSpPr>
          <p:cNvPr id="856" name="Google Shape;856;p67"/>
          <p:cNvSpPr txBox="1"/>
          <p:nvPr/>
        </p:nvSpPr>
        <p:spPr>
          <a:xfrm>
            <a:off x="4920080" y="1188720"/>
            <a:ext cx="36576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 Next Steps</a:t>
            </a:r>
            <a:endParaRPr b="0" i="0" sz="1400" u="none" cap="none" strike="noStrike">
              <a:solidFill>
                <a:srgbClr val="000000"/>
              </a:solidFill>
              <a:latin typeface="Arial"/>
              <a:ea typeface="Arial"/>
              <a:cs typeface="Arial"/>
              <a:sym typeface="Arial"/>
            </a:endParaRPr>
          </a:p>
        </p:txBody>
      </p:sp>
      <p:sp>
        <p:nvSpPr>
          <p:cNvPr id="857" name="Google Shape;857;p67"/>
          <p:cNvSpPr txBox="1"/>
          <p:nvPr/>
        </p:nvSpPr>
        <p:spPr>
          <a:xfrm>
            <a:off x="5102960" y="1645920"/>
            <a:ext cx="3474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Explore the official marketplace</a:t>
            </a:r>
            <a:endParaRPr b="0" i="0" sz="1400" u="none" cap="none" strike="noStrike">
              <a:solidFill>
                <a:srgbClr val="000000"/>
              </a:solidFill>
              <a:latin typeface="Arial"/>
              <a:ea typeface="Arial"/>
              <a:cs typeface="Arial"/>
              <a:sym typeface="Arial"/>
            </a:endParaRPr>
          </a:p>
        </p:txBody>
      </p:sp>
      <p:sp>
        <p:nvSpPr>
          <p:cNvPr id="858" name="Google Shape;858;p67"/>
          <p:cNvSpPr txBox="1"/>
          <p:nvPr/>
        </p:nvSpPr>
        <p:spPr>
          <a:xfrm>
            <a:off x="5102960" y="2011680"/>
            <a:ext cx="3474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Create your first custom plugin</a:t>
            </a:r>
            <a:endParaRPr b="0" i="0" sz="1400" u="none" cap="none" strike="noStrike">
              <a:solidFill>
                <a:srgbClr val="000000"/>
              </a:solidFill>
              <a:latin typeface="Arial"/>
              <a:ea typeface="Arial"/>
              <a:cs typeface="Arial"/>
              <a:sym typeface="Arial"/>
            </a:endParaRPr>
          </a:p>
        </p:txBody>
      </p:sp>
      <p:sp>
        <p:nvSpPr>
          <p:cNvPr id="859" name="Google Shape;859;p67"/>
          <p:cNvSpPr txBox="1"/>
          <p:nvPr/>
        </p:nvSpPr>
        <p:spPr>
          <a:xfrm>
            <a:off x="5102960" y="2377440"/>
            <a:ext cx="3474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Convert existing configs to plugins</a:t>
            </a:r>
            <a:endParaRPr b="0" i="0" sz="1400" u="none" cap="none" strike="noStrike">
              <a:solidFill>
                <a:srgbClr val="000000"/>
              </a:solidFill>
              <a:latin typeface="Arial"/>
              <a:ea typeface="Arial"/>
              <a:cs typeface="Arial"/>
              <a:sym typeface="Arial"/>
            </a:endParaRPr>
          </a:p>
        </p:txBody>
      </p:sp>
      <p:sp>
        <p:nvSpPr>
          <p:cNvPr id="860" name="Google Shape;860;p67"/>
          <p:cNvSpPr txBox="1"/>
          <p:nvPr/>
        </p:nvSpPr>
        <p:spPr>
          <a:xfrm>
            <a:off x="5102960" y="2743200"/>
            <a:ext cx="3474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Set up a team marketplace</a:t>
            </a:r>
            <a:endParaRPr b="0" i="0" sz="1400" u="none" cap="none" strike="noStrike">
              <a:solidFill>
                <a:srgbClr val="000000"/>
              </a:solidFill>
              <a:latin typeface="Arial"/>
              <a:ea typeface="Arial"/>
              <a:cs typeface="Arial"/>
              <a:sym typeface="Arial"/>
            </a:endParaRPr>
          </a:p>
        </p:txBody>
      </p:sp>
      <p:sp>
        <p:nvSpPr>
          <p:cNvPr id="861" name="Google Shape;861;p67"/>
          <p:cNvSpPr txBox="1"/>
          <p:nvPr/>
        </p:nvSpPr>
        <p:spPr>
          <a:xfrm>
            <a:off x="5102960" y="3108960"/>
            <a:ext cx="3474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Contribute to the ecosystem</a:t>
            </a:r>
            <a:endParaRPr b="0" i="0" sz="1400" u="none" cap="none" strike="noStrike">
              <a:solidFill>
                <a:srgbClr val="000000"/>
              </a:solidFill>
              <a:latin typeface="Arial"/>
              <a:ea typeface="Arial"/>
              <a:cs typeface="Arial"/>
              <a:sym typeface="Arial"/>
            </a:endParaRPr>
          </a:p>
        </p:txBody>
      </p:sp>
      <p:sp>
        <p:nvSpPr>
          <p:cNvPr id="862" name="Google Shape;862;p67"/>
          <p:cNvSpPr/>
          <p:nvPr/>
        </p:nvSpPr>
        <p:spPr>
          <a:xfrm>
            <a:off x="914400" y="3840480"/>
            <a:ext cx="7315200" cy="731520"/>
          </a:xfrm>
          <a:prstGeom prst="roundRect">
            <a:avLst>
              <a:gd fmla="val 16667" name="adj"/>
            </a:avLst>
          </a:prstGeom>
          <a:solidFill>
            <a:srgbClr val="D97757"/>
          </a:solidFill>
          <a:ln cap="flat" cmpd="sng" w="25400">
            <a:solidFill>
              <a:srgbClr val="D97757"/>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Calibri"/>
                <a:ea typeface="Calibri"/>
                <a:cs typeface="Calibri"/>
                <a:sym typeface="Calibri"/>
              </a:rPr>
              <a:t>Start building! The plugin ecosystem grows with your contributions.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867" name="Shape 867"/>
        <p:cNvGrpSpPr/>
        <p:nvPr/>
      </p:nvGrpSpPr>
      <p:grpSpPr>
        <a:xfrm>
          <a:off x="0" y="0"/>
          <a:ext cx="0" cy="0"/>
          <a:chOff x="0" y="0"/>
          <a:chExt cx="0" cy="0"/>
        </a:xfrm>
      </p:grpSpPr>
      <p:sp>
        <p:nvSpPr>
          <p:cNvPr id="868" name="Google Shape;868;p68"/>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Case Study: Anthropic Internal Team</a:t>
            </a:r>
            <a:endParaRPr b="0" i="0" sz="1400" u="none" cap="none" strike="noStrike">
              <a:solidFill>
                <a:srgbClr val="000000"/>
              </a:solidFill>
              <a:latin typeface="Arial"/>
              <a:ea typeface="Arial"/>
              <a:cs typeface="Arial"/>
              <a:sym typeface="Arial"/>
            </a:endParaRPr>
          </a:p>
        </p:txBody>
      </p:sp>
      <p:sp>
        <p:nvSpPr>
          <p:cNvPr id="869" name="Google Shape;869;p68"/>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How Anthropic Uses Plugins Internally</a:t>
            </a:r>
            <a:endParaRPr b="0" i="0" sz="1400" u="none" cap="none" strike="noStrike">
              <a:solidFill>
                <a:srgbClr val="000000"/>
              </a:solidFill>
              <a:latin typeface="Arial"/>
              <a:ea typeface="Arial"/>
              <a:cs typeface="Arial"/>
              <a:sym typeface="Arial"/>
            </a:endParaRPr>
          </a:p>
        </p:txBody>
      </p:sp>
      <p:sp>
        <p:nvSpPr>
          <p:cNvPr id="870" name="Google Shape;870;p68"/>
          <p:cNvSpPr txBox="1"/>
          <p:nvPr/>
        </p:nvSpPr>
        <p:spPr>
          <a:xfrm>
            <a:off x="731520" y="1645920"/>
            <a:ext cx="7680960" cy="182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Plugin-dev toolkit: Streamlines plugin development workflow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PR review agents: Automated code review checklists and standards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Feature-dev workflows: Templates for common development patterns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Hookify: Automatically adds hooks to enforce team conventions</a:t>
            </a:r>
            <a:endParaRPr b="0" i="0" sz="1400" u="none" cap="none" strike="noStrike">
              <a:solidFill>
                <a:srgbClr val="000000"/>
              </a:solidFill>
              <a:latin typeface="Arial"/>
              <a:ea typeface="Arial"/>
              <a:cs typeface="Arial"/>
              <a:sym typeface="Arial"/>
            </a:endParaRPr>
          </a:p>
        </p:txBody>
      </p:sp>
      <p:sp>
        <p:nvSpPr>
          <p:cNvPr id="871" name="Google Shape;871;p68"/>
          <p:cNvSpPr/>
          <p:nvPr/>
        </p:nvSpPr>
        <p:spPr>
          <a:xfrm>
            <a:off x="6906491" y="1330036"/>
            <a:ext cx="1780308" cy="3059084"/>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Calibri"/>
                <a:ea typeface="Calibri"/>
                <a:cs typeface="Calibri"/>
                <a:sym typeface="Calibri"/>
              </a:rPr>
              <a:t>Key Takeaway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Calibri"/>
                <a:ea typeface="Calibri"/>
                <a:cs typeface="Calibri"/>
                <a:sym typeface="Calibri"/>
              </a:rPr>
              <a:t>Anthropic eats its own dog food—internal teams rely on plugins daily for standardized workflows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876" name="Shape 876"/>
        <p:cNvGrpSpPr/>
        <p:nvPr/>
      </p:nvGrpSpPr>
      <p:grpSpPr>
        <a:xfrm>
          <a:off x="0" y="0"/>
          <a:ext cx="0" cy="0"/>
          <a:chOff x="0" y="0"/>
          <a:chExt cx="0" cy="0"/>
        </a:xfrm>
      </p:grpSpPr>
      <p:sp>
        <p:nvSpPr>
          <p:cNvPr id="877" name="Google Shape;877;p69"/>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Case Study: Converting 20 Configs to Plugins</a:t>
            </a:r>
            <a:endParaRPr b="0" i="0" sz="1400" u="none" cap="none" strike="noStrike">
              <a:solidFill>
                <a:srgbClr val="000000"/>
              </a:solidFill>
              <a:latin typeface="Arial"/>
              <a:ea typeface="Arial"/>
              <a:cs typeface="Arial"/>
              <a:sym typeface="Arial"/>
            </a:endParaRPr>
          </a:p>
        </p:txBody>
      </p:sp>
      <p:sp>
        <p:nvSpPr>
          <p:cNvPr id="878" name="Google Shape;878;p69"/>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The Scenario</a:t>
            </a:r>
            <a:endParaRPr b="0" i="0" sz="1400" u="none" cap="none" strike="noStrike">
              <a:solidFill>
                <a:srgbClr val="000000"/>
              </a:solidFill>
              <a:latin typeface="Arial"/>
              <a:ea typeface="Arial"/>
              <a:cs typeface="Arial"/>
              <a:sym typeface="Arial"/>
            </a:endParaRPr>
          </a:p>
        </p:txBody>
      </p:sp>
      <p:sp>
        <p:nvSpPr>
          <p:cNvPr id="879" name="Google Shape;879;p69"/>
          <p:cNvSpPr txBox="1"/>
          <p:nvPr/>
        </p:nvSpPr>
        <p:spPr>
          <a:xfrm>
            <a:off x="731520" y="1645920"/>
            <a:ext cx="5987935"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Development team had accumulated 20+ standalone configurations in individual .claude/ directories. Shared via Slack messages: 'Hey, here's my linter config...' Knowledge scattered, updates manual, new developers overwhelmed.</a:t>
            </a:r>
            <a:endParaRPr b="0" i="0" sz="1400" u="none" cap="none" strike="noStrike">
              <a:solidFill>
                <a:srgbClr val="000000"/>
              </a:solidFill>
              <a:latin typeface="Arial"/>
              <a:ea typeface="Arial"/>
              <a:cs typeface="Arial"/>
              <a:sym typeface="Arial"/>
            </a:endParaRPr>
          </a:p>
        </p:txBody>
      </p:sp>
      <p:sp>
        <p:nvSpPr>
          <p:cNvPr id="880" name="Google Shape;880;p69"/>
          <p:cNvSpPr txBox="1"/>
          <p:nvPr/>
        </p:nvSpPr>
        <p:spPr>
          <a:xfrm>
            <a:off x="731520" y="25603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The Migration</a:t>
            </a:r>
            <a:endParaRPr b="0" i="0" sz="1400" u="none" cap="none" strike="noStrike">
              <a:solidFill>
                <a:srgbClr val="000000"/>
              </a:solidFill>
              <a:latin typeface="Arial"/>
              <a:ea typeface="Arial"/>
              <a:cs typeface="Arial"/>
              <a:sym typeface="Arial"/>
            </a:endParaRPr>
          </a:p>
        </p:txBody>
      </p:sp>
      <p:sp>
        <p:nvSpPr>
          <p:cNvPr id="881" name="Google Shape;881;p69"/>
          <p:cNvSpPr txBox="1"/>
          <p:nvPr/>
        </p:nvSpPr>
        <p:spPr>
          <a:xfrm>
            <a:off x="731520" y="3017520"/>
            <a:ext cx="768096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41413"/>
                </a:solidFill>
                <a:latin typeface="Calibri"/>
                <a:ea typeface="Calibri"/>
                <a:cs typeface="Calibri"/>
                <a:sym typeface="Calibri"/>
              </a:rPr>
              <a:t>1. Audited all .claude/ directories across team repos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41413"/>
                </a:solidFill>
                <a:latin typeface="Calibri"/>
                <a:ea typeface="Calibri"/>
                <a:cs typeface="Calibri"/>
                <a:sym typeface="Calibri"/>
              </a:rPr>
              <a:t>2. Grouped related configs into logical plugins (dev-toolkit, code-quality, deploy-tools)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41413"/>
                </a:solidFill>
                <a:latin typeface="Calibri"/>
                <a:ea typeface="Calibri"/>
                <a:cs typeface="Calibri"/>
                <a:sym typeface="Calibri"/>
              </a:rPr>
              <a:t>3. Created internal marketplace with 3 curated plugins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41413"/>
                </a:solidFill>
                <a:latin typeface="Calibri"/>
                <a:ea typeface="Calibri"/>
                <a:cs typeface="Calibri"/>
                <a:sym typeface="Calibri"/>
              </a:rPr>
              <a:t>4. Onboarded team: everyone ran /plugin install dev-toolkit@company</a:t>
            </a:r>
            <a:endParaRPr b="0" i="0" sz="1400" u="none" cap="none" strike="noStrike">
              <a:solidFill>
                <a:srgbClr val="000000"/>
              </a:solidFill>
              <a:latin typeface="Arial"/>
              <a:ea typeface="Arial"/>
              <a:cs typeface="Arial"/>
              <a:sym typeface="Arial"/>
            </a:endParaRPr>
          </a:p>
        </p:txBody>
      </p:sp>
      <p:sp>
        <p:nvSpPr>
          <p:cNvPr id="882" name="Google Shape;882;p69"/>
          <p:cNvSpPr/>
          <p:nvPr/>
        </p:nvSpPr>
        <p:spPr>
          <a:xfrm>
            <a:off x="6906491" y="1330036"/>
            <a:ext cx="1780308" cy="3059084"/>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Calibri"/>
                <a:ea typeface="Calibri"/>
                <a:cs typeface="Calibri"/>
                <a:sym typeface="Calibri"/>
              </a:rPr>
              <a:t>The Result: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Calibri"/>
                <a:ea typeface="Calibri"/>
                <a:cs typeface="Calibri"/>
                <a:sym typeface="Calibri"/>
              </a:rPr>
              <a:t>Single source of truth</a:t>
            </a:r>
            <a:br>
              <a:rPr b="1" i="0" lang="en-US" sz="1300" u="none" cap="none" strike="noStrike">
                <a:solidFill>
                  <a:schemeClr val="lt1"/>
                </a:solidFill>
                <a:latin typeface="Calibri"/>
                <a:ea typeface="Calibri"/>
                <a:cs typeface="Calibri"/>
                <a:sym typeface="Calibri"/>
              </a:rPr>
            </a:br>
            <a:r>
              <a:rPr b="1" i="0" lang="en-US" sz="1300" u="none" cap="none" strike="noStrike">
                <a:solidFill>
                  <a:schemeClr val="lt1"/>
                </a:solidFill>
                <a:latin typeface="Calibri"/>
                <a:ea typeface="Calibri"/>
                <a:cs typeface="Calibri"/>
                <a:sym typeface="Calibri"/>
              </a:rPr>
              <a:t>• Version-controlled updates</a:t>
            </a:r>
            <a:br>
              <a:rPr b="1" i="0" lang="en-US" sz="1300" u="none" cap="none" strike="noStrike">
                <a:solidFill>
                  <a:schemeClr val="lt1"/>
                </a:solidFill>
                <a:latin typeface="Calibri"/>
                <a:ea typeface="Calibri"/>
                <a:cs typeface="Calibri"/>
                <a:sym typeface="Calibri"/>
              </a:rPr>
            </a:br>
            <a:r>
              <a:rPr b="1" i="0" lang="en-US" sz="1300" u="none" cap="none" strike="noStrike">
                <a:solidFill>
                  <a:schemeClr val="lt1"/>
                </a:solidFill>
                <a:latin typeface="Calibri"/>
                <a:ea typeface="Calibri"/>
                <a:cs typeface="Calibri"/>
                <a:sym typeface="Calibri"/>
              </a:rPr>
              <a:t>• New devs onboard in 1 command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887" name="Shape 887"/>
        <p:cNvGrpSpPr/>
        <p:nvPr/>
      </p:nvGrpSpPr>
      <p:grpSpPr>
        <a:xfrm>
          <a:off x="0" y="0"/>
          <a:ext cx="0" cy="0"/>
          <a:chOff x="0" y="0"/>
          <a:chExt cx="0" cy="0"/>
        </a:xfrm>
      </p:grpSpPr>
      <p:sp>
        <p:nvSpPr>
          <p:cNvPr id="888" name="Google Shape;888;p70"/>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1413"/>
                </a:solidFill>
                <a:latin typeface="Calibri"/>
                <a:ea typeface="Calibri"/>
                <a:cs typeface="Calibri"/>
                <a:sym typeface="Calibri"/>
              </a:rPr>
              <a:t>Case Study: Custom Enterprise Marketplace</a:t>
            </a:r>
            <a:endParaRPr b="0" i="0" sz="1400" u="none" cap="none" strike="noStrike">
              <a:solidFill>
                <a:srgbClr val="000000"/>
              </a:solidFill>
              <a:latin typeface="Arial"/>
              <a:ea typeface="Arial"/>
              <a:cs typeface="Arial"/>
              <a:sym typeface="Arial"/>
            </a:endParaRPr>
          </a:p>
        </p:txBody>
      </p:sp>
      <p:sp>
        <p:nvSpPr>
          <p:cNvPr id="889" name="Google Shape;889;p70"/>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Large Enterprise Deployment</a:t>
            </a:r>
            <a:endParaRPr b="0" i="0" sz="1400" u="none" cap="none" strike="noStrike">
              <a:solidFill>
                <a:srgbClr val="000000"/>
              </a:solidFill>
              <a:latin typeface="Arial"/>
              <a:ea typeface="Arial"/>
              <a:cs typeface="Arial"/>
              <a:sym typeface="Arial"/>
            </a:endParaRPr>
          </a:p>
        </p:txBody>
      </p:sp>
      <p:sp>
        <p:nvSpPr>
          <p:cNvPr id="890" name="Google Shape;890;p70"/>
          <p:cNvSpPr txBox="1"/>
          <p:nvPr/>
        </p:nvSpPr>
        <p:spPr>
          <a:xfrm>
            <a:off x="731520" y="1645920"/>
            <a:ext cx="7680960" cy="274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Challenge: 500+ developers across multiple teams needed standardized tools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Solution: Built internal marketplace with plugins for: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 Security scanning and compliance checks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 Company-specific API integrations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 Standardized documentation templates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 Internal code review workflows</a:t>
            </a:r>
            <a:endParaRPr b="0" i="0" sz="1400" u="none" cap="none" strike="noStrike">
              <a:solidFill>
                <a:srgbClr val="000000"/>
              </a:solidFill>
              <a:latin typeface="Arial"/>
              <a:ea typeface="Arial"/>
              <a:cs typeface="Arial"/>
              <a:sym typeface="Arial"/>
            </a:endParaRPr>
          </a:p>
        </p:txBody>
      </p:sp>
      <p:sp>
        <p:nvSpPr>
          <p:cNvPr id="891" name="Google Shape;891;p70"/>
          <p:cNvSpPr txBox="1"/>
          <p:nvPr/>
        </p:nvSpPr>
        <p:spPr>
          <a:xfrm>
            <a:off x="731520" y="3200400"/>
            <a:ext cx="76809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41413"/>
                </a:solidFill>
                <a:latin typeface="Calibri"/>
                <a:ea typeface="Calibri"/>
                <a:cs typeface="Calibri"/>
                <a:sym typeface="Calibri"/>
              </a:rPr>
              <a:t>Implementation</a:t>
            </a:r>
            <a:endParaRPr b="0" i="0" sz="1400" u="none" cap="none" strike="noStrike">
              <a:solidFill>
                <a:srgbClr val="000000"/>
              </a:solidFill>
              <a:latin typeface="Arial"/>
              <a:ea typeface="Arial"/>
              <a:cs typeface="Arial"/>
              <a:sym typeface="Arial"/>
            </a:endParaRPr>
          </a:p>
        </p:txBody>
      </p:sp>
      <p:sp>
        <p:nvSpPr>
          <p:cNvPr id="892" name="Google Shape;892;p70"/>
          <p:cNvSpPr txBox="1"/>
          <p:nvPr/>
        </p:nvSpPr>
        <p:spPr>
          <a:xfrm>
            <a:off x="731520" y="3657600"/>
            <a:ext cx="7680960" cy="137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Used managed settings to pre-configure marketplace for all devs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strictKnownMarketplaces ensured only approved plugins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1413"/>
                </a:solidFill>
                <a:latin typeface="Calibri"/>
                <a:ea typeface="Calibri"/>
                <a:cs typeface="Calibri"/>
                <a:sym typeface="Calibri"/>
              </a:rPr>
              <a:t>• Central plugin team maintains and versions all plugins</a:t>
            </a:r>
            <a:endParaRPr b="0" i="0" sz="1400" u="none" cap="none" strike="noStrike">
              <a:solidFill>
                <a:srgbClr val="000000"/>
              </a:solidFill>
              <a:latin typeface="Arial"/>
              <a:ea typeface="Arial"/>
              <a:cs typeface="Arial"/>
              <a:sym typeface="Arial"/>
            </a:endParaRPr>
          </a:p>
        </p:txBody>
      </p:sp>
      <p:sp>
        <p:nvSpPr>
          <p:cNvPr id="893" name="Google Shape;893;p70"/>
          <p:cNvSpPr/>
          <p:nvPr/>
        </p:nvSpPr>
        <p:spPr>
          <a:xfrm>
            <a:off x="6906491" y="1330036"/>
            <a:ext cx="1780308" cy="3059084"/>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Calibri"/>
                <a:ea typeface="Calibri"/>
                <a:cs typeface="Calibri"/>
                <a:sym typeface="Calibri"/>
              </a:rPr>
              <a:t>Key Success Factor: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Calibri"/>
                <a:ea typeface="Calibri"/>
                <a:cs typeface="Calibri"/>
                <a:sym typeface="Calibri"/>
              </a:rPr>
              <a:t>Treated plugins as infrastructure—maintained by central team with SLAs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3"/>
        </a:solidFill>
      </p:bgPr>
    </p:bg>
    <p:spTree>
      <p:nvGrpSpPr>
        <p:cNvPr id="898" name="Shape 898"/>
        <p:cNvGrpSpPr/>
        <p:nvPr/>
      </p:nvGrpSpPr>
      <p:grpSpPr>
        <a:xfrm>
          <a:off x="0" y="0"/>
          <a:ext cx="0" cy="0"/>
          <a:chOff x="0" y="0"/>
          <a:chExt cx="0" cy="0"/>
        </a:xfrm>
      </p:grpSpPr>
      <p:sp>
        <p:nvSpPr>
          <p:cNvPr id="899" name="Google Shape;899;p71"/>
          <p:cNvSpPr txBox="1"/>
          <p:nvPr/>
        </p:nvSpPr>
        <p:spPr>
          <a:xfrm>
            <a:off x="457200" y="2103120"/>
            <a:ext cx="8229600" cy="731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FFFFFF"/>
                </a:solidFill>
                <a:latin typeface="Calibri"/>
                <a:ea typeface="Calibri"/>
                <a:cs typeface="Calibri"/>
                <a:sym typeface="Calibri"/>
              </a:rPr>
              <a:t>Thank You!</a:t>
            </a:r>
            <a:endParaRPr b="0" i="0" sz="1400" u="none" cap="none" strike="noStrike">
              <a:solidFill>
                <a:srgbClr val="000000"/>
              </a:solidFill>
              <a:latin typeface="Arial"/>
              <a:ea typeface="Arial"/>
              <a:cs typeface="Arial"/>
              <a:sym typeface="Arial"/>
            </a:endParaRPr>
          </a:p>
        </p:txBody>
      </p:sp>
      <p:sp>
        <p:nvSpPr>
          <p:cNvPr id="900" name="Google Shape;900;p71"/>
          <p:cNvSpPr txBox="1"/>
          <p:nvPr/>
        </p:nvSpPr>
        <p:spPr>
          <a:xfrm>
            <a:off x="457200" y="2926080"/>
            <a:ext cx="82296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D97757"/>
                </a:solidFill>
                <a:latin typeface="Calibri"/>
                <a:ea typeface="Calibri"/>
                <a:cs typeface="Calibri"/>
                <a:sym typeface="Calibri"/>
              </a:rPr>
              <a:t>You're now ready to master Claude Code plugins</a:t>
            </a:r>
            <a:endParaRPr b="0" i="0" sz="1400" u="none" cap="none" strike="noStrike">
              <a:solidFill>
                <a:srgbClr val="000000"/>
              </a:solidFill>
              <a:latin typeface="Arial"/>
              <a:ea typeface="Arial"/>
              <a:cs typeface="Arial"/>
              <a:sym typeface="Arial"/>
            </a:endParaRPr>
          </a:p>
        </p:txBody>
      </p:sp>
      <p:pic>
        <p:nvPicPr>
          <p:cNvPr id="901" name="Google Shape;901;p71"/>
          <p:cNvPicPr preferRelativeResize="0"/>
          <p:nvPr/>
        </p:nvPicPr>
        <p:blipFill rotWithShape="1">
          <a:blip r:embed="rId3">
            <a:alphaModFix/>
          </a:blip>
          <a:srcRect b="0" l="0" r="0" t="0"/>
          <a:stretch/>
        </p:blipFill>
        <p:spPr>
          <a:xfrm>
            <a:off x="4167662" y="1295674"/>
            <a:ext cx="808676" cy="65559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