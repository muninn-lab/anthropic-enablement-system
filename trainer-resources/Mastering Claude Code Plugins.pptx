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Welcome to Mastering Claude Code Plugins training. This instructor-led course is for technical developers new to Claude Code but familiar with CLI tools. The course runs 6-8 hours and covers the complete plugin lifecycle: discovering, installing, creating, and converting. Structure: Discover &amp; Install (Modules 1-5), Create &amp; Test (6-7), Convert &amp; Share (8-9).</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Version 1.0.33 is critical—it introduced the /plugin command. Pause here for everyone to verify with 'claude --version'. Direct anyone on older versions to docs.claude.com/en/troubleshooting. Other prerequisites: CLI familiarity (cd, mkdir, npm, git) and understanding JSON/directory structures for creating plugin manifests.</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Three progressive sections. Discover &amp; Install: fundamentals, marketplaces, and installation scopes with labs. Create &amp; Test: build custom plugins from scratch. Convert &amp; Share: migrate existing .claude/ configs to shareable plugins. Each section includes conceptual modules and hands-on labs.</a:t>
            </a:r>
            <a:endParaRPr/>
          </a:p>
        </p:txBody>
      </p:sp>
      <p:sp>
        <p:nvSpPr>
          <p:cNvPr id="107" name="Google Shape;107;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module lays critical foundation. Key takeaway: plugins are packages that bundle related functionality for sharing and reuse. Understanding this distinction helps with architectural decisions later when creating plugins. Participants familiar with VS Code extensions or npm will recognize patterns.</a:t>
            </a:r>
            <a:endParaRPr/>
          </a:p>
        </p:txBody>
      </p:sp>
      <p:sp>
        <p:nvSpPr>
          <p:cNvPr id="131" name="Google Shape;131;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shows WHY plugins exist. The git workflow example resonates—developers do this manually daily. Plugins bundle related automation (skill, hook, command) into one shareable unit that saves 15 minutes per commit while maintaining consistency across the team.</a:t>
            </a:r>
            <a:endParaRPr/>
          </a:p>
        </p:txBody>
      </p:sp>
      <p:sp>
        <p:nvSpPr>
          <p:cNvPr id="140" name="Google Shape;140;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Understanding when to use each approach is critical. Plugins: share with teams (consistency, version-controlled updates). Standalone: personal workflows and quick iteration (no packaging overhead). Best practice: start standalone for experiments, convert to plugin when ready to share.</a:t>
            </a:r>
            <a:endParaRPr/>
          </a:p>
        </p:txBody>
      </p:sp>
      <p:sp>
        <p:nvSpPr>
          <p:cNvPr id="150" name="Google Shape;150;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Plugin namespacing prevents conflicts. Without it, if two plugins both provide /review, Claude Code wouldn't know which to use. Namespacing ensures coexistence: /plugin-a:review and /plugin-b:review work independently. The namespace comes from the 'name' field in plugin.json.</a:t>
            </a:r>
            <a:endParaRPr/>
          </a:p>
        </p:txBody>
      </p:sp>
      <p:sp>
        <p:nvSpPr>
          <p:cNvPr id="160" name="Google Shape;160;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Knowledge check with 2 questions. Correct answers highlighted in green. Pause for participants to respond before revealing. Use this to gauge understanding before moving forward. Common confusion: thinking plugins are just for features vs understanding they're for sharing/distribution.</a:t>
            </a:r>
            <a:endParaRPr/>
          </a:p>
        </p:txBody>
      </p:sp>
      <p:sp>
        <p:nvSpPr>
          <p:cNvPr id="178" name="Google Shape;17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Reinforce key points before moving to next module. Emphasize: plugins are packaged extensions, namespacing prevents conflicts, use plugins when sharing. If anyone seems unclear on fundamentals, address now before building on this foundation in Module 2.</a:t>
            </a:r>
            <a:endParaRPr/>
          </a:p>
        </p:txBody>
      </p:sp>
      <p:sp>
        <p:nvSpPr>
          <p:cNvPr id="196" name="Google Shape;196;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Module 2 builds on plugin fundamentals by explaining how to discover them. Marketplaces are catalogs for centralized discovery. Understanding the four-tab interface is essential for all future work. Security evaluation comes before every installation.</a:t>
            </a:r>
            <a:endParaRPr/>
          </a:p>
        </p:txBody>
      </p:sp>
      <p:sp>
        <p:nvSpPr>
          <p:cNvPr id="207" name="Google Shape;207;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Marketplaces are catalogs providing centralized discovery and version tracking. Two-step process: add marketplace (registers catalog), install individual plugins (choose what you want). Think app store analogy: adding store lets you browse, you choose which apps to download.</a:t>
            </a:r>
            <a:endParaRPr/>
          </a:p>
        </p:txBody>
      </p:sp>
      <p:sp>
        <p:nvSpPr>
          <p:cNvPr id="216" name="Google Shape;216;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/plugin command opens four-tab interface. Discover: browse available plugins. Installed: manage your plugins. Marketplaces: add/remove/update marketplaces. Errors: troubleshooting (critical when things don't work). Navigate with Tab/Shift+Tab.</a:t>
            </a:r>
            <a:endParaRPr/>
          </a:p>
        </p:txBody>
      </p:sp>
      <p:sp>
        <p:nvSpPr>
          <p:cNvPr id="227" name="Google Shape;227;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Critical: Anthropic does not control what's in plugins. Always check plugin homepage before installing to understand functionality. Official marketplace is curated by Anthropic. Community marketplaces vary—evaluate each plugin individually. Trust is key for security.</a:t>
            </a:r>
            <a:endParaRPr/>
          </a:p>
        </p:txBody>
      </p:sp>
      <p:sp>
        <p:nvSpPr>
          <p:cNvPr id="250" name="Google Shape;250;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Knowledge check. Pause for responses. Common mistake: thinking /plugins (plural) instead of /plugin (singular). Also reinforce that Discover tab shows available (not installed) plugins—Installed tab shows what you've already added.</a:t>
            </a:r>
            <a:endParaRPr/>
          </a:p>
        </p:txBody>
      </p:sp>
      <p:sp>
        <p:nvSpPr>
          <p:cNvPr id="261" name="Google Shape;261;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Summary reinforces key concepts. Marketplaces provide discovery infrastructure. Four-tab interface is your plugin control center. Security evaluation before installation is non-negotiable. These concepts prepare for the hands-on lab next.</a:t>
            </a:r>
            <a:endParaRPr/>
          </a:p>
        </p:txBody>
      </p:sp>
      <p:sp>
        <p:nvSpPr>
          <p:cNvPr id="279" name="Google Shape;279;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First hands-on lab. Participants will actually add a marketplace and browse plugins. This bridges theory to practice. Objectives: add demo marketplace, navigate tabs, browse plugins. Expected outcome: comfort with plugin manager interface, understanding marketplace vs plugin installation.</a:t>
            </a:r>
            <a:endParaRPr/>
          </a:p>
        </p:txBody>
      </p:sp>
      <p:sp>
        <p:nvSpPr>
          <p:cNvPr id="290" name="Google Shape;290;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Walk through each step slowly. Let participants execute commands in real-time. Common issue: typing marketplace name wrong. Watch for Tab navigation confusion—some may try arrow keys. After adding marketplace, verify it appears in Marketplaces tab before moving to Discover.</a:t>
            </a:r>
            <a:endParaRPr/>
          </a:p>
        </p:txBody>
      </p:sp>
      <p:sp>
        <p:nvSpPr>
          <p:cNvPr id="299" name="Google Shape;299;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Check understanding after lab. Common confusion: expecting plugins to install automatically after adding marketplace. Reinforce: adding marketplace makes plugins browsable, installation is separate step. If anyone had errors, troubleshoot now before Module 4.</a:t>
            </a:r>
            <a:endParaRPr/>
          </a:p>
        </p:txBody>
      </p:sp>
      <p:sp>
        <p:nvSpPr>
          <p:cNvPr id="315" name="Google Shape;315;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Lab summary. Reinforce: /plugin marketplace add registers catalog. Four tabs have distinct purposes. Adding marketplace ≠ installing plugins. This foundation is essential for Module 4 where we actually install.</a:t>
            </a:r>
            <a:endParaRPr/>
          </a:p>
        </p:txBody>
      </p:sp>
      <p:sp>
        <p:nvSpPr>
          <p:cNvPr id="328" name="Google Shape;328;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Module 4 covers installation—the action participants are ready for after Module 3 lab. Three scopes are crucial to understand. Each scope serves different purposes. Choosing wrong scope causes team friction later. Use cases make this concrete.</a:t>
            </a:r>
            <a:endParaRPr/>
          </a:p>
        </p:txBody>
      </p:sp>
      <p:sp>
        <p:nvSpPr>
          <p:cNvPr id="339" name="Google Shape;339;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Three scopes serve different purposes. User: personal tools across all projects (your code formatter). Project: team-shared functionality (company API integration). Local: testing only (not shared). Common mistake: using user scope for team plugins—causes configuration drift.</a:t>
            </a:r>
            <a:endParaRPr/>
          </a:p>
        </p:txBody>
      </p:sp>
      <p:sp>
        <p:nvSpPr>
          <p:cNvPr id="348" name="Google Shape;348;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6" name="Google Shape;366;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Two installation methods: CLI for quick installs (defaults to user scope), interactive UI for choosing scope explicitly. CLI with --scope flag for specific targeting. Interactive UI recommended for scope selection—you see all options clearly before deciding.</a:t>
            </a:r>
            <a:endParaRPr/>
          </a:p>
        </p:txBody>
      </p:sp>
      <p:sp>
        <p:nvSpPr>
          <p:cNvPr id="367" name="Google Shape;367;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Managing plugins: disable (temporary, good for troubleshooting conflicts), enable (reactivate), uninstall (permanent removal). Disabling is powerful for debugging—turn off plugins one by one to isolate issues without losing configuration.</a:t>
            </a:r>
            <a:endParaRPr/>
          </a:p>
        </p:txBody>
      </p:sp>
      <p:sp>
        <p:nvSpPr>
          <p:cNvPr id="379" name="Google Shape;379;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 name="Google Shape;38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Knowledge check on scopes—this is commonly confused. Emphasize: CLI defaults to user, project scope perfect for team API integration, local scope for testing before wider rollout. Scope choice impacts entire team's experience.</a:t>
            </a:r>
            <a:endParaRPr/>
          </a:p>
        </p:txBody>
      </p:sp>
      <p:sp>
        <p:nvSpPr>
          <p:cNvPr id="390" name="Google Shape;390;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Scope concept is critical so repeat: user (you everywhere), project (team here), local (you here only). Installation methods give flexibility. Management commands let you troubleshoot. These tools enable effective plugin usage across your workflow.</a:t>
            </a:r>
            <a:endParaRPr/>
          </a:p>
        </p:txBody>
      </p:sp>
      <p:sp>
        <p:nvSpPr>
          <p:cNvPr id="408" name="Google Shape;408;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Second hands-on lab. Participants install actual plugin and test functionality. This demonstrates full cycle: add marketplace (done in Module 3), install plugin, use plugin commands. Objectives: install commit-commands, test it, verify in manager.</a:t>
            </a:r>
            <a:endParaRPr/>
          </a:p>
        </p:txBody>
      </p:sp>
      <p:sp>
        <p:nvSpPr>
          <p:cNvPr id="419" name="Google Shape;419;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Execute installation together. After installing, immediately verify in Installed tab. Then test with /commit-commands:commit to see real behavior. Common issue: forgetting namespace—typing /commit instead of /commit-commands:commit. Reinforce namespacing importance.</a:t>
            </a:r>
            <a:endParaRPr/>
          </a:p>
        </p:txBody>
      </p:sp>
      <p:sp>
        <p:nvSpPr>
          <p:cNvPr id="428" name="Google Shape;428;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 name="Google Shape;438;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Check understanding. Key point: namespaced commands prevent conflicts. After this lab, participants should be comfortable discovering, installing, and using plugins. If issues occurred, address before moving to plugin creation in Module 6.</a:t>
            </a:r>
            <a:endParaRPr/>
          </a:p>
        </p:txBody>
      </p:sp>
      <p:sp>
        <p:nvSpPr>
          <p:cNvPr id="439" name="Google Shape;439;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1" name="Google Shape;451;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Lab summary reinforces complete workflow: marketplace enables discovery, installation makes plugins available, namespaced commands prevent conflicts. Participants now understand plugin consumption. Next: shift to creation.</a:t>
            </a:r>
            <a:endParaRPr/>
          </a:p>
        </p:txBody>
      </p:sp>
      <p:sp>
        <p:nvSpPr>
          <p:cNvPr id="452" name="Google Shape;452;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2" name="Google Shape;462;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Module 6 shifts from consuming to creating. Structure and manifest are foundation. Testing workflow with --plugin-dir enables rapid iteration. Common mistakes will be called out explicitly—directory structure errors break everything.</a:t>
            </a:r>
            <a:endParaRPr/>
          </a:p>
        </p:txBody>
      </p:sp>
      <p:sp>
        <p:nvSpPr>
          <p:cNvPr id="463" name="Google Shape;463;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CRITICAL: Common mistake is putting commands/, agents/, skills/ inside .claude-plugin/. Only plugin.json goes inside .claude-plugin/. Everything else at plugin root. This mistake breaks plugin loading and is most common error we see from new plugin developers.</a:t>
            </a:r>
            <a:endParaRPr/>
          </a:p>
        </p:txBody>
      </p:sp>
      <p:sp>
        <p:nvSpPr>
          <p:cNvPr id="472" name="Google Shape;472;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Three required fields: name (plugin identifier, becomes namespace), description (what it does), version (semantic versioning). Optional fields help with discovery and attribution. Version format: 1.0.0 for initial, increment based on semantic versioning rules.</a:t>
            </a:r>
            <a:endParaRPr/>
          </a:p>
        </p:txBody>
      </p:sp>
      <p:sp>
        <p:nvSpPr>
          <p:cNvPr id="504" name="Google Shape;504;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6" name="Google Shape;536;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commands/ for user-invoked skills (manual execution like /my-skill), skills/ for agent skills (Claude auto-invokes based on context). Both use SKILL.md format with frontmatter. After adding skills, restart Claude Code to load them.</a:t>
            </a:r>
            <a:endParaRPr/>
          </a:p>
        </p:txBody>
      </p:sp>
      <p:sp>
        <p:nvSpPr>
          <p:cNvPr id="537" name="Google Shape;537;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9" name="Google Shape;549;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--plugin-dir flag is essential for development. Loads plugins directly without installing. Make changes, restart with flag, test immediately. No install/uninstall cycle. Dramatically speeds iteration. Can load multiple plugins for testing interactions.</a:t>
            </a:r>
            <a:endParaRPr/>
          </a:p>
        </p:txBody>
      </p:sp>
      <p:sp>
        <p:nvSpPr>
          <p:cNvPr id="550" name="Google Shape;550;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6" name="Google Shape;566;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Knowledge check on structure and testing. Common confusion: where directories go (root vs inside .claude-plugin/), what flag to use for testing (--plugin-dir). These fundamentals must be solid before the lab.</a:t>
            </a:r>
            <a:endParaRPr/>
          </a:p>
        </p:txBody>
      </p:sp>
      <p:sp>
        <p:nvSpPr>
          <p:cNvPr id="567" name="Google Shape;567;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4" name="Google Shape;584;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Summary: structure matters (directories at root), manifest defines identity (name, description, version), commands vs skills serve different purposes, --plugin-dir enables rapid testing. Next lab applies all this hands-on.</a:t>
            </a:r>
            <a:endParaRPr/>
          </a:p>
        </p:txBody>
      </p:sp>
      <p:sp>
        <p:nvSpPr>
          <p:cNvPr id="585" name="Google Shape;585;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5" name="Google Shape;595;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Third hands-on lab. Participants build first plugin from scratch. This consolidates Module 6 concepts into working artifact. Walk through: create structure, write manifest, add skill, test locally. Expected outcome: working plugin and confidence in creation workflow.</a:t>
            </a:r>
            <a:endParaRPr/>
          </a:p>
        </p:txBody>
      </p:sp>
      <p:sp>
        <p:nvSpPr>
          <p:cNvPr id="596" name="Google Shape;596;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4" name="Google Shape;604;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Execute each step together. Let participants type commands themselves. After creating structure and manifest, verify plugin.json syntax before proceeding—JSON errors cause loading failures. When testing with --plugin-dir, check /help to verify command appears correctly.</a:t>
            </a:r>
            <a:endParaRPr/>
          </a:p>
        </p:txBody>
      </p:sp>
      <p:sp>
        <p:nvSpPr>
          <p:cNvPr id="605" name="Google Shape;605;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8" name="Google Shape;628;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Check understanding of creation workflow. Common confusion: skill directory vs file naming (directory name becomes skill name). If anyone's plugin didn't load, check structure first (directories at root?), then manifest syntax (valid JSON?).</a:t>
            </a:r>
            <a:endParaRPr/>
          </a:p>
        </p:txBody>
      </p:sp>
      <p:sp>
        <p:nvSpPr>
          <p:cNvPr id="629" name="Google Shape;629;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1" name="Google Shape;641;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Lab summary: creation workflow is iterative (create, test, refine). Skills follow directory/SKILL.md pattern. --plugin-dir critical for development. Namespaced commands ensure no conflicts. Participants now can create basic plugins—Module 8 adds conversion skills.</a:t>
            </a:r>
            <a:endParaRPr/>
          </a:p>
        </p:txBody>
      </p:sp>
      <p:sp>
        <p:nvSpPr>
          <p:cNvPr id="642" name="Google Shape;642;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2" name="Google Shape;652;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Module 8 addresses real-world scenario: you have great .claude/ configs, team wants them. When to convert: teammates asking for configs, manually copying between projects, configurations stable and tested. Conversion enables sharing with version control.</a:t>
            </a:r>
            <a:endParaRPr/>
          </a:p>
        </p:txBody>
      </p:sp>
      <p:sp>
        <p:nvSpPr>
          <p:cNvPr id="653" name="Google Shape;653;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1" name="Google Shape;661;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Triggers for conversion: team requests your config, you're copying files manually between projects, configs are stable/tested and ready to share. Real scenario: developer's powerful linter shared via Slack snippets. Solution: convert to plugin, publish to marketplace, team installs with one command.</a:t>
            </a:r>
            <a:endParaRPr/>
          </a:p>
        </p:txBody>
      </p:sp>
      <p:sp>
        <p:nvSpPr>
          <p:cNvPr id="662" name="Google Shape;662;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1" name="Google Shape;671;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Migration workflow: create structure, copy files, migrate hooks from settings.json to hooks/hooks.json (format unchanged, just location), test with --plugin-dir, remove original .claude/ files to avoid duplicates. Key: hook format stays identical.</a:t>
            </a:r>
            <a:endParaRPr/>
          </a:p>
        </p:txBody>
      </p:sp>
      <p:sp>
        <p:nvSpPr>
          <p:cNvPr id="672" name="Google Shape;672;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4" name="Google Shape;684;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Knowledge check on conversion process. Common confusion: hook format changes (it doesn't—just moves locations). Also reinforce why to remove original files (prevent duplicates and confusion about which version is active).</a:t>
            </a:r>
            <a:endParaRPr/>
          </a:p>
        </p:txBody>
      </p:sp>
      <p:sp>
        <p:nvSpPr>
          <p:cNvPr id="685" name="Google Shape;685;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2" name="Google Shape;702;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Summary: convert when ready to share beyond personal use. Migration preserves functionality while enabling distribution. Hooks move location but format unchanged. Clean up originals after successful migration. This enables team standardization.</a:t>
            </a:r>
            <a:endParaRPr/>
          </a:p>
        </p:txBody>
      </p:sp>
      <p:sp>
        <p:nvSpPr>
          <p:cNvPr id="703" name="Google Shape;703;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3" name="Google Shape;713;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Fourth hands-on lab. Participants convert actual configurations to plugins. Most complex lab—involves multiple steps and format changes. Walk through systematically. Expected outcome: working converted plugin with hooks functioning correctly.</a:t>
            </a:r>
            <a:endParaRPr/>
          </a:p>
        </p:txBody>
      </p:sp>
      <p:sp>
        <p:nvSpPr>
          <p:cNvPr id="714" name="Google Shape;714;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2" name="Google Shape;722;p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Execute hook migration carefully. Show how to copy hooks object from settings.json into hooks/hooks.json. Emphasize format is identical—just location changes. Test thoroughly after migration to ensure hooks still trigger. Common issue: JSON syntax errors when copying.</a:t>
            </a:r>
            <a:endParaRPr/>
          </a:p>
        </p:txBody>
      </p:sp>
      <p:sp>
        <p:nvSpPr>
          <p:cNvPr id="723" name="Google Shape;723;p4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4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9" name="Google Shape;749;p4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Check understanding of full conversion workflow. Common confusion: thinking hook format needs to change (it doesn't). If anyone's hooks don't trigger after migration, check: hooks/hooks.json exists, JSON syntax valid, matcher patterns correct.</a:t>
            </a:r>
            <a:endParaRPr/>
          </a:p>
        </p:txBody>
      </p:sp>
      <p:sp>
        <p:nvSpPr>
          <p:cNvPr id="750" name="Google Shape;750;p4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2" name="Google Shape;762;p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Lab summary: migration enables sharing while preserving functionality. Hook format unchanged. Test with --plugin-dir before distributing. Remove originals after success. Converted plugins immediately shareable via marketplaces.</a:t>
            </a:r>
            <a:endParaRPr/>
          </a:p>
        </p:txBody>
      </p:sp>
      <p:sp>
        <p:nvSpPr>
          <p:cNvPr id="763" name="Google Shape;763;p4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3" name="Google Shape;773;p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74" name="Google Shape;774;p5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5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9" name="Google Shape;779;p5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Best practices with WHY explanations. Start standalone: faster iteration without packaging. Semantic versioning: users track changes reliably. README: others understand usage without guessing. --plugin-dir testing: immediate feedback. Keep directories at root: prevents structure mistakes.</a:t>
            </a:r>
            <a:endParaRPr/>
          </a:p>
        </p:txBody>
      </p:sp>
      <p:sp>
        <p:nvSpPr>
          <p:cNvPr id="780" name="Google Shape;780;p5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0" name="Google Shape;800;p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Distribution best practices. Document dependencies clearly. Test with multiple team members for environment issues. Version semantically (1.0.0, 1.1.0, 2.0.0). Add license for usage rights. Clear names (not generic like 'utils'). Concise descriptions. Link to documentation.</a:t>
            </a:r>
            <a:endParaRPr/>
          </a:p>
        </p:txBody>
      </p:sp>
      <p:sp>
        <p:nvSpPr>
          <p:cNvPr id="801" name="Google Shape;801;p5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5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1" name="Google Shape;811;p5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Common issues have predictable solutions. Plugin not loading: check structure (directories at root?). Command not appearing: restart Claude Code, verify manifest. Hooks not triggering: check hooks.json format, matcher patterns. Version conflicts: check Errors tab. Always check Errors tab first.</a:t>
            </a:r>
            <a:endParaRPr/>
          </a:p>
        </p:txBody>
      </p:sp>
      <p:sp>
        <p:nvSpPr>
          <p:cNvPr id="812" name="Google Shape;812;p5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5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2" name="Google Shape;832;p5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Debugging workflow: check Errors tab first, verify structure, test with --plugin-dir to isolate issues, disable other plugins to rule out conflicts. When reporting issues: include structure, error messages, Claude Code version. Systematic approach solves most problems quickly.</a:t>
            </a:r>
            <a:endParaRPr/>
          </a:p>
        </p:txBody>
      </p:sp>
      <p:sp>
        <p:nvSpPr>
          <p:cNvPr id="833" name="Google Shape;833;p5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5" name="Google Shape;845;p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Resources for continued learning. Official documentation for reference. Next steps: explore official marketplace, create custom plugin, convert existing configs, set up team marketplace. The ecosystem grows with your contributions. Start building!</a:t>
            </a:r>
            <a:endParaRPr/>
          </a:p>
        </p:txBody>
      </p:sp>
      <p:sp>
        <p:nvSpPr>
          <p:cNvPr id="846" name="Google Shape;846;p5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5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3" name="Google Shape;863;p5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Anthropic eats own dog food. Internal teams use plugins daily: plugin-dev toolkit streamlines development, PR review agents enforce standards, feature-dev templates, hookify adds conventions automatically. This validates that plugins scale to professional use.</a:t>
            </a:r>
            <a:endParaRPr/>
          </a:p>
        </p:txBody>
      </p:sp>
      <p:sp>
        <p:nvSpPr>
          <p:cNvPr id="864" name="Google Shape;864;p5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5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2" name="Google Shape;872;p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Real scenario: 20+ configs shared via Slack. Migration: audit configs, group into logical plugins (dev-toolkit, code-quality, deploy-tools), create internal marketplace, team installs. Result: single source of truth, version updates, new devs onboard in 1 command.</a:t>
            </a:r>
            <a:endParaRPr/>
          </a:p>
        </p:txBody>
      </p:sp>
      <p:sp>
        <p:nvSpPr>
          <p:cNvPr id="873" name="Google Shape;873;p5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5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3" name="Google Shape;883;p5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Enterprise with 500+ developers. Challenge: standardized tools needed. Solution: internal marketplace with security, API, documentation, and workflow plugins. Used managed settings for pre-configuration, strictKnownMarketplaces for approved-only. Central team maintains with SLAs. Key: treated plugins as infrastructure.</a:t>
            </a:r>
            <a:endParaRPr/>
          </a:p>
        </p:txBody>
      </p:sp>
      <p:sp>
        <p:nvSpPr>
          <p:cNvPr id="884" name="Google Shape;884;p5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4" name="Google Shape;894;p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Thank you for participating. You now understand plugin ecosystem deeply: discovering, installing, creating, converting. You can evaluate plugins for security, choose appropriate scopes, build custom functionality, and migrate existing workflows. Questions? Feedback? Let's discuss!</a:t>
            </a:r>
            <a:endParaRPr/>
          </a:p>
        </p:txBody>
      </p:sp>
      <p:sp>
        <p:nvSpPr>
          <p:cNvPr id="895" name="Google Shape;895;p5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3"/>
        </a:solidFill>
      </p:bgPr>
    </p:bg>
    <p:spTree>
      <p:nvGrpSpPr>
        <p:cNvPr id="84" name="Shape 84"/>
        <p:cNvGrpSpPr/>
        <p:nvPr/>
      </p:nvGrpSpPr>
      <p:grpSpPr>
        <a:xfrm>
          <a:off x="0" y="0"/>
          <a:ext cx="0" cy="0"/>
          <a:chOff x="0" y="0"/>
          <a:chExt cx="0" cy="0"/>
        </a:xfrm>
      </p:grpSpPr>
      <p:sp>
        <p:nvSpPr>
          <p:cNvPr id="85" name="Google Shape;85;p13"/>
          <p:cNvSpPr txBox="1"/>
          <p:nvPr/>
        </p:nvSpPr>
        <p:spPr>
          <a:xfrm>
            <a:off x="457200" y="1447138"/>
            <a:ext cx="8229600" cy="914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800" u="none" cap="none" strike="noStrike">
                <a:solidFill>
                  <a:srgbClr val="FFFFFF"/>
                </a:solidFill>
                <a:latin typeface="Calibri"/>
                <a:ea typeface="Calibri"/>
                <a:cs typeface="Calibri"/>
                <a:sym typeface="Calibri"/>
              </a:rPr>
              <a:t>Mastering Claude Code Plugins</a:t>
            </a:r>
            <a:endParaRPr/>
          </a:p>
        </p:txBody>
      </p:sp>
      <p:sp>
        <p:nvSpPr>
          <p:cNvPr id="86" name="Google Shape;86;p13"/>
          <p:cNvSpPr txBox="1"/>
          <p:nvPr/>
        </p:nvSpPr>
        <p:spPr>
          <a:xfrm>
            <a:off x="457200" y="2452978"/>
            <a:ext cx="82296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rgbClr val="D97757"/>
                </a:solidFill>
                <a:latin typeface="Calibri"/>
                <a:ea typeface="Calibri"/>
                <a:cs typeface="Calibri"/>
                <a:sym typeface="Calibri"/>
              </a:rPr>
              <a:t>From Discovery to Distribution</a:t>
            </a:r>
            <a:endParaRPr/>
          </a:p>
        </p:txBody>
      </p:sp>
      <p:sp>
        <p:nvSpPr>
          <p:cNvPr id="87" name="Google Shape;87;p13"/>
          <p:cNvSpPr txBox="1"/>
          <p:nvPr/>
        </p:nvSpPr>
        <p:spPr>
          <a:xfrm>
            <a:off x="457200" y="4572000"/>
            <a:ext cx="82296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400" u="none" cap="none" strike="noStrike">
                <a:solidFill>
                  <a:srgbClr val="E8E8E8"/>
                </a:solidFill>
                <a:latin typeface="Calibri"/>
                <a:ea typeface="Calibri"/>
                <a:cs typeface="Calibri"/>
                <a:sym typeface="Calibri"/>
              </a:rPr>
              <a:t>Technical Enablement | Anthropic</a:t>
            </a:r>
            <a:endParaRPr/>
          </a:p>
        </p:txBody>
      </p:sp>
      <p:pic>
        <p:nvPicPr>
          <p:cNvPr descr="preencoded.png" id="88" name="Google Shape;88;p13"/>
          <p:cNvPicPr preferRelativeResize="0"/>
          <p:nvPr/>
        </p:nvPicPr>
        <p:blipFill rotWithShape="1">
          <a:blip r:embed="rId3">
            <a:alphaModFix/>
          </a:blip>
          <a:srcRect b="0" l="0" r="0" t="0"/>
          <a:stretch/>
        </p:blipFill>
        <p:spPr>
          <a:xfrm>
            <a:off x="4114800" y="3275938"/>
            <a:ext cx="914400" cy="914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93" name="Shape 93"/>
        <p:cNvGrpSpPr/>
        <p:nvPr/>
      </p:nvGrpSpPr>
      <p:grpSpPr>
        <a:xfrm>
          <a:off x="0" y="0"/>
          <a:ext cx="0" cy="0"/>
          <a:chOff x="0" y="0"/>
          <a:chExt cx="0" cy="0"/>
        </a:xfrm>
      </p:grpSpPr>
      <p:sp>
        <p:nvSpPr>
          <p:cNvPr id="94" name="Google Shape;94;p14"/>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41413"/>
                </a:solidFill>
                <a:latin typeface="Calibri"/>
                <a:ea typeface="Calibri"/>
                <a:cs typeface="Calibri"/>
                <a:sym typeface="Calibri"/>
              </a:rPr>
              <a:t>Prerequisites Check</a:t>
            </a:r>
            <a:endParaRPr/>
          </a:p>
        </p:txBody>
      </p:sp>
      <p:sp>
        <p:nvSpPr>
          <p:cNvPr id="95" name="Google Shape;95;p14"/>
          <p:cNvSpPr txBox="1"/>
          <p:nvPr/>
        </p:nvSpPr>
        <p:spPr>
          <a:xfrm>
            <a:off x="457200" y="1005840"/>
            <a:ext cx="82296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36454F"/>
                </a:solidFill>
                <a:latin typeface="Calibri"/>
                <a:ea typeface="Calibri"/>
                <a:cs typeface="Calibri"/>
                <a:sym typeface="Calibri"/>
              </a:rPr>
              <a:t>Before We Begin</a:t>
            </a:r>
            <a:endParaRPr/>
          </a:p>
        </p:txBody>
      </p:sp>
      <p:sp>
        <p:nvSpPr>
          <p:cNvPr id="96" name="Google Shape;96;p14"/>
          <p:cNvSpPr txBox="1"/>
          <p:nvPr/>
        </p:nvSpPr>
        <p:spPr>
          <a:xfrm>
            <a:off x="532737" y="1828800"/>
            <a:ext cx="4572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41413"/>
                </a:solidFill>
                <a:latin typeface="Calibri"/>
                <a:ea typeface="Calibri"/>
                <a:cs typeface="Calibri"/>
                <a:sym typeface="Calibri"/>
              </a:rPr>
              <a:t>✓ Claude Code installed and authenticated</a:t>
            </a:r>
            <a:endParaRPr/>
          </a:p>
        </p:txBody>
      </p:sp>
      <p:sp>
        <p:nvSpPr>
          <p:cNvPr id="97" name="Google Shape;97;p14"/>
          <p:cNvSpPr/>
          <p:nvPr/>
        </p:nvSpPr>
        <p:spPr>
          <a:xfrm>
            <a:off x="5196177" y="1828800"/>
            <a:ext cx="2743200" cy="36576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rgbClr val="FFFFFF"/>
                </a:solidFill>
                <a:latin typeface="Consolas"/>
                <a:ea typeface="Consolas"/>
                <a:cs typeface="Consolas"/>
                <a:sym typeface="Consolas"/>
              </a:rPr>
              <a:t>claude --version</a:t>
            </a:r>
            <a:endParaRPr/>
          </a:p>
        </p:txBody>
      </p:sp>
      <p:sp>
        <p:nvSpPr>
          <p:cNvPr id="98" name="Google Shape;98;p14"/>
          <p:cNvSpPr txBox="1"/>
          <p:nvPr/>
        </p:nvSpPr>
        <p:spPr>
          <a:xfrm>
            <a:off x="532737" y="2423160"/>
            <a:ext cx="4572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41413"/>
                </a:solidFill>
                <a:latin typeface="Calibri"/>
                <a:ea typeface="Calibri"/>
                <a:cs typeface="Calibri"/>
                <a:sym typeface="Calibri"/>
              </a:rPr>
              <a:t>✓ Version 1.0.33 or later required</a:t>
            </a:r>
            <a:endParaRPr/>
          </a:p>
        </p:txBody>
      </p:sp>
      <p:sp>
        <p:nvSpPr>
          <p:cNvPr id="99" name="Google Shape;99;p14"/>
          <p:cNvSpPr/>
          <p:nvPr/>
        </p:nvSpPr>
        <p:spPr>
          <a:xfrm>
            <a:off x="5196177" y="2423160"/>
            <a:ext cx="2743200" cy="36576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rgbClr val="FFFFFF"/>
                </a:solidFill>
                <a:latin typeface="Consolas"/>
                <a:ea typeface="Consolas"/>
                <a:cs typeface="Consolas"/>
                <a:sym typeface="Consolas"/>
              </a:rPr>
              <a:t>Should show 1.0.33+</a:t>
            </a:r>
            <a:endParaRPr/>
          </a:p>
        </p:txBody>
      </p:sp>
      <p:sp>
        <p:nvSpPr>
          <p:cNvPr id="100" name="Google Shape;100;p14"/>
          <p:cNvSpPr txBox="1"/>
          <p:nvPr/>
        </p:nvSpPr>
        <p:spPr>
          <a:xfrm>
            <a:off x="532737" y="3017520"/>
            <a:ext cx="4572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41413"/>
                </a:solidFill>
                <a:latin typeface="Calibri"/>
                <a:ea typeface="Calibri"/>
                <a:cs typeface="Calibri"/>
                <a:sym typeface="Calibri"/>
              </a:rPr>
              <a:t>✓ Basic CLI familiarity</a:t>
            </a:r>
            <a:endParaRPr/>
          </a:p>
        </p:txBody>
      </p:sp>
      <p:sp>
        <p:nvSpPr>
          <p:cNvPr id="101" name="Google Shape;101;p14"/>
          <p:cNvSpPr/>
          <p:nvPr/>
        </p:nvSpPr>
        <p:spPr>
          <a:xfrm>
            <a:off x="5196177" y="3017520"/>
            <a:ext cx="2743200" cy="36576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rgbClr val="FFFFFF"/>
                </a:solidFill>
                <a:latin typeface="Consolas"/>
                <a:ea typeface="Consolas"/>
                <a:cs typeface="Consolas"/>
                <a:sym typeface="Consolas"/>
              </a:rPr>
              <a:t>cd, mkdir, npm, git</a:t>
            </a:r>
            <a:endParaRPr/>
          </a:p>
        </p:txBody>
      </p:sp>
      <p:sp>
        <p:nvSpPr>
          <p:cNvPr id="102" name="Google Shape;102;p14"/>
          <p:cNvSpPr txBox="1"/>
          <p:nvPr/>
        </p:nvSpPr>
        <p:spPr>
          <a:xfrm>
            <a:off x="532737" y="3611880"/>
            <a:ext cx="4572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41413"/>
                </a:solidFill>
                <a:latin typeface="Calibri"/>
                <a:ea typeface="Calibri"/>
                <a:cs typeface="Calibri"/>
                <a:sym typeface="Calibri"/>
              </a:rPr>
              <a:t>✓ JSON and directory structure knowledge</a:t>
            </a:r>
            <a:endParaRPr/>
          </a:p>
        </p:txBody>
      </p:sp>
      <p:sp>
        <p:nvSpPr>
          <p:cNvPr id="103" name="Google Shape;103;p14"/>
          <p:cNvSpPr/>
          <p:nvPr/>
        </p:nvSpPr>
        <p:spPr>
          <a:xfrm>
            <a:off x="731520" y="4297680"/>
            <a:ext cx="7680960" cy="489005"/>
          </a:xfrm>
          <a:prstGeom prst="roundRect">
            <a:avLst>
              <a:gd fmla="val 16667" name="adj"/>
            </a:avLst>
          </a:prstGeom>
          <a:solidFill>
            <a:srgbClr val="D97757"/>
          </a:solidFill>
          <a:ln cap="flat" cmpd="sng" w="25400">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lt1"/>
                </a:solidFill>
                <a:latin typeface="Calibri"/>
                <a:ea typeface="Calibri"/>
                <a:cs typeface="Calibri"/>
                <a:sym typeface="Calibri"/>
              </a:rPr>
              <a:t>Let's verify: Run 'claude --version' in your terminal. If you see version 1.0.33 or higher, you're ready!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08" name="Shape 108"/>
        <p:cNvGrpSpPr/>
        <p:nvPr/>
      </p:nvGrpSpPr>
      <p:grpSpPr>
        <a:xfrm>
          <a:off x="0" y="0"/>
          <a:ext cx="0" cy="0"/>
          <a:chOff x="0" y="0"/>
          <a:chExt cx="0" cy="0"/>
        </a:xfrm>
      </p:grpSpPr>
      <p:sp>
        <p:nvSpPr>
          <p:cNvPr id="109" name="Google Shape;109;p15"/>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41413"/>
                </a:solidFill>
                <a:latin typeface="Calibri"/>
                <a:ea typeface="Calibri"/>
                <a:cs typeface="Calibri"/>
                <a:sym typeface="Calibri"/>
              </a:rPr>
              <a:t>Course Overview</a:t>
            </a:r>
            <a:endParaRPr/>
          </a:p>
        </p:txBody>
      </p:sp>
      <p:sp>
        <p:nvSpPr>
          <p:cNvPr id="110" name="Google Shape;110;p15"/>
          <p:cNvSpPr/>
          <p:nvPr/>
        </p:nvSpPr>
        <p:spPr>
          <a:xfrm>
            <a:off x="731520" y="1645920"/>
            <a:ext cx="2377440" cy="27432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1" name="Google Shape;111;p15"/>
          <p:cNvSpPr/>
          <p:nvPr/>
        </p:nvSpPr>
        <p:spPr>
          <a:xfrm>
            <a:off x="1645920" y="1920240"/>
            <a:ext cx="548640" cy="548640"/>
          </a:xfrm>
          <a:prstGeom prst="ellipse">
            <a:avLst/>
          </a:prstGeom>
          <a:solidFill>
            <a:srgbClr val="6A9B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2" name="Google Shape;112;p15"/>
          <p:cNvSpPr txBox="1"/>
          <p:nvPr/>
        </p:nvSpPr>
        <p:spPr>
          <a:xfrm>
            <a:off x="914400" y="2651760"/>
            <a:ext cx="201168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141413"/>
                </a:solidFill>
                <a:latin typeface="Calibri"/>
                <a:ea typeface="Calibri"/>
                <a:cs typeface="Calibri"/>
                <a:sym typeface="Calibri"/>
              </a:rPr>
              <a:t>Discover &amp; Install</a:t>
            </a:r>
            <a:endParaRPr/>
          </a:p>
        </p:txBody>
      </p:sp>
      <p:sp>
        <p:nvSpPr>
          <p:cNvPr id="113" name="Google Shape;113;p15"/>
          <p:cNvSpPr txBox="1"/>
          <p:nvPr/>
        </p:nvSpPr>
        <p:spPr>
          <a:xfrm>
            <a:off x="1375059" y="3108960"/>
            <a:ext cx="1090362"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400" u="none" cap="none" strike="noStrike">
                <a:solidFill>
                  <a:srgbClr val="D97757"/>
                </a:solidFill>
                <a:latin typeface="Calibri"/>
                <a:ea typeface="Calibri"/>
                <a:cs typeface="Calibri"/>
                <a:sym typeface="Calibri"/>
              </a:rPr>
              <a:t>Modules 1-5</a:t>
            </a:r>
            <a:endParaRPr/>
          </a:p>
        </p:txBody>
      </p:sp>
      <p:sp>
        <p:nvSpPr>
          <p:cNvPr id="114" name="Google Shape;114;p15"/>
          <p:cNvSpPr txBox="1"/>
          <p:nvPr/>
        </p:nvSpPr>
        <p:spPr>
          <a:xfrm>
            <a:off x="914400" y="3474720"/>
            <a:ext cx="2011680" cy="8229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200" u="none" cap="none" strike="noStrike">
                <a:solidFill>
                  <a:srgbClr val="36454F"/>
                </a:solidFill>
                <a:latin typeface="Calibri"/>
                <a:ea typeface="Calibri"/>
                <a:cs typeface="Calibri"/>
                <a:sym typeface="Calibri"/>
              </a:rPr>
              <a:t>Understanding plugins, navigating marketplaces, and managing installations</a:t>
            </a:r>
            <a:endParaRPr/>
          </a:p>
        </p:txBody>
      </p:sp>
      <p:sp>
        <p:nvSpPr>
          <p:cNvPr id="115" name="Google Shape;115;p15"/>
          <p:cNvSpPr/>
          <p:nvPr/>
        </p:nvSpPr>
        <p:spPr>
          <a:xfrm>
            <a:off x="3474720" y="1645920"/>
            <a:ext cx="2377440" cy="27432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6" name="Google Shape;116;p15"/>
          <p:cNvSpPr/>
          <p:nvPr/>
        </p:nvSpPr>
        <p:spPr>
          <a:xfrm>
            <a:off x="4389120" y="1920240"/>
            <a:ext cx="548640" cy="548640"/>
          </a:xfrm>
          <a:prstGeom prst="ellipse">
            <a:avLst/>
          </a:prstGeom>
          <a:solidFill>
            <a:srgbClr val="6A9B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7" name="Google Shape;117;p15"/>
          <p:cNvSpPr txBox="1"/>
          <p:nvPr/>
        </p:nvSpPr>
        <p:spPr>
          <a:xfrm>
            <a:off x="3657600" y="2651760"/>
            <a:ext cx="201168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141413"/>
                </a:solidFill>
                <a:latin typeface="Calibri"/>
                <a:ea typeface="Calibri"/>
                <a:cs typeface="Calibri"/>
                <a:sym typeface="Calibri"/>
              </a:rPr>
              <a:t>Create &amp; Test</a:t>
            </a:r>
            <a:endParaRPr/>
          </a:p>
        </p:txBody>
      </p:sp>
      <p:sp>
        <p:nvSpPr>
          <p:cNvPr id="118" name="Google Shape;118;p15"/>
          <p:cNvSpPr txBox="1"/>
          <p:nvPr/>
        </p:nvSpPr>
        <p:spPr>
          <a:xfrm>
            <a:off x="4118259" y="3108960"/>
            <a:ext cx="1090362"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400" u="none" cap="none" strike="noStrike">
                <a:solidFill>
                  <a:srgbClr val="D97757"/>
                </a:solidFill>
                <a:latin typeface="Calibri"/>
                <a:ea typeface="Calibri"/>
                <a:cs typeface="Calibri"/>
                <a:sym typeface="Calibri"/>
              </a:rPr>
              <a:t>Modules 6-7</a:t>
            </a:r>
            <a:endParaRPr/>
          </a:p>
        </p:txBody>
      </p:sp>
      <p:sp>
        <p:nvSpPr>
          <p:cNvPr id="119" name="Google Shape;119;p15"/>
          <p:cNvSpPr txBox="1"/>
          <p:nvPr/>
        </p:nvSpPr>
        <p:spPr>
          <a:xfrm>
            <a:off x="3657600" y="3474720"/>
            <a:ext cx="2011680" cy="8229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200" u="none" cap="none" strike="noStrike">
                <a:solidFill>
                  <a:srgbClr val="36454F"/>
                </a:solidFill>
                <a:latin typeface="Calibri"/>
                <a:ea typeface="Calibri"/>
                <a:cs typeface="Calibri"/>
                <a:sym typeface="Calibri"/>
              </a:rPr>
              <a:t>Building custom plugins with skills, agents, and hooks from scratch</a:t>
            </a:r>
            <a:endParaRPr/>
          </a:p>
        </p:txBody>
      </p:sp>
      <p:sp>
        <p:nvSpPr>
          <p:cNvPr id="120" name="Google Shape;120;p15"/>
          <p:cNvSpPr/>
          <p:nvPr/>
        </p:nvSpPr>
        <p:spPr>
          <a:xfrm>
            <a:off x="6217920" y="1645920"/>
            <a:ext cx="2377440" cy="27432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1" name="Google Shape;121;p15"/>
          <p:cNvSpPr/>
          <p:nvPr/>
        </p:nvSpPr>
        <p:spPr>
          <a:xfrm>
            <a:off x="7132320" y="1920240"/>
            <a:ext cx="548640" cy="548640"/>
          </a:xfrm>
          <a:prstGeom prst="ellipse">
            <a:avLst/>
          </a:prstGeom>
          <a:solidFill>
            <a:srgbClr val="6A9B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2" name="Google Shape;122;p15"/>
          <p:cNvSpPr txBox="1"/>
          <p:nvPr/>
        </p:nvSpPr>
        <p:spPr>
          <a:xfrm>
            <a:off x="6400800" y="2651760"/>
            <a:ext cx="201168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141413"/>
                </a:solidFill>
                <a:latin typeface="Calibri"/>
                <a:ea typeface="Calibri"/>
                <a:cs typeface="Calibri"/>
                <a:sym typeface="Calibri"/>
              </a:rPr>
              <a:t>Convert &amp; Share</a:t>
            </a:r>
            <a:endParaRPr/>
          </a:p>
        </p:txBody>
      </p:sp>
      <p:sp>
        <p:nvSpPr>
          <p:cNvPr id="123" name="Google Shape;123;p15"/>
          <p:cNvSpPr txBox="1"/>
          <p:nvPr/>
        </p:nvSpPr>
        <p:spPr>
          <a:xfrm>
            <a:off x="6861459" y="3108960"/>
            <a:ext cx="1090362"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400" u="none" cap="none" strike="noStrike">
                <a:solidFill>
                  <a:srgbClr val="D97757"/>
                </a:solidFill>
                <a:latin typeface="Calibri"/>
                <a:ea typeface="Calibri"/>
                <a:cs typeface="Calibri"/>
                <a:sym typeface="Calibri"/>
              </a:rPr>
              <a:t>Modules 8-9</a:t>
            </a:r>
            <a:endParaRPr/>
          </a:p>
        </p:txBody>
      </p:sp>
      <p:sp>
        <p:nvSpPr>
          <p:cNvPr id="124" name="Google Shape;124;p15"/>
          <p:cNvSpPr txBox="1"/>
          <p:nvPr/>
        </p:nvSpPr>
        <p:spPr>
          <a:xfrm>
            <a:off x="6400800" y="3474720"/>
            <a:ext cx="2011680" cy="8229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200" u="none" cap="none" strike="noStrike">
                <a:solidFill>
                  <a:srgbClr val="36454F"/>
                </a:solidFill>
                <a:latin typeface="Calibri"/>
                <a:ea typeface="Calibri"/>
                <a:cs typeface="Calibri"/>
                <a:sym typeface="Calibri"/>
              </a:rPr>
              <a:t>Migrating standalone configs to plugins and distributing via marketplaces</a:t>
            </a:r>
            <a:endParaRPr/>
          </a:p>
        </p:txBody>
      </p:sp>
      <p:pic>
        <p:nvPicPr>
          <p:cNvPr descr="Treasure Map outline" id="125" name="Google Shape;125;p15"/>
          <p:cNvPicPr preferRelativeResize="0"/>
          <p:nvPr/>
        </p:nvPicPr>
        <p:blipFill rotWithShape="1">
          <a:blip r:embed="rId3">
            <a:alphaModFix/>
          </a:blip>
          <a:srcRect b="0" l="0" r="0" t="0"/>
          <a:stretch/>
        </p:blipFill>
        <p:spPr>
          <a:xfrm>
            <a:off x="1731315" y="2005635"/>
            <a:ext cx="377851" cy="377851"/>
          </a:xfrm>
          <a:prstGeom prst="rect">
            <a:avLst/>
          </a:prstGeom>
          <a:noFill/>
          <a:ln>
            <a:noFill/>
          </a:ln>
        </p:spPr>
      </p:pic>
      <p:pic>
        <p:nvPicPr>
          <p:cNvPr descr="Tools outline" id="126" name="Google Shape;126;p15"/>
          <p:cNvPicPr preferRelativeResize="0"/>
          <p:nvPr/>
        </p:nvPicPr>
        <p:blipFill rotWithShape="1">
          <a:blip r:embed="rId4">
            <a:alphaModFix/>
          </a:blip>
          <a:srcRect b="0" l="0" r="0" t="0"/>
          <a:stretch/>
        </p:blipFill>
        <p:spPr>
          <a:xfrm>
            <a:off x="4525137" y="2059755"/>
            <a:ext cx="274320" cy="274320"/>
          </a:xfrm>
          <a:prstGeom prst="rect">
            <a:avLst/>
          </a:prstGeom>
          <a:noFill/>
          <a:ln>
            <a:noFill/>
          </a:ln>
        </p:spPr>
      </p:pic>
      <p:pic>
        <p:nvPicPr>
          <p:cNvPr descr="Network outline" id="127" name="Google Shape;127;p15"/>
          <p:cNvPicPr preferRelativeResize="0"/>
          <p:nvPr/>
        </p:nvPicPr>
        <p:blipFill rotWithShape="1">
          <a:blip r:embed="rId5">
            <a:alphaModFix/>
          </a:blip>
          <a:srcRect b="0" l="0" r="0" t="0"/>
          <a:stretch/>
        </p:blipFill>
        <p:spPr>
          <a:xfrm>
            <a:off x="7233622" y="2017108"/>
            <a:ext cx="355180" cy="35518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7757"/>
        </a:solidFill>
      </p:bgPr>
    </p:bg>
    <p:spTree>
      <p:nvGrpSpPr>
        <p:cNvPr id="132" name="Shape 132"/>
        <p:cNvGrpSpPr/>
        <p:nvPr/>
      </p:nvGrpSpPr>
      <p:grpSpPr>
        <a:xfrm>
          <a:off x="0" y="0"/>
          <a:ext cx="0" cy="0"/>
          <a:chOff x="0" y="0"/>
          <a:chExt cx="0" cy="0"/>
        </a:xfrm>
      </p:grpSpPr>
      <p:sp>
        <p:nvSpPr>
          <p:cNvPr id="133" name="Google Shape;133;p16"/>
          <p:cNvSpPr txBox="1"/>
          <p:nvPr/>
        </p:nvSpPr>
        <p:spPr>
          <a:xfrm>
            <a:off x="609600" y="655320"/>
            <a:ext cx="7972054"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chemeClr val="lt1"/>
                </a:solidFill>
                <a:latin typeface="Calibri"/>
                <a:ea typeface="Calibri"/>
                <a:cs typeface="Calibri"/>
                <a:sym typeface="Calibri"/>
              </a:rPr>
              <a:t>Module 1: What Plugins Are and How They Work</a:t>
            </a:r>
            <a:endParaRPr/>
          </a:p>
        </p:txBody>
      </p:sp>
      <p:sp>
        <p:nvSpPr>
          <p:cNvPr id="134" name="Google Shape;134;p16"/>
          <p:cNvSpPr txBox="1"/>
          <p:nvPr/>
        </p:nvSpPr>
        <p:spPr>
          <a:xfrm>
            <a:off x="609600" y="1203960"/>
            <a:ext cx="223080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lt1"/>
                </a:solidFill>
                <a:latin typeface="Calibri"/>
                <a:ea typeface="Calibri"/>
                <a:cs typeface="Calibri"/>
                <a:sym typeface="Calibri"/>
              </a:rPr>
              <a:t>Learning Objectives</a:t>
            </a:r>
            <a:endParaRPr/>
          </a:p>
        </p:txBody>
      </p:sp>
      <p:sp>
        <p:nvSpPr>
          <p:cNvPr id="135" name="Google Shape;135;p16"/>
          <p:cNvSpPr txBox="1"/>
          <p:nvPr/>
        </p:nvSpPr>
        <p:spPr>
          <a:xfrm>
            <a:off x="609600" y="1798320"/>
            <a:ext cx="7640938" cy="1308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lt1"/>
                </a:solidFill>
                <a:latin typeface="Calibri"/>
                <a:ea typeface="Calibri"/>
                <a:cs typeface="Calibri"/>
                <a:sym typeface="Calibri"/>
              </a:rPr>
              <a:t>• Define what Claude Code plugins are and explain their purpose</a:t>
            </a:r>
            <a:endParaRPr/>
          </a:p>
          <a:p>
            <a:pPr indent="0" lvl="0" marL="0" marR="0" rtl="0" algn="l">
              <a:spcBef>
                <a:spcPts val="600"/>
              </a:spcBef>
              <a:spcAft>
                <a:spcPts val="0"/>
              </a:spcAft>
              <a:buNone/>
            </a:pPr>
            <a:r>
              <a:rPr b="0" i="0" lang="en-US" sz="1600" u="none" cap="none" strike="noStrike">
                <a:solidFill>
                  <a:schemeClr val="lt1"/>
                </a:solidFill>
                <a:latin typeface="Calibri"/>
                <a:ea typeface="Calibri"/>
                <a:cs typeface="Calibri"/>
                <a:sym typeface="Calibri"/>
              </a:rPr>
              <a:t>• Compare plugins versus standalone configurations and determine appropriate use cases</a:t>
            </a:r>
            <a:endParaRPr/>
          </a:p>
          <a:p>
            <a:pPr indent="0" lvl="0" marL="0" marR="0" rtl="0" algn="l">
              <a:spcBef>
                <a:spcPts val="600"/>
              </a:spcBef>
              <a:spcAft>
                <a:spcPts val="0"/>
              </a:spcAft>
              <a:buNone/>
            </a:pPr>
            <a:r>
              <a:rPr b="0" i="0" lang="en-US" sz="1600" u="none" cap="none" strike="noStrike">
                <a:solidFill>
                  <a:schemeClr val="lt1"/>
                </a:solidFill>
                <a:latin typeface="Calibri"/>
                <a:ea typeface="Calibri"/>
                <a:cs typeface="Calibri"/>
                <a:sym typeface="Calibri"/>
              </a:rPr>
              <a:t>• Explain how plugin namespacing prevents conflicts between extensions</a:t>
            </a:r>
            <a:endParaRPr/>
          </a:p>
          <a:p>
            <a:pPr indent="0" lvl="0" marL="0" marR="0" rtl="0" algn="l">
              <a:spcBef>
                <a:spcPts val="600"/>
              </a:spcBef>
              <a:spcAft>
                <a:spcPts val="0"/>
              </a:spcAft>
              <a:buNone/>
            </a:pPr>
            <a:r>
              <a:rPr b="0" i="0" lang="en-US" sz="1600" u="none" cap="none" strike="noStrike">
                <a:solidFill>
                  <a:schemeClr val="lt1"/>
                </a:solidFill>
                <a:latin typeface="Calibri"/>
                <a:ea typeface="Calibri"/>
                <a:cs typeface="Calibri"/>
                <a:sym typeface="Calibri"/>
              </a:rPr>
              <a:t>• Identify the types of functionality plugins can add (skills, agents, hooks, MCP servers)</a:t>
            </a:r>
            <a:endParaRPr/>
          </a:p>
        </p:txBody>
      </p:sp>
      <p:sp>
        <p:nvSpPr>
          <p:cNvPr id="136" name="Google Shape;136;p16"/>
          <p:cNvSpPr/>
          <p:nvPr/>
        </p:nvSpPr>
        <p:spPr>
          <a:xfrm>
            <a:off x="7467600" y="4541520"/>
            <a:ext cx="1371600" cy="457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dk1"/>
                </a:solidFill>
                <a:latin typeface="Calibri"/>
                <a:ea typeface="Calibri"/>
                <a:cs typeface="Calibri"/>
                <a:sym typeface="Calibri"/>
              </a:rPr>
              <a:t>⏱ 45 minutes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41" name="Shape 141"/>
        <p:cNvGrpSpPr/>
        <p:nvPr/>
      </p:nvGrpSpPr>
      <p:grpSpPr>
        <a:xfrm>
          <a:off x="0" y="0"/>
          <a:ext cx="0" cy="0"/>
          <a:chOff x="0" y="0"/>
          <a:chExt cx="0" cy="0"/>
        </a:xfrm>
      </p:grpSpPr>
      <p:sp>
        <p:nvSpPr>
          <p:cNvPr id="142" name="Google Shape;142;p17"/>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41413"/>
                </a:solidFill>
                <a:latin typeface="Calibri"/>
                <a:ea typeface="Calibri"/>
                <a:cs typeface="Calibri"/>
                <a:sym typeface="Calibri"/>
              </a:rPr>
              <a:t>Plugin Fundamentals</a:t>
            </a:r>
            <a:endParaRPr/>
          </a:p>
        </p:txBody>
      </p:sp>
      <p:sp>
        <p:nvSpPr>
          <p:cNvPr id="143" name="Google Shape;143;p17"/>
          <p:cNvSpPr txBox="1"/>
          <p:nvPr/>
        </p:nvSpPr>
        <p:spPr>
          <a:xfrm>
            <a:off x="731520" y="1188720"/>
            <a:ext cx="36576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1413"/>
                </a:solidFill>
                <a:latin typeface="Calibri"/>
                <a:ea typeface="Calibri"/>
                <a:cs typeface="Calibri"/>
                <a:sym typeface="Calibri"/>
              </a:rPr>
              <a:t>What are plugins?</a:t>
            </a:r>
            <a:endParaRPr/>
          </a:p>
        </p:txBody>
      </p:sp>
      <p:sp>
        <p:nvSpPr>
          <p:cNvPr id="144" name="Google Shape;144;p17"/>
          <p:cNvSpPr txBox="1"/>
          <p:nvPr/>
        </p:nvSpPr>
        <p:spPr>
          <a:xfrm>
            <a:off x="731520" y="1645920"/>
            <a:ext cx="3429000"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Packaged extensions for Claude Code</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Can include: skills, agents, hooks, MCP servers, LSP servers</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Shareable across teams and projects</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Versioned for easy updates</a:t>
            </a:r>
            <a:endParaRPr/>
          </a:p>
        </p:txBody>
      </p:sp>
      <p:sp>
        <p:nvSpPr>
          <p:cNvPr id="145" name="Google Shape;145;p17"/>
          <p:cNvSpPr/>
          <p:nvPr/>
        </p:nvSpPr>
        <p:spPr>
          <a:xfrm>
            <a:off x="4754880" y="1188720"/>
            <a:ext cx="3931920" cy="3200400"/>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6" name="Google Shape;146;p17"/>
          <p:cNvSpPr txBox="1"/>
          <p:nvPr/>
        </p:nvSpPr>
        <p:spPr>
          <a:xfrm>
            <a:off x="4937760" y="1371600"/>
            <a:ext cx="3566160" cy="25391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lt1"/>
                </a:solidFill>
                <a:latin typeface="Calibri"/>
                <a:ea typeface="Calibri"/>
                <a:cs typeface="Calibri"/>
                <a:sym typeface="Calibri"/>
              </a:rPr>
              <a:t>Real-World Use Case</a:t>
            </a:r>
            <a:endParaRPr/>
          </a:p>
          <a:p>
            <a:pPr indent="0" lvl="0" marL="0" marR="0" rtl="0" algn="l">
              <a:spcBef>
                <a:spcPts val="600"/>
              </a:spcBef>
              <a:spcAft>
                <a:spcPts val="0"/>
              </a:spcAft>
              <a:buNone/>
            </a:pPr>
            <a:r>
              <a:rPr b="1" i="0" lang="en-US" sz="1600" u="none" cap="none" strike="noStrike">
                <a:solidFill>
                  <a:schemeClr val="lt1"/>
                </a:solidFill>
                <a:latin typeface="Calibri"/>
                <a:ea typeface="Calibri"/>
                <a:cs typeface="Calibri"/>
                <a:sym typeface="Calibri"/>
              </a:rPr>
              <a:t>Git Workflow Automation</a:t>
            </a:r>
            <a:endParaRPr/>
          </a:p>
          <a:p>
            <a:pPr indent="0" lvl="0" marL="0" marR="0" rtl="0" algn="l">
              <a:spcBef>
                <a:spcPts val="600"/>
              </a:spcBef>
              <a:spcAft>
                <a:spcPts val="0"/>
              </a:spcAft>
              <a:buNone/>
            </a:pPr>
            <a:r>
              <a:rPr b="0" i="0" lang="en-US" sz="1200" u="none" cap="none" strike="noStrike">
                <a:solidFill>
                  <a:schemeClr val="lt1"/>
                </a:solidFill>
                <a:latin typeface="Calibri"/>
                <a:ea typeface="Calibri"/>
                <a:cs typeface="Calibri"/>
                <a:sym typeface="Calibri"/>
              </a:rPr>
              <a:t>The Problem: Development team manually writing commit messages, running linters, updating changelogs</a:t>
            </a:r>
            <a:endParaRPr/>
          </a:p>
          <a:p>
            <a:pPr indent="0" lvl="0" marL="0" marR="0" rtl="0" algn="l">
              <a:spcBef>
                <a:spcPts val="600"/>
              </a:spcBef>
              <a:spcAft>
                <a:spcPts val="0"/>
              </a:spcAft>
              <a:buNone/>
            </a:pPr>
            <a:r>
              <a:rPr b="1" i="0" lang="en-US" sz="1200" u="none" cap="none" strike="noStrike">
                <a:solidFill>
                  <a:schemeClr val="lt1"/>
                </a:solidFill>
                <a:latin typeface="Calibri"/>
                <a:ea typeface="Calibri"/>
                <a:cs typeface="Calibri"/>
                <a:sym typeface="Calibri"/>
              </a:rPr>
              <a:t>The Solution: Custom plugin with:</a:t>
            </a:r>
            <a:endParaRPr/>
          </a:p>
          <a:p>
            <a:pPr indent="0" lvl="0" marL="0" marR="0" rtl="0" algn="l">
              <a:spcBef>
                <a:spcPts val="0"/>
              </a:spcBef>
              <a:spcAft>
                <a:spcPts val="0"/>
              </a:spcAft>
              <a:buNone/>
            </a:pPr>
            <a:r>
              <a:rPr b="0" i="0" lang="en-US" sz="1100" u="none" cap="none" strike="noStrike">
                <a:solidFill>
                  <a:schemeClr val="lt1"/>
                </a:solidFill>
                <a:latin typeface="Calibri"/>
                <a:ea typeface="Calibri"/>
                <a:cs typeface="Calibri"/>
                <a:sym typeface="Calibri"/>
              </a:rPr>
              <a:t>• Skill: Auto-generate commit messages</a:t>
            </a:r>
            <a:endParaRPr/>
          </a:p>
          <a:p>
            <a:pPr indent="0" lvl="0" marL="0" marR="0" rtl="0" algn="l">
              <a:spcBef>
                <a:spcPts val="0"/>
              </a:spcBef>
              <a:spcAft>
                <a:spcPts val="0"/>
              </a:spcAft>
              <a:buNone/>
            </a:pPr>
            <a:r>
              <a:rPr b="0" i="0" lang="en-US" sz="1100" u="none" cap="none" strike="noStrike">
                <a:solidFill>
                  <a:schemeClr val="lt1"/>
                </a:solidFill>
                <a:latin typeface="Calibri"/>
                <a:ea typeface="Calibri"/>
                <a:cs typeface="Calibri"/>
                <a:sym typeface="Calibri"/>
              </a:rPr>
              <a:t>• Hook: Run linter after every file edit</a:t>
            </a:r>
            <a:endParaRPr/>
          </a:p>
          <a:p>
            <a:pPr indent="0" lvl="0" marL="0" marR="0" rtl="0" algn="l">
              <a:spcBef>
                <a:spcPts val="0"/>
              </a:spcBef>
              <a:spcAft>
                <a:spcPts val="0"/>
              </a:spcAft>
              <a:buNone/>
            </a:pPr>
            <a:r>
              <a:rPr b="0" i="0" lang="en-US" sz="1100" u="none" cap="none" strike="noStrike">
                <a:solidFill>
                  <a:schemeClr val="lt1"/>
                </a:solidFill>
                <a:latin typeface="Calibri"/>
                <a:ea typeface="Calibri"/>
                <a:cs typeface="Calibri"/>
                <a:sym typeface="Calibri"/>
              </a:rPr>
              <a:t>• Command: Update CHANGELOG.md</a:t>
            </a:r>
            <a:endParaRPr b="0" i="0" sz="1800" u="none" cap="none" strike="noStrike">
              <a:solidFill>
                <a:schemeClr val="lt1"/>
              </a:solidFill>
              <a:latin typeface="Calibri"/>
              <a:ea typeface="Calibri"/>
              <a:cs typeface="Calibri"/>
              <a:sym typeface="Calibri"/>
            </a:endParaRPr>
          </a:p>
          <a:p>
            <a:pPr indent="0" lvl="0" marL="0" marR="0" rtl="0" algn="l">
              <a:spcBef>
                <a:spcPts val="600"/>
              </a:spcBef>
              <a:spcAft>
                <a:spcPts val="0"/>
              </a:spcAft>
              <a:buNone/>
            </a:pPr>
            <a:r>
              <a:rPr b="1" i="0" lang="en-US" sz="1200" u="none" cap="none" strike="noStrike">
                <a:solidFill>
                  <a:schemeClr val="lt1"/>
                </a:solidFill>
                <a:latin typeface="Calibri"/>
                <a:ea typeface="Calibri"/>
                <a:cs typeface="Calibri"/>
                <a:sym typeface="Calibri"/>
              </a:rPr>
              <a:t>The Result: Team saves 15 minutes per commit, maintains consistency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51" name="Shape 151"/>
        <p:cNvGrpSpPr/>
        <p:nvPr/>
      </p:nvGrpSpPr>
      <p:grpSpPr>
        <a:xfrm>
          <a:off x="0" y="0"/>
          <a:ext cx="0" cy="0"/>
          <a:chOff x="0" y="0"/>
          <a:chExt cx="0" cy="0"/>
        </a:xfrm>
      </p:grpSpPr>
      <p:sp>
        <p:nvSpPr>
          <p:cNvPr id="152" name="Google Shape;152;p18"/>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41413"/>
                </a:solidFill>
                <a:latin typeface="Calibri"/>
                <a:ea typeface="Calibri"/>
                <a:cs typeface="Calibri"/>
                <a:sym typeface="Calibri"/>
              </a:rPr>
              <a:t>Plugins vs Standalone Configurations</a:t>
            </a:r>
            <a:endParaRPr/>
          </a:p>
        </p:txBody>
      </p:sp>
      <p:sp>
        <p:nvSpPr>
          <p:cNvPr id="153" name="Google Shape;153;p18"/>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1413"/>
                </a:solidFill>
                <a:latin typeface="Calibri"/>
                <a:ea typeface="Calibri"/>
                <a:cs typeface="Calibri"/>
                <a:sym typeface="Calibri"/>
              </a:rPr>
              <a:t>When to Use Each Approach</a:t>
            </a:r>
            <a:endParaRPr/>
          </a:p>
        </p:txBody>
      </p:sp>
      <p:sp>
        <p:nvSpPr>
          <p:cNvPr id="154" name="Google Shape;154;p18"/>
          <p:cNvSpPr txBox="1"/>
          <p:nvPr/>
        </p:nvSpPr>
        <p:spPr>
          <a:xfrm>
            <a:off x="73152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36454F"/>
                </a:solidFill>
                <a:latin typeface="Calibri"/>
                <a:ea typeface="Calibri"/>
                <a:cs typeface="Calibri"/>
                <a:sym typeface="Calibri"/>
              </a:rPr>
              <a:t>Comparison table showing key differences and WHY each matters</a:t>
            </a:r>
            <a:endParaRPr/>
          </a:p>
        </p:txBody>
      </p:sp>
      <p:sp>
        <p:nvSpPr>
          <p:cNvPr id="155" name="Google Shape;155;p18"/>
          <p:cNvSpPr txBox="1"/>
          <p:nvPr/>
        </p:nvSpPr>
        <p:spPr>
          <a:xfrm>
            <a:off x="731520" y="2103120"/>
            <a:ext cx="7680960" cy="18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Plugins: Share with team (WHY: ensures consistency, version-controlled updates)</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Plugins: Namespaced commands (WHY: prevents conflicts between different plugins)</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Standalone: Quick iteration (WHY: no packaging overhead, direct file editing)</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Standalone: Short names (WHY: faster to type, better for personal workflows)</a:t>
            </a:r>
            <a:endParaRPr/>
          </a:p>
        </p:txBody>
      </p:sp>
      <p:sp>
        <p:nvSpPr>
          <p:cNvPr id="156" name="Google Shape;156;p18"/>
          <p:cNvSpPr/>
          <p:nvPr/>
        </p:nvSpPr>
        <p:spPr>
          <a:xfrm>
            <a:off x="914400" y="4114800"/>
            <a:ext cx="7315200" cy="498764"/>
          </a:xfrm>
          <a:prstGeom prst="roundRect">
            <a:avLst>
              <a:gd fmla="val 16667" name="adj"/>
            </a:avLst>
          </a:prstGeom>
          <a:solidFill>
            <a:schemeClr val="lt1"/>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141413"/>
                </a:solidFill>
                <a:latin typeface="Calibri"/>
                <a:ea typeface="Calibri"/>
                <a:cs typeface="Calibri"/>
                <a:sym typeface="Calibri"/>
              </a:rPr>
              <a:t>💡 Best Practice: Start with standalone for experiments, convert to plugin when ready to share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61" name="Shape 161"/>
        <p:cNvGrpSpPr/>
        <p:nvPr/>
      </p:nvGrpSpPr>
      <p:grpSpPr>
        <a:xfrm>
          <a:off x="0" y="0"/>
          <a:ext cx="0" cy="0"/>
          <a:chOff x="0" y="0"/>
          <a:chExt cx="0" cy="0"/>
        </a:xfrm>
      </p:grpSpPr>
      <p:sp>
        <p:nvSpPr>
          <p:cNvPr id="162" name="Google Shape;162;p19"/>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41413"/>
                </a:solidFill>
                <a:latin typeface="Calibri"/>
                <a:ea typeface="Calibri"/>
                <a:cs typeface="Calibri"/>
                <a:sym typeface="Calibri"/>
              </a:rPr>
              <a:t>Plugin Namespacing</a:t>
            </a:r>
            <a:endParaRPr/>
          </a:p>
        </p:txBody>
      </p:sp>
      <p:sp>
        <p:nvSpPr>
          <p:cNvPr id="163" name="Google Shape;163;p19"/>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1413"/>
                </a:solidFill>
                <a:latin typeface="Calibri"/>
                <a:ea typeface="Calibri"/>
                <a:cs typeface="Calibri"/>
                <a:sym typeface="Calibri"/>
              </a:rPr>
              <a:t>Why Namespacing Exists</a:t>
            </a:r>
            <a:endParaRPr/>
          </a:p>
        </p:txBody>
      </p:sp>
      <p:sp>
        <p:nvSpPr>
          <p:cNvPr id="164" name="Google Shape;164;p19"/>
          <p:cNvSpPr txBox="1"/>
          <p:nvPr/>
        </p:nvSpPr>
        <p:spPr>
          <a:xfrm>
            <a:off x="731520" y="1645920"/>
            <a:ext cx="7680960" cy="10972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141413"/>
                </a:solidFill>
                <a:latin typeface="Calibri"/>
                <a:ea typeface="Calibri"/>
                <a:cs typeface="Calibri"/>
                <a:sym typeface="Calibri"/>
              </a:rPr>
              <a:t>Plugin skills are always namespaced to prevent conflicts. Without namespacing, if two plugins both provide a /review command, Claude Code wouldn't know which one to use.</a:t>
            </a:r>
            <a:endParaRPr/>
          </a:p>
        </p:txBody>
      </p:sp>
      <p:sp>
        <p:nvSpPr>
          <p:cNvPr id="165" name="Google Shape;165;p19"/>
          <p:cNvSpPr txBox="1"/>
          <p:nvPr/>
        </p:nvSpPr>
        <p:spPr>
          <a:xfrm>
            <a:off x="731520" y="274320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1413"/>
                </a:solidFill>
                <a:latin typeface="Calibri"/>
                <a:ea typeface="Calibri"/>
                <a:cs typeface="Calibri"/>
                <a:sym typeface="Calibri"/>
              </a:rPr>
              <a:t>How It Works</a:t>
            </a:r>
            <a:endParaRPr/>
          </a:p>
        </p:txBody>
      </p:sp>
      <p:sp>
        <p:nvSpPr>
          <p:cNvPr id="166" name="Google Shape;166;p19"/>
          <p:cNvSpPr txBox="1"/>
          <p:nvPr/>
        </p:nvSpPr>
        <p:spPr>
          <a:xfrm>
            <a:off x="914400" y="3291840"/>
            <a:ext cx="13716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6454F"/>
                </a:solidFill>
                <a:latin typeface="Calibri"/>
                <a:ea typeface="Calibri"/>
                <a:cs typeface="Calibri"/>
                <a:sym typeface="Calibri"/>
              </a:rPr>
              <a:t>Standalone:</a:t>
            </a:r>
            <a:endParaRPr/>
          </a:p>
        </p:txBody>
      </p:sp>
      <p:sp>
        <p:nvSpPr>
          <p:cNvPr id="167" name="Google Shape;167;p19"/>
          <p:cNvSpPr/>
          <p:nvPr/>
        </p:nvSpPr>
        <p:spPr>
          <a:xfrm>
            <a:off x="2377440" y="3291840"/>
            <a:ext cx="3419856" cy="27432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rgbClr val="FFFFFF"/>
                </a:solidFill>
                <a:latin typeface="Consolas"/>
                <a:ea typeface="Consolas"/>
                <a:cs typeface="Consolas"/>
                <a:sym typeface="Consolas"/>
              </a:rPr>
              <a:t>/hello</a:t>
            </a:r>
            <a:endParaRPr/>
          </a:p>
        </p:txBody>
      </p:sp>
      <p:sp>
        <p:nvSpPr>
          <p:cNvPr id="168" name="Google Shape;168;p19"/>
          <p:cNvSpPr txBox="1"/>
          <p:nvPr/>
        </p:nvSpPr>
        <p:spPr>
          <a:xfrm>
            <a:off x="6053328" y="3291840"/>
            <a:ext cx="249631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200" u="none" cap="none" strike="noStrike">
                <a:solidFill>
                  <a:srgbClr val="36454F"/>
                </a:solidFill>
                <a:latin typeface="Calibri"/>
                <a:ea typeface="Calibri"/>
                <a:cs typeface="Calibri"/>
                <a:sym typeface="Calibri"/>
              </a:rPr>
              <a:t>Short, direct command</a:t>
            </a:r>
            <a:endParaRPr/>
          </a:p>
        </p:txBody>
      </p:sp>
      <p:sp>
        <p:nvSpPr>
          <p:cNvPr id="169" name="Google Shape;169;p19"/>
          <p:cNvSpPr txBox="1"/>
          <p:nvPr/>
        </p:nvSpPr>
        <p:spPr>
          <a:xfrm>
            <a:off x="914400" y="3703320"/>
            <a:ext cx="13716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6454F"/>
                </a:solidFill>
                <a:latin typeface="Calibri"/>
                <a:ea typeface="Calibri"/>
                <a:cs typeface="Calibri"/>
                <a:sym typeface="Calibri"/>
              </a:rPr>
              <a:t>Plugin:</a:t>
            </a:r>
            <a:endParaRPr/>
          </a:p>
        </p:txBody>
      </p:sp>
      <p:sp>
        <p:nvSpPr>
          <p:cNvPr id="170" name="Google Shape;170;p19"/>
          <p:cNvSpPr/>
          <p:nvPr/>
        </p:nvSpPr>
        <p:spPr>
          <a:xfrm>
            <a:off x="2377440" y="3703320"/>
            <a:ext cx="3419856" cy="27432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rgbClr val="FFFFFF"/>
                </a:solidFill>
                <a:latin typeface="Consolas"/>
                <a:ea typeface="Consolas"/>
                <a:cs typeface="Consolas"/>
                <a:sym typeface="Consolas"/>
              </a:rPr>
              <a:t>/my-plugin:hello</a:t>
            </a:r>
            <a:endParaRPr/>
          </a:p>
        </p:txBody>
      </p:sp>
      <p:sp>
        <p:nvSpPr>
          <p:cNvPr id="171" name="Google Shape;171;p19"/>
          <p:cNvSpPr txBox="1"/>
          <p:nvPr/>
        </p:nvSpPr>
        <p:spPr>
          <a:xfrm>
            <a:off x="6053328" y="3703320"/>
            <a:ext cx="249631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200" u="none" cap="none" strike="noStrike">
                <a:solidFill>
                  <a:srgbClr val="36454F"/>
                </a:solidFill>
                <a:latin typeface="Calibri"/>
                <a:ea typeface="Calibri"/>
                <a:cs typeface="Calibri"/>
                <a:sym typeface="Calibri"/>
              </a:rPr>
              <a:t>Namespaced with plugin name</a:t>
            </a:r>
            <a:endParaRPr/>
          </a:p>
        </p:txBody>
      </p:sp>
      <p:sp>
        <p:nvSpPr>
          <p:cNvPr id="172" name="Google Shape;172;p19"/>
          <p:cNvSpPr txBox="1"/>
          <p:nvPr/>
        </p:nvSpPr>
        <p:spPr>
          <a:xfrm>
            <a:off x="914400" y="4114800"/>
            <a:ext cx="13716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6454F"/>
                </a:solidFill>
                <a:latin typeface="Calibri"/>
                <a:ea typeface="Calibri"/>
                <a:cs typeface="Calibri"/>
                <a:sym typeface="Calibri"/>
              </a:rPr>
              <a:t>Multiple:</a:t>
            </a:r>
            <a:endParaRPr/>
          </a:p>
        </p:txBody>
      </p:sp>
      <p:sp>
        <p:nvSpPr>
          <p:cNvPr id="173" name="Google Shape;173;p19"/>
          <p:cNvSpPr/>
          <p:nvPr/>
        </p:nvSpPr>
        <p:spPr>
          <a:xfrm>
            <a:off x="2377440" y="4114800"/>
            <a:ext cx="3419856" cy="27432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rgbClr val="FFFFFF"/>
                </a:solidFill>
                <a:latin typeface="Consolas"/>
                <a:ea typeface="Consolas"/>
                <a:cs typeface="Consolas"/>
                <a:sym typeface="Consolas"/>
              </a:rPr>
              <a:t>/plugin-a:review vs /plugin-b:review</a:t>
            </a:r>
            <a:endParaRPr/>
          </a:p>
        </p:txBody>
      </p:sp>
      <p:sp>
        <p:nvSpPr>
          <p:cNvPr id="174" name="Google Shape;174;p19"/>
          <p:cNvSpPr txBox="1"/>
          <p:nvPr/>
        </p:nvSpPr>
        <p:spPr>
          <a:xfrm>
            <a:off x="6053328" y="4114800"/>
            <a:ext cx="2496312"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200" u="none" cap="none" strike="noStrike">
                <a:solidFill>
                  <a:srgbClr val="36454F"/>
                </a:solidFill>
                <a:latin typeface="Calibri"/>
                <a:ea typeface="Calibri"/>
                <a:cs typeface="Calibri"/>
                <a:sym typeface="Calibri"/>
              </a:rPr>
              <a:t>No conflicts!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p:nvPr/>
        </p:nvSpPr>
        <p:spPr>
          <a:xfrm>
            <a:off x="0" y="0"/>
            <a:ext cx="2632364" cy="5143500"/>
          </a:xfrm>
          <a:prstGeom prst="rect">
            <a:avLst/>
          </a:prstGeom>
          <a:solidFill>
            <a:srgbClr val="788C5D"/>
          </a:solidFill>
          <a:ln cap="flat" cmpd="sng" w="9525">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1" name="Google Shape;181;p20"/>
          <p:cNvSpPr txBox="1"/>
          <p:nvPr/>
        </p:nvSpPr>
        <p:spPr>
          <a:xfrm>
            <a:off x="278911" y="3079865"/>
            <a:ext cx="2074542" cy="15696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200" u="none" cap="none" strike="noStrike">
                <a:solidFill>
                  <a:schemeClr val="lt1"/>
                </a:solidFill>
                <a:latin typeface="Calibri"/>
                <a:ea typeface="Calibri"/>
                <a:cs typeface="Calibri"/>
                <a:sym typeface="Calibri"/>
              </a:rPr>
              <a:t>Module 1:</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rPr b="1" i="0" lang="en-US" sz="3200" u="none" cap="none" strike="noStrike">
                <a:solidFill>
                  <a:schemeClr val="lt1"/>
                </a:solidFill>
                <a:latin typeface="Calibri"/>
                <a:ea typeface="Calibri"/>
                <a:cs typeface="Calibri"/>
                <a:sym typeface="Calibri"/>
              </a:rPr>
              <a:t>Knowledge</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rPr b="1" i="0" lang="en-US" sz="3200" u="none" cap="none" strike="noStrike">
                <a:solidFill>
                  <a:schemeClr val="lt1"/>
                </a:solidFill>
                <a:latin typeface="Calibri"/>
                <a:ea typeface="Calibri"/>
                <a:cs typeface="Calibri"/>
                <a:sym typeface="Calibri"/>
              </a:rPr>
              <a:t>Check</a:t>
            </a:r>
            <a:endParaRPr/>
          </a:p>
        </p:txBody>
      </p:sp>
      <p:pic>
        <p:nvPicPr>
          <p:cNvPr descr="Brain with solid fill" id="182" name="Google Shape;182;p20"/>
          <p:cNvPicPr preferRelativeResize="0"/>
          <p:nvPr/>
        </p:nvPicPr>
        <p:blipFill rotWithShape="1">
          <a:blip r:embed="rId3">
            <a:alphaModFix/>
          </a:blip>
          <a:srcRect b="0" l="0" r="0" t="0"/>
          <a:stretch/>
        </p:blipFill>
        <p:spPr>
          <a:xfrm>
            <a:off x="969818" y="2376055"/>
            <a:ext cx="703810" cy="703810"/>
          </a:xfrm>
          <a:prstGeom prst="rect">
            <a:avLst/>
          </a:prstGeom>
          <a:noFill/>
          <a:ln>
            <a:noFill/>
          </a:ln>
        </p:spPr>
      </p:pic>
      <p:sp>
        <p:nvSpPr>
          <p:cNvPr id="183" name="Google Shape;183;p20"/>
          <p:cNvSpPr txBox="1"/>
          <p:nvPr/>
        </p:nvSpPr>
        <p:spPr>
          <a:xfrm>
            <a:off x="3129308" y="834391"/>
            <a:ext cx="546096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41413"/>
                </a:solidFill>
                <a:latin typeface="Calibri"/>
                <a:ea typeface="Calibri"/>
                <a:cs typeface="Calibri"/>
                <a:sym typeface="Calibri"/>
              </a:rPr>
              <a:t>Which scenario is BEST suited for creating a plugin rather than using standalone configuration?</a:t>
            </a:r>
            <a:endParaRPr/>
          </a:p>
        </p:txBody>
      </p:sp>
      <p:sp>
        <p:nvSpPr>
          <p:cNvPr id="184" name="Google Shape;184;p20"/>
          <p:cNvSpPr txBox="1"/>
          <p:nvPr/>
        </p:nvSpPr>
        <p:spPr>
          <a:xfrm>
            <a:off x="3312187" y="1291591"/>
            <a:ext cx="532612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A) You're experimenting with a new skill for personal use</a:t>
            </a:r>
            <a:endParaRPr/>
          </a:p>
        </p:txBody>
      </p:sp>
      <p:sp>
        <p:nvSpPr>
          <p:cNvPr id="185" name="Google Shape;185;p20"/>
          <p:cNvSpPr txBox="1"/>
          <p:nvPr/>
        </p:nvSpPr>
        <p:spPr>
          <a:xfrm>
            <a:off x="3312187" y="1565911"/>
            <a:ext cx="532612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788C5D"/>
                </a:solidFill>
                <a:latin typeface="Calibri"/>
                <a:ea typeface="Calibri"/>
                <a:cs typeface="Calibri"/>
                <a:sym typeface="Calibri"/>
              </a:rPr>
              <a:t>B) You need to share custom functionality with your entire team</a:t>
            </a:r>
            <a:endParaRPr/>
          </a:p>
        </p:txBody>
      </p:sp>
      <p:sp>
        <p:nvSpPr>
          <p:cNvPr id="186" name="Google Shape;186;p20"/>
          <p:cNvSpPr txBox="1"/>
          <p:nvPr/>
        </p:nvSpPr>
        <p:spPr>
          <a:xfrm>
            <a:off x="3312187" y="1840230"/>
            <a:ext cx="532612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C) You want a short skill name like /hello</a:t>
            </a:r>
            <a:endParaRPr/>
          </a:p>
        </p:txBody>
      </p:sp>
      <p:sp>
        <p:nvSpPr>
          <p:cNvPr id="187" name="Google Shape;187;p20"/>
          <p:cNvSpPr txBox="1"/>
          <p:nvPr/>
        </p:nvSpPr>
        <p:spPr>
          <a:xfrm>
            <a:off x="3312187" y="2114550"/>
            <a:ext cx="532612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D) You're customizing Claude Code for a single project</a:t>
            </a:r>
            <a:endParaRPr/>
          </a:p>
        </p:txBody>
      </p:sp>
      <p:sp>
        <p:nvSpPr>
          <p:cNvPr id="188" name="Google Shape;188;p20"/>
          <p:cNvSpPr txBox="1"/>
          <p:nvPr/>
        </p:nvSpPr>
        <p:spPr>
          <a:xfrm>
            <a:off x="3129308" y="2571750"/>
            <a:ext cx="546096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41413"/>
                </a:solidFill>
                <a:latin typeface="Calibri"/>
                <a:ea typeface="Calibri"/>
                <a:cs typeface="Calibri"/>
                <a:sym typeface="Calibri"/>
              </a:rPr>
              <a:t>What is the primary purpose of plugin namespacing?</a:t>
            </a:r>
            <a:endParaRPr/>
          </a:p>
        </p:txBody>
      </p:sp>
      <p:sp>
        <p:nvSpPr>
          <p:cNvPr id="189" name="Google Shape;189;p20"/>
          <p:cNvSpPr txBox="1"/>
          <p:nvPr/>
        </p:nvSpPr>
        <p:spPr>
          <a:xfrm>
            <a:off x="3312187" y="3028950"/>
            <a:ext cx="532612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A) To make commands longer and more descriptive</a:t>
            </a:r>
            <a:endParaRPr/>
          </a:p>
        </p:txBody>
      </p:sp>
      <p:sp>
        <p:nvSpPr>
          <p:cNvPr id="190" name="Google Shape;190;p20"/>
          <p:cNvSpPr txBox="1"/>
          <p:nvPr/>
        </p:nvSpPr>
        <p:spPr>
          <a:xfrm>
            <a:off x="3312187" y="3303270"/>
            <a:ext cx="532612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788C5D"/>
                </a:solidFill>
                <a:latin typeface="Calibri"/>
                <a:ea typeface="Calibri"/>
                <a:cs typeface="Calibri"/>
                <a:sym typeface="Calibri"/>
              </a:rPr>
              <a:t>B) To prevent naming conflicts between different plugins</a:t>
            </a:r>
            <a:endParaRPr/>
          </a:p>
        </p:txBody>
      </p:sp>
      <p:sp>
        <p:nvSpPr>
          <p:cNvPr id="191" name="Google Shape;191;p20"/>
          <p:cNvSpPr txBox="1"/>
          <p:nvPr/>
        </p:nvSpPr>
        <p:spPr>
          <a:xfrm>
            <a:off x="3312187" y="3577590"/>
            <a:ext cx="532612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C) To organize files within the plugin directory</a:t>
            </a:r>
            <a:endParaRPr/>
          </a:p>
        </p:txBody>
      </p:sp>
      <p:sp>
        <p:nvSpPr>
          <p:cNvPr id="192" name="Google Shape;192;p20"/>
          <p:cNvSpPr txBox="1"/>
          <p:nvPr/>
        </p:nvSpPr>
        <p:spPr>
          <a:xfrm>
            <a:off x="3312187" y="3851910"/>
            <a:ext cx="532612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D) To distinguish between user and system commands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97" name="Shape 197"/>
        <p:cNvGrpSpPr/>
        <p:nvPr/>
      </p:nvGrpSpPr>
      <p:grpSpPr>
        <a:xfrm>
          <a:off x="0" y="0"/>
          <a:ext cx="0" cy="0"/>
          <a:chOff x="0" y="0"/>
          <a:chExt cx="0" cy="0"/>
        </a:xfrm>
      </p:grpSpPr>
      <p:sp>
        <p:nvSpPr>
          <p:cNvPr id="198" name="Google Shape;198;p21"/>
          <p:cNvSpPr txBox="1"/>
          <p:nvPr/>
        </p:nvSpPr>
        <p:spPr>
          <a:xfrm>
            <a:off x="457200" y="502920"/>
            <a:ext cx="758952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41413"/>
                </a:solidFill>
                <a:latin typeface="Calibri"/>
                <a:ea typeface="Calibri"/>
                <a:cs typeface="Calibri"/>
                <a:sym typeface="Calibri"/>
              </a:rPr>
              <a:t>Module 1 Summary</a:t>
            </a:r>
            <a:endParaRPr/>
          </a:p>
        </p:txBody>
      </p:sp>
      <p:sp>
        <p:nvSpPr>
          <p:cNvPr id="199" name="Google Shape;199;p21"/>
          <p:cNvSpPr txBox="1"/>
          <p:nvPr/>
        </p:nvSpPr>
        <p:spPr>
          <a:xfrm>
            <a:off x="457200" y="1051560"/>
            <a:ext cx="75895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800" u="none" cap="none" strike="noStrike">
                <a:solidFill>
                  <a:srgbClr val="36454F"/>
                </a:solidFill>
                <a:latin typeface="Calibri"/>
                <a:ea typeface="Calibri"/>
                <a:cs typeface="Calibri"/>
                <a:sym typeface="Calibri"/>
              </a:rPr>
              <a:t>What Plugins Are and How They Work</a:t>
            </a:r>
            <a:endParaRPr/>
          </a:p>
        </p:txBody>
      </p:sp>
      <p:sp>
        <p:nvSpPr>
          <p:cNvPr id="200" name="Google Shape;200;p21"/>
          <p:cNvSpPr txBox="1"/>
          <p:nvPr/>
        </p:nvSpPr>
        <p:spPr>
          <a:xfrm>
            <a:off x="45720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1413"/>
                </a:solidFill>
                <a:latin typeface="Calibri"/>
                <a:ea typeface="Calibri"/>
                <a:cs typeface="Calibri"/>
                <a:sym typeface="Calibri"/>
              </a:rPr>
              <a:t>Key Takeaways</a:t>
            </a:r>
            <a:endParaRPr/>
          </a:p>
        </p:txBody>
      </p:sp>
      <p:sp>
        <p:nvSpPr>
          <p:cNvPr id="201" name="Google Shape;201;p21"/>
          <p:cNvSpPr txBox="1"/>
          <p:nvPr/>
        </p:nvSpPr>
        <p:spPr>
          <a:xfrm>
            <a:off x="457200" y="2103120"/>
            <a:ext cx="5389418" cy="2369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141413"/>
                </a:solidFill>
                <a:latin typeface="Calibri"/>
                <a:ea typeface="Calibri"/>
                <a:cs typeface="Calibri"/>
                <a:sym typeface="Calibri"/>
              </a:rPr>
              <a:t>• Plugins are packaged extensions that bundle skills, agents, hooks, and MCP servers for sharing</a:t>
            </a:r>
            <a:endParaRPr/>
          </a:p>
          <a:p>
            <a:pPr indent="0" lvl="0" marL="0" marR="0" rtl="0" algn="l">
              <a:spcBef>
                <a:spcPts val="800"/>
              </a:spcBef>
              <a:spcAft>
                <a:spcPts val="0"/>
              </a:spcAft>
              <a:buNone/>
            </a:pPr>
            <a:r>
              <a:rPr b="0" i="0" lang="en-US" sz="1600" u="none" cap="none" strike="noStrike">
                <a:solidFill>
                  <a:srgbClr val="141413"/>
                </a:solidFill>
                <a:latin typeface="Calibri"/>
                <a:ea typeface="Calibri"/>
                <a:cs typeface="Calibri"/>
                <a:sym typeface="Calibri"/>
              </a:rPr>
              <a:t>• Use plugins when sharing with teams; use standalone for personal workflows and quick iteration</a:t>
            </a:r>
            <a:endParaRPr/>
          </a:p>
          <a:p>
            <a:pPr indent="0" lvl="0" marL="0" marR="0" rtl="0" algn="l">
              <a:spcBef>
                <a:spcPts val="800"/>
              </a:spcBef>
              <a:spcAft>
                <a:spcPts val="0"/>
              </a:spcAft>
              <a:buNone/>
            </a:pPr>
            <a:r>
              <a:rPr b="0" i="0" lang="en-US" sz="1600" u="none" cap="none" strike="noStrike">
                <a:solidFill>
                  <a:srgbClr val="141413"/>
                </a:solidFill>
                <a:latin typeface="Calibri"/>
                <a:ea typeface="Calibri"/>
                <a:cs typeface="Calibri"/>
                <a:sym typeface="Calibri"/>
              </a:rPr>
              <a:t>• Plugin namespacing (e.g., /plugin-name:command) prevents conflicts between plugins</a:t>
            </a:r>
            <a:endParaRPr/>
          </a:p>
          <a:p>
            <a:pPr indent="0" lvl="0" marL="0" marR="0" rtl="0" algn="l">
              <a:spcBef>
                <a:spcPts val="800"/>
              </a:spcBef>
              <a:spcAft>
                <a:spcPts val="0"/>
              </a:spcAft>
              <a:buNone/>
            </a:pPr>
            <a:r>
              <a:rPr b="0" i="0" lang="en-US" sz="1600" u="none" cap="none" strike="noStrike">
                <a:solidFill>
                  <a:srgbClr val="141413"/>
                </a:solidFill>
                <a:latin typeface="Calibri"/>
                <a:ea typeface="Calibri"/>
                <a:cs typeface="Calibri"/>
                <a:sym typeface="Calibri"/>
              </a:rPr>
              <a:t>• Start with standalone configurations, then convert to plugins when ready to distribute</a:t>
            </a:r>
            <a:endParaRPr/>
          </a:p>
        </p:txBody>
      </p:sp>
      <p:sp>
        <p:nvSpPr>
          <p:cNvPr id="202" name="Google Shape;202;p21"/>
          <p:cNvSpPr/>
          <p:nvPr/>
        </p:nvSpPr>
        <p:spPr>
          <a:xfrm>
            <a:off x="6511636" y="0"/>
            <a:ext cx="2632364" cy="5143500"/>
          </a:xfrm>
          <a:prstGeom prst="rect">
            <a:avLst/>
          </a:prstGeom>
          <a:solidFill>
            <a:srgbClr val="D97757"/>
          </a:solidFill>
          <a:ln cap="flat" cmpd="sng" w="9525">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Key with solid fill" id="203" name="Google Shape;203;p21"/>
          <p:cNvPicPr preferRelativeResize="0"/>
          <p:nvPr/>
        </p:nvPicPr>
        <p:blipFill rotWithShape="1">
          <a:blip r:embed="rId3">
            <a:alphaModFix/>
          </a:blip>
          <a:srcRect b="0" l="0" r="0" t="0"/>
          <a:stretch/>
        </p:blipFill>
        <p:spPr>
          <a:xfrm>
            <a:off x="7370618" y="502920"/>
            <a:ext cx="914400" cy="914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7757"/>
        </a:solidFill>
      </p:bgPr>
    </p:bg>
    <p:spTree>
      <p:nvGrpSpPr>
        <p:cNvPr id="208" name="Shape 208"/>
        <p:cNvGrpSpPr/>
        <p:nvPr/>
      </p:nvGrpSpPr>
      <p:grpSpPr>
        <a:xfrm>
          <a:off x="0" y="0"/>
          <a:ext cx="0" cy="0"/>
          <a:chOff x="0" y="0"/>
          <a:chExt cx="0" cy="0"/>
        </a:xfrm>
      </p:grpSpPr>
      <p:sp>
        <p:nvSpPr>
          <p:cNvPr id="209" name="Google Shape;209;p22"/>
          <p:cNvSpPr txBox="1"/>
          <p:nvPr/>
        </p:nvSpPr>
        <p:spPr>
          <a:xfrm>
            <a:off x="609600" y="655320"/>
            <a:ext cx="5140831"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chemeClr val="lt1"/>
                </a:solidFill>
                <a:latin typeface="Calibri"/>
                <a:ea typeface="Calibri"/>
                <a:cs typeface="Calibri"/>
                <a:sym typeface="Calibri"/>
              </a:rPr>
              <a:t>Module 2: Plugin Marketplaces</a:t>
            </a:r>
            <a:endParaRPr b="0" i="0" sz="1800" u="none" cap="none" strike="noStrike">
              <a:solidFill>
                <a:schemeClr val="lt1"/>
              </a:solidFill>
              <a:latin typeface="Calibri"/>
              <a:ea typeface="Calibri"/>
              <a:cs typeface="Calibri"/>
              <a:sym typeface="Calibri"/>
            </a:endParaRPr>
          </a:p>
        </p:txBody>
      </p:sp>
      <p:sp>
        <p:nvSpPr>
          <p:cNvPr id="210" name="Google Shape;210;p22"/>
          <p:cNvSpPr txBox="1"/>
          <p:nvPr/>
        </p:nvSpPr>
        <p:spPr>
          <a:xfrm>
            <a:off x="609600" y="1203960"/>
            <a:ext cx="223080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lt1"/>
                </a:solidFill>
                <a:latin typeface="Calibri"/>
                <a:ea typeface="Calibri"/>
                <a:cs typeface="Calibri"/>
                <a:sym typeface="Calibri"/>
              </a:rPr>
              <a:t>Learning Objectives</a:t>
            </a:r>
            <a:endParaRPr/>
          </a:p>
        </p:txBody>
      </p:sp>
      <p:sp>
        <p:nvSpPr>
          <p:cNvPr id="211" name="Google Shape;211;p22"/>
          <p:cNvSpPr txBox="1"/>
          <p:nvPr/>
        </p:nvSpPr>
        <p:spPr>
          <a:xfrm>
            <a:off x="609600" y="1798320"/>
            <a:ext cx="6457217" cy="1308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lt1"/>
                </a:solidFill>
                <a:latin typeface="Calibri"/>
                <a:ea typeface="Calibri"/>
                <a:cs typeface="Calibri"/>
                <a:sym typeface="Calibri"/>
              </a:rPr>
              <a:t>• Explain the purpose of plugin marketplaces in the Claude Code ecosystem</a:t>
            </a:r>
            <a:endParaRPr/>
          </a:p>
          <a:p>
            <a:pPr indent="0" lvl="0" marL="0" marR="0" rtl="0" algn="l">
              <a:spcBef>
                <a:spcPts val="600"/>
              </a:spcBef>
              <a:spcAft>
                <a:spcPts val="0"/>
              </a:spcAft>
              <a:buNone/>
            </a:pPr>
            <a:r>
              <a:rPr b="0" i="0" lang="en-US" sz="1600" u="none" cap="none" strike="noStrike">
                <a:solidFill>
                  <a:schemeClr val="lt1"/>
                </a:solidFill>
                <a:latin typeface="Calibri"/>
                <a:ea typeface="Calibri"/>
                <a:cs typeface="Calibri"/>
                <a:sym typeface="Calibri"/>
              </a:rPr>
              <a:t>• Distinguish between official and community/demo marketplaces</a:t>
            </a:r>
            <a:endParaRPr/>
          </a:p>
          <a:p>
            <a:pPr indent="0" lvl="0" marL="0" marR="0" rtl="0" algn="l">
              <a:spcBef>
                <a:spcPts val="600"/>
              </a:spcBef>
              <a:spcAft>
                <a:spcPts val="0"/>
              </a:spcAft>
              <a:buNone/>
            </a:pPr>
            <a:r>
              <a:rPr b="0" i="0" lang="en-US" sz="1600" u="none" cap="none" strike="noStrike">
                <a:solidFill>
                  <a:schemeClr val="lt1"/>
                </a:solidFill>
                <a:latin typeface="Calibri"/>
                <a:ea typeface="Calibri"/>
                <a:cs typeface="Calibri"/>
                <a:sym typeface="Calibri"/>
              </a:rPr>
              <a:t>• Navigate the plugin discovery interface to find relevant plugins</a:t>
            </a:r>
            <a:endParaRPr/>
          </a:p>
          <a:p>
            <a:pPr indent="0" lvl="0" marL="0" marR="0" rtl="0" algn="l">
              <a:spcBef>
                <a:spcPts val="600"/>
              </a:spcBef>
              <a:spcAft>
                <a:spcPts val="0"/>
              </a:spcAft>
              <a:buNone/>
            </a:pPr>
            <a:r>
              <a:rPr b="0" i="0" lang="en-US" sz="1600" u="none" cap="none" strike="noStrike">
                <a:solidFill>
                  <a:schemeClr val="lt1"/>
                </a:solidFill>
                <a:latin typeface="Calibri"/>
                <a:ea typeface="Calibri"/>
                <a:cs typeface="Calibri"/>
                <a:sym typeface="Calibri"/>
              </a:rPr>
              <a:t>• Evaluate plugin security and trustworthiness before installation</a:t>
            </a:r>
            <a:endParaRPr/>
          </a:p>
        </p:txBody>
      </p:sp>
      <p:sp>
        <p:nvSpPr>
          <p:cNvPr id="212" name="Google Shape;212;p22"/>
          <p:cNvSpPr/>
          <p:nvPr/>
        </p:nvSpPr>
        <p:spPr>
          <a:xfrm>
            <a:off x="7467600" y="4541520"/>
            <a:ext cx="1371600" cy="457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dk1"/>
                </a:solidFill>
                <a:latin typeface="Calibri"/>
                <a:ea typeface="Calibri"/>
                <a:cs typeface="Calibri"/>
                <a:sym typeface="Calibri"/>
              </a:rPr>
              <a:t>⏱ 30 minutes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17" name="Shape 217"/>
        <p:cNvGrpSpPr/>
        <p:nvPr/>
      </p:nvGrpSpPr>
      <p:grpSpPr>
        <a:xfrm>
          <a:off x="0" y="0"/>
          <a:ext cx="0" cy="0"/>
          <a:chOff x="0" y="0"/>
          <a:chExt cx="0" cy="0"/>
        </a:xfrm>
      </p:grpSpPr>
      <p:sp>
        <p:nvSpPr>
          <p:cNvPr id="218" name="Google Shape;218;p23"/>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41413"/>
                </a:solidFill>
                <a:latin typeface="Calibri"/>
                <a:ea typeface="Calibri"/>
                <a:cs typeface="Calibri"/>
                <a:sym typeface="Calibri"/>
              </a:rPr>
              <a:t>What are Plugin Marketplaces?</a:t>
            </a:r>
            <a:endParaRPr/>
          </a:p>
        </p:txBody>
      </p:sp>
      <p:sp>
        <p:nvSpPr>
          <p:cNvPr id="219" name="Google Shape;219;p23"/>
          <p:cNvSpPr txBox="1"/>
          <p:nvPr/>
        </p:nvSpPr>
        <p:spPr>
          <a:xfrm>
            <a:off x="731520" y="1188720"/>
            <a:ext cx="440851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1413"/>
                </a:solidFill>
                <a:latin typeface="Calibri"/>
                <a:ea typeface="Calibri"/>
                <a:cs typeface="Calibri"/>
                <a:sym typeface="Calibri"/>
              </a:rPr>
              <a:t>Marketplaces are Catalogs of Plugins</a:t>
            </a:r>
            <a:endParaRPr/>
          </a:p>
        </p:txBody>
      </p:sp>
      <p:sp>
        <p:nvSpPr>
          <p:cNvPr id="220" name="Google Shape;220;p23"/>
          <p:cNvSpPr txBox="1"/>
          <p:nvPr/>
        </p:nvSpPr>
        <p:spPr>
          <a:xfrm>
            <a:off x="731519" y="1645920"/>
            <a:ext cx="5759335"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Centralized discovery: Browse available plugins from multiple authors</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Version tracking: See plugin versions and update history</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Automatic updates: Get notified when new versions are available</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Multiple sources: Support for git repositories, local paths, and more</a:t>
            </a:r>
            <a:endParaRPr/>
          </a:p>
        </p:txBody>
      </p:sp>
      <p:sp>
        <p:nvSpPr>
          <p:cNvPr id="221" name="Google Shape;221;p23"/>
          <p:cNvSpPr txBox="1"/>
          <p:nvPr/>
        </p:nvSpPr>
        <p:spPr>
          <a:xfrm>
            <a:off x="731520" y="2840663"/>
            <a:ext cx="440851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1413"/>
                </a:solidFill>
                <a:latin typeface="Calibri"/>
                <a:ea typeface="Calibri"/>
                <a:cs typeface="Calibri"/>
                <a:sym typeface="Calibri"/>
              </a:rPr>
              <a:t>Two-Step Process</a:t>
            </a:r>
            <a:endParaRPr/>
          </a:p>
        </p:txBody>
      </p:sp>
      <p:sp>
        <p:nvSpPr>
          <p:cNvPr id="222" name="Google Shape;222;p23"/>
          <p:cNvSpPr txBox="1"/>
          <p:nvPr/>
        </p:nvSpPr>
        <p:spPr>
          <a:xfrm>
            <a:off x="731519" y="3297863"/>
            <a:ext cx="575933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Step 1: Add the marketplace (registers the catalog)</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Step 2: Install individual plugins you want</a:t>
            </a:r>
            <a:endParaRPr/>
          </a:p>
        </p:txBody>
      </p:sp>
      <p:sp>
        <p:nvSpPr>
          <p:cNvPr id="223" name="Google Shape;223;p23"/>
          <p:cNvSpPr/>
          <p:nvPr/>
        </p:nvSpPr>
        <p:spPr>
          <a:xfrm>
            <a:off x="6906491" y="1330036"/>
            <a:ext cx="1780308" cy="3059084"/>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chemeClr val="lt1"/>
                </a:solidFill>
                <a:latin typeface="Calibri"/>
                <a:ea typeface="Calibri"/>
                <a:cs typeface="Calibri"/>
                <a:sym typeface="Calibri"/>
              </a:rPr>
              <a:t>Think of it like adding an app store: adding the store lets you browse, but you choose which apps to install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28" name="Shape 228"/>
        <p:cNvGrpSpPr/>
        <p:nvPr/>
      </p:nvGrpSpPr>
      <p:grpSpPr>
        <a:xfrm>
          <a:off x="0" y="0"/>
          <a:ext cx="0" cy="0"/>
          <a:chOff x="0" y="0"/>
          <a:chExt cx="0" cy="0"/>
        </a:xfrm>
      </p:grpSpPr>
      <p:sp>
        <p:nvSpPr>
          <p:cNvPr id="229" name="Google Shape;229;p24"/>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41413"/>
                </a:solidFill>
                <a:latin typeface="Calibri"/>
                <a:ea typeface="Calibri"/>
                <a:cs typeface="Calibri"/>
                <a:sym typeface="Calibri"/>
              </a:rPr>
              <a:t>The Plugin Manager Interface</a:t>
            </a:r>
            <a:endParaRPr/>
          </a:p>
        </p:txBody>
      </p:sp>
      <p:sp>
        <p:nvSpPr>
          <p:cNvPr id="230" name="Google Shape;230;p24"/>
          <p:cNvSpPr txBox="1"/>
          <p:nvPr/>
        </p:nvSpPr>
        <p:spPr>
          <a:xfrm>
            <a:off x="731520" y="109728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800" u="none" cap="none" strike="noStrike">
                <a:solidFill>
                  <a:srgbClr val="36454F"/>
                </a:solidFill>
                <a:latin typeface="Calibri"/>
                <a:ea typeface="Calibri"/>
                <a:cs typeface="Calibri"/>
                <a:sym typeface="Calibri"/>
              </a:rPr>
              <a:t>Access with: /plugin command</a:t>
            </a:r>
            <a:endParaRPr/>
          </a:p>
        </p:txBody>
      </p:sp>
      <p:sp>
        <p:nvSpPr>
          <p:cNvPr id="231" name="Google Shape;231;p24"/>
          <p:cNvSpPr/>
          <p:nvPr/>
        </p:nvSpPr>
        <p:spPr>
          <a:xfrm>
            <a:off x="914400" y="1737360"/>
            <a:ext cx="7315200" cy="640080"/>
          </a:xfrm>
          <a:prstGeom prst="rect">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2" name="Google Shape;232;p24"/>
          <p:cNvSpPr txBox="1"/>
          <p:nvPr/>
        </p:nvSpPr>
        <p:spPr>
          <a:xfrm>
            <a:off x="1097280" y="1828800"/>
            <a:ext cx="1828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6A9BCC"/>
                </a:solidFill>
                <a:latin typeface="Calibri"/>
                <a:ea typeface="Calibri"/>
                <a:cs typeface="Calibri"/>
                <a:sym typeface="Calibri"/>
              </a:rPr>
              <a:t>Discover</a:t>
            </a:r>
            <a:endParaRPr/>
          </a:p>
        </p:txBody>
      </p:sp>
      <p:sp>
        <p:nvSpPr>
          <p:cNvPr id="233" name="Google Shape;233;p24"/>
          <p:cNvSpPr txBox="1"/>
          <p:nvPr/>
        </p:nvSpPr>
        <p:spPr>
          <a:xfrm>
            <a:off x="3017520" y="1828800"/>
            <a:ext cx="50292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41413"/>
                </a:solidFill>
                <a:latin typeface="Calibri"/>
                <a:ea typeface="Calibri"/>
                <a:cs typeface="Calibri"/>
                <a:sym typeface="Calibri"/>
              </a:rPr>
              <a:t>Browse available plugins from all your marketplaces</a:t>
            </a:r>
            <a:endParaRPr/>
          </a:p>
        </p:txBody>
      </p:sp>
      <p:sp>
        <p:nvSpPr>
          <p:cNvPr id="234" name="Google Shape;234;p24"/>
          <p:cNvSpPr/>
          <p:nvPr/>
        </p:nvSpPr>
        <p:spPr>
          <a:xfrm>
            <a:off x="914400" y="2514600"/>
            <a:ext cx="7315200" cy="640080"/>
          </a:xfrm>
          <a:prstGeom prst="rect">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5" name="Google Shape;235;p24"/>
          <p:cNvSpPr txBox="1"/>
          <p:nvPr/>
        </p:nvSpPr>
        <p:spPr>
          <a:xfrm>
            <a:off x="1097280" y="2606040"/>
            <a:ext cx="1828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6A9BCC"/>
                </a:solidFill>
                <a:latin typeface="Calibri"/>
                <a:ea typeface="Calibri"/>
                <a:cs typeface="Calibri"/>
                <a:sym typeface="Calibri"/>
              </a:rPr>
              <a:t>Installed</a:t>
            </a:r>
            <a:endParaRPr/>
          </a:p>
        </p:txBody>
      </p:sp>
      <p:sp>
        <p:nvSpPr>
          <p:cNvPr id="236" name="Google Shape;236;p24"/>
          <p:cNvSpPr txBox="1"/>
          <p:nvPr/>
        </p:nvSpPr>
        <p:spPr>
          <a:xfrm>
            <a:off x="3017520" y="2606040"/>
            <a:ext cx="50292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41413"/>
                </a:solidFill>
                <a:latin typeface="Calibri"/>
                <a:ea typeface="Calibri"/>
                <a:cs typeface="Calibri"/>
                <a:sym typeface="Calibri"/>
              </a:rPr>
              <a:t>View and manage your installed plugins</a:t>
            </a:r>
            <a:endParaRPr/>
          </a:p>
        </p:txBody>
      </p:sp>
      <p:sp>
        <p:nvSpPr>
          <p:cNvPr id="237" name="Google Shape;237;p24"/>
          <p:cNvSpPr/>
          <p:nvPr/>
        </p:nvSpPr>
        <p:spPr>
          <a:xfrm>
            <a:off x="914400" y="3291840"/>
            <a:ext cx="7315200" cy="640080"/>
          </a:xfrm>
          <a:prstGeom prst="rect">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8" name="Google Shape;238;p24"/>
          <p:cNvSpPr txBox="1"/>
          <p:nvPr/>
        </p:nvSpPr>
        <p:spPr>
          <a:xfrm>
            <a:off x="1097280" y="3383280"/>
            <a:ext cx="1828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6A9BCC"/>
                </a:solidFill>
                <a:latin typeface="Calibri"/>
                <a:ea typeface="Calibri"/>
                <a:cs typeface="Calibri"/>
                <a:sym typeface="Calibri"/>
              </a:rPr>
              <a:t>Marketplaces</a:t>
            </a:r>
            <a:endParaRPr/>
          </a:p>
        </p:txBody>
      </p:sp>
      <p:sp>
        <p:nvSpPr>
          <p:cNvPr id="239" name="Google Shape;239;p24"/>
          <p:cNvSpPr txBox="1"/>
          <p:nvPr/>
        </p:nvSpPr>
        <p:spPr>
          <a:xfrm>
            <a:off x="3017520" y="3383280"/>
            <a:ext cx="50292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41413"/>
                </a:solidFill>
                <a:latin typeface="Calibri"/>
                <a:ea typeface="Calibri"/>
                <a:cs typeface="Calibri"/>
                <a:sym typeface="Calibri"/>
              </a:rPr>
              <a:t>Add, remove, or update your added marketplaces</a:t>
            </a:r>
            <a:endParaRPr/>
          </a:p>
        </p:txBody>
      </p:sp>
      <p:sp>
        <p:nvSpPr>
          <p:cNvPr id="240" name="Google Shape;240;p24"/>
          <p:cNvSpPr/>
          <p:nvPr/>
        </p:nvSpPr>
        <p:spPr>
          <a:xfrm>
            <a:off x="914400" y="4069080"/>
            <a:ext cx="7315200" cy="640080"/>
          </a:xfrm>
          <a:prstGeom prst="rect">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1" name="Google Shape;241;p24"/>
          <p:cNvSpPr txBox="1"/>
          <p:nvPr/>
        </p:nvSpPr>
        <p:spPr>
          <a:xfrm>
            <a:off x="1097280" y="4160520"/>
            <a:ext cx="1828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6A9BCC"/>
                </a:solidFill>
                <a:latin typeface="Calibri"/>
                <a:ea typeface="Calibri"/>
                <a:cs typeface="Calibri"/>
                <a:sym typeface="Calibri"/>
              </a:rPr>
              <a:t>Errors</a:t>
            </a:r>
            <a:endParaRPr/>
          </a:p>
        </p:txBody>
      </p:sp>
      <p:sp>
        <p:nvSpPr>
          <p:cNvPr id="242" name="Google Shape;242;p24"/>
          <p:cNvSpPr txBox="1"/>
          <p:nvPr/>
        </p:nvSpPr>
        <p:spPr>
          <a:xfrm>
            <a:off x="3017520" y="4160520"/>
            <a:ext cx="50292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41413"/>
                </a:solidFill>
                <a:latin typeface="Calibri"/>
                <a:ea typeface="Calibri"/>
                <a:cs typeface="Calibri"/>
                <a:sym typeface="Calibri"/>
              </a:rPr>
              <a:t>View any plugin loading errors</a:t>
            </a:r>
            <a:endParaRPr/>
          </a:p>
        </p:txBody>
      </p:sp>
      <p:pic>
        <p:nvPicPr>
          <p:cNvPr descr="preencoded.png" id="243" name="Google Shape;243;p24"/>
          <p:cNvPicPr preferRelativeResize="0"/>
          <p:nvPr/>
        </p:nvPicPr>
        <p:blipFill rotWithShape="1">
          <a:blip r:embed="rId3">
            <a:alphaModFix/>
          </a:blip>
          <a:srcRect b="0" l="0" r="0" t="0"/>
          <a:stretch/>
        </p:blipFill>
        <p:spPr>
          <a:xfrm>
            <a:off x="7477298" y="1808018"/>
            <a:ext cx="498764" cy="498764"/>
          </a:xfrm>
          <a:prstGeom prst="rect">
            <a:avLst/>
          </a:prstGeom>
          <a:noFill/>
          <a:ln>
            <a:noFill/>
          </a:ln>
        </p:spPr>
      </p:pic>
      <p:pic>
        <p:nvPicPr>
          <p:cNvPr descr="preencoded.png" id="244" name="Google Shape;244;p24"/>
          <p:cNvPicPr preferRelativeResize="0"/>
          <p:nvPr/>
        </p:nvPicPr>
        <p:blipFill rotWithShape="1">
          <a:blip r:embed="rId4">
            <a:alphaModFix/>
          </a:blip>
          <a:srcRect b="0" l="0" r="0" t="0"/>
          <a:stretch/>
        </p:blipFill>
        <p:spPr>
          <a:xfrm>
            <a:off x="7499969" y="2607929"/>
            <a:ext cx="453422" cy="453422"/>
          </a:xfrm>
          <a:prstGeom prst="rect">
            <a:avLst/>
          </a:prstGeom>
          <a:solidFill>
            <a:srgbClr val="FAF9F5"/>
          </a:solidFill>
          <a:ln>
            <a:noFill/>
          </a:ln>
        </p:spPr>
      </p:pic>
      <p:pic>
        <p:nvPicPr>
          <p:cNvPr descr="preencoded.png" id="245" name="Google Shape;245;p24"/>
          <p:cNvPicPr preferRelativeResize="0"/>
          <p:nvPr/>
        </p:nvPicPr>
        <p:blipFill rotWithShape="1">
          <a:blip r:embed="rId5">
            <a:alphaModFix/>
          </a:blip>
          <a:srcRect b="0" l="0" r="0" t="0"/>
          <a:stretch/>
        </p:blipFill>
        <p:spPr>
          <a:xfrm>
            <a:off x="7499969" y="3385169"/>
            <a:ext cx="453422" cy="453422"/>
          </a:xfrm>
          <a:prstGeom prst="rect">
            <a:avLst/>
          </a:prstGeom>
          <a:solidFill>
            <a:srgbClr val="FAF9F5"/>
          </a:solidFill>
          <a:ln>
            <a:noFill/>
          </a:ln>
        </p:spPr>
      </p:pic>
      <p:pic>
        <p:nvPicPr>
          <p:cNvPr descr="preencoded.png" id="246" name="Google Shape;246;p24"/>
          <p:cNvPicPr preferRelativeResize="0"/>
          <p:nvPr/>
        </p:nvPicPr>
        <p:blipFill rotWithShape="1">
          <a:blip r:embed="rId6">
            <a:alphaModFix/>
          </a:blip>
          <a:srcRect b="0" l="0" r="0" t="0"/>
          <a:stretch/>
        </p:blipFill>
        <p:spPr>
          <a:xfrm>
            <a:off x="7499969" y="4162409"/>
            <a:ext cx="453422" cy="453422"/>
          </a:xfrm>
          <a:prstGeom prst="rect">
            <a:avLst/>
          </a:prstGeom>
          <a:solidFill>
            <a:srgbClr val="FAF9F5"/>
          </a:solid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51" name="Shape 251"/>
        <p:cNvGrpSpPr/>
        <p:nvPr/>
      </p:nvGrpSpPr>
      <p:grpSpPr>
        <a:xfrm>
          <a:off x="0" y="0"/>
          <a:ext cx="0" cy="0"/>
          <a:chOff x="0" y="0"/>
          <a:chExt cx="0" cy="0"/>
        </a:xfrm>
      </p:grpSpPr>
      <p:sp>
        <p:nvSpPr>
          <p:cNvPr id="252" name="Google Shape;252;p25"/>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41413"/>
                </a:solidFill>
                <a:latin typeface="Calibri"/>
                <a:ea typeface="Calibri"/>
                <a:cs typeface="Calibri"/>
                <a:sym typeface="Calibri"/>
              </a:rPr>
              <a:t>Security and Trust Considerations</a:t>
            </a:r>
            <a:endParaRPr/>
          </a:p>
        </p:txBody>
      </p:sp>
      <p:sp>
        <p:nvSpPr>
          <p:cNvPr id="253" name="Google Shape;253;p25"/>
          <p:cNvSpPr/>
          <p:nvPr/>
        </p:nvSpPr>
        <p:spPr>
          <a:xfrm>
            <a:off x="914400" y="4205547"/>
            <a:ext cx="7315200" cy="480753"/>
          </a:xfrm>
          <a:prstGeom prst="roundRect">
            <a:avLst>
              <a:gd fmla="val 16667" name="adj"/>
            </a:avLst>
          </a:prstGeom>
          <a:solidFill>
            <a:srgbClr val="D97757"/>
          </a:solidFill>
          <a:ln cap="flat" cmpd="sng" w="25400">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141413"/>
                </a:solidFill>
                <a:latin typeface="Calibri"/>
                <a:ea typeface="Calibri"/>
                <a:cs typeface="Calibri"/>
                <a:sym typeface="Calibri"/>
              </a:rPr>
              <a:t>⚠️ Important: Anthropic does not control what MCP servers, files, or software are included in plugins</a:t>
            </a:r>
            <a:endParaRPr/>
          </a:p>
        </p:txBody>
      </p:sp>
      <p:sp>
        <p:nvSpPr>
          <p:cNvPr id="254" name="Google Shape;254;p25"/>
          <p:cNvSpPr txBox="1"/>
          <p:nvPr/>
        </p:nvSpPr>
        <p:spPr>
          <a:xfrm>
            <a:off x="731520" y="1154083"/>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1413"/>
                </a:solidFill>
                <a:latin typeface="Calibri"/>
                <a:ea typeface="Calibri"/>
                <a:cs typeface="Calibri"/>
                <a:sym typeface="Calibri"/>
              </a:rPr>
              <a:t>Before Installing Any Plugin</a:t>
            </a:r>
            <a:endParaRPr/>
          </a:p>
        </p:txBody>
      </p:sp>
      <p:sp>
        <p:nvSpPr>
          <p:cNvPr id="255" name="Google Shape;255;p25"/>
          <p:cNvSpPr txBox="1"/>
          <p:nvPr/>
        </p:nvSpPr>
        <p:spPr>
          <a:xfrm>
            <a:off x="731520" y="1611283"/>
            <a:ext cx="7680960" cy="18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Check the plugin's homepage for information about functionality</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Review the plugin author and source repository if available</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Understand what the plugin does before installing</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Be cautious with plugins from unknown authors</a:t>
            </a:r>
            <a:endParaRPr/>
          </a:p>
        </p:txBody>
      </p:sp>
      <p:sp>
        <p:nvSpPr>
          <p:cNvPr id="256" name="Google Shape;256;p25"/>
          <p:cNvSpPr txBox="1"/>
          <p:nvPr/>
        </p:nvSpPr>
        <p:spPr>
          <a:xfrm>
            <a:off x="731520" y="2757054"/>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1413"/>
                </a:solidFill>
                <a:latin typeface="Calibri"/>
                <a:ea typeface="Calibri"/>
                <a:cs typeface="Calibri"/>
                <a:sym typeface="Calibri"/>
              </a:rPr>
              <a:t>Official vs Community Marketplaces</a:t>
            </a:r>
            <a:endParaRPr/>
          </a:p>
        </p:txBody>
      </p:sp>
      <p:sp>
        <p:nvSpPr>
          <p:cNvPr id="257" name="Google Shape;257;p25"/>
          <p:cNvSpPr txBox="1"/>
          <p:nvPr/>
        </p:nvSpPr>
        <p:spPr>
          <a:xfrm>
            <a:off x="731520" y="3214254"/>
            <a:ext cx="7680960" cy="137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Official: claude-plugins-official (curated by Anthropic)</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Demo: anthropics/claude-code (examples and experimental)</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Community: third-party marketplaces (trust varies)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62" name="Shape 262"/>
        <p:cNvGrpSpPr/>
        <p:nvPr/>
      </p:nvGrpSpPr>
      <p:grpSpPr>
        <a:xfrm>
          <a:off x="0" y="0"/>
          <a:ext cx="0" cy="0"/>
          <a:chOff x="0" y="0"/>
          <a:chExt cx="0" cy="0"/>
        </a:xfrm>
      </p:grpSpPr>
      <p:sp>
        <p:nvSpPr>
          <p:cNvPr id="263" name="Google Shape;263;p26"/>
          <p:cNvSpPr/>
          <p:nvPr/>
        </p:nvSpPr>
        <p:spPr>
          <a:xfrm>
            <a:off x="0" y="0"/>
            <a:ext cx="2632364" cy="5143500"/>
          </a:xfrm>
          <a:prstGeom prst="rect">
            <a:avLst/>
          </a:prstGeom>
          <a:solidFill>
            <a:srgbClr val="788C5D"/>
          </a:solidFill>
          <a:ln cap="flat" cmpd="sng" w="9525">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4" name="Google Shape;264;p26"/>
          <p:cNvSpPr txBox="1"/>
          <p:nvPr/>
        </p:nvSpPr>
        <p:spPr>
          <a:xfrm>
            <a:off x="278911" y="3079865"/>
            <a:ext cx="2074542" cy="15696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200" u="none" cap="none" strike="noStrike">
                <a:solidFill>
                  <a:schemeClr val="lt1"/>
                </a:solidFill>
                <a:latin typeface="Calibri"/>
                <a:ea typeface="Calibri"/>
                <a:cs typeface="Calibri"/>
                <a:sym typeface="Calibri"/>
              </a:rPr>
              <a:t>Module 2:</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rPr b="1" i="0" lang="en-US" sz="3200" u="none" cap="none" strike="noStrike">
                <a:solidFill>
                  <a:schemeClr val="lt1"/>
                </a:solidFill>
                <a:latin typeface="Calibri"/>
                <a:ea typeface="Calibri"/>
                <a:cs typeface="Calibri"/>
                <a:sym typeface="Calibri"/>
              </a:rPr>
              <a:t>Knowledge</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rPr b="1" i="0" lang="en-US" sz="3200" u="none" cap="none" strike="noStrike">
                <a:solidFill>
                  <a:schemeClr val="lt1"/>
                </a:solidFill>
                <a:latin typeface="Calibri"/>
                <a:ea typeface="Calibri"/>
                <a:cs typeface="Calibri"/>
                <a:sym typeface="Calibri"/>
              </a:rPr>
              <a:t>Check</a:t>
            </a:r>
            <a:endParaRPr/>
          </a:p>
        </p:txBody>
      </p:sp>
      <p:pic>
        <p:nvPicPr>
          <p:cNvPr descr="Brain with solid fill" id="265" name="Google Shape;265;p26"/>
          <p:cNvPicPr preferRelativeResize="0"/>
          <p:nvPr/>
        </p:nvPicPr>
        <p:blipFill rotWithShape="1">
          <a:blip r:embed="rId3">
            <a:alphaModFix/>
          </a:blip>
          <a:srcRect b="0" l="0" r="0" t="0"/>
          <a:stretch/>
        </p:blipFill>
        <p:spPr>
          <a:xfrm>
            <a:off x="969818" y="2376055"/>
            <a:ext cx="703810" cy="703810"/>
          </a:xfrm>
          <a:prstGeom prst="rect">
            <a:avLst/>
          </a:prstGeom>
          <a:noFill/>
          <a:ln>
            <a:noFill/>
          </a:ln>
        </p:spPr>
      </p:pic>
      <p:sp>
        <p:nvSpPr>
          <p:cNvPr id="266" name="Google Shape;266;p26"/>
          <p:cNvSpPr txBox="1"/>
          <p:nvPr/>
        </p:nvSpPr>
        <p:spPr>
          <a:xfrm>
            <a:off x="3129308" y="834391"/>
            <a:ext cx="531890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41413"/>
                </a:solidFill>
                <a:latin typeface="Calibri"/>
                <a:ea typeface="Calibri"/>
                <a:cs typeface="Calibri"/>
                <a:sym typeface="Calibri"/>
              </a:rPr>
              <a:t>What command opens the plugin manager interface in Claude Code?</a:t>
            </a:r>
            <a:endParaRPr/>
          </a:p>
        </p:txBody>
      </p:sp>
      <p:sp>
        <p:nvSpPr>
          <p:cNvPr id="267" name="Google Shape;267;p26"/>
          <p:cNvSpPr txBox="1"/>
          <p:nvPr/>
        </p:nvSpPr>
        <p:spPr>
          <a:xfrm>
            <a:off x="3312188" y="1291591"/>
            <a:ext cx="51875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A) /plugins</a:t>
            </a:r>
            <a:endParaRPr/>
          </a:p>
        </p:txBody>
      </p:sp>
      <p:sp>
        <p:nvSpPr>
          <p:cNvPr id="268" name="Google Shape;268;p26"/>
          <p:cNvSpPr txBox="1"/>
          <p:nvPr/>
        </p:nvSpPr>
        <p:spPr>
          <a:xfrm>
            <a:off x="3312188" y="1565911"/>
            <a:ext cx="51875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788C5D"/>
                </a:solidFill>
                <a:latin typeface="Calibri"/>
                <a:ea typeface="Calibri"/>
                <a:cs typeface="Calibri"/>
                <a:sym typeface="Calibri"/>
              </a:rPr>
              <a:t>B) /plugin</a:t>
            </a:r>
            <a:endParaRPr/>
          </a:p>
        </p:txBody>
      </p:sp>
      <p:sp>
        <p:nvSpPr>
          <p:cNvPr id="269" name="Google Shape;269;p26"/>
          <p:cNvSpPr txBox="1"/>
          <p:nvPr/>
        </p:nvSpPr>
        <p:spPr>
          <a:xfrm>
            <a:off x="3312188" y="1840230"/>
            <a:ext cx="51875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C) /marketplace</a:t>
            </a:r>
            <a:endParaRPr/>
          </a:p>
        </p:txBody>
      </p:sp>
      <p:sp>
        <p:nvSpPr>
          <p:cNvPr id="270" name="Google Shape;270;p26"/>
          <p:cNvSpPr txBox="1"/>
          <p:nvPr/>
        </p:nvSpPr>
        <p:spPr>
          <a:xfrm>
            <a:off x="3312188" y="2114550"/>
            <a:ext cx="51875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D) /discover</a:t>
            </a:r>
            <a:endParaRPr/>
          </a:p>
        </p:txBody>
      </p:sp>
      <p:sp>
        <p:nvSpPr>
          <p:cNvPr id="271" name="Google Shape;271;p26"/>
          <p:cNvSpPr txBox="1"/>
          <p:nvPr/>
        </p:nvSpPr>
        <p:spPr>
          <a:xfrm>
            <a:off x="3129308" y="2571750"/>
            <a:ext cx="531890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41413"/>
                </a:solidFill>
                <a:latin typeface="Calibri"/>
                <a:ea typeface="Calibri"/>
                <a:cs typeface="Calibri"/>
                <a:sym typeface="Calibri"/>
              </a:rPr>
              <a:t>Which tab shows plugins available for installation?</a:t>
            </a:r>
            <a:endParaRPr/>
          </a:p>
        </p:txBody>
      </p:sp>
      <p:sp>
        <p:nvSpPr>
          <p:cNvPr id="272" name="Google Shape;272;p26"/>
          <p:cNvSpPr txBox="1"/>
          <p:nvPr/>
        </p:nvSpPr>
        <p:spPr>
          <a:xfrm>
            <a:off x="3312188" y="3028950"/>
            <a:ext cx="51875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A) Installed</a:t>
            </a:r>
            <a:endParaRPr/>
          </a:p>
        </p:txBody>
      </p:sp>
      <p:sp>
        <p:nvSpPr>
          <p:cNvPr id="273" name="Google Shape;273;p26"/>
          <p:cNvSpPr txBox="1"/>
          <p:nvPr/>
        </p:nvSpPr>
        <p:spPr>
          <a:xfrm>
            <a:off x="3312188" y="3303270"/>
            <a:ext cx="51875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B) Marketplaces</a:t>
            </a:r>
            <a:endParaRPr/>
          </a:p>
        </p:txBody>
      </p:sp>
      <p:sp>
        <p:nvSpPr>
          <p:cNvPr id="274" name="Google Shape;274;p26"/>
          <p:cNvSpPr txBox="1"/>
          <p:nvPr/>
        </p:nvSpPr>
        <p:spPr>
          <a:xfrm>
            <a:off x="3312188" y="3577590"/>
            <a:ext cx="51875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788C5D"/>
                </a:solidFill>
                <a:latin typeface="Calibri"/>
                <a:ea typeface="Calibri"/>
                <a:cs typeface="Calibri"/>
                <a:sym typeface="Calibri"/>
              </a:rPr>
              <a:t>C) Discover</a:t>
            </a:r>
            <a:endParaRPr/>
          </a:p>
        </p:txBody>
      </p:sp>
      <p:sp>
        <p:nvSpPr>
          <p:cNvPr id="275" name="Google Shape;275;p26"/>
          <p:cNvSpPr txBox="1"/>
          <p:nvPr/>
        </p:nvSpPr>
        <p:spPr>
          <a:xfrm>
            <a:off x="3312188" y="3851910"/>
            <a:ext cx="518757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D) Browse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80" name="Shape 280"/>
        <p:cNvGrpSpPr/>
        <p:nvPr/>
      </p:nvGrpSpPr>
      <p:grpSpPr>
        <a:xfrm>
          <a:off x="0" y="0"/>
          <a:ext cx="0" cy="0"/>
          <a:chOff x="0" y="0"/>
          <a:chExt cx="0" cy="0"/>
        </a:xfrm>
      </p:grpSpPr>
      <p:sp>
        <p:nvSpPr>
          <p:cNvPr id="281" name="Google Shape;281;p27"/>
          <p:cNvSpPr txBox="1"/>
          <p:nvPr/>
        </p:nvSpPr>
        <p:spPr>
          <a:xfrm>
            <a:off x="457200" y="502920"/>
            <a:ext cx="353032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41413"/>
                </a:solidFill>
                <a:latin typeface="Calibri"/>
                <a:ea typeface="Calibri"/>
                <a:cs typeface="Calibri"/>
                <a:sym typeface="Calibri"/>
              </a:rPr>
              <a:t>Module 2 Summary</a:t>
            </a:r>
            <a:endParaRPr/>
          </a:p>
        </p:txBody>
      </p:sp>
      <p:sp>
        <p:nvSpPr>
          <p:cNvPr id="282" name="Google Shape;282;p27"/>
          <p:cNvSpPr txBox="1"/>
          <p:nvPr/>
        </p:nvSpPr>
        <p:spPr>
          <a:xfrm>
            <a:off x="457200" y="1051560"/>
            <a:ext cx="20802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800" u="none" cap="none" strike="noStrike">
                <a:solidFill>
                  <a:srgbClr val="36454F"/>
                </a:solidFill>
                <a:latin typeface="Calibri"/>
                <a:ea typeface="Calibri"/>
                <a:cs typeface="Calibri"/>
                <a:sym typeface="Calibri"/>
              </a:rPr>
              <a:t>Plugin Marketplaces</a:t>
            </a:r>
            <a:endParaRPr b="0" i="0" sz="1800" u="none" cap="none" strike="noStrike">
              <a:solidFill>
                <a:schemeClr val="dk1"/>
              </a:solidFill>
              <a:latin typeface="Calibri"/>
              <a:ea typeface="Calibri"/>
              <a:cs typeface="Calibri"/>
              <a:sym typeface="Calibri"/>
            </a:endParaRPr>
          </a:p>
        </p:txBody>
      </p:sp>
      <p:sp>
        <p:nvSpPr>
          <p:cNvPr id="283" name="Google Shape;283;p27"/>
          <p:cNvSpPr txBox="1"/>
          <p:nvPr/>
        </p:nvSpPr>
        <p:spPr>
          <a:xfrm>
            <a:off x="45720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1413"/>
                </a:solidFill>
                <a:latin typeface="Calibri"/>
                <a:ea typeface="Calibri"/>
                <a:cs typeface="Calibri"/>
                <a:sym typeface="Calibri"/>
              </a:rPr>
              <a:t>Key Takeaways</a:t>
            </a:r>
            <a:endParaRPr/>
          </a:p>
        </p:txBody>
      </p:sp>
      <p:sp>
        <p:nvSpPr>
          <p:cNvPr id="284" name="Google Shape;284;p27"/>
          <p:cNvSpPr txBox="1"/>
          <p:nvPr/>
        </p:nvSpPr>
        <p:spPr>
          <a:xfrm>
            <a:off x="457200" y="2103120"/>
            <a:ext cx="5389418" cy="2369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141413"/>
                </a:solidFill>
                <a:latin typeface="Calibri"/>
                <a:ea typeface="Calibri"/>
                <a:cs typeface="Calibri"/>
                <a:sym typeface="Calibri"/>
              </a:rPr>
              <a:t>• Marketplaces are catalogs that provide centralized plugin discovery and version tracking</a:t>
            </a:r>
            <a:endParaRPr/>
          </a:p>
          <a:p>
            <a:pPr indent="0" lvl="0" marL="0" marR="0" rtl="0" algn="l">
              <a:spcBef>
                <a:spcPts val="800"/>
              </a:spcBef>
              <a:spcAft>
                <a:spcPts val="0"/>
              </a:spcAft>
              <a:buNone/>
            </a:pPr>
            <a:r>
              <a:rPr b="0" i="0" lang="en-US" sz="1600" u="none" cap="none" strike="noStrike">
                <a:solidFill>
                  <a:srgbClr val="141413"/>
                </a:solidFill>
                <a:latin typeface="Calibri"/>
                <a:ea typeface="Calibri"/>
                <a:cs typeface="Calibri"/>
                <a:sym typeface="Calibri"/>
              </a:rPr>
              <a:t>• The /plugin command opens a four-tab interface: Discover, Installed, Marketplaces, Errors</a:t>
            </a:r>
            <a:endParaRPr/>
          </a:p>
          <a:p>
            <a:pPr indent="0" lvl="0" marL="0" marR="0" rtl="0" algn="l">
              <a:spcBef>
                <a:spcPts val="800"/>
              </a:spcBef>
              <a:spcAft>
                <a:spcPts val="0"/>
              </a:spcAft>
              <a:buNone/>
            </a:pPr>
            <a:r>
              <a:rPr b="0" i="0" lang="en-US" sz="1600" u="none" cap="none" strike="noStrike">
                <a:solidFill>
                  <a:srgbClr val="141413"/>
                </a:solidFill>
                <a:latin typeface="Calibri"/>
                <a:ea typeface="Calibri"/>
                <a:cs typeface="Calibri"/>
                <a:sym typeface="Calibri"/>
              </a:rPr>
              <a:t>• Always check a plugin's homepage and understand its functionality before installing</a:t>
            </a:r>
            <a:endParaRPr/>
          </a:p>
          <a:p>
            <a:pPr indent="0" lvl="0" marL="0" marR="0" rtl="0" algn="l">
              <a:spcBef>
                <a:spcPts val="800"/>
              </a:spcBef>
              <a:spcAft>
                <a:spcPts val="0"/>
              </a:spcAft>
              <a:buNone/>
            </a:pPr>
            <a:r>
              <a:rPr b="0" i="0" lang="en-US" sz="1600" u="none" cap="none" strike="noStrike">
                <a:solidFill>
                  <a:srgbClr val="141413"/>
                </a:solidFill>
                <a:latin typeface="Calibri"/>
                <a:ea typeface="Calibri"/>
                <a:cs typeface="Calibri"/>
                <a:sym typeface="Calibri"/>
              </a:rPr>
              <a:t>• Official marketplace (claude-plugins-official) is curated by Anthropic; community marketplaces vary in trust</a:t>
            </a:r>
            <a:endParaRPr/>
          </a:p>
        </p:txBody>
      </p:sp>
      <p:sp>
        <p:nvSpPr>
          <p:cNvPr id="285" name="Google Shape;285;p27"/>
          <p:cNvSpPr/>
          <p:nvPr/>
        </p:nvSpPr>
        <p:spPr>
          <a:xfrm>
            <a:off x="6511636" y="0"/>
            <a:ext cx="2632364" cy="5143500"/>
          </a:xfrm>
          <a:prstGeom prst="rect">
            <a:avLst/>
          </a:prstGeom>
          <a:solidFill>
            <a:srgbClr val="D97757"/>
          </a:solidFill>
          <a:ln cap="flat" cmpd="sng" w="9525">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Key with solid fill" id="286" name="Google Shape;286;p27"/>
          <p:cNvPicPr preferRelativeResize="0"/>
          <p:nvPr/>
        </p:nvPicPr>
        <p:blipFill rotWithShape="1">
          <a:blip r:embed="rId3">
            <a:alphaModFix/>
          </a:blip>
          <a:srcRect b="0" l="0" r="0" t="0"/>
          <a:stretch/>
        </p:blipFill>
        <p:spPr>
          <a:xfrm>
            <a:off x="7370618" y="502920"/>
            <a:ext cx="914400" cy="914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9BCC"/>
        </a:solidFill>
      </p:bgPr>
    </p:bg>
    <p:spTree>
      <p:nvGrpSpPr>
        <p:cNvPr id="291" name="Shape 291"/>
        <p:cNvGrpSpPr/>
        <p:nvPr/>
      </p:nvGrpSpPr>
      <p:grpSpPr>
        <a:xfrm>
          <a:off x="0" y="0"/>
          <a:ext cx="0" cy="0"/>
          <a:chOff x="0" y="0"/>
          <a:chExt cx="0" cy="0"/>
        </a:xfrm>
      </p:grpSpPr>
      <p:sp>
        <p:nvSpPr>
          <p:cNvPr id="292" name="Google Shape;292;p28"/>
          <p:cNvSpPr txBox="1"/>
          <p:nvPr/>
        </p:nvSpPr>
        <p:spPr>
          <a:xfrm>
            <a:off x="609600" y="655320"/>
            <a:ext cx="7538923"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chemeClr val="lt1"/>
                </a:solidFill>
                <a:latin typeface="Calibri"/>
                <a:ea typeface="Calibri"/>
                <a:cs typeface="Calibri"/>
                <a:sym typeface="Calibri"/>
              </a:rPr>
              <a:t>Module 3: Lab: Adding the Demo Marketplace</a:t>
            </a:r>
            <a:endParaRPr/>
          </a:p>
        </p:txBody>
      </p:sp>
      <p:sp>
        <p:nvSpPr>
          <p:cNvPr id="293" name="Google Shape;293;p28"/>
          <p:cNvSpPr txBox="1"/>
          <p:nvPr/>
        </p:nvSpPr>
        <p:spPr>
          <a:xfrm>
            <a:off x="609600" y="1203960"/>
            <a:ext cx="212019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lt1"/>
                </a:solidFill>
                <a:latin typeface="Calibri"/>
                <a:ea typeface="Calibri"/>
                <a:cs typeface="Calibri"/>
                <a:sym typeface="Calibri"/>
              </a:rPr>
              <a:t>Hands-On Exercise</a:t>
            </a:r>
            <a:endParaRPr/>
          </a:p>
        </p:txBody>
      </p:sp>
      <p:sp>
        <p:nvSpPr>
          <p:cNvPr id="294" name="Google Shape;294;p28"/>
          <p:cNvSpPr txBox="1"/>
          <p:nvPr/>
        </p:nvSpPr>
        <p:spPr>
          <a:xfrm>
            <a:off x="609600" y="1798320"/>
            <a:ext cx="4125232"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lt1"/>
                </a:solidFill>
                <a:latin typeface="Calibri"/>
                <a:ea typeface="Calibri"/>
                <a:cs typeface="Calibri"/>
                <a:sym typeface="Calibri"/>
              </a:rPr>
              <a:t>• Add the Anthropic demo marketplace</a:t>
            </a:r>
            <a:endParaRPr/>
          </a:p>
          <a:p>
            <a:pPr indent="0" lvl="0" marL="0" marR="0" rtl="0" algn="l">
              <a:spcBef>
                <a:spcPts val="0"/>
              </a:spcBef>
              <a:spcAft>
                <a:spcPts val="0"/>
              </a:spcAft>
              <a:buNone/>
            </a:pPr>
            <a:r>
              <a:rPr b="0" i="0" lang="en-US" sz="1600" u="none" cap="none" strike="noStrike">
                <a:solidFill>
                  <a:schemeClr val="lt1"/>
                </a:solidFill>
                <a:latin typeface="Calibri"/>
                <a:ea typeface="Calibri"/>
                <a:cs typeface="Calibri"/>
                <a:sym typeface="Calibri"/>
              </a:rPr>
              <a:t>• Navigate the plugin manager tabs</a:t>
            </a:r>
            <a:endParaRPr/>
          </a:p>
          <a:p>
            <a:pPr indent="0" lvl="0" marL="0" marR="0" rtl="0" algn="l">
              <a:spcBef>
                <a:spcPts val="0"/>
              </a:spcBef>
              <a:spcAft>
                <a:spcPts val="0"/>
              </a:spcAft>
              <a:buNone/>
            </a:pPr>
            <a:r>
              <a:rPr b="0" i="0" lang="en-US" sz="1600" u="none" cap="none" strike="noStrike">
                <a:solidFill>
                  <a:schemeClr val="lt1"/>
                </a:solidFill>
                <a:latin typeface="Calibri"/>
                <a:ea typeface="Calibri"/>
                <a:cs typeface="Calibri"/>
                <a:sym typeface="Calibri"/>
              </a:rPr>
              <a:t>• Browse available plugins in the Discover tab</a:t>
            </a:r>
            <a:endParaRPr/>
          </a:p>
          <a:p>
            <a:pPr indent="0" lvl="0" marL="0" marR="0" rtl="0" algn="l">
              <a:spcBef>
                <a:spcPts val="0"/>
              </a:spcBef>
              <a:spcAft>
                <a:spcPts val="0"/>
              </a:spcAft>
              <a:buNone/>
            </a:pPr>
            <a:r>
              <a:rPr b="0" i="0" lang="en-US" sz="1600" u="none" cap="none" strike="noStrike">
                <a:solidFill>
                  <a:schemeClr val="lt1"/>
                </a:solidFill>
                <a:latin typeface="Calibri"/>
                <a:ea typeface="Calibri"/>
                <a:cs typeface="Calibri"/>
                <a:sym typeface="Calibri"/>
              </a:rPr>
              <a:t>• Understand marketplace vs plugin installation</a:t>
            </a:r>
            <a:endParaRPr/>
          </a:p>
        </p:txBody>
      </p:sp>
      <p:sp>
        <p:nvSpPr>
          <p:cNvPr id="295" name="Google Shape;295;p28"/>
          <p:cNvSpPr/>
          <p:nvPr/>
        </p:nvSpPr>
        <p:spPr>
          <a:xfrm>
            <a:off x="7467600" y="4541520"/>
            <a:ext cx="1371600" cy="457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dk1"/>
                </a:solidFill>
                <a:latin typeface="Calibri"/>
                <a:ea typeface="Calibri"/>
                <a:cs typeface="Calibri"/>
                <a:sym typeface="Calibri"/>
              </a:rPr>
              <a:t>⏱ 20 minutes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00" name="Shape 300"/>
        <p:cNvGrpSpPr/>
        <p:nvPr/>
      </p:nvGrpSpPr>
      <p:grpSpPr>
        <a:xfrm>
          <a:off x="0" y="0"/>
          <a:ext cx="0" cy="0"/>
          <a:chOff x="0" y="0"/>
          <a:chExt cx="0" cy="0"/>
        </a:xfrm>
      </p:grpSpPr>
      <p:sp>
        <p:nvSpPr>
          <p:cNvPr id="301" name="Google Shape;301;p29"/>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41413"/>
                </a:solidFill>
                <a:latin typeface="Calibri"/>
                <a:ea typeface="Calibri"/>
                <a:cs typeface="Calibri"/>
                <a:sym typeface="Calibri"/>
              </a:rPr>
              <a:t>Lab Steps</a:t>
            </a:r>
            <a:endParaRPr/>
          </a:p>
        </p:txBody>
      </p:sp>
      <p:sp>
        <p:nvSpPr>
          <p:cNvPr id="302" name="Google Shape;302;p29"/>
          <p:cNvSpPr txBox="1"/>
          <p:nvPr/>
        </p:nvSpPr>
        <p:spPr>
          <a:xfrm>
            <a:off x="509847" y="1188720"/>
            <a:ext cx="3200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41413"/>
                </a:solidFill>
                <a:latin typeface="Calibri"/>
                <a:ea typeface="Calibri"/>
                <a:cs typeface="Calibri"/>
                <a:sym typeface="Calibri"/>
              </a:rPr>
              <a:t>Step 1: Add the demo marketplace</a:t>
            </a:r>
            <a:endParaRPr/>
          </a:p>
        </p:txBody>
      </p:sp>
      <p:sp>
        <p:nvSpPr>
          <p:cNvPr id="303" name="Google Shape;303;p29"/>
          <p:cNvSpPr/>
          <p:nvPr/>
        </p:nvSpPr>
        <p:spPr>
          <a:xfrm>
            <a:off x="4440382" y="1188720"/>
            <a:ext cx="4297680" cy="27432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rgbClr val="FFFFFF"/>
                </a:solidFill>
                <a:latin typeface="Consolas"/>
                <a:ea typeface="Consolas"/>
                <a:cs typeface="Consolas"/>
                <a:sym typeface="Consolas"/>
              </a:rPr>
              <a:t>/plugin marketplace add anthropics/claude-code</a:t>
            </a:r>
            <a:endParaRPr/>
          </a:p>
        </p:txBody>
      </p:sp>
      <p:sp>
        <p:nvSpPr>
          <p:cNvPr id="304" name="Google Shape;304;p29"/>
          <p:cNvSpPr txBox="1"/>
          <p:nvPr/>
        </p:nvSpPr>
        <p:spPr>
          <a:xfrm>
            <a:off x="509847" y="1828800"/>
            <a:ext cx="3200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41413"/>
                </a:solidFill>
                <a:latin typeface="Calibri"/>
                <a:ea typeface="Calibri"/>
                <a:cs typeface="Calibri"/>
                <a:sym typeface="Calibri"/>
              </a:rPr>
              <a:t>Step 2: Open plugin manager</a:t>
            </a:r>
            <a:endParaRPr/>
          </a:p>
        </p:txBody>
      </p:sp>
      <p:sp>
        <p:nvSpPr>
          <p:cNvPr id="305" name="Google Shape;305;p29"/>
          <p:cNvSpPr/>
          <p:nvPr/>
        </p:nvSpPr>
        <p:spPr>
          <a:xfrm>
            <a:off x="4440382" y="1828800"/>
            <a:ext cx="4297680" cy="27432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rgbClr val="FFFFFF"/>
                </a:solidFill>
                <a:latin typeface="Consolas"/>
                <a:ea typeface="Consolas"/>
                <a:cs typeface="Consolas"/>
                <a:sym typeface="Consolas"/>
              </a:rPr>
              <a:t>/plugin</a:t>
            </a:r>
            <a:endParaRPr/>
          </a:p>
        </p:txBody>
      </p:sp>
      <p:sp>
        <p:nvSpPr>
          <p:cNvPr id="306" name="Google Shape;306;p29"/>
          <p:cNvSpPr txBox="1"/>
          <p:nvPr/>
        </p:nvSpPr>
        <p:spPr>
          <a:xfrm>
            <a:off x="509847" y="2468880"/>
            <a:ext cx="3200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41413"/>
                </a:solidFill>
                <a:latin typeface="Calibri"/>
                <a:ea typeface="Calibri"/>
                <a:cs typeface="Calibri"/>
                <a:sym typeface="Calibri"/>
              </a:rPr>
              <a:t>Step 3: Navigate tabs</a:t>
            </a:r>
            <a:endParaRPr/>
          </a:p>
        </p:txBody>
      </p:sp>
      <p:sp>
        <p:nvSpPr>
          <p:cNvPr id="307" name="Google Shape;307;p29"/>
          <p:cNvSpPr txBox="1"/>
          <p:nvPr/>
        </p:nvSpPr>
        <p:spPr>
          <a:xfrm>
            <a:off x="4440382" y="2468880"/>
            <a:ext cx="42976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200" u="none" cap="none" strike="noStrike">
                <a:solidFill>
                  <a:srgbClr val="36454F"/>
                </a:solidFill>
                <a:latin typeface="Calibri"/>
                <a:ea typeface="Calibri"/>
                <a:cs typeface="Calibri"/>
                <a:sym typeface="Calibri"/>
              </a:rPr>
              <a:t>Use Tab and Shift+Tab to move between tabs</a:t>
            </a:r>
            <a:endParaRPr/>
          </a:p>
        </p:txBody>
      </p:sp>
      <p:sp>
        <p:nvSpPr>
          <p:cNvPr id="308" name="Google Shape;308;p29"/>
          <p:cNvSpPr txBox="1"/>
          <p:nvPr/>
        </p:nvSpPr>
        <p:spPr>
          <a:xfrm>
            <a:off x="509847" y="3108960"/>
            <a:ext cx="3200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41413"/>
                </a:solidFill>
                <a:latin typeface="Calibri"/>
                <a:ea typeface="Calibri"/>
                <a:cs typeface="Calibri"/>
                <a:sym typeface="Calibri"/>
              </a:rPr>
              <a:t>Step 4: Explore Discover tab</a:t>
            </a:r>
            <a:endParaRPr/>
          </a:p>
        </p:txBody>
      </p:sp>
      <p:sp>
        <p:nvSpPr>
          <p:cNvPr id="309" name="Google Shape;309;p29"/>
          <p:cNvSpPr txBox="1"/>
          <p:nvPr/>
        </p:nvSpPr>
        <p:spPr>
          <a:xfrm>
            <a:off x="4440382" y="3108960"/>
            <a:ext cx="42976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200" u="none" cap="none" strike="noStrike">
                <a:solidFill>
                  <a:srgbClr val="36454F"/>
                </a:solidFill>
                <a:latin typeface="Calibri"/>
                <a:ea typeface="Calibri"/>
                <a:cs typeface="Calibri"/>
                <a:sym typeface="Calibri"/>
              </a:rPr>
              <a:t>Browse available plugins and view details</a:t>
            </a:r>
            <a:endParaRPr/>
          </a:p>
        </p:txBody>
      </p:sp>
      <p:sp>
        <p:nvSpPr>
          <p:cNvPr id="310" name="Google Shape;310;p29"/>
          <p:cNvSpPr txBox="1"/>
          <p:nvPr/>
        </p:nvSpPr>
        <p:spPr>
          <a:xfrm>
            <a:off x="509847" y="3749040"/>
            <a:ext cx="3200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41413"/>
                </a:solidFill>
                <a:latin typeface="Calibri"/>
                <a:ea typeface="Calibri"/>
                <a:cs typeface="Calibri"/>
                <a:sym typeface="Calibri"/>
              </a:rPr>
              <a:t>Step 5: View marketplace in Marketplaces tab</a:t>
            </a:r>
            <a:endParaRPr/>
          </a:p>
        </p:txBody>
      </p:sp>
      <p:sp>
        <p:nvSpPr>
          <p:cNvPr id="311" name="Google Shape;311;p29"/>
          <p:cNvSpPr txBox="1"/>
          <p:nvPr/>
        </p:nvSpPr>
        <p:spPr>
          <a:xfrm>
            <a:off x="4440382" y="3749040"/>
            <a:ext cx="42976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200" u="none" cap="none" strike="noStrike">
                <a:solidFill>
                  <a:srgbClr val="36454F"/>
                </a:solidFill>
                <a:latin typeface="Calibri"/>
                <a:ea typeface="Calibri"/>
                <a:cs typeface="Calibri"/>
                <a:sym typeface="Calibri"/>
              </a:rPr>
              <a:t>Confirm marketplace was added successfully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16" name="Shape 316"/>
        <p:cNvGrpSpPr/>
        <p:nvPr/>
      </p:nvGrpSpPr>
      <p:grpSpPr>
        <a:xfrm>
          <a:off x="0" y="0"/>
          <a:ext cx="0" cy="0"/>
          <a:chOff x="0" y="0"/>
          <a:chExt cx="0" cy="0"/>
        </a:xfrm>
      </p:grpSpPr>
      <p:sp>
        <p:nvSpPr>
          <p:cNvPr id="317" name="Google Shape;317;p30"/>
          <p:cNvSpPr/>
          <p:nvPr/>
        </p:nvSpPr>
        <p:spPr>
          <a:xfrm>
            <a:off x="0" y="0"/>
            <a:ext cx="2632364" cy="5143500"/>
          </a:xfrm>
          <a:prstGeom prst="rect">
            <a:avLst/>
          </a:prstGeom>
          <a:solidFill>
            <a:srgbClr val="788C5D"/>
          </a:solidFill>
          <a:ln cap="flat" cmpd="sng" w="9525">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8" name="Google Shape;318;p30"/>
          <p:cNvSpPr txBox="1"/>
          <p:nvPr/>
        </p:nvSpPr>
        <p:spPr>
          <a:xfrm>
            <a:off x="278911" y="3079865"/>
            <a:ext cx="2074542" cy="15696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200" u="none" cap="none" strike="noStrike">
                <a:solidFill>
                  <a:schemeClr val="lt1"/>
                </a:solidFill>
                <a:latin typeface="Calibri"/>
                <a:ea typeface="Calibri"/>
                <a:cs typeface="Calibri"/>
                <a:sym typeface="Calibri"/>
              </a:rPr>
              <a:t>Module 3:</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rPr b="1" i="0" lang="en-US" sz="3200" u="none" cap="none" strike="noStrike">
                <a:solidFill>
                  <a:schemeClr val="lt1"/>
                </a:solidFill>
                <a:latin typeface="Calibri"/>
                <a:ea typeface="Calibri"/>
                <a:cs typeface="Calibri"/>
                <a:sym typeface="Calibri"/>
              </a:rPr>
              <a:t>Knowledge</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rPr b="1" i="0" lang="en-US" sz="3200" u="none" cap="none" strike="noStrike">
                <a:solidFill>
                  <a:schemeClr val="lt1"/>
                </a:solidFill>
                <a:latin typeface="Calibri"/>
                <a:ea typeface="Calibri"/>
                <a:cs typeface="Calibri"/>
                <a:sym typeface="Calibri"/>
              </a:rPr>
              <a:t>Check</a:t>
            </a:r>
            <a:endParaRPr/>
          </a:p>
        </p:txBody>
      </p:sp>
      <p:pic>
        <p:nvPicPr>
          <p:cNvPr descr="Brain with solid fill" id="319" name="Google Shape;319;p30"/>
          <p:cNvPicPr preferRelativeResize="0"/>
          <p:nvPr/>
        </p:nvPicPr>
        <p:blipFill rotWithShape="1">
          <a:blip r:embed="rId3">
            <a:alphaModFix/>
          </a:blip>
          <a:srcRect b="0" l="0" r="0" t="0"/>
          <a:stretch/>
        </p:blipFill>
        <p:spPr>
          <a:xfrm>
            <a:off x="969818" y="2376055"/>
            <a:ext cx="703810" cy="703810"/>
          </a:xfrm>
          <a:prstGeom prst="rect">
            <a:avLst/>
          </a:prstGeom>
          <a:noFill/>
          <a:ln>
            <a:noFill/>
          </a:ln>
        </p:spPr>
      </p:pic>
      <p:sp>
        <p:nvSpPr>
          <p:cNvPr id="320" name="Google Shape;320;p30"/>
          <p:cNvSpPr txBox="1"/>
          <p:nvPr/>
        </p:nvSpPr>
        <p:spPr>
          <a:xfrm>
            <a:off x="3129308" y="834391"/>
            <a:ext cx="531890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41413"/>
                </a:solidFill>
                <a:latin typeface="Calibri"/>
                <a:ea typeface="Calibri"/>
                <a:cs typeface="Calibri"/>
                <a:sym typeface="Calibri"/>
              </a:rPr>
              <a:t>What command adds the Anthropic demo marketplace?</a:t>
            </a:r>
            <a:endParaRPr/>
          </a:p>
        </p:txBody>
      </p:sp>
      <p:sp>
        <p:nvSpPr>
          <p:cNvPr id="321" name="Google Shape;321;p30"/>
          <p:cNvSpPr txBox="1"/>
          <p:nvPr/>
        </p:nvSpPr>
        <p:spPr>
          <a:xfrm>
            <a:off x="3312188" y="1291590"/>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A) /plugin add anthropics/claude-code</a:t>
            </a:r>
            <a:endParaRPr/>
          </a:p>
        </p:txBody>
      </p:sp>
      <p:sp>
        <p:nvSpPr>
          <p:cNvPr id="322" name="Google Shape;322;p30"/>
          <p:cNvSpPr txBox="1"/>
          <p:nvPr/>
        </p:nvSpPr>
        <p:spPr>
          <a:xfrm>
            <a:off x="3312188" y="1565910"/>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B) /marketplace add anthropics/claude-code</a:t>
            </a:r>
            <a:endParaRPr/>
          </a:p>
        </p:txBody>
      </p:sp>
      <p:sp>
        <p:nvSpPr>
          <p:cNvPr id="323" name="Google Shape;323;p30"/>
          <p:cNvSpPr txBox="1"/>
          <p:nvPr/>
        </p:nvSpPr>
        <p:spPr>
          <a:xfrm>
            <a:off x="3312188" y="1840229"/>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788C5D"/>
                </a:solidFill>
                <a:latin typeface="Calibri"/>
                <a:ea typeface="Calibri"/>
                <a:cs typeface="Calibri"/>
                <a:sym typeface="Calibri"/>
              </a:rPr>
              <a:t>C) /plugin marketplace add anthropics/claude-code</a:t>
            </a:r>
            <a:endParaRPr/>
          </a:p>
        </p:txBody>
      </p:sp>
      <p:sp>
        <p:nvSpPr>
          <p:cNvPr id="324" name="Google Shape;324;p30"/>
          <p:cNvSpPr txBox="1"/>
          <p:nvPr/>
        </p:nvSpPr>
        <p:spPr>
          <a:xfrm>
            <a:off x="3312188" y="2114549"/>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D) /plugin install marketplace anthropics/claude-code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29" name="Shape 329"/>
        <p:cNvGrpSpPr/>
        <p:nvPr/>
      </p:nvGrpSpPr>
      <p:grpSpPr>
        <a:xfrm>
          <a:off x="0" y="0"/>
          <a:ext cx="0" cy="0"/>
          <a:chOff x="0" y="0"/>
          <a:chExt cx="0" cy="0"/>
        </a:xfrm>
      </p:grpSpPr>
      <p:sp>
        <p:nvSpPr>
          <p:cNvPr id="330" name="Google Shape;330;p31"/>
          <p:cNvSpPr txBox="1"/>
          <p:nvPr/>
        </p:nvSpPr>
        <p:spPr>
          <a:xfrm>
            <a:off x="457200" y="502920"/>
            <a:ext cx="353032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41413"/>
                </a:solidFill>
                <a:latin typeface="Calibri"/>
                <a:ea typeface="Calibri"/>
                <a:cs typeface="Calibri"/>
                <a:sym typeface="Calibri"/>
              </a:rPr>
              <a:t>Module 3 Summary</a:t>
            </a:r>
            <a:endParaRPr/>
          </a:p>
        </p:txBody>
      </p:sp>
      <p:sp>
        <p:nvSpPr>
          <p:cNvPr id="331" name="Google Shape;331;p31"/>
          <p:cNvSpPr txBox="1"/>
          <p:nvPr/>
        </p:nvSpPr>
        <p:spPr>
          <a:xfrm>
            <a:off x="457200" y="1051560"/>
            <a:ext cx="31286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800" u="none" cap="none" strike="noStrike">
                <a:solidFill>
                  <a:srgbClr val="36454F"/>
                </a:solidFill>
                <a:latin typeface="Calibri"/>
                <a:ea typeface="Calibri"/>
                <a:cs typeface="Calibri"/>
                <a:sym typeface="Calibri"/>
              </a:rPr>
              <a:t>Lab: Adding Demo Marketplace</a:t>
            </a:r>
            <a:endParaRPr/>
          </a:p>
        </p:txBody>
      </p:sp>
      <p:sp>
        <p:nvSpPr>
          <p:cNvPr id="332" name="Google Shape;332;p31"/>
          <p:cNvSpPr txBox="1"/>
          <p:nvPr/>
        </p:nvSpPr>
        <p:spPr>
          <a:xfrm>
            <a:off x="45720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1413"/>
                </a:solidFill>
                <a:latin typeface="Calibri"/>
                <a:ea typeface="Calibri"/>
                <a:cs typeface="Calibri"/>
                <a:sym typeface="Calibri"/>
              </a:rPr>
              <a:t>Key Takeaways</a:t>
            </a:r>
            <a:endParaRPr/>
          </a:p>
        </p:txBody>
      </p:sp>
      <p:sp>
        <p:nvSpPr>
          <p:cNvPr id="333" name="Google Shape;333;p31"/>
          <p:cNvSpPr txBox="1"/>
          <p:nvPr/>
        </p:nvSpPr>
        <p:spPr>
          <a:xfrm>
            <a:off x="457200" y="2103120"/>
            <a:ext cx="5389418"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141413"/>
                </a:solidFill>
                <a:latin typeface="Calibri"/>
                <a:ea typeface="Calibri"/>
                <a:cs typeface="Calibri"/>
                <a:sym typeface="Calibri"/>
              </a:rPr>
              <a:t>• Use /plugin marketplace add &lt;repo&gt; to add a marketplace</a:t>
            </a:r>
            <a:endParaRPr/>
          </a:p>
          <a:p>
            <a:pPr indent="0" lvl="0" marL="0" marR="0" rtl="0" algn="l">
              <a:spcBef>
                <a:spcPts val="800"/>
              </a:spcBef>
              <a:spcAft>
                <a:spcPts val="0"/>
              </a:spcAft>
              <a:buNone/>
            </a:pPr>
            <a:r>
              <a:rPr b="0" i="0" lang="en-US" sz="1600" u="none" cap="none" strike="noStrike">
                <a:solidFill>
                  <a:srgbClr val="141413"/>
                </a:solidFill>
                <a:latin typeface="Calibri"/>
                <a:ea typeface="Calibri"/>
                <a:cs typeface="Calibri"/>
                <a:sym typeface="Calibri"/>
              </a:rPr>
              <a:t>• The /plugin command opens the manager with four tabs</a:t>
            </a:r>
            <a:endParaRPr/>
          </a:p>
          <a:p>
            <a:pPr indent="0" lvl="0" marL="0" marR="0" rtl="0" algn="l">
              <a:spcBef>
                <a:spcPts val="800"/>
              </a:spcBef>
              <a:spcAft>
                <a:spcPts val="0"/>
              </a:spcAft>
              <a:buNone/>
            </a:pPr>
            <a:r>
              <a:rPr b="0" i="0" lang="en-US" sz="1600" u="none" cap="none" strike="noStrike">
                <a:solidFill>
                  <a:srgbClr val="141413"/>
                </a:solidFill>
                <a:latin typeface="Calibri"/>
                <a:ea typeface="Calibri"/>
                <a:cs typeface="Calibri"/>
                <a:sym typeface="Calibri"/>
              </a:rPr>
              <a:t>• Discover tab shows all plugins from your added marketplaces</a:t>
            </a:r>
            <a:endParaRPr/>
          </a:p>
          <a:p>
            <a:pPr indent="0" lvl="0" marL="0" marR="0" rtl="0" algn="l">
              <a:spcBef>
                <a:spcPts val="800"/>
              </a:spcBef>
              <a:spcAft>
                <a:spcPts val="0"/>
              </a:spcAft>
              <a:buNone/>
            </a:pPr>
            <a:r>
              <a:rPr b="0" i="0" lang="en-US" sz="1600" u="none" cap="none" strike="noStrike">
                <a:solidFill>
                  <a:srgbClr val="141413"/>
                </a:solidFill>
                <a:latin typeface="Calibri"/>
                <a:ea typeface="Calibri"/>
                <a:cs typeface="Calibri"/>
                <a:sym typeface="Calibri"/>
              </a:rPr>
              <a:t>• Adding a marketplace doesn't install plugins—it just makes them browsable</a:t>
            </a:r>
            <a:endParaRPr/>
          </a:p>
        </p:txBody>
      </p:sp>
      <p:sp>
        <p:nvSpPr>
          <p:cNvPr id="334" name="Google Shape;334;p31"/>
          <p:cNvSpPr/>
          <p:nvPr/>
        </p:nvSpPr>
        <p:spPr>
          <a:xfrm>
            <a:off x="6511636" y="0"/>
            <a:ext cx="2632364" cy="5143500"/>
          </a:xfrm>
          <a:prstGeom prst="rect">
            <a:avLst/>
          </a:prstGeom>
          <a:solidFill>
            <a:srgbClr val="D97757"/>
          </a:solidFill>
          <a:ln cap="flat" cmpd="sng" w="9525">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Key with solid fill" id="335" name="Google Shape;335;p31"/>
          <p:cNvPicPr preferRelativeResize="0"/>
          <p:nvPr/>
        </p:nvPicPr>
        <p:blipFill rotWithShape="1">
          <a:blip r:embed="rId3">
            <a:alphaModFix/>
          </a:blip>
          <a:srcRect b="0" l="0" r="0" t="0"/>
          <a:stretch/>
        </p:blipFill>
        <p:spPr>
          <a:xfrm>
            <a:off x="7370618" y="502920"/>
            <a:ext cx="914400" cy="914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7757"/>
        </a:solidFill>
      </p:bgPr>
    </p:bg>
    <p:spTree>
      <p:nvGrpSpPr>
        <p:cNvPr id="340" name="Shape 340"/>
        <p:cNvGrpSpPr/>
        <p:nvPr/>
      </p:nvGrpSpPr>
      <p:grpSpPr>
        <a:xfrm>
          <a:off x="0" y="0"/>
          <a:ext cx="0" cy="0"/>
          <a:chOff x="0" y="0"/>
          <a:chExt cx="0" cy="0"/>
        </a:xfrm>
      </p:grpSpPr>
      <p:sp>
        <p:nvSpPr>
          <p:cNvPr id="341" name="Google Shape;341;p32"/>
          <p:cNvSpPr txBox="1"/>
          <p:nvPr/>
        </p:nvSpPr>
        <p:spPr>
          <a:xfrm>
            <a:off x="609600" y="655320"/>
            <a:ext cx="6950942"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chemeClr val="lt1"/>
                </a:solidFill>
                <a:latin typeface="Calibri"/>
                <a:ea typeface="Calibri"/>
                <a:cs typeface="Calibri"/>
                <a:sym typeface="Calibri"/>
              </a:rPr>
              <a:t>Module 4: Installing and Managing Plugins</a:t>
            </a:r>
            <a:endParaRPr/>
          </a:p>
        </p:txBody>
      </p:sp>
      <p:sp>
        <p:nvSpPr>
          <p:cNvPr id="342" name="Google Shape;342;p32"/>
          <p:cNvSpPr txBox="1"/>
          <p:nvPr/>
        </p:nvSpPr>
        <p:spPr>
          <a:xfrm>
            <a:off x="609600" y="1203960"/>
            <a:ext cx="223080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lt1"/>
                </a:solidFill>
                <a:latin typeface="Calibri"/>
                <a:ea typeface="Calibri"/>
                <a:cs typeface="Calibri"/>
                <a:sym typeface="Calibri"/>
              </a:rPr>
              <a:t>Learning Objectives</a:t>
            </a:r>
            <a:endParaRPr/>
          </a:p>
        </p:txBody>
      </p:sp>
      <p:sp>
        <p:nvSpPr>
          <p:cNvPr id="343" name="Google Shape;343;p32"/>
          <p:cNvSpPr txBox="1"/>
          <p:nvPr/>
        </p:nvSpPr>
        <p:spPr>
          <a:xfrm>
            <a:off x="609600" y="1798320"/>
            <a:ext cx="5524782" cy="1308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lt1"/>
                </a:solidFill>
                <a:latin typeface="Calibri"/>
                <a:ea typeface="Calibri"/>
                <a:cs typeface="Calibri"/>
                <a:sym typeface="Calibri"/>
              </a:rPr>
              <a:t>• Install plugins using both CLI commands and the interactive UI</a:t>
            </a:r>
            <a:endParaRPr/>
          </a:p>
          <a:p>
            <a:pPr indent="0" lvl="0" marL="0" marR="0" rtl="0" algn="l">
              <a:spcBef>
                <a:spcPts val="600"/>
              </a:spcBef>
              <a:spcAft>
                <a:spcPts val="0"/>
              </a:spcAft>
              <a:buNone/>
            </a:pPr>
            <a:r>
              <a:rPr b="0" i="0" lang="en-US" sz="1600" u="none" cap="none" strike="noStrike">
                <a:solidFill>
                  <a:schemeClr val="lt1"/>
                </a:solidFill>
                <a:latin typeface="Calibri"/>
                <a:ea typeface="Calibri"/>
                <a:cs typeface="Calibri"/>
                <a:sym typeface="Calibri"/>
              </a:rPr>
              <a:t>• Distinguish between user, project, and local installation scopes</a:t>
            </a:r>
            <a:endParaRPr/>
          </a:p>
          <a:p>
            <a:pPr indent="0" lvl="0" marL="0" marR="0" rtl="0" algn="l">
              <a:spcBef>
                <a:spcPts val="600"/>
              </a:spcBef>
              <a:spcAft>
                <a:spcPts val="0"/>
              </a:spcAft>
              <a:buNone/>
            </a:pPr>
            <a:r>
              <a:rPr b="0" i="0" lang="en-US" sz="1600" u="none" cap="none" strike="noStrike">
                <a:solidFill>
                  <a:schemeClr val="lt1"/>
                </a:solidFill>
                <a:latin typeface="Calibri"/>
                <a:ea typeface="Calibri"/>
                <a:cs typeface="Calibri"/>
                <a:sym typeface="Calibri"/>
              </a:rPr>
              <a:t>• Enable, disable, and uninstall plugins appropriately</a:t>
            </a:r>
            <a:endParaRPr/>
          </a:p>
          <a:p>
            <a:pPr indent="0" lvl="0" marL="0" marR="0" rtl="0" algn="l">
              <a:spcBef>
                <a:spcPts val="600"/>
              </a:spcBef>
              <a:spcAft>
                <a:spcPts val="0"/>
              </a:spcAft>
              <a:buNone/>
            </a:pPr>
            <a:r>
              <a:rPr b="0" i="0" lang="en-US" sz="1600" u="none" cap="none" strike="noStrike">
                <a:solidFill>
                  <a:schemeClr val="lt1"/>
                </a:solidFill>
                <a:latin typeface="Calibri"/>
                <a:ea typeface="Calibri"/>
                <a:cs typeface="Calibri"/>
                <a:sym typeface="Calibri"/>
              </a:rPr>
              <a:t>• Troubleshoot common installation issues</a:t>
            </a:r>
            <a:endParaRPr/>
          </a:p>
        </p:txBody>
      </p:sp>
      <p:sp>
        <p:nvSpPr>
          <p:cNvPr id="344" name="Google Shape;344;p32"/>
          <p:cNvSpPr/>
          <p:nvPr/>
        </p:nvSpPr>
        <p:spPr>
          <a:xfrm>
            <a:off x="7467600" y="4541520"/>
            <a:ext cx="1371600" cy="457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dk1"/>
                </a:solidFill>
                <a:latin typeface="Calibri"/>
                <a:ea typeface="Calibri"/>
                <a:cs typeface="Calibri"/>
                <a:sym typeface="Calibri"/>
              </a:rPr>
              <a:t>⏱ 45 minutes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49" name="Shape 349"/>
        <p:cNvGrpSpPr/>
        <p:nvPr/>
      </p:nvGrpSpPr>
      <p:grpSpPr>
        <a:xfrm>
          <a:off x="0" y="0"/>
          <a:ext cx="0" cy="0"/>
          <a:chOff x="0" y="0"/>
          <a:chExt cx="0" cy="0"/>
        </a:xfrm>
      </p:grpSpPr>
      <p:sp>
        <p:nvSpPr>
          <p:cNvPr id="350" name="Google Shape;350;p33"/>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41413"/>
                </a:solidFill>
                <a:latin typeface="Calibri"/>
                <a:ea typeface="Calibri"/>
                <a:cs typeface="Calibri"/>
                <a:sym typeface="Calibri"/>
              </a:rPr>
              <a:t>Installation Scopes</a:t>
            </a:r>
            <a:endParaRPr/>
          </a:p>
        </p:txBody>
      </p:sp>
      <p:sp>
        <p:nvSpPr>
          <p:cNvPr id="351" name="Google Shape;351;p33"/>
          <p:cNvSpPr/>
          <p:nvPr/>
        </p:nvSpPr>
        <p:spPr>
          <a:xfrm>
            <a:off x="731520" y="1280160"/>
            <a:ext cx="7680960" cy="731520"/>
          </a:xfrm>
          <a:prstGeom prst="rect">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52" name="Google Shape;352;p33"/>
          <p:cNvSpPr txBox="1"/>
          <p:nvPr/>
        </p:nvSpPr>
        <p:spPr>
          <a:xfrm>
            <a:off x="914400" y="1371600"/>
            <a:ext cx="2286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41413"/>
                </a:solidFill>
                <a:latin typeface="Calibri"/>
                <a:ea typeface="Calibri"/>
                <a:cs typeface="Calibri"/>
                <a:sym typeface="Calibri"/>
              </a:rPr>
              <a:t>User Scope (Default)</a:t>
            </a:r>
            <a:endParaRPr/>
          </a:p>
        </p:txBody>
      </p:sp>
      <p:sp>
        <p:nvSpPr>
          <p:cNvPr id="353" name="Google Shape;353;p33"/>
          <p:cNvSpPr txBox="1"/>
          <p:nvPr/>
        </p:nvSpPr>
        <p:spPr>
          <a:xfrm>
            <a:off x="914400" y="1645919"/>
            <a:ext cx="4114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41413"/>
                </a:solidFill>
                <a:latin typeface="Calibri"/>
                <a:ea typeface="Calibri"/>
                <a:cs typeface="Calibri"/>
                <a:sym typeface="Calibri"/>
              </a:rPr>
              <a:t>Install for yourself across ALL projects</a:t>
            </a:r>
            <a:endParaRPr/>
          </a:p>
        </p:txBody>
      </p:sp>
      <p:sp>
        <p:nvSpPr>
          <p:cNvPr id="354" name="Google Shape;354;p33"/>
          <p:cNvSpPr txBox="1"/>
          <p:nvPr/>
        </p:nvSpPr>
        <p:spPr>
          <a:xfrm>
            <a:off x="5120640" y="1508760"/>
            <a:ext cx="31089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6454F"/>
                </a:solidFill>
                <a:latin typeface="Consolas"/>
                <a:ea typeface="Consolas"/>
                <a:cs typeface="Consolas"/>
                <a:sym typeface="Consolas"/>
              </a:rPr>
              <a:t>~/.claude/plugins/</a:t>
            </a:r>
            <a:endParaRPr/>
          </a:p>
        </p:txBody>
      </p:sp>
      <p:sp>
        <p:nvSpPr>
          <p:cNvPr id="355" name="Google Shape;355;p33"/>
          <p:cNvSpPr/>
          <p:nvPr/>
        </p:nvSpPr>
        <p:spPr>
          <a:xfrm>
            <a:off x="731520" y="2194560"/>
            <a:ext cx="7680960" cy="731520"/>
          </a:xfrm>
          <a:prstGeom prst="rect">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56" name="Google Shape;356;p33"/>
          <p:cNvSpPr txBox="1"/>
          <p:nvPr/>
        </p:nvSpPr>
        <p:spPr>
          <a:xfrm>
            <a:off x="914400" y="2286000"/>
            <a:ext cx="2286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41413"/>
                </a:solidFill>
                <a:latin typeface="Calibri"/>
                <a:ea typeface="Calibri"/>
                <a:cs typeface="Calibri"/>
                <a:sym typeface="Calibri"/>
              </a:rPr>
              <a:t>Project Scope (Team Sharing)</a:t>
            </a:r>
            <a:endParaRPr/>
          </a:p>
        </p:txBody>
      </p:sp>
      <p:sp>
        <p:nvSpPr>
          <p:cNvPr id="357" name="Google Shape;357;p33"/>
          <p:cNvSpPr txBox="1"/>
          <p:nvPr/>
        </p:nvSpPr>
        <p:spPr>
          <a:xfrm>
            <a:off x="914400" y="2560320"/>
            <a:ext cx="4114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41413"/>
                </a:solidFill>
                <a:latin typeface="Calibri"/>
                <a:ea typeface="Calibri"/>
                <a:cs typeface="Calibri"/>
                <a:sym typeface="Calibri"/>
              </a:rPr>
              <a:t>Install for all team members on THIS repo</a:t>
            </a:r>
            <a:endParaRPr/>
          </a:p>
        </p:txBody>
      </p:sp>
      <p:sp>
        <p:nvSpPr>
          <p:cNvPr id="358" name="Google Shape;358;p33"/>
          <p:cNvSpPr txBox="1"/>
          <p:nvPr/>
        </p:nvSpPr>
        <p:spPr>
          <a:xfrm>
            <a:off x="5120640" y="2423160"/>
            <a:ext cx="31089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6454F"/>
                </a:solidFill>
                <a:latin typeface="Consolas"/>
                <a:ea typeface="Consolas"/>
                <a:cs typeface="Consolas"/>
                <a:sym typeface="Consolas"/>
              </a:rPr>
              <a:t>.claude/settings.json</a:t>
            </a:r>
            <a:endParaRPr/>
          </a:p>
        </p:txBody>
      </p:sp>
      <p:sp>
        <p:nvSpPr>
          <p:cNvPr id="359" name="Google Shape;359;p33"/>
          <p:cNvSpPr/>
          <p:nvPr/>
        </p:nvSpPr>
        <p:spPr>
          <a:xfrm>
            <a:off x="731520" y="3108960"/>
            <a:ext cx="7680960" cy="731520"/>
          </a:xfrm>
          <a:prstGeom prst="rect">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0" name="Google Shape;360;p33"/>
          <p:cNvSpPr txBox="1"/>
          <p:nvPr/>
        </p:nvSpPr>
        <p:spPr>
          <a:xfrm>
            <a:off x="914400" y="3200400"/>
            <a:ext cx="2286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41413"/>
                </a:solidFill>
                <a:latin typeface="Calibri"/>
                <a:ea typeface="Calibri"/>
                <a:cs typeface="Calibri"/>
                <a:sym typeface="Calibri"/>
              </a:rPr>
              <a:t>Local Scope (Testing)</a:t>
            </a:r>
            <a:endParaRPr/>
          </a:p>
        </p:txBody>
      </p:sp>
      <p:sp>
        <p:nvSpPr>
          <p:cNvPr id="361" name="Google Shape;361;p33"/>
          <p:cNvSpPr txBox="1"/>
          <p:nvPr/>
        </p:nvSpPr>
        <p:spPr>
          <a:xfrm>
            <a:off x="914400" y="3474720"/>
            <a:ext cx="41148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141413"/>
                </a:solidFill>
                <a:latin typeface="Calibri"/>
                <a:ea typeface="Calibri"/>
                <a:cs typeface="Calibri"/>
                <a:sym typeface="Calibri"/>
              </a:rPr>
              <a:t>Install for yourself on THIS repo only</a:t>
            </a:r>
            <a:endParaRPr/>
          </a:p>
        </p:txBody>
      </p:sp>
      <p:sp>
        <p:nvSpPr>
          <p:cNvPr id="362" name="Google Shape;362;p33"/>
          <p:cNvSpPr txBox="1"/>
          <p:nvPr/>
        </p:nvSpPr>
        <p:spPr>
          <a:xfrm>
            <a:off x="5120640" y="3337560"/>
            <a:ext cx="310896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6454F"/>
                </a:solidFill>
                <a:latin typeface="Consolas"/>
                <a:ea typeface="Consolas"/>
                <a:cs typeface="Consolas"/>
                <a:sym typeface="Consolas"/>
              </a:rPr>
              <a:t>.claude/settings.local.json</a:t>
            </a:r>
            <a:endParaRPr/>
          </a:p>
        </p:txBody>
      </p:sp>
      <p:sp>
        <p:nvSpPr>
          <p:cNvPr id="363" name="Google Shape;363;p33"/>
          <p:cNvSpPr/>
          <p:nvPr/>
        </p:nvSpPr>
        <p:spPr>
          <a:xfrm>
            <a:off x="731520" y="4114800"/>
            <a:ext cx="7680960" cy="630382"/>
          </a:xfrm>
          <a:prstGeom prst="roundRect">
            <a:avLst>
              <a:gd fmla="val 16667" name="adj"/>
            </a:avLst>
          </a:prstGeom>
          <a:solidFill>
            <a:schemeClr val="lt1"/>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141413"/>
                </a:solidFill>
                <a:latin typeface="Calibri"/>
                <a:ea typeface="Calibri"/>
                <a:cs typeface="Calibri"/>
                <a:sym typeface="Calibri"/>
              </a:rPr>
              <a:t>💡 Use Case: Plugin connects to company API → Use Project scope so entire team has it. Personal code formatter → Use User scope for all your work.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68" name="Shape 368"/>
        <p:cNvGrpSpPr/>
        <p:nvPr/>
      </p:nvGrpSpPr>
      <p:grpSpPr>
        <a:xfrm>
          <a:off x="0" y="0"/>
          <a:ext cx="0" cy="0"/>
          <a:chOff x="0" y="0"/>
          <a:chExt cx="0" cy="0"/>
        </a:xfrm>
      </p:grpSpPr>
      <p:sp>
        <p:nvSpPr>
          <p:cNvPr id="369" name="Google Shape;369;p34"/>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41413"/>
                </a:solidFill>
                <a:latin typeface="Calibri"/>
                <a:ea typeface="Calibri"/>
                <a:cs typeface="Calibri"/>
                <a:sym typeface="Calibri"/>
              </a:rPr>
              <a:t>Installing Plugins</a:t>
            </a:r>
            <a:endParaRPr/>
          </a:p>
        </p:txBody>
      </p:sp>
      <p:sp>
        <p:nvSpPr>
          <p:cNvPr id="370" name="Google Shape;370;p34"/>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1413"/>
                </a:solidFill>
                <a:latin typeface="Calibri"/>
                <a:ea typeface="Calibri"/>
                <a:cs typeface="Calibri"/>
                <a:sym typeface="Calibri"/>
              </a:rPr>
              <a:t>Two Ways to Install</a:t>
            </a:r>
            <a:endParaRPr/>
          </a:p>
        </p:txBody>
      </p:sp>
      <p:sp>
        <p:nvSpPr>
          <p:cNvPr id="371" name="Google Shape;371;p34"/>
          <p:cNvSpPr txBox="1"/>
          <p:nvPr/>
        </p:nvSpPr>
        <p:spPr>
          <a:xfrm>
            <a:off x="731520" y="1645920"/>
            <a:ext cx="587709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CLI: /plugin install plugin-name@marketplace-name (defaults to user scope)</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Interactive UI: /plugin → Discover tab → Select plugin → Choose scope</a:t>
            </a:r>
            <a:endParaRPr/>
          </a:p>
        </p:txBody>
      </p:sp>
      <p:sp>
        <p:nvSpPr>
          <p:cNvPr id="372" name="Google Shape;372;p34"/>
          <p:cNvSpPr/>
          <p:nvPr/>
        </p:nvSpPr>
        <p:spPr>
          <a:xfrm>
            <a:off x="914400" y="2299854"/>
            <a:ext cx="5569527" cy="54864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FFFFFF"/>
                </a:solidFill>
                <a:latin typeface="Consolas"/>
                <a:ea typeface="Consolas"/>
                <a:cs typeface="Consolas"/>
                <a:sym typeface="Consolas"/>
              </a:rPr>
              <a:t>/plugin install commit-commands@anthropics-claude-code</a:t>
            </a:r>
            <a:endParaRPr/>
          </a:p>
        </p:txBody>
      </p:sp>
      <p:sp>
        <p:nvSpPr>
          <p:cNvPr id="373" name="Google Shape;373;p34"/>
          <p:cNvSpPr txBox="1"/>
          <p:nvPr/>
        </p:nvSpPr>
        <p:spPr>
          <a:xfrm>
            <a:off x="731520" y="3031374"/>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1413"/>
                </a:solidFill>
                <a:latin typeface="Calibri"/>
                <a:ea typeface="Calibri"/>
                <a:cs typeface="Calibri"/>
                <a:sym typeface="Calibri"/>
              </a:rPr>
              <a:t>Specify Scope in CLI</a:t>
            </a:r>
            <a:endParaRPr/>
          </a:p>
        </p:txBody>
      </p:sp>
      <p:sp>
        <p:nvSpPr>
          <p:cNvPr id="374" name="Google Shape;374;p34"/>
          <p:cNvSpPr/>
          <p:nvPr/>
        </p:nvSpPr>
        <p:spPr>
          <a:xfrm>
            <a:off x="914400" y="3488574"/>
            <a:ext cx="5569527" cy="54864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FFFFFF"/>
                </a:solidFill>
                <a:latin typeface="Consolas"/>
                <a:ea typeface="Consolas"/>
                <a:cs typeface="Consolas"/>
                <a:sym typeface="Consolas"/>
              </a:rPr>
              <a:t>claude plugin install formatter@your-org --scope project</a:t>
            </a:r>
            <a:endParaRPr/>
          </a:p>
        </p:txBody>
      </p:sp>
      <p:sp>
        <p:nvSpPr>
          <p:cNvPr id="375" name="Google Shape;375;p34"/>
          <p:cNvSpPr/>
          <p:nvPr/>
        </p:nvSpPr>
        <p:spPr>
          <a:xfrm>
            <a:off x="6906491" y="1330036"/>
            <a:ext cx="1780308" cy="3059084"/>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chemeClr val="lt1"/>
                </a:solidFill>
                <a:latin typeface="Calibri"/>
                <a:ea typeface="Calibri"/>
                <a:cs typeface="Calibri"/>
                <a:sym typeface="Calibri"/>
              </a:rPr>
              <a:t>Interactive UI recommended for choosing scope—you can see all options clearly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80" name="Shape 380"/>
        <p:cNvGrpSpPr/>
        <p:nvPr/>
      </p:nvGrpSpPr>
      <p:grpSpPr>
        <a:xfrm>
          <a:off x="0" y="0"/>
          <a:ext cx="0" cy="0"/>
          <a:chOff x="0" y="0"/>
          <a:chExt cx="0" cy="0"/>
        </a:xfrm>
      </p:grpSpPr>
      <p:sp>
        <p:nvSpPr>
          <p:cNvPr id="381" name="Google Shape;381;p35"/>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41413"/>
                </a:solidFill>
                <a:latin typeface="Calibri"/>
                <a:ea typeface="Calibri"/>
                <a:cs typeface="Calibri"/>
                <a:sym typeface="Calibri"/>
              </a:rPr>
              <a:t>Managing Plugins</a:t>
            </a:r>
            <a:endParaRPr/>
          </a:p>
        </p:txBody>
      </p:sp>
      <p:sp>
        <p:nvSpPr>
          <p:cNvPr id="382" name="Google Shape;382;p35"/>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1413"/>
                </a:solidFill>
                <a:latin typeface="Calibri"/>
                <a:ea typeface="Calibri"/>
                <a:cs typeface="Calibri"/>
                <a:sym typeface="Calibri"/>
              </a:rPr>
              <a:t>View Installed Plugins</a:t>
            </a:r>
            <a:endParaRPr/>
          </a:p>
        </p:txBody>
      </p:sp>
      <p:sp>
        <p:nvSpPr>
          <p:cNvPr id="383" name="Google Shape;383;p35"/>
          <p:cNvSpPr txBox="1"/>
          <p:nvPr/>
        </p:nvSpPr>
        <p:spPr>
          <a:xfrm>
            <a:off x="731520" y="1645920"/>
            <a:ext cx="768096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/plugin command → Installed tab</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Plugins grouped by scope (User, Project, Local, Managed)</a:t>
            </a:r>
            <a:endParaRPr/>
          </a:p>
        </p:txBody>
      </p:sp>
      <p:sp>
        <p:nvSpPr>
          <p:cNvPr id="384" name="Google Shape;384;p35"/>
          <p:cNvSpPr txBox="1"/>
          <p:nvPr/>
        </p:nvSpPr>
        <p:spPr>
          <a:xfrm>
            <a:off x="731520" y="2459182"/>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1413"/>
                </a:solidFill>
                <a:latin typeface="Calibri"/>
                <a:ea typeface="Calibri"/>
                <a:cs typeface="Calibri"/>
                <a:sym typeface="Calibri"/>
              </a:rPr>
              <a:t>Common Management Tasks</a:t>
            </a:r>
            <a:endParaRPr/>
          </a:p>
        </p:txBody>
      </p:sp>
      <p:sp>
        <p:nvSpPr>
          <p:cNvPr id="385" name="Google Shape;385;p35"/>
          <p:cNvSpPr txBox="1"/>
          <p:nvPr/>
        </p:nvSpPr>
        <p:spPr>
          <a:xfrm>
            <a:off x="731520" y="2916382"/>
            <a:ext cx="7680960" cy="137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Disable: /plugin disable plugin-name@marketplace (temporary)</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Enable: /plugin enable plugin-name@marketplace (re-activate)</a:t>
            </a:r>
            <a:endParaRPr/>
          </a:p>
          <a:p>
            <a:pPr indent="0" lvl="0" marL="0" marR="0" rtl="0" algn="l">
              <a:spcBef>
                <a:spcPts val="0"/>
              </a:spcBef>
              <a:spcAft>
                <a:spcPts val="0"/>
              </a:spcAft>
              <a:buNone/>
            </a:pPr>
            <a:r>
              <a:rPr b="0" i="0" lang="en-US" sz="1400" u="none" cap="none" strike="noStrike">
                <a:solidFill>
                  <a:srgbClr val="141413"/>
                </a:solidFill>
                <a:latin typeface="Calibri"/>
                <a:ea typeface="Calibri"/>
                <a:cs typeface="Calibri"/>
                <a:sym typeface="Calibri"/>
              </a:rPr>
              <a:t>• Uninstall: /plugin uninstall plugin-name@marketplace (permanent removal)</a:t>
            </a:r>
            <a:endParaRPr/>
          </a:p>
        </p:txBody>
      </p:sp>
      <p:sp>
        <p:nvSpPr>
          <p:cNvPr id="386" name="Google Shape;386;p35"/>
          <p:cNvSpPr/>
          <p:nvPr/>
        </p:nvSpPr>
        <p:spPr>
          <a:xfrm>
            <a:off x="6906491" y="1330036"/>
            <a:ext cx="1780308" cy="3059084"/>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chemeClr val="lt1"/>
                </a:solidFill>
                <a:latin typeface="Calibri"/>
                <a:ea typeface="Calibri"/>
                <a:cs typeface="Calibri"/>
                <a:sym typeface="Calibri"/>
              </a:rPr>
              <a:t>Disabling is useful for troubleshooting conflicts without losing configuration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91" name="Shape 391"/>
        <p:cNvGrpSpPr/>
        <p:nvPr/>
      </p:nvGrpSpPr>
      <p:grpSpPr>
        <a:xfrm>
          <a:off x="0" y="0"/>
          <a:ext cx="0" cy="0"/>
          <a:chOff x="0" y="0"/>
          <a:chExt cx="0" cy="0"/>
        </a:xfrm>
      </p:grpSpPr>
      <p:sp>
        <p:nvSpPr>
          <p:cNvPr id="392" name="Google Shape;392;p36"/>
          <p:cNvSpPr/>
          <p:nvPr/>
        </p:nvSpPr>
        <p:spPr>
          <a:xfrm>
            <a:off x="0" y="0"/>
            <a:ext cx="2632364" cy="5143500"/>
          </a:xfrm>
          <a:prstGeom prst="rect">
            <a:avLst/>
          </a:prstGeom>
          <a:solidFill>
            <a:srgbClr val="788C5D"/>
          </a:solidFill>
          <a:ln cap="flat" cmpd="sng" w="9525">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3" name="Google Shape;393;p36"/>
          <p:cNvSpPr txBox="1"/>
          <p:nvPr/>
        </p:nvSpPr>
        <p:spPr>
          <a:xfrm>
            <a:off x="278911" y="3079865"/>
            <a:ext cx="2074542" cy="15696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200" u="none" cap="none" strike="noStrike">
                <a:solidFill>
                  <a:schemeClr val="lt1"/>
                </a:solidFill>
                <a:latin typeface="Calibri"/>
                <a:ea typeface="Calibri"/>
                <a:cs typeface="Calibri"/>
                <a:sym typeface="Calibri"/>
              </a:rPr>
              <a:t>Module 4:</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rPr b="1" i="0" lang="en-US" sz="3200" u="none" cap="none" strike="noStrike">
                <a:solidFill>
                  <a:schemeClr val="lt1"/>
                </a:solidFill>
                <a:latin typeface="Calibri"/>
                <a:ea typeface="Calibri"/>
                <a:cs typeface="Calibri"/>
                <a:sym typeface="Calibri"/>
              </a:rPr>
              <a:t>Knowledge</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rPr b="1" i="0" lang="en-US" sz="3200" u="none" cap="none" strike="noStrike">
                <a:solidFill>
                  <a:schemeClr val="lt1"/>
                </a:solidFill>
                <a:latin typeface="Calibri"/>
                <a:ea typeface="Calibri"/>
                <a:cs typeface="Calibri"/>
                <a:sym typeface="Calibri"/>
              </a:rPr>
              <a:t>Check</a:t>
            </a:r>
            <a:endParaRPr/>
          </a:p>
        </p:txBody>
      </p:sp>
      <p:pic>
        <p:nvPicPr>
          <p:cNvPr descr="Brain with solid fill" id="394" name="Google Shape;394;p36"/>
          <p:cNvPicPr preferRelativeResize="0"/>
          <p:nvPr/>
        </p:nvPicPr>
        <p:blipFill rotWithShape="1">
          <a:blip r:embed="rId3">
            <a:alphaModFix/>
          </a:blip>
          <a:srcRect b="0" l="0" r="0" t="0"/>
          <a:stretch/>
        </p:blipFill>
        <p:spPr>
          <a:xfrm>
            <a:off x="969818" y="2376055"/>
            <a:ext cx="703810" cy="703810"/>
          </a:xfrm>
          <a:prstGeom prst="rect">
            <a:avLst/>
          </a:prstGeom>
          <a:noFill/>
          <a:ln>
            <a:noFill/>
          </a:ln>
        </p:spPr>
      </p:pic>
      <p:sp>
        <p:nvSpPr>
          <p:cNvPr id="395" name="Google Shape;395;p36"/>
          <p:cNvSpPr txBox="1"/>
          <p:nvPr/>
        </p:nvSpPr>
        <p:spPr>
          <a:xfrm>
            <a:off x="3129308" y="834391"/>
            <a:ext cx="531890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41413"/>
                </a:solidFill>
                <a:latin typeface="Calibri"/>
                <a:ea typeface="Calibri"/>
                <a:cs typeface="Calibri"/>
                <a:sym typeface="Calibri"/>
              </a:rPr>
              <a:t>When installing via CLI without --scope flag, which scope is used by default?</a:t>
            </a:r>
            <a:endParaRPr/>
          </a:p>
        </p:txBody>
      </p:sp>
      <p:sp>
        <p:nvSpPr>
          <p:cNvPr id="396" name="Google Shape;396;p36"/>
          <p:cNvSpPr txBox="1"/>
          <p:nvPr/>
        </p:nvSpPr>
        <p:spPr>
          <a:xfrm>
            <a:off x="3129308" y="2571750"/>
            <a:ext cx="531890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41413"/>
                </a:solidFill>
                <a:latin typeface="Calibri"/>
                <a:ea typeface="Calibri"/>
                <a:cs typeface="Calibri"/>
                <a:sym typeface="Calibri"/>
              </a:rPr>
              <a:t>Which scope should you use for a plugin that connects to your company's internal API?</a:t>
            </a:r>
            <a:endParaRPr/>
          </a:p>
        </p:txBody>
      </p:sp>
      <p:sp>
        <p:nvSpPr>
          <p:cNvPr id="397" name="Google Shape;397;p36"/>
          <p:cNvSpPr txBox="1"/>
          <p:nvPr/>
        </p:nvSpPr>
        <p:spPr>
          <a:xfrm>
            <a:off x="3312188" y="1292458"/>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A) Project</a:t>
            </a:r>
            <a:endParaRPr/>
          </a:p>
        </p:txBody>
      </p:sp>
      <p:sp>
        <p:nvSpPr>
          <p:cNvPr id="398" name="Google Shape;398;p36"/>
          <p:cNvSpPr txBox="1"/>
          <p:nvPr/>
        </p:nvSpPr>
        <p:spPr>
          <a:xfrm>
            <a:off x="3312188" y="1566778"/>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788C5D"/>
                </a:solidFill>
                <a:latin typeface="Calibri"/>
                <a:ea typeface="Calibri"/>
                <a:cs typeface="Calibri"/>
                <a:sym typeface="Calibri"/>
              </a:rPr>
              <a:t>B) User</a:t>
            </a:r>
            <a:endParaRPr/>
          </a:p>
        </p:txBody>
      </p:sp>
      <p:sp>
        <p:nvSpPr>
          <p:cNvPr id="399" name="Google Shape;399;p36"/>
          <p:cNvSpPr txBox="1"/>
          <p:nvPr/>
        </p:nvSpPr>
        <p:spPr>
          <a:xfrm>
            <a:off x="3312188" y="1841097"/>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C) Local</a:t>
            </a:r>
            <a:endParaRPr/>
          </a:p>
        </p:txBody>
      </p:sp>
      <p:sp>
        <p:nvSpPr>
          <p:cNvPr id="400" name="Google Shape;400;p36"/>
          <p:cNvSpPr txBox="1"/>
          <p:nvPr/>
        </p:nvSpPr>
        <p:spPr>
          <a:xfrm>
            <a:off x="3312188" y="2115417"/>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D) Managed</a:t>
            </a:r>
            <a:endParaRPr/>
          </a:p>
        </p:txBody>
      </p:sp>
      <p:sp>
        <p:nvSpPr>
          <p:cNvPr id="401" name="Google Shape;401;p36"/>
          <p:cNvSpPr txBox="1"/>
          <p:nvPr/>
        </p:nvSpPr>
        <p:spPr>
          <a:xfrm>
            <a:off x="3312188" y="3028950"/>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A) User (everyone installs individually)</a:t>
            </a:r>
            <a:endParaRPr/>
          </a:p>
        </p:txBody>
      </p:sp>
      <p:sp>
        <p:nvSpPr>
          <p:cNvPr id="402" name="Google Shape;402;p36"/>
          <p:cNvSpPr txBox="1"/>
          <p:nvPr/>
        </p:nvSpPr>
        <p:spPr>
          <a:xfrm>
            <a:off x="3312188" y="3303270"/>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788C5D"/>
                </a:solidFill>
                <a:latin typeface="Calibri"/>
                <a:ea typeface="Calibri"/>
                <a:cs typeface="Calibri"/>
                <a:sym typeface="Calibri"/>
              </a:rPr>
              <a:t>B) Project (shared with team)</a:t>
            </a:r>
            <a:endParaRPr/>
          </a:p>
        </p:txBody>
      </p:sp>
      <p:sp>
        <p:nvSpPr>
          <p:cNvPr id="403" name="Google Shape;403;p36"/>
          <p:cNvSpPr txBox="1"/>
          <p:nvPr/>
        </p:nvSpPr>
        <p:spPr>
          <a:xfrm>
            <a:off x="3312188" y="3577590"/>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C) Local (isolated testing)</a:t>
            </a:r>
            <a:endParaRPr/>
          </a:p>
        </p:txBody>
      </p:sp>
      <p:sp>
        <p:nvSpPr>
          <p:cNvPr id="404" name="Google Shape;404;p36"/>
          <p:cNvSpPr txBox="1"/>
          <p:nvPr/>
        </p:nvSpPr>
        <p:spPr>
          <a:xfrm>
            <a:off x="3312188" y="3851910"/>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D) Managed (admin-controlled)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09" name="Shape 409"/>
        <p:cNvGrpSpPr/>
        <p:nvPr/>
      </p:nvGrpSpPr>
      <p:grpSpPr>
        <a:xfrm>
          <a:off x="0" y="0"/>
          <a:ext cx="0" cy="0"/>
          <a:chOff x="0" y="0"/>
          <a:chExt cx="0" cy="0"/>
        </a:xfrm>
      </p:grpSpPr>
      <p:sp>
        <p:nvSpPr>
          <p:cNvPr id="410" name="Google Shape;410;p37"/>
          <p:cNvSpPr txBox="1"/>
          <p:nvPr/>
        </p:nvSpPr>
        <p:spPr>
          <a:xfrm>
            <a:off x="457200" y="502920"/>
            <a:ext cx="353032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41413"/>
                </a:solidFill>
                <a:latin typeface="Calibri"/>
                <a:ea typeface="Calibri"/>
                <a:cs typeface="Calibri"/>
                <a:sym typeface="Calibri"/>
              </a:rPr>
              <a:t>Module 4 Summary</a:t>
            </a:r>
            <a:endParaRPr/>
          </a:p>
        </p:txBody>
      </p:sp>
      <p:sp>
        <p:nvSpPr>
          <p:cNvPr id="411" name="Google Shape;411;p37"/>
          <p:cNvSpPr txBox="1"/>
          <p:nvPr/>
        </p:nvSpPr>
        <p:spPr>
          <a:xfrm>
            <a:off x="457200" y="1051560"/>
            <a:ext cx="31829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800" u="none" cap="none" strike="noStrike">
                <a:solidFill>
                  <a:srgbClr val="36454F"/>
                </a:solidFill>
                <a:latin typeface="Calibri"/>
                <a:ea typeface="Calibri"/>
                <a:cs typeface="Calibri"/>
                <a:sym typeface="Calibri"/>
              </a:rPr>
              <a:t>Installing and Managing Plugins</a:t>
            </a:r>
            <a:endParaRPr b="0" i="0" sz="1800" u="none" cap="none" strike="noStrike">
              <a:solidFill>
                <a:schemeClr val="dk1"/>
              </a:solidFill>
              <a:latin typeface="Calibri"/>
              <a:ea typeface="Calibri"/>
              <a:cs typeface="Calibri"/>
              <a:sym typeface="Calibri"/>
            </a:endParaRPr>
          </a:p>
        </p:txBody>
      </p:sp>
      <p:sp>
        <p:nvSpPr>
          <p:cNvPr id="412" name="Google Shape;412;p37"/>
          <p:cNvSpPr txBox="1"/>
          <p:nvPr/>
        </p:nvSpPr>
        <p:spPr>
          <a:xfrm>
            <a:off x="45720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1413"/>
                </a:solidFill>
                <a:latin typeface="Calibri"/>
                <a:ea typeface="Calibri"/>
                <a:cs typeface="Calibri"/>
                <a:sym typeface="Calibri"/>
              </a:rPr>
              <a:t>Key Takeaways</a:t>
            </a:r>
            <a:endParaRPr/>
          </a:p>
        </p:txBody>
      </p:sp>
      <p:sp>
        <p:nvSpPr>
          <p:cNvPr id="413" name="Google Shape;413;p37"/>
          <p:cNvSpPr txBox="1"/>
          <p:nvPr/>
        </p:nvSpPr>
        <p:spPr>
          <a:xfrm>
            <a:off x="457200" y="2103120"/>
            <a:ext cx="5389418" cy="23698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141413"/>
                </a:solidFill>
                <a:latin typeface="Calibri"/>
                <a:ea typeface="Calibri"/>
                <a:cs typeface="Calibri"/>
                <a:sym typeface="Calibri"/>
              </a:rPr>
              <a:t>• Three scopes: User (all projects), Project (team shared), Local (this repo only)</a:t>
            </a:r>
            <a:endParaRPr/>
          </a:p>
          <a:p>
            <a:pPr indent="0" lvl="0" marL="0" marR="0" rtl="0" algn="l">
              <a:spcBef>
                <a:spcPts val="800"/>
              </a:spcBef>
              <a:spcAft>
                <a:spcPts val="0"/>
              </a:spcAft>
              <a:buNone/>
            </a:pPr>
            <a:r>
              <a:rPr b="0" i="0" lang="en-US" sz="1600" u="none" cap="none" strike="noStrike">
                <a:solidFill>
                  <a:srgbClr val="141413"/>
                </a:solidFill>
                <a:latin typeface="Calibri"/>
                <a:ea typeface="Calibri"/>
                <a:cs typeface="Calibri"/>
                <a:sym typeface="Calibri"/>
              </a:rPr>
              <a:t>• Install via CLI (/plugin install) or Interactive UI for scope selection</a:t>
            </a:r>
            <a:endParaRPr/>
          </a:p>
          <a:p>
            <a:pPr indent="0" lvl="0" marL="0" marR="0" rtl="0" algn="l">
              <a:spcBef>
                <a:spcPts val="800"/>
              </a:spcBef>
              <a:spcAft>
                <a:spcPts val="0"/>
              </a:spcAft>
              <a:buNone/>
            </a:pPr>
            <a:r>
              <a:rPr b="0" i="0" lang="en-US" sz="1600" u="none" cap="none" strike="noStrike">
                <a:solidFill>
                  <a:srgbClr val="141413"/>
                </a:solidFill>
                <a:latin typeface="Calibri"/>
                <a:ea typeface="Calibri"/>
                <a:cs typeface="Calibri"/>
                <a:sym typeface="Calibri"/>
              </a:rPr>
              <a:t>• Disable plugins temporarily for troubleshooting; uninstall to remove permanently</a:t>
            </a:r>
            <a:endParaRPr/>
          </a:p>
          <a:p>
            <a:pPr indent="0" lvl="0" marL="0" marR="0" rtl="0" algn="l">
              <a:spcBef>
                <a:spcPts val="800"/>
              </a:spcBef>
              <a:spcAft>
                <a:spcPts val="0"/>
              </a:spcAft>
              <a:buNone/>
            </a:pPr>
            <a:r>
              <a:rPr b="0" i="0" lang="en-US" sz="1600" u="none" cap="none" strike="noStrike">
                <a:solidFill>
                  <a:srgbClr val="141413"/>
                </a:solidFill>
                <a:latin typeface="Calibri"/>
                <a:ea typeface="Calibri"/>
                <a:cs typeface="Calibri"/>
                <a:sym typeface="Calibri"/>
              </a:rPr>
              <a:t>• Project scope is ideal for team-shared functionality like API integrations</a:t>
            </a:r>
            <a:endParaRPr/>
          </a:p>
        </p:txBody>
      </p:sp>
      <p:sp>
        <p:nvSpPr>
          <p:cNvPr id="414" name="Google Shape;414;p37"/>
          <p:cNvSpPr/>
          <p:nvPr/>
        </p:nvSpPr>
        <p:spPr>
          <a:xfrm>
            <a:off x="6511636" y="0"/>
            <a:ext cx="2632364" cy="5143500"/>
          </a:xfrm>
          <a:prstGeom prst="rect">
            <a:avLst/>
          </a:prstGeom>
          <a:solidFill>
            <a:srgbClr val="D97757"/>
          </a:solidFill>
          <a:ln cap="flat" cmpd="sng" w="9525">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Key with solid fill" id="415" name="Google Shape;415;p37"/>
          <p:cNvPicPr preferRelativeResize="0"/>
          <p:nvPr/>
        </p:nvPicPr>
        <p:blipFill rotWithShape="1">
          <a:blip r:embed="rId3">
            <a:alphaModFix/>
          </a:blip>
          <a:srcRect b="0" l="0" r="0" t="0"/>
          <a:stretch/>
        </p:blipFill>
        <p:spPr>
          <a:xfrm>
            <a:off x="7370618" y="502920"/>
            <a:ext cx="914400" cy="9144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9BCC"/>
        </a:solidFill>
      </p:bgPr>
    </p:bg>
    <p:spTree>
      <p:nvGrpSpPr>
        <p:cNvPr id="420" name="Shape 420"/>
        <p:cNvGrpSpPr/>
        <p:nvPr/>
      </p:nvGrpSpPr>
      <p:grpSpPr>
        <a:xfrm>
          <a:off x="0" y="0"/>
          <a:ext cx="0" cy="0"/>
          <a:chOff x="0" y="0"/>
          <a:chExt cx="0" cy="0"/>
        </a:xfrm>
      </p:grpSpPr>
      <p:sp>
        <p:nvSpPr>
          <p:cNvPr id="421" name="Google Shape;421;p38"/>
          <p:cNvSpPr txBox="1"/>
          <p:nvPr/>
        </p:nvSpPr>
        <p:spPr>
          <a:xfrm>
            <a:off x="609600" y="655320"/>
            <a:ext cx="6179897"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chemeClr val="lt1"/>
                </a:solidFill>
                <a:latin typeface="Calibri"/>
                <a:ea typeface="Calibri"/>
                <a:cs typeface="Calibri"/>
                <a:sym typeface="Calibri"/>
              </a:rPr>
              <a:t>Module 5: Lab: Adding a Demo Plugin</a:t>
            </a:r>
            <a:endParaRPr/>
          </a:p>
        </p:txBody>
      </p:sp>
      <p:sp>
        <p:nvSpPr>
          <p:cNvPr id="422" name="Google Shape;422;p38"/>
          <p:cNvSpPr txBox="1"/>
          <p:nvPr/>
        </p:nvSpPr>
        <p:spPr>
          <a:xfrm>
            <a:off x="609600" y="1203960"/>
            <a:ext cx="212019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lt1"/>
                </a:solidFill>
                <a:latin typeface="Calibri"/>
                <a:ea typeface="Calibri"/>
                <a:cs typeface="Calibri"/>
                <a:sym typeface="Calibri"/>
              </a:rPr>
              <a:t>Hands-On Exercise</a:t>
            </a:r>
            <a:endParaRPr/>
          </a:p>
        </p:txBody>
      </p:sp>
      <p:sp>
        <p:nvSpPr>
          <p:cNvPr id="423" name="Google Shape;423;p38"/>
          <p:cNvSpPr txBox="1"/>
          <p:nvPr/>
        </p:nvSpPr>
        <p:spPr>
          <a:xfrm>
            <a:off x="609600" y="1798320"/>
            <a:ext cx="3911840"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lt1"/>
                </a:solidFill>
                <a:latin typeface="Calibri"/>
                <a:ea typeface="Calibri"/>
                <a:cs typeface="Calibri"/>
                <a:sym typeface="Calibri"/>
              </a:rPr>
              <a:t>• Install a plugin from the demo marketplace</a:t>
            </a:r>
            <a:endParaRPr/>
          </a:p>
          <a:p>
            <a:pPr indent="0" lvl="0" marL="0" marR="0" rtl="0" algn="l">
              <a:spcBef>
                <a:spcPts val="0"/>
              </a:spcBef>
              <a:spcAft>
                <a:spcPts val="0"/>
              </a:spcAft>
              <a:buNone/>
            </a:pPr>
            <a:r>
              <a:rPr b="0" i="0" lang="en-US" sz="1600" u="none" cap="none" strike="noStrike">
                <a:solidFill>
                  <a:schemeClr val="lt1"/>
                </a:solidFill>
                <a:latin typeface="Calibri"/>
                <a:ea typeface="Calibri"/>
                <a:cs typeface="Calibri"/>
                <a:sym typeface="Calibri"/>
              </a:rPr>
              <a:t>• Choose an appropriate installation scope</a:t>
            </a:r>
            <a:endParaRPr/>
          </a:p>
          <a:p>
            <a:pPr indent="0" lvl="0" marL="0" marR="0" rtl="0" algn="l">
              <a:spcBef>
                <a:spcPts val="0"/>
              </a:spcBef>
              <a:spcAft>
                <a:spcPts val="0"/>
              </a:spcAft>
              <a:buNone/>
            </a:pPr>
            <a:r>
              <a:rPr b="0" i="0" lang="en-US" sz="1600" u="none" cap="none" strike="noStrike">
                <a:solidFill>
                  <a:schemeClr val="lt1"/>
                </a:solidFill>
                <a:latin typeface="Calibri"/>
                <a:ea typeface="Calibri"/>
                <a:cs typeface="Calibri"/>
                <a:sym typeface="Calibri"/>
              </a:rPr>
              <a:t>• Test the plugin's functionality</a:t>
            </a:r>
            <a:endParaRPr/>
          </a:p>
          <a:p>
            <a:pPr indent="0" lvl="0" marL="0" marR="0" rtl="0" algn="l">
              <a:spcBef>
                <a:spcPts val="0"/>
              </a:spcBef>
              <a:spcAft>
                <a:spcPts val="0"/>
              </a:spcAft>
              <a:buNone/>
            </a:pPr>
            <a:r>
              <a:rPr b="0" i="0" lang="en-US" sz="1600" u="none" cap="none" strike="noStrike">
                <a:solidFill>
                  <a:schemeClr val="lt1"/>
                </a:solidFill>
                <a:latin typeface="Calibri"/>
                <a:ea typeface="Calibri"/>
                <a:cs typeface="Calibri"/>
                <a:sym typeface="Calibri"/>
              </a:rPr>
              <a:t>• View installed plugin in the manager</a:t>
            </a:r>
            <a:endParaRPr/>
          </a:p>
        </p:txBody>
      </p:sp>
      <p:sp>
        <p:nvSpPr>
          <p:cNvPr id="424" name="Google Shape;424;p38"/>
          <p:cNvSpPr/>
          <p:nvPr/>
        </p:nvSpPr>
        <p:spPr>
          <a:xfrm>
            <a:off x="7467600" y="4541520"/>
            <a:ext cx="1371600" cy="457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dk1"/>
                </a:solidFill>
                <a:latin typeface="Calibri"/>
                <a:ea typeface="Calibri"/>
                <a:cs typeface="Calibri"/>
                <a:sym typeface="Calibri"/>
              </a:rPr>
              <a:t>⏱ 20 minutes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29" name="Shape 429"/>
        <p:cNvGrpSpPr/>
        <p:nvPr/>
      </p:nvGrpSpPr>
      <p:grpSpPr>
        <a:xfrm>
          <a:off x="0" y="0"/>
          <a:ext cx="0" cy="0"/>
          <a:chOff x="0" y="0"/>
          <a:chExt cx="0" cy="0"/>
        </a:xfrm>
      </p:grpSpPr>
      <p:sp>
        <p:nvSpPr>
          <p:cNvPr id="430" name="Google Shape;430;p39"/>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41413"/>
                </a:solidFill>
                <a:latin typeface="Calibri"/>
                <a:ea typeface="Calibri"/>
                <a:cs typeface="Calibri"/>
                <a:sym typeface="Calibri"/>
              </a:rPr>
              <a:t>Lab Steps</a:t>
            </a:r>
            <a:endParaRPr/>
          </a:p>
        </p:txBody>
      </p:sp>
      <p:sp>
        <p:nvSpPr>
          <p:cNvPr id="431" name="Google Shape;431;p39"/>
          <p:cNvSpPr txBox="1"/>
          <p:nvPr/>
        </p:nvSpPr>
        <p:spPr>
          <a:xfrm>
            <a:off x="731520" y="1188720"/>
            <a:ext cx="768096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41413"/>
                </a:solidFill>
                <a:latin typeface="Calibri"/>
                <a:ea typeface="Calibri"/>
                <a:cs typeface="Calibri"/>
                <a:sym typeface="Calibri"/>
              </a:rPr>
              <a:t>Step 1: Choose a plugin</a:t>
            </a:r>
            <a:endParaRPr/>
          </a:p>
          <a:p>
            <a:pPr indent="0" lvl="0" marL="0" marR="0" rtl="0" algn="l">
              <a:spcBef>
                <a:spcPts val="0"/>
              </a:spcBef>
              <a:spcAft>
                <a:spcPts val="0"/>
              </a:spcAft>
              <a:buNone/>
            </a:pPr>
            <a:r>
              <a:rPr b="0" i="1" lang="en-US" sz="1200" u="none" cap="none" strike="noStrike">
                <a:solidFill>
                  <a:srgbClr val="36454F"/>
                </a:solidFill>
                <a:latin typeface="Calibri"/>
                <a:ea typeface="Calibri"/>
                <a:cs typeface="Calibri"/>
                <a:sym typeface="Calibri"/>
              </a:rPr>
              <a:t>Browse Discover tab, select 'commit-commands'</a:t>
            </a:r>
            <a:endParaRPr/>
          </a:p>
        </p:txBody>
      </p:sp>
      <p:sp>
        <p:nvSpPr>
          <p:cNvPr id="432" name="Google Shape;432;p39"/>
          <p:cNvSpPr txBox="1"/>
          <p:nvPr/>
        </p:nvSpPr>
        <p:spPr>
          <a:xfrm>
            <a:off x="731520" y="1828800"/>
            <a:ext cx="768096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41413"/>
                </a:solidFill>
                <a:latin typeface="Calibri"/>
                <a:ea typeface="Calibri"/>
                <a:cs typeface="Calibri"/>
                <a:sym typeface="Calibri"/>
              </a:rPr>
              <a:t>Step 2: Install to user scope</a:t>
            </a:r>
            <a:endParaRPr/>
          </a:p>
          <a:p>
            <a:pPr indent="0" lvl="0" marL="0" marR="0" rtl="0" algn="l">
              <a:spcBef>
                <a:spcPts val="0"/>
              </a:spcBef>
              <a:spcAft>
                <a:spcPts val="0"/>
              </a:spcAft>
              <a:buNone/>
            </a:pPr>
            <a:r>
              <a:rPr b="0" i="1" lang="en-US" sz="1200" u="none" cap="none" strike="noStrike">
                <a:solidFill>
                  <a:srgbClr val="36454F"/>
                </a:solidFill>
                <a:latin typeface="Calibri"/>
                <a:ea typeface="Calibri"/>
                <a:cs typeface="Calibri"/>
                <a:sym typeface="Calibri"/>
              </a:rPr>
              <a:t>/plugin install commit-commands@anthropics-claude-code</a:t>
            </a:r>
            <a:endParaRPr/>
          </a:p>
        </p:txBody>
      </p:sp>
      <p:sp>
        <p:nvSpPr>
          <p:cNvPr id="433" name="Google Shape;433;p39"/>
          <p:cNvSpPr txBox="1"/>
          <p:nvPr/>
        </p:nvSpPr>
        <p:spPr>
          <a:xfrm>
            <a:off x="731520" y="2468880"/>
            <a:ext cx="768096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41413"/>
                </a:solidFill>
                <a:latin typeface="Calibri"/>
                <a:ea typeface="Calibri"/>
                <a:cs typeface="Calibri"/>
                <a:sym typeface="Calibri"/>
              </a:rPr>
              <a:t>Step 3: Verify installation</a:t>
            </a:r>
            <a:endParaRPr/>
          </a:p>
          <a:p>
            <a:pPr indent="0" lvl="0" marL="0" marR="0" rtl="0" algn="l">
              <a:spcBef>
                <a:spcPts val="0"/>
              </a:spcBef>
              <a:spcAft>
                <a:spcPts val="0"/>
              </a:spcAft>
              <a:buNone/>
            </a:pPr>
            <a:r>
              <a:rPr b="0" i="1" lang="en-US" sz="1200" u="none" cap="none" strike="noStrike">
                <a:solidFill>
                  <a:srgbClr val="36454F"/>
                </a:solidFill>
                <a:latin typeface="Calibri"/>
                <a:ea typeface="Calibri"/>
                <a:cs typeface="Calibri"/>
                <a:sym typeface="Calibri"/>
              </a:rPr>
              <a:t>/plugin → Installed tab → Look for commit-commands</a:t>
            </a:r>
            <a:endParaRPr/>
          </a:p>
        </p:txBody>
      </p:sp>
      <p:sp>
        <p:nvSpPr>
          <p:cNvPr id="434" name="Google Shape;434;p39"/>
          <p:cNvSpPr txBox="1"/>
          <p:nvPr/>
        </p:nvSpPr>
        <p:spPr>
          <a:xfrm>
            <a:off x="731520" y="3108960"/>
            <a:ext cx="768096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41413"/>
                </a:solidFill>
                <a:latin typeface="Calibri"/>
                <a:ea typeface="Calibri"/>
                <a:cs typeface="Calibri"/>
                <a:sym typeface="Calibri"/>
              </a:rPr>
              <a:t>Step 4: Test the plugin</a:t>
            </a:r>
            <a:endParaRPr/>
          </a:p>
          <a:p>
            <a:pPr indent="0" lvl="0" marL="0" marR="0" rtl="0" algn="l">
              <a:spcBef>
                <a:spcPts val="0"/>
              </a:spcBef>
              <a:spcAft>
                <a:spcPts val="0"/>
              </a:spcAft>
              <a:buNone/>
            </a:pPr>
            <a:r>
              <a:rPr b="0" i="1" lang="en-US" sz="1200" u="none" cap="none" strike="noStrike">
                <a:solidFill>
                  <a:srgbClr val="36454F"/>
                </a:solidFill>
                <a:latin typeface="Calibri"/>
                <a:ea typeface="Calibri"/>
                <a:cs typeface="Calibri"/>
                <a:sym typeface="Calibri"/>
              </a:rPr>
              <a:t>Make a code change, run /commit-commands:commit</a:t>
            </a:r>
            <a:endParaRPr/>
          </a:p>
        </p:txBody>
      </p:sp>
      <p:sp>
        <p:nvSpPr>
          <p:cNvPr id="435" name="Google Shape;435;p39"/>
          <p:cNvSpPr txBox="1"/>
          <p:nvPr/>
        </p:nvSpPr>
        <p:spPr>
          <a:xfrm>
            <a:off x="731520" y="3749040"/>
            <a:ext cx="768096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41413"/>
                </a:solidFill>
                <a:latin typeface="Calibri"/>
                <a:ea typeface="Calibri"/>
                <a:cs typeface="Calibri"/>
                <a:sym typeface="Calibri"/>
              </a:rPr>
              <a:t>Step 5: Observe behavior</a:t>
            </a:r>
            <a:endParaRPr/>
          </a:p>
          <a:p>
            <a:pPr indent="0" lvl="0" marL="0" marR="0" rtl="0" algn="l">
              <a:spcBef>
                <a:spcPts val="0"/>
              </a:spcBef>
              <a:spcAft>
                <a:spcPts val="0"/>
              </a:spcAft>
              <a:buNone/>
            </a:pPr>
            <a:r>
              <a:rPr b="0" i="1" lang="en-US" sz="1200" u="none" cap="none" strike="noStrike">
                <a:solidFill>
                  <a:srgbClr val="36454F"/>
                </a:solidFill>
                <a:latin typeface="Calibri"/>
                <a:ea typeface="Calibri"/>
                <a:cs typeface="Calibri"/>
                <a:sym typeface="Calibri"/>
              </a:rPr>
              <a:t>Plugin stages changes, generates commit message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40" name="Shape 440"/>
        <p:cNvGrpSpPr/>
        <p:nvPr/>
      </p:nvGrpSpPr>
      <p:grpSpPr>
        <a:xfrm>
          <a:off x="0" y="0"/>
          <a:ext cx="0" cy="0"/>
          <a:chOff x="0" y="0"/>
          <a:chExt cx="0" cy="0"/>
        </a:xfrm>
      </p:grpSpPr>
      <p:sp>
        <p:nvSpPr>
          <p:cNvPr id="441" name="Google Shape;441;p40"/>
          <p:cNvSpPr/>
          <p:nvPr/>
        </p:nvSpPr>
        <p:spPr>
          <a:xfrm>
            <a:off x="0" y="0"/>
            <a:ext cx="2632364" cy="5143500"/>
          </a:xfrm>
          <a:prstGeom prst="rect">
            <a:avLst/>
          </a:prstGeom>
          <a:solidFill>
            <a:srgbClr val="788C5D"/>
          </a:solidFill>
          <a:ln cap="flat" cmpd="sng" w="9525">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2" name="Google Shape;442;p40"/>
          <p:cNvSpPr txBox="1"/>
          <p:nvPr/>
        </p:nvSpPr>
        <p:spPr>
          <a:xfrm>
            <a:off x="278911" y="3079865"/>
            <a:ext cx="2074542" cy="15696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200" u="none" cap="none" strike="noStrike">
                <a:solidFill>
                  <a:schemeClr val="lt1"/>
                </a:solidFill>
                <a:latin typeface="Calibri"/>
                <a:ea typeface="Calibri"/>
                <a:cs typeface="Calibri"/>
                <a:sym typeface="Calibri"/>
              </a:rPr>
              <a:t>Module 5:</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rPr b="1" i="0" lang="en-US" sz="3200" u="none" cap="none" strike="noStrike">
                <a:solidFill>
                  <a:schemeClr val="lt1"/>
                </a:solidFill>
                <a:latin typeface="Calibri"/>
                <a:ea typeface="Calibri"/>
                <a:cs typeface="Calibri"/>
                <a:sym typeface="Calibri"/>
              </a:rPr>
              <a:t>Knowledge</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rPr b="1" i="0" lang="en-US" sz="3200" u="none" cap="none" strike="noStrike">
                <a:solidFill>
                  <a:schemeClr val="lt1"/>
                </a:solidFill>
                <a:latin typeface="Calibri"/>
                <a:ea typeface="Calibri"/>
                <a:cs typeface="Calibri"/>
                <a:sym typeface="Calibri"/>
              </a:rPr>
              <a:t>Check</a:t>
            </a:r>
            <a:endParaRPr/>
          </a:p>
        </p:txBody>
      </p:sp>
      <p:pic>
        <p:nvPicPr>
          <p:cNvPr descr="Brain with solid fill" id="443" name="Google Shape;443;p40"/>
          <p:cNvPicPr preferRelativeResize="0"/>
          <p:nvPr/>
        </p:nvPicPr>
        <p:blipFill rotWithShape="1">
          <a:blip r:embed="rId3">
            <a:alphaModFix/>
          </a:blip>
          <a:srcRect b="0" l="0" r="0" t="0"/>
          <a:stretch/>
        </p:blipFill>
        <p:spPr>
          <a:xfrm>
            <a:off x="969818" y="2376055"/>
            <a:ext cx="703810" cy="703810"/>
          </a:xfrm>
          <a:prstGeom prst="rect">
            <a:avLst/>
          </a:prstGeom>
          <a:noFill/>
          <a:ln>
            <a:noFill/>
          </a:ln>
        </p:spPr>
      </p:pic>
      <p:sp>
        <p:nvSpPr>
          <p:cNvPr id="444" name="Google Shape;444;p40"/>
          <p:cNvSpPr txBox="1"/>
          <p:nvPr/>
        </p:nvSpPr>
        <p:spPr>
          <a:xfrm>
            <a:off x="3129308" y="834391"/>
            <a:ext cx="531890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41413"/>
                </a:solidFill>
                <a:latin typeface="Calibri"/>
                <a:ea typeface="Calibri"/>
                <a:cs typeface="Calibri"/>
                <a:sym typeface="Calibri"/>
              </a:rPr>
              <a:t>After installing a plugin, how do you invoke its commands?</a:t>
            </a:r>
            <a:endParaRPr/>
          </a:p>
        </p:txBody>
      </p:sp>
      <p:sp>
        <p:nvSpPr>
          <p:cNvPr id="445" name="Google Shape;445;p40"/>
          <p:cNvSpPr txBox="1"/>
          <p:nvPr/>
        </p:nvSpPr>
        <p:spPr>
          <a:xfrm>
            <a:off x="3312188" y="1291590"/>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A) /command-name (direct)</a:t>
            </a:r>
            <a:endParaRPr/>
          </a:p>
        </p:txBody>
      </p:sp>
      <p:sp>
        <p:nvSpPr>
          <p:cNvPr id="446" name="Google Shape;446;p40"/>
          <p:cNvSpPr txBox="1"/>
          <p:nvPr/>
        </p:nvSpPr>
        <p:spPr>
          <a:xfrm>
            <a:off x="3312188" y="1565910"/>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788C5D"/>
                </a:solidFill>
                <a:latin typeface="Calibri"/>
                <a:ea typeface="Calibri"/>
                <a:cs typeface="Calibri"/>
                <a:sym typeface="Calibri"/>
              </a:rPr>
              <a:t>B) /plugin-name:command-name (namespaced)</a:t>
            </a:r>
            <a:endParaRPr/>
          </a:p>
        </p:txBody>
      </p:sp>
      <p:sp>
        <p:nvSpPr>
          <p:cNvPr id="447" name="Google Shape;447;p40"/>
          <p:cNvSpPr txBox="1"/>
          <p:nvPr/>
        </p:nvSpPr>
        <p:spPr>
          <a:xfrm>
            <a:off x="3312188" y="1840229"/>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C) /run plugin command-name</a:t>
            </a:r>
            <a:endParaRPr/>
          </a:p>
        </p:txBody>
      </p:sp>
      <p:sp>
        <p:nvSpPr>
          <p:cNvPr id="448" name="Google Shape;448;p40"/>
          <p:cNvSpPr txBox="1"/>
          <p:nvPr/>
        </p:nvSpPr>
        <p:spPr>
          <a:xfrm>
            <a:off x="3312188" y="2114549"/>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6454F"/>
                </a:solidFill>
                <a:latin typeface="Calibri"/>
                <a:ea typeface="Calibri"/>
                <a:cs typeface="Calibri"/>
                <a:sym typeface="Calibri"/>
              </a:rPr>
              <a:t>D) /execute command from plugin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53" name="Shape 453"/>
        <p:cNvGrpSpPr/>
        <p:nvPr/>
      </p:nvGrpSpPr>
      <p:grpSpPr>
        <a:xfrm>
          <a:off x="0" y="0"/>
          <a:ext cx="0" cy="0"/>
          <a:chOff x="0" y="0"/>
          <a:chExt cx="0" cy="0"/>
        </a:xfrm>
      </p:grpSpPr>
      <p:sp>
        <p:nvSpPr>
          <p:cNvPr id="454" name="Google Shape;454;p41"/>
          <p:cNvSpPr txBox="1"/>
          <p:nvPr/>
        </p:nvSpPr>
        <p:spPr>
          <a:xfrm>
            <a:off x="457200" y="502920"/>
            <a:ext cx="353032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41413"/>
                </a:solidFill>
                <a:latin typeface="Calibri"/>
                <a:ea typeface="Calibri"/>
                <a:cs typeface="Calibri"/>
                <a:sym typeface="Calibri"/>
              </a:rPr>
              <a:t>Module 5 Summary</a:t>
            </a:r>
            <a:endParaRPr/>
          </a:p>
        </p:txBody>
      </p:sp>
      <p:sp>
        <p:nvSpPr>
          <p:cNvPr id="455" name="Google Shape;455;p41"/>
          <p:cNvSpPr txBox="1"/>
          <p:nvPr/>
        </p:nvSpPr>
        <p:spPr>
          <a:xfrm>
            <a:off x="457200" y="1051560"/>
            <a:ext cx="25362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800" u="none" cap="none" strike="noStrike">
                <a:solidFill>
                  <a:srgbClr val="36454F"/>
                </a:solidFill>
                <a:latin typeface="Calibri"/>
                <a:ea typeface="Calibri"/>
                <a:cs typeface="Calibri"/>
                <a:sym typeface="Calibri"/>
              </a:rPr>
              <a:t>Lab: Adding Demo Plugin</a:t>
            </a:r>
            <a:endParaRPr/>
          </a:p>
        </p:txBody>
      </p:sp>
      <p:sp>
        <p:nvSpPr>
          <p:cNvPr id="456" name="Google Shape;456;p41"/>
          <p:cNvSpPr txBox="1"/>
          <p:nvPr/>
        </p:nvSpPr>
        <p:spPr>
          <a:xfrm>
            <a:off x="45720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1413"/>
                </a:solidFill>
                <a:latin typeface="Calibri"/>
                <a:ea typeface="Calibri"/>
                <a:cs typeface="Calibri"/>
                <a:sym typeface="Calibri"/>
              </a:rPr>
              <a:t>Key Takeaways</a:t>
            </a:r>
            <a:endParaRPr/>
          </a:p>
        </p:txBody>
      </p:sp>
      <p:sp>
        <p:nvSpPr>
          <p:cNvPr id="457" name="Google Shape;457;p41"/>
          <p:cNvSpPr txBox="1"/>
          <p:nvPr/>
        </p:nvSpPr>
        <p:spPr>
          <a:xfrm>
            <a:off x="457200" y="2103120"/>
            <a:ext cx="5389418" cy="18774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141413"/>
                </a:solidFill>
                <a:latin typeface="Calibri"/>
                <a:ea typeface="Calibri"/>
                <a:cs typeface="Calibri"/>
                <a:sym typeface="Calibri"/>
              </a:rPr>
              <a:t>• Plugins are installed per scope and immediately available after installation</a:t>
            </a:r>
            <a:endParaRPr/>
          </a:p>
          <a:p>
            <a:pPr indent="0" lvl="0" marL="0" marR="0" rtl="0" algn="l">
              <a:spcBef>
                <a:spcPts val="800"/>
              </a:spcBef>
              <a:spcAft>
                <a:spcPts val="0"/>
              </a:spcAft>
              <a:buNone/>
            </a:pPr>
            <a:r>
              <a:rPr b="0" i="0" lang="en-US" sz="1600" u="none" cap="none" strike="noStrike">
                <a:solidFill>
                  <a:srgbClr val="141413"/>
                </a:solidFill>
                <a:latin typeface="Calibri"/>
                <a:ea typeface="Calibri"/>
                <a:cs typeface="Calibri"/>
                <a:sym typeface="Calibri"/>
              </a:rPr>
              <a:t>• Namespaced commands prevent conflicts: /plugin-name:command</a:t>
            </a:r>
            <a:endParaRPr b="0" i="0" sz="1800" u="none" cap="none" strike="noStrike">
              <a:solidFill>
                <a:schemeClr val="dk1"/>
              </a:solidFill>
              <a:latin typeface="Calibri"/>
              <a:ea typeface="Calibri"/>
              <a:cs typeface="Calibri"/>
              <a:sym typeface="Calibri"/>
            </a:endParaRPr>
          </a:p>
          <a:p>
            <a:pPr indent="0" lvl="0" marL="0" marR="0" rtl="0" algn="l">
              <a:spcBef>
                <a:spcPts val="800"/>
              </a:spcBef>
              <a:spcAft>
                <a:spcPts val="0"/>
              </a:spcAft>
              <a:buNone/>
            </a:pPr>
            <a:r>
              <a:rPr b="0" i="0" lang="en-US" sz="1600" u="none" cap="none" strike="noStrike">
                <a:solidFill>
                  <a:srgbClr val="141413"/>
                </a:solidFill>
                <a:latin typeface="Calibri"/>
                <a:ea typeface="Calibri"/>
                <a:cs typeface="Calibri"/>
                <a:sym typeface="Calibri"/>
              </a:rPr>
              <a:t>• Use /plugin → Installed tab to verify successful installation</a:t>
            </a:r>
            <a:endParaRPr/>
          </a:p>
          <a:p>
            <a:pPr indent="0" lvl="0" marL="0" marR="0" rtl="0" algn="l">
              <a:spcBef>
                <a:spcPts val="800"/>
              </a:spcBef>
              <a:spcAft>
                <a:spcPts val="0"/>
              </a:spcAft>
              <a:buNone/>
            </a:pPr>
            <a:r>
              <a:rPr b="0" i="0" lang="en-US" sz="1600" u="none" cap="none" strike="noStrike">
                <a:solidFill>
                  <a:srgbClr val="141413"/>
                </a:solidFill>
                <a:latin typeface="Calibri"/>
                <a:ea typeface="Calibri"/>
                <a:cs typeface="Calibri"/>
                <a:sym typeface="Calibri"/>
              </a:rPr>
              <a:t>• Test plugins with real workflows to understand their behavior</a:t>
            </a:r>
            <a:endParaRPr/>
          </a:p>
        </p:txBody>
      </p:sp>
      <p:sp>
        <p:nvSpPr>
          <p:cNvPr id="458" name="Google Shape;458;p41"/>
          <p:cNvSpPr/>
          <p:nvPr/>
        </p:nvSpPr>
        <p:spPr>
          <a:xfrm>
            <a:off x="6511636" y="0"/>
            <a:ext cx="2632364" cy="5143500"/>
          </a:xfrm>
          <a:prstGeom prst="rect">
            <a:avLst/>
          </a:prstGeom>
          <a:solidFill>
            <a:srgbClr val="D97757"/>
          </a:solidFill>
          <a:ln cap="flat" cmpd="sng" w="9525">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Key with solid fill" id="459" name="Google Shape;459;p41"/>
          <p:cNvPicPr preferRelativeResize="0"/>
          <p:nvPr/>
        </p:nvPicPr>
        <p:blipFill rotWithShape="1">
          <a:blip r:embed="rId3">
            <a:alphaModFix/>
          </a:blip>
          <a:srcRect b="0" l="0" r="0" t="0"/>
          <a:stretch/>
        </p:blipFill>
        <p:spPr>
          <a:xfrm>
            <a:off x="7370618" y="502920"/>
            <a:ext cx="914400" cy="9144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7757"/>
        </a:solidFill>
      </p:bgPr>
    </p:bg>
    <p:spTree>
      <p:nvGrpSpPr>
        <p:cNvPr id="464" name="Shape 464"/>
        <p:cNvGrpSpPr/>
        <p:nvPr/>
      </p:nvGrpSpPr>
      <p:grpSpPr>
        <a:xfrm>
          <a:off x="0" y="0"/>
          <a:ext cx="0" cy="0"/>
          <a:chOff x="0" y="0"/>
          <a:chExt cx="0" cy="0"/>
        </a:xfrm>
      </p:grpSpPr>
      <p:sp>
        <p:nvSpPr>
          <p:cNvPr id="465" name="Google Shape;465;p42"/>
          <p:cNvSpPr txBox="1"/>
          <p:nvPr/>
        </p:nvSpPr>
        <p:spPr>
          <a:xfrm>
            <a:off x="609600" y="655320"/>
            <a:ext cx="446789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chemeClr val="lt1"/>
                </a:solidFill>
                <a:latin typeface="Calibri"/>
                <a:ea typeface="Calibri"/>
                <a:cs typeface="Calibri"/>
                <a:sym typeface="Calibri"/>
              </a:rPr>
              <a:t>Module 6: Creating Plugins</a:t>
            </a:r>
            <a:endParaRPr/>
          </a:p>
        </p:txBody>
      </p:sp>
      <p:sp>
        <p:nvSpPr>
          <p:cNvPr id="466" name="Google Shape;466;p42"/>
          <p:cNvSpPr txBox="1"/>
          <p:nvPr/>
        </p:nvSpPr>
        <p:spPr>
          <a:xfrm>
            <a:off x="609600" y="1203960"/>
            <a:ext cx="223080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lt1"/>
                </a:solidFill>
                <a:latin typeface="Calibri"/>
                <a:ea typeface="Calibri"/>
                <a:cs typeface="Calibri"/>
                <a:sym typeface="Calibri"/>
              </a:rPr>
              <a:t>Learning Objectives</a:t>
            </a:r>
            <a:endParaRPr/>
          </a:p>
        </p:txBody>
      </p:sp>
      <p:sp>
        <p:nvSpPr>
          <p:cNvPr id="467" name="Google Shape;467;p42"/>
          <p:cNvSpPr txBox="1"/>
          <p:nvPr/>
        </p:nvSpPr>
        <p:spPr>
          <a:xfrm>
            <a:off x="609600" y="1798320"/>
            <a:ext cx="5653471"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lt1"/>
                </a:solidFill>
                <a:latin typeface="Calibri"/>
                <a:ea typeface="Calibri"/>
                <a:cs typeface="Calibri"/>
                <a:sym typeface="Calibri"/>
              </a:rPr>
              <a:t>• Understand plugin directory structure and organization patterns</a:t>
            </a:r>
            <a:endParaRPr/>
          </a:p>
          <a:p>
            <a:pPr indent="0" lvl="0" marL="0" marR="0" rtl="0" algn="l">
              <a:spcBef>
                <a:spcPts val="600"/>
              </a:spcBef>
              <a:spcAft>
                <a:spcPts val="0"/>
              </a:spcAft>
              <a:buNone/>
            </a:pPr>
            <a:r>
              <a:rPr b="0" i="0" lang="en-US" sz="1600" u="none" cap="none" strike="noStrike">
                <a:solidFill>
                  <a:schemeClr val="lt1"/>
                </a:solidFill>
                <a:latin typeface="Calibri"/>
                <a:ea typeface="Calibri"/>
                <a:cs typeface="Calibri"/>
                <a:sym typeface="Calibri"/>
              </a:rPr>
              <a:t>• Create plugin manifests with required and optional fields</a:t>
            </a:r>
            <a:endParaRPr/>
          </a:p>
          <a:p>
            <a:pPr indent="0" lvl="0" marL="0" marR="0" rtl="0" algn="l">
              <a:spcBef>
                <a:spcPts val="600"/>
              </a:spcBef>
              <a:spcAft>
                <a:spcPts val="0"/>
              </a:spcAft>
              <a:buNone/>
            </a:pPr>
            <a:r>
              <a:rPr b="0" i="0" lang="en-US" sz="1600" u="none" cap="none" strike="noStrike">
                <a:solidFill>
                  <a:schemeClr val="lt1"/>
                </a:solidFill>
                <a:latin typeface="Calibri"/>
                <a:ea typeface="Calibri"/>
                <a:cs typeface="Calibri"/>
                <a:sym typeface="Calibri"/>
              </a:rPr>
              <a:t>• Add skills, agents, and hooks to plugins</a:t>
            </a:r>
            <a:endParaRPr/>
          </a:p>
          <a:p>
            <a:pPr indent="0" lvl="0" marL="0" marR="0" rtl="0" algn="l">
              <a:spcBef>
                <a:spcPts val="600"/>
              </a:spcBef>
              <a:spcAft>
                <a:spcPts val="0"/>
              </a:spcAft>
              <a:buNone/>
            </a:pPr>
            <a:r>
              <a:rPr b="0" i="0" lang="en-US" sz="1600" u="none" cap="none" strike="noStrike">
                <a:solidFill>
                  <a:schemeClr val="lt1"/>
                </a:solidFill>
                <a:latin typeface="Calibri"/>
                <a:ea typeface="Calibri"/>
                <a:cs typeface="Calibri"/>
                <a:sym typeface="Calibri"/>
              </a:rPr>
              <a:t>• Test plugins locally using the --plugin-dir flag</a:t>
            </a:r>
            <a:endParaRPr/>
          </a:p>
          <a:p>
            <a:pPr indent="0" lvl="0" marL="0" marR="0" rtl="0" algn="l">
              <a:spcBef>
                <a:spcPts val="600"/>
              </a:spcBef>
              <a:spcAft>
                <a:spcPts val="0"/>
              </a:spcAft>
              <a:buNone/>
            </a:pPr>
            <a:r>
              <a:rPr b="0" i="0" lang="en-US" sz="1600" u="none" cap="none" strike="noStrike">
                <a:solidFill>
                  <a:schemeClr val="lt1"/>
                </a:solidFill>
                <a:latin typeface="Calibri"/>
                <a:ea typeface="Calibri"/>
                <a:cs typeface="Calibri"/>
                <a:sym typeface="Calibri"/>
              </a:rPr>
              <a:t>• Debug common plugin development issues</a:t>
            </a:r>
            <a:endParaRPr/>
          </a:p>
        </p:txBody>
      </p:sp>
      <p:sp>
        <p:nvSpPr>
          <p:cNvPr id="468" name="Google Shape;468;p42"/>
          <p:cNvSpPr/>
          <p:nvPr/>
        </p:nvSpPr>
        <p:spPr>
          <a:xfrm>
            <a:off x="7467600" y="4541520"/>
            <a:ext cx="1371600" cy="457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dk1"/>
                </a:solidFill>
                <a:latin typeface="Calibri"/>
                <a:ea typeface="Calibri"/>
                <a:cs typeface="Calibri"/>
                <a:sym typeface="Calibri"/>
              </a:rPr>
              <a:t>⏱ 60 minutes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73" name="Shape 473"/>
        <p:cNvGrpSpPr/>
        <p:nvPr/>
      </p:nvGrpSpPr>
      <p:grpSpPr>
        <a:xfrm>
          <a:off x="0" y="0"/>
          <a:ext cx="0" cy="0"/>
          <a:chOff x="0" y="0"/>
          <a:chExt cx="0" cy="0"/>
        </a:xfrm>
      </p:grpSpPr>
      <p:sp>
        <p:nvSpPr>
          <p:cNvPr id="474" name="Google Shape;474;p43"/>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41413"/>
                </a:solidFill>
                <a:latin typeface="Calibri"/>
                <a:ea typeface="Calibri"/>
                <a:cs typeface="Calibri"/>
                <a:sym typeface="Calibri"/>
              </a:rPr>
              <a:t>Plugin Directory Structure</a:t>
            </a:r>
            <a:endParaRPr/>
          </a:p>
        </p:txBody>
      </p:sp>
      <p:sp>
        <p:nvSpPr>
          <p:cNvPr id="475" name="Google Shape;475;p43"/>
          <p:cNvSpPr/>
          <p:nvPr/>
        </p:nvSpPr>
        <p:spPr>
          <a:xfrm>
            <a:off x="731520" y="4229100"/>
            <a:ext cx="7680960" cy="548640"/>
          </a:xfrm>
          <a:prstGeom prst="roundRect">
            <a:avLst>
              <a:gd fmla="val 16667" name="adj"/>
            </a:avLst>
          </a:prstGeom>
          <a:solidFill>
            <a:srgbClr val="D97757"/>
          </a:solidFill>
          <a:ln cap="flat" cmpd="sng" w="25400">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chemeClr val="lt1"/>
                </a:solidFill>
                <a:latin typeface="Calibri"/>
                <a:ea typeface="Calibri"/>
                <a:cs typeface="Calibri"/>
                <a:sym typeface="Calibri"/>
              </a:rPr>
              <a:t>⚠️ Common Mistake: Don't put commands/, agents/, skills/, or hooks/ inside .claude-plugin/ directory!</a:t>
            </a:r>
            <a:endParaRPr/>
          </a:p>
        </p:txBody>
      </p:sp>
      <p:sp>
        <p:nvSpPr>
          <p:cNvPr id="476" name="Google Shape;476;p43"/>
          <p:cNvSpPr txBox="1"/>
          <p:nvPr/>
        </p:nvSpPr>
        <p:spPr>
          <a:xfrm>
            <a:off x="914400" y="1360170"/>
            <a:ext cx="36576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788C5D"/>
                </a:solidFill>
                <a:latin typeface="Calibri"/>
                <a:ea typeface="Calibri"/>
                <a:cs typeface="Calibri"/>
                <a:sym typeface="Calibri"/>
              </a:rPr>
              <a:t>Correct Structure:</a:t>
            </a:r>
            <a:endParaRPr/>
          </a:p>
        </p:txBody>
      </p:sp>
      <p:sp>
        <p:nvSpPr>
          <p:cNvPr id="477" name="Google Shape;477;p43"/>
          <p:cNvSpPr txBox="1"/>
          <p:nvPr/>
        </p:nvSpPr>
        <p:spPr>
          <a:xfrm>
            <a:off x="1097280" y="1817370"/>
            <a:ext cx="32918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41413"/>
                </a:solidFill>
                <a:latin typeface="Consolas"/>
                <a:ea typeface="Consolas"/>
                <a:cs typeface="Consolas"/>
                <a:sym typeface="Consolas"/>
              </a:rPr>
              <a:t>my-plugin/</a:t>
            </a:r>
            <a:endParaRPr/>
          </a:p>
        </p:txBody>
      </p:sp>
      <p:sp>
        <p:nvSpPr>
          <p:cNvPr id="478" name="Google Shape;478;p43"/>
          <p:cNvSpPr txBox="1"/>
          <p:nvPr/>
        </p:nvSpPr>
        <p:spPr>
          <a:xfrm>
            <a:off x="1097280" y="2045970"/>
            <a:ext cx="32918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41413"/>
                </a:solidFill>
                <a:latin typeface="Consolas"/>
                <a:ea typeface="Consolas"/>
                <a:cs typeface="Consolas"/>
                <a:sym typeface="Consolas"/>
              </a:rPr>
              <a:t>  ├── .claude-plugin/</a:t>
            </a:r>
            <a:endParaRPr/>
          </a:p>
        </p:txBody>
      </p:sp>
      <p:sp>
        <p:nvSpPr>
          <p:cNvPr id="479" name="Google Shape;479;p43"/>
          <p:cNvSpPr txBox="1"/>
          <p:nvPr/>
        </p:nvSpPr>
        <p:spPr>
          <a:xfrm>
            <a:off x="1097280" y="2274570"/>
            <a:ext cx="32918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41413"/>
                </a:solidFill>
                <a:latin typeface="Consolas"/>
                <a:ea typeface="Consolas"/>
                <a:cs typeface="Consolas"/>
                <a:sym typeface="Consolas"/>
              </a:rPr>
              <a:t>  │   └── plugin.json</a:t>
            </a:r>
            <a:endParaRPr/>
          </a:p>
        </p:txBody>
      </p:sp>
      <p:sp>
        <p:nvSpPr>
          <p:cNvPr id="480" name="Google Shape;480;p43"/>
          <p:cNvSpPr txBox="1"/>
          <p:nvPr/>
        </p:nvSpPr>
        <p:spPr>
          <a:xfrm>
            <a:off x="1097280" y="2503170"/>
            <a:ext cx="32918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41413"/>
                </a:solidFill>
                <a:latin typeface="Consolas"/>
                <a:ea typeface="Consolas"/>
                <a:cs typeface="Consolas"/>
                <a:sym typeface="Consolas"/>
              </a:rPr>
              <a:t>  ├── commands/</a:t>
            </a:r>
            <a:endParaRPr/>
          </a:p>
        </p:txBody>
      </p:sp>
      <p:sp>
        <p:nvSpPr>
          <p:cNvPr id="481" name="Google Shape;481;p43"/>
          <p:cNvSpPr txBox="1"/>
          <p:nvPr/>
        </p:nvSpPr>
        <p:spPr>
          <a:xfrm>
            <a:off x="1097280" y="2731770"/>
            <a:ext cx="32918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41413"/>
                </a:solidFill>
                <a:latin typeface="Consolas"/>
                <a:ea typeface="Consolas"/>
                <a:cs typeface="Consolas"/>
                <a:sym typeface="Consolas"/>
              </a:rPr>
              <a:t>  ├── agents/</a:t>
            </a:r>
            <a:endParaRPr/>
          </a:p>
        </p:txBody>
      </p:sp>
      <p:sp>
        <p:nvSpPr>
          <p:cNvPr id="482" name="Google Shape;482;p43"/>
          <p:cNvSpPr txBox="1"/>
          <p:nvPr/>
        </p:nvSpPr>
        <p:spPr>
          <a:xfrm>
            <a:off x="1097280" y="2960370"/>
            <a:ext cx="32918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41413"/>
                </a:solidFill>
                <a:latin typeface="Consolas"/>
                <a:ea typeface="Consolas"/>
                <a:cs typeface="Consolas"/>
                <a:sym typeface="Consolas"/>
              </a:rPr>
              <a:t>  ├── skills/</a:t>
            </a:r>
            <a:endParaRPr/>
          </a:p>
        </p:txBody>
      </p:sp>
      <p:sp>
        <p:nvSpPr>
          <p:cNvPr id="483" name="Google Shape;483;p43"/>
          <p:cNvSpPr txBox="1"/>
          <p:nvPr/>
        </p:nvSpPr>
        <p:spPr>
          <a:xfrm>
            <a:off x="1097280" y="3188970"/>
            <a:ext cx="32918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41413"/>
                </a:solidFill>
                <a:latin typeface="Consolas"/>
                <a:ea typeface="Consolas"/>
                <a:cs typeface="Consolas"/>
                <a:sym typeface="Consolas"/>
              </a:rPr>
              <a:t>  ├── hooks/</a:t>
            </a:r>
            <a:endParaRPr/>
          </a:p>
        </p:txBody>
      </p:sp>
      <p:sp>
        <p:nvSpPr>
          <p:cNvPr id="484" name="Google Shape;484;p43"/>
          <p:cNvSpPr txBox="1"/>
          <p:nvPr/>
        </p:nvSpPr>
        <p:spPr>
          <a:xfrm>
            <a:off x="1097280" y="3417570"/>
            <a:ext cx="32918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41413"/>
                </a:solidFill>
                <a:latin typeface="Consolas"/>
                <a:ea typeface="Consolas"/>
                <a:cs typeface="Consolas"/>
                <a:sym typeface="Consolas"/>
              </a:rPr>
              <a:t>  ├── .mcp.json</a:t>
            </a:r>
            <a:endParaRPr/>
          </a:p>
        </p:txBody>
      </p:sp>
      <p:sp>
        <p:nvSpPr>
          <p:cNvPr id="485" name="Google Shape;485;p43"/>
          <p:cNvSpPr txBox="1"/>
          <p:nvPr/>
        </p:nvSpPr>
        <p:spPr>
          <a:xfrm>
            <a:off x="1097280" y="3646170"/>
            <a:ext cx="32918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41413"/>
                </a:solidFill>
                <a:latin typeface="Consolas"/>
                <a:ea typeface="Consolas"/>
                <a:cs typeface="Consolas"/>
                <a:sym typeface="Consolas"/>
              </a:rPr>
              <a:t>  └── .lsp.json</a:t>
            </a:r>
            <a:endParaRPr/>
          </a:p>
        </p:txBody>
      </p:sp>
      <p:sp>
        <p:nvSpPr>
          <p:cNvPr id="486" name="Google Shape;486;p43"/>
          <p:cNvSpPr txBox="1"/>
          <p:nvPr/>
        </p:nvSpPr>
        <p:spPr>
          <a:xfrm>
            <a:off x="4754880" y="1360170"/>
            <a:ext cx="36576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141413"/>
                </a:solidFill>
                <a:latin typeface="Calibri"/>
                <a:ea typeface="Calibri"/>
                <a:cs typeface="Calibri"/>
                <a:sym typeface="Calibri"/>
              </a:rPr>
              <a:t>Directory Purposes:</a:t>
            </a:r>
            <a:endParaRPr/>
          </a:p>
        </p:txBody>
      </p:sp>
      <p:sp>
        <p:nvSpPr>
          <p:cNvPr id="487" name="Google Shape;487;p43"/>
          <p:cNvSpPr txBox="1"/>
          <p:nvPr/>
        </p:nvSpPr>
        <p:spPr>
          <a:xfrm>
            <a:off x="4937760" y="1817370"/>
            <a:ext cx="16459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6A9BCC"/>
                </a:solidFill>
                <a:latin typeface="Consolas"/>
                <a:ea typeface="Consolas"/>
                <a:cs typeface="Consolas"/>
                <a:sym typeface="Consolas"/>
              </a:rPr>
              <a:t>.claude-plugin/</a:t>
            </a:r>
            <a:endParaRPr/>
          </a:p>
        </p:txBody>
      </p:sp>
      <p:sp>
        <p:nvSpPr>
          <p:cNvPr id="488" name="Google Shape;488;p43"/>
          <p:cNvSpPr txBox="1"/>
          <p:nvPr/>
        </p:nvSpPr>
        <p:spPr>
          <a:xfrm>
            <a:off x="6675120" y="1817370"/>
            <a:ext cx="1920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6454F"/>
                </a:solidFill>
                <a:latin typeface="Calibri"/>
                <a:ea typeface="Calibri"/>
                <a:cs typeface="Calibri"/>
                <a:sym typeface="Calibri"/>
              </a:rPr>
              <a:t>Manifest only</a:t>
            </a:r>
            <a:endParaRPr/>
          </a:p>
        </p:txBody>
      </p:sp>
      <p:sp>
        <p:nvSpPr>
          <p:cNvPr id="489" name="Google Shape;489;p43"/>
          <p:cNvSpPr txBox="1"/>
          <p:nvPr/>
        </p:nvSpPr>
        <p:spPr>
          <a:xfrm>
            <a:off x="4937760" y="2045970"/>
            <a:ext cx="16459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6A9BCC"/>
                </a:solidFill>
                <a:latin typeface="Consolas"/>
                <a:ea typeface="Consolas"/>
                <a:cs typeface="Consolas"/>
                <a:sym typeface="Consolas"/>
              </a:rPr>
              <a:t>commands/</a:t>
            </a:r>
            <a:endParaRPr/>
          </a:p>
        </p:txBody>
      </p:sp>
      <p:sp>
        <p:nvSpPr>
          <p:cNvPr id="490" name="Google Shape;490;p43"/>
          <p:cNvSpPr txBox="1"/>
          <p:nvPr/>
        </p:nvSpPr>
        <p:spPr>
          <a:xfrm>
            <a:off x="6675120" y="2045970"/>
            <a:ext cx="1920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6454F"/>
                </a:solidFill>
                <a:latin typeface="Calibri"/>
                <a:ea typeface="Calibri"/>
                <a:cs typeface="Calibri"/>
                <a:sym typeface="Calibri"/>
              </a:rPr>
              <a:t>User-invoked skills</a:t>
            </a:r>
            <a:endParaRPr/>
          </a:p>
        </p:txBody>
      </p:sp>
      <p:sp>
        <p:nvSpPr>
          <p:cNvPr id="491" name="Google Shape;491;p43"/>
          <p:cNvSpPr txBox="1"/>
          <p:nvPr/>
        </p:nvSpPr>
        <p:spPr>
          <a:xfrm>
            <a:off x="4937760" y="2274570"/>
            <a:ext cx="16459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6A9BCC"/>
                </a:solidFill>
                <a:latin typeface="Consolas"/>
                <a:ea typeface="Consolas"/>
                <a:cs typeface="Consolas"/>
                <a:sym typeface="Consolas"/>
              </a:rPr>
              <a:t>agents/</a:t>
            </a:r>
            <a:endParaRPr/>
          </a:p>
        </p:txBody>
      </p:sp>
      <p:sp>
        <p:nvSpPr>
          <p:cNvPr id="492" name="Google Shape;492;p43"/>
          <p:cNvSpPr txBox="1"/>
          <p:nvPr/>
        </p:nvSpPr>
        <p:spPr>
          <a:xfrm>
            <a:off x="6675120" y="2274570"/>
            <a:ext cx="1920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6454F"/>
                </a:solidFill>
                <a:latin typeface="Calibri"/>
                <a:ea typeface="Calibri"/>
                <a:cs typeface="Calibri"/>
                <a:sym typeface="Calibri"/>
              </a:rPr>
              <a:t>Custom agents</a:t>
            </a:r>
            <a:endParaRPr/>
          </a:p>
        </p:txBody>
      </p:sp>
      <p:sp>
        <p:nvSpPr>
          <p:cNvPr id="493" name="Google Shape;493;p43"/>
          <p:cNvSpPr txBox="1"/>
          <p:nvPr/>
        </p:nvSpPr>
        <p:spPr>
          <a:xfrm>
            <a:off x="4937760" y="2503170"/>
            <a:ext cx="16459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6A9BCC"/>
                </a:solidFill>
                <a:latin typeface="Consolas"/>
                <a:ea typeface="Consolas"/>
                <a:cs typeface="Consolas"/>
                <a:sym typeface="Consolas"/>
              </a:rPr>
              <a:t>skills/</a:t>
            </a:r>
            <a:endParaRPr/>
          </a:p>
        </p:txBody>
      </p:sp>
      <p:sp>
        <p:nvSpPr>
          <p:cNvPr id="494" name="Google Shape;494;p43"/>
          <p:cNvSpPr txBox="1"/>
          <p:nvPr/>
        </p:nvSpPr>
        <p:spPr>
          <a:xfrm>
            <a:off x="6675120" y="2503170"/>
            <a:ext cx="1920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6454F"/>
                </a:solidFill>
                <a:latin typeface="Calibri"/>
                <a:ea typeface="Calibri"/>
                <a:cs typeface="Calibri"/>
                <a:sym typeface="Calibri"/>
              </a:rPr>
              <a:t>Auto-invoked skills</a:t>
            </a:r>
            <a:endParaRPr/>
          </a:p>
        </p:txBody>
      </p:sp>
      <p:sp>
        <p:nvSpPr>
          <p:cNvPr id="495" name="Google Shape;495;p43"/>
          <p:cNvSpPr txBox="1"/>
          <p:nvPr/>
        </p:nvSpPr>
        <p:spPr>
          <a:xfrm>
            <a:off x="4937760" y="2731770"/>
            <a:ext cx="16459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6A9BCC"/>
                </a:solidFill>
                <a:latin typeface="Consolas"/>
                <a:ea typeface="Consolas"/>
                <a:cs typeface="Consolas"/>
                <a:sym typeface="Consolas"/>
              </a:rPr>
              <a:t>hooks/</a:t>
            </a:r>
            <a:endParaRPr/>
          </a:p>
        </p:txBody>
      </p:sp>
      <p:sp>
        <p:nvSpPr>
          <p:cNvPr id="496" name="Google Shape;496;p43"/>
          <p:cNvSpPr txBox="1"/>
          <p:nvPr/>
        </p:nvSpPr>
        <p:spPr>
          <a:xfrm>
            <a:off x="6675120" y="2731770"/>
            <a:ext cx="1920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6454F"/>
                </a:solidFill>
                <a:latin typeface="Calibri"/>
                <a:ea typeface="Calibri"/>
                <a:cs typeface="Calibri"/>
                <a:sym typeface="Calibri"/>
              </a:rPr>
              <a:t>Event handlers</a:t>
            </a:r>
            <a:endParaRPr/>
          </a:p>
        </p:txBody>
      </p:sp>
      <p:sp>
        <p:nvSpPr>
          <p:cNvPr id="497" name="Google Shape;497;p43"/>
          <p:cNvSpPr txBox="1"/>
          <p:nvPr/>
        </p:nvSpPr>
        <p:spPr>
          <a:xfrm>
            <a:off x="4937760" y="2960370"/>
            <a:ext cx="16459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6A9BCC"/>
                </a:solidFill>
                <a:latin typeface="Consolas"/>
                <a:ea typeface="Consolas"/>
                <a:cs typeface="Consolas"/>
                <a:sym typeface="Consolas"/>
              </a:rPr>
              <a:t>.mcp.json</a:t>
            </a:r>
            <a:endParaRPr/>
          </a:p>
        </p:txBody>
      </p:sp>
      <p:sp>
        <p:nvSpPr>
          <p:cNvPr id="498" name="Google Shape;498;p43"/>
          <p:cNvSpPr txBox="1"/>
          <p:nvPr/>
        </p:nvSpPr>
        <p:spPr>
          <a:xfrm>
            <a:off x="6675120" y="2960370"/>
            <a:ext cx="1920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6454F"/>
                </a:solidFill>
                <a:latin typeface="Calibri"/>
                <a:ea typeface="Calibri"/>
                <a:cs typeface="Calibri"/>
                <a:sym typeface="Calibri"/>
              </a:rPr>
              <a:t>MCP servers</a:t>
            </a:r>
            <a:endParaRPr/>
          </a:p>
        </p:txBody>
      </p:sp>
      <p:sp>
        <p:nvSpPr>
          <p:cNvPr id="499" name="Google Shape;499;p43"/>
          <p:cNvSpPr txBox="1"/>
          <p:nvPr/>
        </p:nvSpPr>
        <p:spPr>
          <a:xfrm>
            <a:off x="4937760" y="3188970"/>
            <a:ext cx="16459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6A9BCC"/>
                </a:solidFill>
                <a:latin typeface="Consolas"/>
                <a:ea typeface="Consolas"/>
                <a:cs typeface="Consolas"/>
                <a:sym typeface="Consolas"/>
              </a:rPr>
              <a:t>.lsp.json</a:t>
            </a:r>
            <a:endParaRPr/>
          </a:p>
        </p:txBody>
      </p:sp>
      <p:sp>
        <p:nvSpPr>
          <p:cNvPr id="500" name="Google Shape;500;p43"/>
          <p:cNvSpPr txBox="1"/>
          <p:nvPr/>
        </p:nvSpPr>
        <p:spPr>
          <a:xfrm>
            <a:off x="6675120" y="3188970"/>
            <a:ext cx="192024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6454F"/>
                </a:solidFill>
                <a:latin typeface="Calibri"/>
                <a:ea typeface="Calibri"/>
                <a:cs typeface="Calibri"/>
                <a:sym typeface="Calibri"/>
              </a:rPr>
              <a:t>LSP servers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505" name="Shape 505"/>
        <p:cNvGrpSpPr/>
        <p:nvPr/>
      </p:nvGrpSpPr>
      <p:grpSpPr>
        <a:xfrm>
          <a:off x="0" y="0"/>
          <a:ext cx="0" cy="0"/>
          <a:chOff x="0" y="0"/>
          <a:chExt cx="0" cy="0"/>
        </a:xfrm>
      </p:grpSpPr>
      <p:sp>
        <p:nvSpPr>
          <p:cNvPr id="506" name="Google Shape;506;p44"/>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41413"/>
                </a:solidFill>
                <a:latin typeface="Calibri"/>
                <a:ea typeface="Calibri"/>
                <a:cs typeface="Calibri"/>
                <a:sym typeface="Calibri"/>
              </a:rPr>
              <a:t>Creating the Plugin Manifest</a:t>
            </a:r>
            <a:endParaRPr/>
          </a:p>
        </p:txBody>
      </p:sp>
      <p:sp>
        <p:nvSpPr>
          <p:cNvPr id="507" name="Google Shape;507;p44"/>
          <p:cNvSpPr txBox="1"/>
          <p:nvPr/>
        </p:nvSpPr>
        <p:spPr>
          <a:xfrm>
            <a:off x="548641" y="1277389"/>
            <a:ext cx="384048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141413"/>
                </a:solidFill>
                <a:latin typeface="Calibri"/>
                <a:ea typeface="Calibri"/>
                <a:cs typeface="Calibri"/>
                <a:sym typeface="Calibri"/>
              </a:rPr>
              <a:t>plugin.json Location:</a:t>
            </a:r>
            <a:endParaRPr/>
          </a:p>
        </p:txBody>
      </p:sp>
      <p:sp>
        <p:nvSpPr>
          <p:cNvPr id="508" name="Google Shape;508;p44"/>
          <p:cNvSpPr/>
          <p:nvPr/>
        </p:nvSpPr>
        <p:spPr>
          <a:xfrm>
            <a:off x="548641" y="1734589"/>
            <a:ext cx="3840480" cy="256032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700" u="none" cap="none" strike="noStrike">
                <a:solidFill>
                  <a:srgbClr val="FFFFFF"/>
                </a:solidFill>
                <a:latin typeface="Consolas"/>
                <a:ea typeface="Consolas"/>
                <a:cs typeface="Consolas"/>
                <a:sym typeface="Consolas"/>
              </a:rPr>
              <a:t>{</a:t>
            </a:r>
            <a:endParaRPr/>
          </a:p>
          <a:p>
            <a:pPr indent="0" lvl="0" marL="0" marR="0" rtl="0" algn="l">
              <a:spcBef>
                <a:spcPts val="0"/>
              </a:spcBef>
              <a:spcAft>
                <a:spcPts val="0"/>
              </a:spcAft>
              <a:buNone/>
            </a:pPr>
            <a:r>
              <a:rPr b="0" i="0" lang="en-US" sz="1200" u="none" cap="none" strike="noStrike">
                <a:solidFill>
                  <a:schemeClr val="lt1"/>
                </a:solidFill>
                <a:latin typeface="Calibri"/>
                <a:ea typeface="Calibri"/>
                <a:cs typeface="Calibri"/>
                <a:sym typeface="Calibri"/>
              </a:rPr>
              <a:t>  "name": "my-plugin",</a:t>
            </a:r>
            <a:endParaRPr/>
          </a:p>
          <a:p>
            <a:pPr indent="0" lvl="0" marL="0" marR="0" rtl="0" algn="l">
              <a:spcBef>
                <a:spcPts val="0"/>
              </a:spcBef>
              <a:spcAft>
                <a:spcPts val="0"/>
              </a:spcAft>
              <a:buNone/>
            </a:pPr>
            <a:r>
              <a:rPr lang="en-US" sz="1200">
                <a:solidFill>
                  <a:schemeClr val="lt1"/>
                </a:solidFill>
                <a:latin typeface="Calibri"/>
                <a:ea typeface="Calibri"/>
                <a:cs typeface="Calibri"/>
                <a:sym typeface="Calibri"/>
              </a:rPr>
              <a:t>  "description": "Plugin description",</a:t>
            </a:r>
            <a:endParaRPr/>
          </a:p>
          <a:p>
            <a:pPr indent="0" lvl="0" marL="0" marR="0" rtl="0" algn="l">
              <a:spcBef>
                <a:spcPts val="0"/>
              </a:spcBef>
              <a:spcAft>
                <a:spcPts val="0"/>
              </a:spcAft>
              <a:buNone/>
            </a:pPr>
            <a:r>
              <a:rPr lang="en-US" sz="1200">
                <a:solidFill>
                  <a:schemeClr val="lt1"/>
                </a:solidFill>
                <a:latin typeface="Calibri"/>
                <a:ea typeface="Calibri"/>
                <a:cs typeface="Calibri"/>
                <a:sym typeface="Calibri"/>
              </a:rPr>
              <a:t>  "version": "1.0.0",</a:t>
            </a:r>
            <a:endParaRPr/>
          </a:p>
          <a:p>
            <a:pPr indent="0" lvl="0" marL="0" marR="0" rtl="0" algn="l">
              <a:spcBef>
                <a:spcPts val="0"/>
              </a:spcBef>
              <a:spcAft>
                <a:spcPts val="0"/>
              </a:spcAft>
              <a:buNone/>
            </a:pPr>
            <a:r>
              <a:rPr lang="en-US" sz="1200">
                <a:solidFill>
                  <a:schemeClr val="lt1"/>
                </a:solidFill>
                <a:latin typeface="Calibri"/>
                <a:ea typeface="Calibri"/>
                <a:cs typeface="Calibri"/>
                <a:sym typeface="Calibri"/>
              </a:rPr>
              <a:t>  "author": {</a:t>
            </a:r>
            <a:endParaRPr/>
          </a:p>
          <a:p>
            <a:pPr indent="0" lvl="0" marL="0" marR="0" rtl="0" algn="l">
              <a:spcBef>
                <a:spcPts val="0"/>
              </a:spcBef>
              <a:spcAft>
                <a:spcPts val="0"/>
              </a:spcAft>
              <a:buNone/>
            </a:pPr>
            <a:r>
              <a:rPr lang="en-US" sz="1200">
                <a:solidFill>
                  <a:schemeClr val="lt1"/>
                </a:solidFill>
                <a:latin typeface="Calibri"/>
                <a:ea typeface="Calibri"/>
                <a:cs typeface="Calibri"/>
                <a:sym typeface="Calibri"/>
              </a:rPr>
              <a:t>    "name": "Your Name",</a:t>
            </a:r>
            <a:endParaRPr/>
          </a:p>
          <a:p>
            <a:pPr indent="0" lvl="0" marL="0" marR="0" rtl="0" algn="l">
              <a:spcBef>
                <a:spcPts val="0"/>
              </a:spcBef>
              <a:spcAft>
                <a:spcPts val="0"/>
              </a:spcAft>
              <a:buNone/>
            </a:pPr>
            <a:r>
              <a:rPr lang="en-US" sz="1200">
                <a:solidFill>
                  <a:schemeClr val="lt1"/>
                </a:solidFill>
                <a:latin typeface="Calibri"/>
                <a:ea typeface="Calibri"/>
                <a:cs typeface="Calibri"/>
                <a:sym typeface="Calibri"/>
              </a:rPr>
              <a:t>    "email": "you@example.com"</a:t>
            </a:r>
            <a:endParaRPr/>
          </a:p>
          <a:p>
            <a:pPr indent="0" lvl="0" marL="0" marR="0" rtl="0" algn="l">
              <a:spcBef>
                <a:spcPts val="0"/>
              </a:spcBef>
              <a:spcAft>
                <a:spcPts val="0"/>
              </a:spcAft>
              <a:buNone/>
            </a:pPr>
            <a:r>
              <a:rPr lang="en-US" sz="1200">
                <a:solidFill>
                  <a:schemeClr val="lt1"/>
                </a:solidFill>
                <a:latin typeface="Calibri"/>
                <a:ea typeface="Calibri"/>
                <a:cs typeface="Calibri"/>
                <a:sym typeface="Calibri"/>
              </a:rPr>
              <a:t>  },</a:t>
            </a:r>
            <a:endParaRPr/>
          </a:p>
          <a:p>
            <a:pPr indent="0" lvl="0" marL="0" marR="0" rtl="0" algn="l">
              <a:spcBef>
                <a:spcPts val="0"/>
              </a:spcBef>
              <a:spcAft>
                <a:spcPts val="0"/>
              </a:spcAft>
              <a:buNone/>
            </a:pPr>
            <a:r>
              <a:rPr lang="en-US" sz="1200">
                <a:solidFill>
                  <a:schemeClr val="lt1"/>
                </a:solidFill>
                <a:latin typeface="Calibri"/>
                <a:ea typeface="Calibri"/>
                <a:cs typeface="Calibri"/>
                <a:sym typeface="Calibri"/>
              </a:rPr>
              <a:t>  "homepage": "https://...",</a:t>
            </a:r>
            <a:endParaRPr/>
          </a:p>
          <a:p>
            <a:pPr indent="0" lvl="0" marL="0" marR="0" rtl="0" algn="l">
              <a:spcBef>
                <a:spcPts val="0"/>
              </a:spcBef>
              <a:spcAft>
                <a:spcPts val="0"/>
              </a:spcAft>
              <a:buNone/>
            </a:pPr>
            <a:r>
              <a:rPr lang="en-US" sz="1200">
                <a:solidFill>
                  <a:schemeClr val="lt1"/>
                </a:solidFill>
                <a:latin typeface="Calibri"/>
                <a:ea typeface="Calibri"/>
                <a:cs typeface="Calibri"/>
                <a:sym typeface="Calibri"/>
              </a:rPr>
              <a:t>  "repository": "https://...",</a:t>
            </a:r>
            <a:endParaRPr/>
          </a:p>
          <a:p>
            <a:pPr indent="0" lvl="0" marL="0" marR="0" rtl="0" algn="l">
              <a:spcBef>
                <a:spcPts val="0"/>
              </a:spcBef>
              <a:spcAft>
                <a:spcPts val="0"/>
              </a:spcAft>
              <a:buNone/>
            </a:pPr>
            <a:r>
              <a:rPr lang="en-US" sz="1200">
                <a:solidFill>
                  <a:schemeClr val="lt1"/>
                </a:solidFill>
                <a:latin typeface="Calibri"/>
                <a:ea typeface="Calibri"/>
                <a:cs typeface="Calibri"/>
                <a:sym typeface="Calibri"/>
              </a:rPr>
              <a:t>  "license": "MIT",</a:t>
            </a:r>
            <a:endParaRPr/>
          </a:p>
          <a:p>
            <a:pPr indent="0" lvl="0" marL="0" marR="0" rtl="0" algn="l">
              <a:spcBef>
                <a:spcPts val="0"/>
              </a:spcBef>
              <a:spcAft>
                <a:spcPts val="0"/>
              </a:spcAft>
              <a:buNone/>
            </a:pPr>
            <a:r>
              <a:rPr lang="en-US" sz="1200">
                <a:solidFill>
                  <a:schemeClr val="lt1"/>
                </a:solidFill>
                <a:latin typeface="Calibri"/>
                <a:ea typeface="Calibri"/>
                <a:cs typeface="Calibri"/>
                <a:sym typeface="Calibri"/>
              </a:rPr>
              <a:t>  "keywords": ["tag1", "tag2"]</a:t>
            </a:r>
            <a:endParaRPr/>
          </a:p>
          <a:p>
            <a:pPr indent="0" lvl="0" marL="0" marR="0" rtl="0" algn="l">
              <a:spcBef>
                <a:spcPts val="0"/>
              </a:spcBef>
              <a:spcAft>
                <a:spcPts val="0"/>
              </a:spcAft>
              <a:buNone/>
            </a:pPr>
            <a:r>
              <a:rPr lang="en-US" sz="1200">
                <a:solidFill>
                  <a:schemeClr val="lt1"/>
                </a:solidFill>
                <a:latin typeface="Calibri"/>
                <a:ea typeface="Calibri"/>
                <a:cs typeface="Calibri"/>
                <a:sym typeface="Calibri"/>
              </a:rPr>
              <a:t>}</a:t>
            </a:r>
            <a:endParaRPr/>
          </a:p>
        </p:txBody>
      </p:sp>
      <p:sp>
        <p:nvSpPr>
          <p:cNvPr id="509" name="Google Shape;509;p44"/>
          <p:cNvSpPr txBox="1"/>
          <p:nvPr/>
        </p:nvSpPr>
        <p:spPr>
          <a:xfrm>
            <a:off x="4754880" y="1277389"/>
            <a:ext cx="36576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141413"/>
                </a:solidFill>
                <a:latin typeface="Calibri"/>
                <a:ea typeface="Calibri"/>
                <a:cs typeface="Calibri"/>
                <a:sym typeface="Calibri"/>
              </a:rPr>
              <a:t>Required vs Optional Fields:</a:t>
            </a:r>
            <a:endParaRPr/>
          </a:p>
        </p:txBody>
      </p:sp>
      <p:sp>
        <p:nvSpPr>
          <p:cNvPr id="510" name="Google Shape;510;p44"/>
          <p:cNvSpPr txBox="1"/>
          <p:nvPr/>
        </p:nvSpPr>
        <p:spPr>
          <a:xfrm>
            <a:off x="4937760" y="1734589"/>
            <a:ext cx="10972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6A9BCC"/>
                </a:solidFill>
                <a:latin typeface="Consolas"/>
                <a:ea typeface="Consolas"/>
                <a:cs typeface="Consolas"/>
                <a:sym typeface="Consolas"/>
              </a:rPr>
              <a:t>name</a:t>
            </a:r>
            <a:endParaRPr/>
          </a:p>
        </p:txBody>
      </p:sp>
      <p:sp>
        <p:nvSpPr>
          <p:cNvPr id="511" name="Google Shape;511;p44"/>
          <p:cNvSpPr/>
          <p:nvPr/>
        </p:nvSpPr>
        <p:spPr>
          <a:xfrm>
            <a:off x="6126480" y="1734589"/>
            <a:ext cx="731520" cy="228600"/>
          </a:xfrm>
          <a:prstGeom prst="roundRect">
            <a:avLst>
              <a:gd fmla="val 16667" name="adj"/>
            </a:avLst>
          </a:prstGeom>
          <a:solidFill>
            <a:srgbClr val="788C5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900">
                <a:solidFill>
                  <a:srgbClr val="FFFFFF"/>
                </a:solidFill>
                <a:latin typeface="Calibri"/>
                <a:ea typeface="Calibri"/>
                <a:cs typeface="Calibri"/>
                <a:sym typeface="Calibri"/>
              </a:rPr>
              <a:t>Required</a:t>
            </a:r>
            <a:endParaRPr/>
          </a:p>
        </p:txBody>
      </p:sp>
      <p:sp>
        <p:nvSpPr>
          <p:cNvPr id="512" name="Google Shape;512;p44"/>
          <p:cNvSpPr txBox="1"/>
          <p:nvPr/>
        </p:nvSpPr>
        <p:spPr>
          <a:xfrm>
            <a:off x="6949440" y="1734589"/>
            <a:ext cx="173736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Plugin identifier (kebab-case)</a:t>
            </a:r>
            <a:endParaRPr/>
          </a:p>
        </p:txBody>
      </p:sp>
      <p:sp>
        <p:nvSpPr>
          <p:cNvPr id="513" name="Google Shape;513;p44"/>
          <p:cNvSpPr txBox="1"/>
          <p:nvPr/>
        </p:nvSpPr>
        <p:spPr>
          <a:xfrm>
            <a:off x="4937760" y="2054628"/>
            <a:ext cx="10972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6A9BCC"/>
                </a:solidFill>
                <a:latin typeface="Consolas"/>
                <a:ea typeface="Consolas"/>
                <a:cs typeface="Consolas"/>
                <a:sym typeface="Consolas"/>
              </a:rPr>
              <a:t>description</a:t>
            </a:r>
            <a:endParaRPr/>
          </a:p>
        </p:txBody>
      </p:sp>
      <p:sp>
        <p:nvSpPr>
          <p:cNvPr id="514" name="Google Shape;514;p44"/>
          <p:cNvSpPr/>
          <p:nvPr/>
        </p:nvSpPr>
        <p:spPr>
          <a:xfrm>
            <a:off x="6126480" y="2054628"/>
            <a:ext cx="731520" cy="228600"/>
          </a:xfrm>
          <a:prstGeom prst="roundRect">
            <a:avLst>
              <a:gd fmla="val 16667" name="adj"/>
            </a:avLst>
          </a:prstGeom>
          <a:solidFill>
            <a:srgbClr val="788C5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900">
                <a:solidFill>
                  <a:srgbClr val="FFFFFF"/>
                </a:solidFill>
                <a:latin typeface="Calibri"/>
                <a:ea typeface="Calibri"/>
                <a:cs typeface="Calibri"/>
                <a:sym typeface="Calibri"/>
              </a:rPr>
              <a:t>Required</a:t>
            </a:r>
            <a:endParaRPr/>
          </a:p>
        </p:txBody>
      </p:sp>
      <p:sp>
        <p:nvSpPr>
          <p:cNvPr id="515" name="Google Shape;515;p44"/>
          <p:cNvSpPr txBox="1"/>
          <p:nvPr/>
        </p:nvSpPr>
        <p:spPr>
          <a:xfrm>
            <a:off x="6949440" y="2054628"/>
            <a:ext cx="14630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Brief plugin description</a:t>
            </a:r>
            <a:endParaRPr/>
          </a:p>
        </p:txBody>
      </p:sp>
      <p:sp>
        <p:nvSpPr>
          <p:cNvPr id="516" name="Google Shape;516;p44"/>
          <p:cNvSpPr txBox="1"/>
          <p:nvPr/>
        </p:nvSpPr>
        <p:spPr>
          <a:xfrm>
            <a:off x="4937760" y="2374669"/>
            <a:ext cx="10972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6A9BCC"/>
                </a:solidFill>
                <a:latin typeface="Consolas"/>
                <a:ea typeface="Consolas"/>
                <a:cs typeface="Consolas"/>
                <a:sym typeface="Consolas"/>
              </a:rPr>
              <a:t>version</a:t>
            </a:r>
            <a:endParaRPr/>
          </a:p>
        </p:txBody>
      </p:sp>
      <p:sp>
        <p:nvSpPr>
          <p:cNvPr id="517" name="Google Shape;517;p44"/>
          <p:cNvSpPr/>
          <p:nvPr/>
        </p:nvSpPr>
        <p:spPr>
          <a:xfrm>
            <a:off x="6126480" y="2374669"/>
            <a:ext cx="731520" cy="228600"/>
          </a:xfrm>
          <a:prstGeom prst="roundRect">
            <a:avLst>
              <a:gd fmla="val 16667" name="adj"/>
            </a:avLst>
          </a:prstGeom>
          <a:solidFill>
            <a:srgbClr val="788C5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900">
                <a:solidFill>
                  <a:srgbClr val="FFFFFF"/>
                </a:solidFill>
                <a:latin typeface="Calibri"/>
                <a:ea typeface="Calibri"/>
                <a:cs typeface="Calibri"/>
                <a:sym typeface="Calibri"/>
              </a:rPr>
              <a:t>Required</a:t>
            </a:r>
            <a:endParaRPr/>
          </a:p>
        </p:txBody>
      </p:sp>
      <p:sp>
        <p:nvSpPr>
          <p:cNvPr id="518" name="Google Shape;518;p44"/>
          <p:cNvSpPr txBox="1"/>
          <p:nvPr/>
        </p:nvSpPr>
        <p:spPr>
          <a:xfrm>
            <a:off x="6949440" y="2374669"/>
            <a:ext cx="14630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Semantic version (1.0.0)</a:t>
            </a:r>
            <a:endParaRPr/>
          </a:p>
        </p:txBody>
      </p:sp>
      <p:sp>
        <p:nvSpPr>
          <p:cNvPr id="519" name="Google Shape;519;p44"/>
          <p:cNvSpPr txBox="1"/>
          <p:nvPr/>
        </p:nvSpPr>
        <p:spPr>
          <a:xfrm>
            <a:off x="4937760" y="2694709"/>
            <a:ext cx="10972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6A9BCC"/>
                </a:solidFill>
                <a:latin typeface="Consolas"/>
                <a:ea typeface="Consolas"/>
                <a:cs typeface="Consolas"/>
                <a:sym typeface="Consolas"/>
              </a:rPr>
              <a:t>author</a:t>
            </a:r>
            <a:endParaRPr/>
          </a:p>
        </p:txBody>
      </p:sp>
      <p:sp>
        <p:nvSpPr>
          <p:cNvPr id="520" name="Google Shape;520;p44"/>
          <p:cNvSpPr/>
          <p:nvPr/>
        </p:nvSpPr>
        <p:spPr>
          <a:xfrm>
            <a:off x="6126480" y="2694709"/>
            <a:ext cx="731520" cy="228600"/>
          </a:xfrm>
          <a:prstGeom prst="roundRect">
            <a:avLst>
              <a:gd fmla="val 16667" name="adj"/>
            </a:avLst>
          </a:prstGeom>
          <a:solidFill>
            <a:srgbClr val="E8E8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900">
                <a:solidFill>
                  <a:srgbClr val="141413"/>
                </a:solidFill>
                <a:latin typeface="Calibri"/>
                <a:ea typeface="Calibri"/>
                <a:cs typeface="Calibri"/>
                <a:sym typeface="Calibri"/>
              </a:rPr>
              <a:t>Optional</a:t>
            </a:r>
            <a:endParaRPr/>
          </a:p>
        </p:txBody>
      </p:sp>
      <p:sp>
        <p:nvSpPr>
          <p:cNvPr id="521" name="Google Shape;521;p44"/>
          <p:cNvSpPr txBox="1"/>
          <p:nvPr/>
        </p:nvSpPr>
        <p:spPr>
          <a:xfrm>
            <a:off x="6949440" y="2694709"/>
            <a:ext cx="14630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Attribution information</a:t>
            </a:r>
            <a:endParaRPr/>
          </a:p>
        </p:txBody>
      </p:sp>
      <p:sp>
        <p:nvSpPr>
          <p:cNvPr id="522" name="Google Shape;522;p44"/>
          <p:cNvSpPr txBox="1"/>
          <p:nvPr/>
        </p:nvSpPr>
        <p:spPr>
          <a:xfrm>
            <a:off x="4937760" y="3014749"/>
            <a:ext cx="10972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6A9BCC"/>
                </a:solidFill>
                <a:latin typeface="Consolas"/>
                <a:ea typeface="Consolas"/>
                <a:cs typeface="Consolas"/>
                <a:sym typeface="Consolas"/>
              </a:rPr>
              <a:t>homepage</a:t>
            </a:r>
            <a:endParaRPr/>
          </a:p>
        </p:txBody>
      </p:sp>
      <p:sp>
        <p:nvSpPr>
          <p:cNvPr id="523" name="Google Shape;523;p44"/>
          <p:cNvSpPr/>
          <p:nvPr/>
        </p:nvSpPr>
        <p:spPr>
          <a:xfrm>
            <a:off x="6126480" y="3014749"/>
            <a:ext cx="731520" cy="228600"/>
          </a:xfrm>
          <a:prstGeom prst="roundRect">
            <a:avLst>
              <a:gd fmla="val 16667" name="adj"/>
            </a:avLst>
          </a:prstGeom>
          <a:solidFill>
            <a:srgbClr val="E8E8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900">
                <a:solidFill>
                  <a:srgbClr val="141413"/>
                </a:solidFill>
                <a:latin typeface="Calibri"/>
                <a:ea typeface="Calibri"/>
                <a:cs typeface="Calibri"/>
                <a:sym typeface="Calibri"/>
              </a:rPr>
              <a:t>Optional</a:t>
            </a:r>
            <a:endParaRPr/>
          </a:p>
        </p:txBody>
      </p:sp>
      <p:sp>
        <p:nvSpPr>
          <p:cNvPr id="524" name="Google Shape;524;p44"/>
          <p:cNvSpPr txBox="1"/>
          <p:nvPr/>
        </p:nvSpPr>
        <p:spPr>
          <a:xfrm>
            <a:off x="6949440" y="3014749"/>
            <a:ext cx="14630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Documentation URL</a:t>
            </a:r>
            <a:endParaRPr/>
          </a:p>
        </p:txBody>
      </p:sp>
      <p:sp>
        <p:nvSpPr>
          <p:cNvPr id="525" name="Google Shape;525;p44"/>
          <p:cNvSpPr txBox="1"/>
          <p:nvPr/>
        </p:nvSpPr>
        <p:spPr>
          <a:xfrm>
            <a:off x="4937760" y="3334789"/>
            <a:ext cx="10972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6A9BCC"/>
                </a:solidFill>
                <a:latin typeface="Consolas"/>
                <a:ea typeface="Consolas"/>
                <a:cs typeface="Consolas"/>
                <a:sym typeface="Consolas"/>
              </a:rPr>
              <a:t>repository</a:t>
            </a:r>
            <a:endParaRPr/>
          </a:p>
        </p:txBody>
      </p:sp>
      <p:sp>
        <p:nvSpPr>
          <p:cNvPr id="526" name="Google Shape;526;p44"/>
          <p:cNvSpPr/>
          <p:nvPr/>
        </p:nvSpPr>
        <p:spPr>
          <a:xfrm>
            <a:off x="6126480" y="3334789"/>
            <a:ext cx="731520" cy="228600"/>
          </a:xfrm>
          <a:prstGeom prst="roundRect">
            <a:avLst>
              <a:gd fmla="val 16667" name="adj"/>
            </a:avLst>
          </a:prstGeom>
          <a:solidFill>
            <a:srgbClr val="E8E8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900">
                <a:solidFill>
                  <a:srgbClr val="141413"/>
                </a:solidFill>
                <a:latin typeface="Calibri"/>
                <a:ea typeface="Calibri"/>
                <a:cs typeface="Calibri"/>
                <a:sym typeface="Calibri"/>
              </a:rPr>
              <a:t>Optional</a:t>
            </a:r>
            <a:endParaRPr/>
          </a:p>
        </p:txBody>
      </p:sp>
      <p:sp>
        <p:nvSpPr>
          <p:cNvPr id="527" name="Google Shape;527;p44"/>
          <p:cNvSpPr txBox="1"/>
          <p:nvPr/>
        </p:nvSpPr>
        <p:spPr>
          <a:xfrm>
            <a:off x="6949440" y="3334789"/>
            <a:ext cx="14630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Source code location</a:t>
            </a:r>
            <a:endParaRPr/>
          </a:p>
        </p:txBody>
      </p:sp>
      <p:sp>
        <p:nvSpPr>
          <p:cNvPr id="528" name="Google Shape;528;p44"/>
          <p:cNvSpPr txBox="1"/>
          <p:nvPr/>
        </p:nvSpPr>
        <p:spPr>
          <a:xfrm>
            <a:off x="4937760" y="3654829"/>
            <a:ext cx="10972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6A9BCC"/>
                </a:solidFill>
                <a:latin typeface="Consolas"/>
                <a:ea typeface="Consolas"/>
                <a:cs typeface="Consolas"/>
                <a:sym typeface="Consolas"/>
              </a:rPr>
              <a:t>license</a:t>
            </a:r>
            <a:endParaRPr/>
          </a:p>
        </p:txBody>
      </p:sp>
      <p:sp>
        <p:nvSpPr>
          <p:cNvPr id="529" name="Google Shape;529;p44"/>
          <p:cNvSpPr/>
          <p:nvPr/>
        </p:nvSpPr>
        <p:spPr>
          <a:xfrm>
            <a:off x="6126480" y="3654829"/>
            <a:ext cx="731520" cy="228600"/>
          </a:xfrm>
          <a:prstGeom prst="roundRect">
            <a:avLst>
              <a:gd fmla="val 16667" name="adj"/>
            </a:avLst>
          </a:prstGeom>
          <a:solidFill>
            <a:srgbClr val="E8E8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900">
                <a:solidFill>
                  <a:srgbClr val="141413"/>
                </a:solidFill>
                <a:latin typeface="Calibri"/>
                <a:ea typeface="Calibri"/>
                <a:cs typeface="Calibri"/>
                <a:sym typeface="Calibri"/>
              </a:rPr>
              <a:t>Optional</a:t>
            </a:r>
            <a:endParaRPr/>
          </a:p>
        </p:txBody>
      </p:sp>
      <p:sp>
        <p:nvSpPr>
          <p:cNvPr id="530" name="Google Shape;530;p44"/>
          <p:cNvSpPr txBox="1"/>
          <p:nvPr/>
        </p:nvSpPr>
        <p:spPr>
          <a:xfrm>
            <a:off x="6949440" y="3654829"/>
            <a:ext cx="14630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SPDX identifier</a:t>
            </a:r>
            <a:endParaRPr/>
          </a:p>
        </p:txBody>
      </p:sp>
      <p:sp>
        <p:nvSpPr>
          <p:cNvPr id="531" name="Google Shape;531;p44"/>
          <p:cNvSpPr txBox="1"/>
          <p:nvPr/>
        </p:nvSpPr>
        <p:spPr>
          <a:xfrm>
            <a:off x="4937760" y="3974869"/>
            <a:ext cx="10972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6A9BCC"/>
                </a:solidFill>
                <a:latin typeface="Consolas"/>
                <a:ea typeface="Consolas"/>
                <a:cs typeface="Consolas"/>
                <a:sym typeface="Consolas"/>
              </a:rPr>
              <a:t>keywords</a:t>
            </a:r>
            <a:endParaRPr/>
          </a:p>
        </p:txBody>
      </p:sp>
      <p:sp>
        <p:nvSpPr>
          <p:cNvPr id="532" name="Google Shape;532;p44"/>
          <p:cNvSpPr/>
          <p:nvPr/>
        </p:nvSpPr>
        <p:spPr>
          <a:xfrm>
            <a:off x="6126480" y="3974869"/>
            <a:ext cx="731520" cy="228600"/>
          </a:xfrm>
          <a:prstGeom prst="roundRect">
            <a:avLst>
              <a:gd fmla="val 16667" name="adj"/>
            </a:avLst>
          </a:prstGeom>
          <a:solidFill>
            <a:srgbClr val="E8E8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900">
                <a:solidFill>
                  <a:srgbClr val="141413"/>
                </a:solidFill>
                <a:latin typeface="Calibri"/>
                <a:ea typeface="Calibri"/>
                <a:cs typeface="Calibri"/>
                <a:sym typeface="Calibri"/>
              </a:rPr>
              <a:t>Optional</a:t>
            </a:r>
            <a:endParaRPr/>
          </a:p>
        </p:txBody>
      </p:sp>
      <p:sp>
        <p:nvSpPr>
          <p:cNvPr id="533" name="Google Shape;533;p44"/>
          <p:cNvSpPr txBox="1"/>
          <p:nvPr/>
        </p:nvSpPr>
        <p:spPr>
          <a:xfrm>
            <a:off x="6949440" y="3974869"/>
            <a:ext cx="14630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Discovery tags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538" name="Shape 538"/>
        <p:cNvGrpSpPr/>
        <p:nvPr/>
      </p:nvGrpSpPr>
      <p:grpSpPr>
        <a:xfrm>
          <a:off x="0" y="0"/>
          <a:ext cx="0" cy="0"/>
          <a:chOff x="0" y="0"/>
          <a:chExt cx="0" cy="0"/>
        </a:xfrm>
      </p:grpSpPr>
      <p:sp>
        <p:nvSpPr>
          <p:cNvPr id="539" name="Google Shape;539;p45"/>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41413"/>
                </a:solidFill>
                <a:latin typeface="Calibri"/>
                <a:ea typeface="Calibri"/>
                <a:cs typeface="Calibri"/>
                <a:sym typeface="Calibri"/>
              </a:rPr>
              <a:t>Adding Skills to Plugins</a:t>
            </a:r>
            <a:endParaRPr/>
          </a:p>
        </p:txBody>
      </p:sp>
      <p:sp>
        <p:nvSpPr>
          <p:cNvPr id="540" name="Google Shape;540;p45"/>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Skills vs Commands in Plugins</a:t>
            </a:r>
            <a:endParaRPr/>
          </a:p>
        </p:txBody>
      </p:sp>
      <p:sp>
        <p:nvSpPr>
          <p:cNvPr id="541" name="Google Shape;541;p45"/>
          <p:cNvSpPr txBox="1"/>
          <p:nvPr/>
        </p:nvSpPr>
        <p:spPr>
          <a:xfrm>
            <a:off x="731520" y="1645920"/>
            <a:ext cx="7680960" cy="137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41413"/>
                </a:solidFill>
                <a:latin typeface="Calibri"/>
                <a:ea typeface="Calibri"/>
                <a:cs typeface="Calibri"/>
                <a:sym typeface="Calibri"/>
              </a:rPr>
              <a:t>• commands/: User-invoked skills (manual execution)</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skills/: Agent skills (Claude auto-invokes based on context)</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Both use same SKILL.md format with frontmatter</a:t>
            </a:r>
            <a:endParaRPr/>
          </a:p>
        </p:txBody>
      </p:sp>
      <p:sp>
        <p:nvSpPr>
          <p:cNvPr id="542" name="Google Shape;542;p45"/>
          <p:cNvSpPr txBox="1"/>
          <p:nvPr/>
        </p:nvSpPr>
        <p:spPr>
          <a:xfrm>
            <a:off x="731520" y="251460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Skill Directory Structure</a:t>
            </a:r>
            <a:endParaRPr/>
          </a:p>
        </p:txBody>
      </p:sp>
      <p:sp>
        <p:nvSpPr>
          <p:cNvPr id="543" name="Google Shape;543;p45"/>
          <p:cNvSpPr/>
          <p:nvPr/>
        </p:nvSpPr>
        <p:spPr>
          <a:xfrm>
            <a:off x="914400" y="2971800"/>
            <a:ext cx="7315200" cy="54864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rgbClr val="FFFFFF"/>
                </a:solidFill>
                <a:latin typeface="Consolas"/>
                <a:ea typeface="Consolas"/>
                <a:cs typeface="Consolas"/>
                <a:sym typeface="Consolas"/>
              </a:rPr>
              <a:t>skills/code-review/SKILL.md  # Skill name = directory name</a:t>
            </a:r>
            <a:endParaRPr/>
          </a:p>
        </p:txBody>
      </p:sp>
      <p:sp>
        <p:nvSpPr>
          <p:cNvPr id="544" name="Google Shape;544;p45"/>
          <p:cNvSpPr txBox="1"/>
          <p:nvPr/>
        </p:nvSpPr>
        <p:spPr>
          <a:xfrm>
            <a:off x="731520" y="37033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SKILL.md Frontmatter</a:t>
            </a:r>
            <a:endParaRPr/>
          </a:p>
        </p:txBody>
      </p:sp>
      <p:sp>
        <p:nvSpPr>
          <p:cNvPr id="545" name="Google Shape;545;p45"/>
          <p:cNvSpPr txBox="1"/>
          <p:nvPr/>
        </p:nvSpPr>
        <p:spPr>
          <a:xfrm>
            <a:off x="731520" y="4160520"/>
            <a:ext cx="7680960" cy="137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41413"/>
                </a:solidFill>
                <a:latin typeface="Calibri"/>
                <a:ea typeface="Calibri"/>
                <a:cs typeface="Calibri"/>
                <a:sym typeface="Calibri"/>
              </a:rPr>
              <a:t>• name: Skill identifier</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description: When Claude should use this skill</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disable-model-invocation: true (for commands only)</a:t>
            </a:r>
            <a:endParaRPr/>
          </a:p>
        </p:txBody>
      </p:sp>
      <p:sp>
        <p:nvSpPr>
          <p:cNvPr id="546" name="Google Shape;546;p45"/>
          <p:cNvSpPr/>
          <p:nvPr/>
        </p:nvSpPr>
        <p:spPr>
          <a:xfrm>
            <a:off x="5832764" y="3891741"/>
            <a:ext cx="2396836" cy="731520"/>
          </a:xfrm>
          <a:prstGeom prst="roundRect">
            <a:avLst>
              <a:gd fmla="val 16667" name="adj"/>
            </a:avLst>
          </a:prstGeom>
          <a:solidFill>
            <a:srgbClr val="D97757"/>
          </a:solidFill>
          <a:ln cap="flat" cmpd="sng" w="25400">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chemeClr val="lt1"/>
                </a:solidFill>
                <a:latin typeface="Calibri"/>
                <a:ea typeface="Calibri"/>
                <a:cs typeface="Calibri"/>
                <a:sym typeface="Calibri"/>
              </a:rPr>
              <a:t>⚠️  After adding skills, restart Claude Code to load them</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551" name="Shape 551"/>
        <p:cNvGrpSpPr/>
        <p:nvPr/>
      </p:nvGrpSpPr>
      <p:grpSpPr>
        <a:xfrm>
          <a:off x="0" y="0"/>
          <a:ext cx="0" cy="0"/>
          <a:chOff x="0" y="0"/>
          <a:chExt cx="0" cy="0"/>
        </a:xfrm>
      </p:grpSpPr>
      <p:sp>
        <p:nvSpPr>
          <p:cNvPr id="552" name="Google Shape;552;p46"/>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41413"/>
                </a:solidFill>
                <a:latin typeface="Calibri"/>
                <a:ea typeface="Calibri"/>
                <a:cs typeface="Calibri"/>
                <a:sym typeface="Calibri"/>
              </a:rPr>
              <a:t>Testing Plugins Locally</a:t>
            </a:r>
            <a:endParaRPr/>
          </a:p>
        </p:txBody>
      </p:sp>
      <p:sp>
        <p:nvSpPr>
          <p:cNvPr id="553" name="Google Shape;553;p46"/>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The --plugin-dir Flag</a:t>
            </a:r>
            <a:endParaRPr/>
          </a:p>
        </p:txBody>
      </p:sp>
      <p:sp>
        <p:nvSpPr>
          <p:cNvPr id="554" name="Google Shape;554;p46"/>
          <p:cNvSpPr txBox="1"/>
          <p:nvPr/>
        </p:nvSpPr>
        <p:spPr>
          <a:xfrm>
            <a:off x="731520" y="1645920"/>
            <a:ext cx="579397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41413"/>
                </a:solidFill>
                <a:latin typeface="Calibri"/>
                <a:ea typeface="Calibri"/>
                <a:cs typeface="Calibri"/>
                <a:sym typeface="Calibri"/>
              </a:rPr>
              <a:t>Load plugins directly from your development directory without installing. Perfect for rapid iteration during development.</a:t>
            </a:r>
            <a:endParaRPr/>
          </a:p>
        </p:txBody>
      </p:sp>
      <p:sp>
        <p:nvSpPr>
          <p:cNvPr id="555" name="Google Shape;555;p46"/>
          <p:cNvSpPr/>
          <p:nvPr/>
        </p:nvSpPr>
        <p:spPr>
          <a:xfrm>
            <a:off x="914400" y="2259676"/>
            <a:ext cx="5174673" cy="4572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rgbClr val="FFFFFF"/>
                </a:solidFill>
                <a:latin typeface="Consolas"/>
                <a:ea typeface="Consolas"/>
                <a:cs typeface="Consolas"/>
                <a:sym typeface="Consolas"/>
              </a:rPr>
              <a:t>claude --plugin-dir ./my-plugin</a:t>
            </a:r>
            <a:endParaRPr/>
          </a:p>
        </p:txBody>
      </p:sp>
      <p:sp>
        <p:nvSpPr>
          <p:cNvPr id="556" name="Google Shape;556;p46"/>
          <p:cNvSpPr txBox="1"/>
          <p:nvPr/>
        </p:nvSpPr>
        <p:spPr>
          <a:xfrm>
            <a:off x="731520" y="289283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Development Workflow</a:t>
            </a:r>
            <a:endParaRPr/>
          </a:p>
        </p:txBody>
      </p:sp>
      <p:sp>
        <p:nvSpPr>
          <p:cNvPr id="557" name="Google Shape;557;p46"/>
          <p:cNvSpPr txBox="1"/>
          <p:nvPr/>
        </p:nvSpPr>
        <p:spPr>
          <a:xfrm>
            <a:off x="1097280" y="3350030"/>
            <a:ext cx="69494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rgbClr val="141413"/>
                </a:solidFill>
                <a:latin typeface="Calibri"/>
                <a:ea typeface="Calibri"/>
                <a:cs typeface="Calibri"/>
                <a:sym typeface="Calibri"/>
              </a:rPr>
              <a:t>1. Make changes to plugin files</a:t>
            </a:r>
            <a:endParaRPr/>
          </a:p>
        </p:txBody>
      </p:sp>
      <p:sp>
        <p:nvSpPr>
          <p:cNvPr id="558" name="Google Shape;558;p46"/>
          <p:cNvSpPr txBox="1"/>
          <p:nvPr/>
        </p:nvSpPr>
        <p:spPr>
          <a:xfrm>
            <a:off x="1097280" y="3624349"/>
            <a:ext cx="69494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rgbClr val="141413"/>
                </a:solidFill>
                <a:latin typeface="Calibri"/>
                <a:ea typeface="Calibri"/>
                <a:cs typeface="Calibri"/>
                <a:sym typeface="Calibri"/>
              </a:rPr>
              <a:t>2. Restart Claude Code with --plugin-dir flag</a:t>
            </a:r>
            <a:endParaRPr/>
          </a:p>
        </p:txBody>
      </p:sp>
      <p:sp>
        <p:nvSpPr>
          <p:cNvPr id="559" name="Google Shape;559;p46"/>
          <p:cNvSpPr txBox="1"/>
          <p:nvPr/>
        </p:nvSpPr>
        <p:spPr>
          <a:xfrm>
            <a:off x="1097280" y="3898669"/>
            <a:ext cx="69494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rgbClr val="141413"/>
                </a:solidFill>
                <a:latin typeface="Calibri"/>
                <a:ea typeface="Calibri"/>
                <a:cs typeface="Calibri"/>
                <a:sym typeface="Calibri"/>
              </a:rPr>
              <a:t>3. Test your commands with /plugin-name:command</a:t>
            </a:r>
            <a:endParaRPr/>
          </a:p>
        </p:txBody>
      </p:sp>
      <p:sp>
        <p:nvSpPr>
          <p:cNvPr id="560" name="Google Shape;560;p46"/>
          <p:cNvSpPr txBox="1"/>
          <p:nvPr/>
        </p:nvSpPr>
        <p:spPr>
          <a:xfrm>
            <a:off x="1097280" y="4172989"/>
            <a:ext cx="69494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rgbClr val="141413"/>
                </a:solidFill>
                <a:latin typeface="Calibri"/>
                <a:ea typeface="Calibri"/>
                <a:cs typeface="Calibri"/>
                <a:sym typeface="Calibri"/>
              </a:rPr>
              <a:t>4. Check /help to verify commands appear</a:t>
            </a:r>
            <a:endParaRPr/>
          </a:p>
        </p:txBody>
      </p:sp>
      <p:sp>
        <p:nvSpPr>
          <p:cNvPr id="561" name="Google Shape;561;p46"/>
          <p:cNvSpPr txBox="1"/>
          <p:nvPr/>
        </p:nvSpPr>
        <p:spPr>
          <a:xfrm>
            <a:off x="1097280" y="4447309"/>
            <a:ext cx="69494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rgbClr val="141413"/>
                </a:solidFill>
                <a:latin typeface="Calibri"/>
                <a:ea typeface="Calibri"/>
                <a:cs typeface="Calibri"/>
                <a:sym typeface="Calibri"/>
              </a:rPr>
              <a:t>5. Verify hooks trigger correctly</a:t>
            </a:r>
            <a:endParaRPr/>
          </a:p>
        </p:txBody>
      </p:sp>
      <p:sp>
        <p:nvSpPr>
          <p:cNvPr id="562" name="Google Shape;562;p46"/>
          <p:cNvSpPr txBox="1"/>
          <p:nvPr/>
        </p:nvSpPr>
        <p:spPr>
          <a:xfrm>
            <a:off x="1097280" y="4721629"/>
            <a:ext cx="694944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rgbClr val="141413"/>
                </a:solidFill>
                <a:latin typeface="Calibri"/>
                <a:ea typeface="Calibri"/>
                <a:cs typeface="Calibri"/>
                <a:sym typeface="Calibri"/>
              </a:rPr>
              <a:t>6. Repeat until ready to distribute</a:t>
            </a:r>
            <a:endParaRPr/>
          </a:p>
        </p:txBody>
      </p:sp>
      <p:sp>
        <p:nvSpPr>
          <p:cNvPr id="563" name="Google Shape;563;p46"/>
          <p:cNvSpPr/>
          <p:nvPr/>
        </p:nvSpPr>
        <p:spPr>
          <a:xfrm>
            <a:off x="6906491" y="1330036"/>
            <a:ext cx="1780308" cy="3059084"/>
          </a:xfrm>
          <a:prstGeom prst="rect">
            <a:avLst/>
          </a:prstGeom>
          <a:solidFill>
            <a:schemeClr val="lt1"/>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141413"/>
                </a:solidFill>
                <a:latin typeface="Calibri"/>
                <a:ea typeface="Calibri"/>
                <a:cs typeface="Calibri"/>
                <a:sym typeface="Calibri"/>
              </a:rPr>
              <a:t>💡 Tip: Load multiple plugins for testing: claude --plugin-dir ./plugin1 --plugin-dir ./plugin2</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568" name="Shape 568"/>
        <p:cNvGrpSpPr/>
        <p:nvPr/>
      </p:nvGrpSpPr>
      <p:grpSpPr>
        <a:xfrm>
          <a:off x="0" y="0"/>
          <a:ext cx="0" cy="0"/>
          <a:chOff x="0" y="0"/>
          <a:chExt cx="0" cy="0"/>
        </a:xfrm>
      </p:grpSpPr>
      <p:sp>
        <p:nvSpPr>
          <p:cNvPr id="569" name="Google Shape;569;p47"/>
          <p:cNvSpPr/>
          <p:nvPr/>
        </p:nvSpPr>
        <p:spPr>
          <a:xfrm>
            <a:off x="0" y="0"/>
            <a:ext cx="2632364" cy="5143500"/>
          </a:xfrm>
          <a:prstGeom prst="rect">
            <a:avLst/>
          </a:prstGeom>
          <a:solidFill>
            <a:srgbClr val="788C5D"/>
          </a:solidFill>
          <a:ln cap="flat" cmpd="sng" w="9525">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0" name="Google Shape;570;p47"/>
          <p:cNvSpPr txBox="1"/>
          <p:nvPr/>
        </p:nvSpPr>
        <p:spPr>
          <a:xfrm>
            <a:off x="278911" y="3079865"/>
            <a:ext cx="2074542" cy="15696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Module 6:</a:t>
            </a:r>
            <a:endParaRPr sz="1800">
              <a:solidFill>
                <a:schemeClr val="lt1"/>
              </a:solidFill>
              <a:latin typeface="Calibri"/>
              <a:ea typeface="Calibri"/>
              <a:cs typeface="Calibri"/>
              <a:sym typeface="Calibri"/>
            </a:endParaRPr>
          </a:p>
          <a:p>
            <a:pPr indent="0" lvl="0" marL="0" marR="0" rtl="0" algn="ctr">
              <a:spcBef>
                <a:spcPts val="0"/>
              </a:spcBef>
              <a:spcAft>
                <a:spcPts val="0"/>
              </a:spcAft>
              <a:buNone/>
            </a:pPr>
            <a:r>
              <a:rPr b="1" lang="en-US" sz="3200">
                <a:solidFill>
                  <a:schemeClr val="lt1"/>
                </a:solidFill>
                <a:latin typeface="Calibri"/>
                <a:ea typeface="Calibri"/>
                <a:cs typeface="Calibri"/>
                <a:sym typeface="Calibri"/>
              </a:rPr>
              <a:t>Knowledge</a:t>
            </a:r>
            <a:endParaRPr sz="1800">
              <a:solidFill>
                <a:schemeClr val="lt1"/>
              </a:solidFill>
              <a:latin typeface="Calibri"/>
              <a:ea typeface="Calibri"/>
              <a:cs typeface="Calibri"/>
              <a:sym typeface="Calibri"/>
            </a:endParaRPr>
          </a:p>
          <a:p>
            <a:pPr indent="0" lvl="0" marL="0" marR="0" rtl="0" algn="ctr">
              <a:spcBef>
                <a:spcPts val="0"/>
              </a:spcBef>
              <a:spcAft>
                <a:spcPts val="0"/>
              </a:spcAft>
              <a:buNone/>
            </a:pPr>
            <a:r>
              <a:rPr b="1" lang="en-US" sz="3200">
                <a:solidFill>
                  <a:schemeClr val="lt1"/>
                </a:solidFill>
                <a:latin typeface="Calibri"/>
                <a:ea typeface="Calibri"/>
                <a:cs typeface="Calibri"/>
                <a:sym typeface="Calibri"/>
              </a:rPr>
              <a:t>Check</a:t>
            </a:r>
            <a:endParaRPr/>
          </a:p>
        </p:txBody>
      </p:sp>
      <p:pic>
        <p:nvPicPr>
          <p:cNvPr descr="Brain with solid fill" id="571" name="Google Shape;571;p47"/>
          <p:cNvPicPr preferRelativeResize="0"/>
          <p:nvPr/>
        </p:nvPicPr>
        <p:blipFill rotWithShape="1">
          <a:blip r:embed="rId3">
            <a:alphaModFix/>
          </a:blip>
          <a:srcRect b="0" l="0" r="0" t="0"/>
          <a:stretch/>
        </p:blipFill>
        <p:spPr>
          <a:xfrm>
            <a:off x="969818" y="2376055"/>
            <a:ext cx="703810" cy="703810"/>
          </a:xfrm>
          <a:prstGeom prst="rect">
            <a:avLst/>
          </a:prstGeom>
          <a:noFill/>
          <a:ln>
            <a:noFill/>
          </a:ln>
        </p:spPr>
      </p:pic>
      <p:sp>
        <p:nvSpPr>
          <p:cNvPr id="572" name="Google Shape;572;p47"/>
          <p:cNvSpPr txBox="1"/>
          <p:nvPr/>
        </p:nvSpPr>
        <p:spPr>
          <a:xfrm>
            <a:off x="3129308" y="834391"/>
            <a:ext cx="531890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41413"/>
                </a:solidFill>
                <a:latin typeface="Calibri"/>
                <a:ea typeface="Calibri"/>
                <a:cs typeface="Calibri"/>
                <a:sym typeface="Calibri"/>
              </a:rPr>
              <a:t>Where should the commands/, agents/, and skills/ directories be located in a plugin?</a:t>
            </a:r>
            <a:endParaRPr/>
          </a:p>
        </p:txBody>
      </p:sp>
      <p:sp>
        <p:nvSpPr>
          <p:cNvPr id="573" name="Google Shape;573;p47"/>
          <p:cNvSpPr txBox="1"/>
          <p:nvPr/>
        </p:nvSpPr>
        <p:spPr>
          <a:xfrm>
            <a:off x="3129308" y="2571750"/>
            <a:ext cx="531890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41413"/>
                </a:solidFill>
                <a:latin typeface="Calibri"/>
                <a:ea typeface="Calibri"/>
                <a:cs typeface="Calibri"/>
                <a:sym typeface="Calibri"/>
              </a:rPr>
              <a:t>What flag allows you to test a plugin without installing it?</a:t>
            </a:r>
            <a:endParaRPr/>
          </a:p>
        </p:txBody>
      </p:sp>
      <p:sp>
        <p:nvSpPr>
          <p:cNvPr id="574" name="Google Shape;574;p47"/>
          <p:cNvSpPr txBox="1"/>
          <p:nvPr/>
        </p:nvSpPr>
        <p:spPr>
          <a:xfrm>
            <a:off x="3312188" y="1292458"/>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36454F"/>
                </a:solidFill>
                <a:latin typeface="Calibri"/>
                <a:ea typeface="Calibri"/>
                <a:cs typeface="Calibri"/>
                <a:sym typeface="Calibri"/>
              </a:rPr>
              <a:t>A) Inside .claude-plugin/ directory</a:t>
            </a:r>
            <a:endParaRPr/>
          </a:p>
        </p:txBody>
      </p:sp>
      <p:sp>
        <p:nvSpPr>
          <p:cNvPr id="575" name="Google Shape;575;p47"/>
          <p:cNvSpPr txBox="1"/>
          <p:nvPr/>
        </p:nvSpPr>
        <p:spPr>
          <a:xfrm>
            <a:off x="3312188" y="1566778"/>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788C5D"/>
                </a:solidFill>
                <a:latin typeface="Calibri"/>
                <a:ea typeface="Calibri"/>
                <a:cs typeface="Calibri"/>
                <a:sym typeface="Calibri"/>
              </a:rPr>
              <a:t>B) At the plugin root level</a:t>
            </a:r>
            <a:endParaRPr/>
          </a:p>
        </p:txBody>
      </p:sp>
      <p:sp>
        <p:nvSpPr>
          <p:cNvPr id="576" name="Google Shape;576;p47"/>
          <p:cNvSpPr txBox="1"/>
          <p:nvPr/>
        </p:nvSpPr>
        <p:spPr>
          <a:xfrm>
            <a:off x="3312188" y="1841097"/>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36454F"/>
                </a:solidFill>
                <a:latin typeface="Calibri"/>
                <a:ea typeface="Calibri"/>
                <a:cs typeface="Calibri"/>
                <a:sym typeface="Calibri"/>
              </a:rPr>
              <a:t>C) In a src/ directory</a:t>
            </a:r>
            <a:endParaRPr/>
          </a:p>
        </p:txBody>
      </p:sp>
      <p:sp>
        <p:nvSpPr>
          <p:cNvPr id="577" name="Google Shape;577;p47"/>
          <p:cNvSpPr txBox="1"/>
          <p:nvPr/>
        </p:nvSpPr>
        <p:spPr>
          <a:xfrm>
            <a:off x="3312188" y="2115417"/>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36454F"/>
                </a:solidFill>
                <a:latin typeface="Calibri"/>
                <a:ea typeface="Calibri"/>
                <a:cs typeface="Calibri"/>
                <a:sym typeface="Calibri"/>
              </a:rPr>
              <a:t>D) Inside .claude/ directory</a:t>
            </a:r>
            <a:endParaRPr/>
          </a:p>
        </p:txBody>
      </p:sp>
      <p:sp>
        <p:nvSpPr>
          <p:cNvPr id="578" name="Google Shape;578;p47"/>
          <p:cNvSpPr txBox="1"/>
          <p:nvPr/>
        </p:nvSpPr>
        <p:spPr>
          <a:xfrm>
            <a:off x="3312188" y="3029817"/>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36454F"/>
                </a:solidFill>
                <a:latin typeface="Calibri"/>
                <a:ea typeface="Calibri"/>
                <a:cs typeface="Calibri"/>
                <a:sym typeface="Calibri"/>
              </a:rPr>
              <a:t>A) --test-plugin</a:t>
            </a:r>
            <a:endParaRPr/>
          </a:p>
        </p:txBody>
      </p:sp>
      <p:sp>
        <p:nvSpPr>
          <p:cNvPr id="579" name="Google Shape;579;p47"/>
          <p:cNvSpPr txBox="1"/>
          <p:nvPr/>
        </p:nvSpPr>
        <p:spPr>
          <a:xfrm>
            <a:off x="3312188" y="3304137"/>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36454F"/>
                </a:solidFill>
                <a:latin typeface="Calibri"/>
                <a:ea typeface="Calibri"/>
                <a:cs typeface="Calibri"/>
                <a:sym typeface="Calibri"/>
              </a:rPr>
              <a:t>B) --load-plugin</a:t>
            </a:r>
            <a:endParaRPr/>
          </a:p>
        </p:txBody>
      </p:sp>
      <p:sp>
        <p:nvSpPr>
          <p:cNvPr id="580" name="Google Shape;580;p47"/>
          <p:cNvSpPr txBox="1"/>
          <p:nvPr/>
        </p:nvSpPr>
        <p:spPr>
          <a:xfrm>
            <a:off x="3312188" y="3578457"/>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788C5D"/>
                </a:solidFill>
                <a:latin typeface="Calibri"/>
                <a:ea typeface="Calibri"/>
                <a:cs typeface="Calibri"/>
                <a:sym typeface="Calibri"/>
              </a:rPr>
              <a:t>C) --plugin-dir</a:t>
            </a:r>
            <a:endParaRPr/>
          </a:p>
        </p:txBody>
      </p:sp>
      <p:sp>
        <p:nvSpPr>
          <p:cNvPr id="581" name="Google Shape;581;p47"/>
          <p:cNvSpPr txBox="1"/>
          <p:nvPr/>
        </p:nvSpPr>
        <p:spPr>
          <a:xfrm>
            <a:off x="3312188" y="3852777"/>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36454F"/>
                </a:solidFill>
                <a:latin typeface="Calibri"/>
                <a:ea typeface="Calibri"/>
                <a:cs typeface="Calibri"/>
                <a:sym typeface="Calibri"/>
              </a:rPr>
              <a:t>D) --dev-mode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586" name="Shape 586"/>
        <p:cNvGrpSpPr/>
        <p:nvPr/>
      </p:nvGrpSpPr>
      <p:grpSpPr>
        <a:xfrm>
          <a:off x="0" y="0"/>
          <a:ext cx="0" cy="0"/>
          <a:chOff x="0" y="0"/>
          <a:chExt cx="0" cy="0"/>
        </a:xfrm>
      </p:grpSpPr>
      <p:sp>
        <p:nvSpPr>
          <p:cNvPr id="587" name="Google Shape;587;p48"/>
          <p:cNvSpPr txBox="1"/>
          <p:nvPr/>
        </p:nvSpPr>
        <p:spPr>
          <a:xfrm>
            <a:off x="457200" y="502920"/>
            <a:ext cx="353032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41413"/>
                </a:solidFill>
                <a:latin typeface="Calibri"/>
                <a:ea typeface="Calibri"/>
                <a:cs typeface="Calibri"/>
                <a:sym typeface="Calibri"/>
              </a:rPr>
              <a:t>Module 6 Summary</a:t>
            </a:r>
            <a:endParaRPr/>
          </a:p>
        </p:txBody>
      </p:sp>
      <p:sp>
        <p:nvSpPr>
          <p:cNvPr id="588" name="Google Shape;588;p48"/>
          <p:cNvSpPr txBox="1"/>
          <p:nvPr/>
        </p:nvSpPr>
        <p:spPr>
          <a:xfrm>
            <a:off x="457200" y="1051560"/>
            <a:ext cx="17027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36454F"/>
                </a:solidFill>
                <a:latin typeface="Calibri"/>
                <a:ea typeface="Calibri"/>
                <a:cs typeface="Calibri"/>
                <a:sym typeface="Calibri"/>
              </a:rPr>
              <a:t>Creating Plugins</a:t>
            </a:r>
            <a:endParaRPr sz="1800">
              <a:solidFill>
                <a:schemeClr val="dk1"/>
              </a:solidFill>
              <a:latin typeface="Calibri"/>
              <a:ea typeface="Calibri"/>
              <a:cs typeface="Calibri"/>
              <a:sym typeface="Calibri"/>
            </a:endParaRPr>
          </a:p>
        </p:txBody>
      </p:sp>
      <p:sp>
        <p:nvSpPr>
          <p:cNvPr id="589" name="Google Shape;589;p48"/>
          <p:cNvSpPr txBox="1"/>
          <p:nvPr/>
        </p:nvSpPr>
        <p:spPr>
          <a:xfrm>
            <a:off x="45720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Key Takeaways</a:t>
            </a:r>
            <a:endParaRPr/>
          </a:p>
        </p:txBody>
      </p:sp>
      <p:sp>
        <p:nvSpPr>
          <p:cNvPr id="590" name="Google Shape;590;p48"/>
          <p:cNvSpPr txBox="1"/>
          <p:nvPr/>
        </p:nvSpPr>
        <p:spPr>
          <a:xfrm>
            <a:off x="457200" y="2103120"/>
            <a:ext cx="5389418" cy="271869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41413"/>
                </a:solidFill>
                <a:latin typeface="Calibri"/>
                <a:ea typeface="Calibri"/>
                <a:cs typeface="Calibri"/>
                <a:sym typeface="Calibri"/>
              </a:rPr>
              <a:t>• Plugin structure: .claude-plugin/ for manifest, other directories at root level</a:t>
            </a:r>
            <a:endParaRPr/>
          </a:p>
          <a:p>
            <a:pPr indent="0" lvl="0" marL="0" marR="0" rtl="0" algn="l">
              <a:spcBef>
                <a:spcPts val="800"/>
              </a:spcBef>
              <a:spcAft>
                <a:spcPts val="0"/>
              </a:spcAft>
              <a:buNone/>
            </a:pPr>
            <a:r>
              <a:rPr lang="en-US" sz="1600">
                <a:solidFill>
                  <a:srgbClr val="141413"/>
                </a:solidFill>
                <a:latin typeface="Calibri"/>
                <a:ea typeface="Calibri"/>
                <a:cs typeface="Calibri"/>
                <a:sym typeface="Calibri"/>
              </a:rPr>
              <a:t>• Manifest requires: name, description, version; other fields optional</a:t>
            </a:r>
            <a:endParaRPr/>
          </a:p>
          <a:p>
            <a:pPr indent="0" lvl="0" marL="0" marR="0" rtl="0" algn="l">
              <a:spcBef>
                <a:spcPts val="800"/>
              </a:spcBef>
              <a:spcAft>
                <a:spcPts val="0"/>
              </a:spcAft>
              <a:buNone/>
            </a:pPr>
            <a:r>
              <a:rPr lang="en-US" sz="1600">
                <a:solidFill>
                  <a:srgbClr val="141413"/>
                </a:solidFill>
                <a:latin typeface="Calibri"/>
                <a:ea typeface="Calibri"/>
                <a:cs typeface="Calibri"/>
                <a:sym typeface="Calibri"/>
              </a:rPr>
              <a:t>• commands/ for user-invoked skills, skills/ for auto-invoked agent skills</a:t>
            </a:r>
            <a:endParaRPr/>
          </a:p>
          <a:p>
            <a:pPr indent="0" lvl="0" marL="0" marR="0" rtl="0" algn="l">
              <a:spcBef>
                <a:spcPts val="800"/>
              </a:spcBef>
              <a:spcAft>
                <a:spcPts val="0"/>
              </a:spcAft>
              <a:buNone/>
            </a:pPr>
            <a:r>
              <a:rPr lang="en-US" sz="1600">
                <a:solidFill>
                  <a:srgbClr val="141413"/>
                </a:solidFill>
                <a:latin typeface="Calibri"/>
                <a:ea typeface="Calibri"/>
                <a:cs typeface="Calibri"/>
                <a:sym typeface="Calibri"/>
              </a:rPr>
              <a:t>• Test with --plugin-dir flag for rapid iteration without installation</a:t>
            </a:r>
            <a:endParaRPr/>
          </a:p>
          <a:p>
            <a:pPr indent="0" lvl="0" marL="0" marR="0" rtl="0" algn="l">
              <a:spcBef>
                <a:spcPts val="800"/>
              </a:spcBef>
              <a:spcAft>
                <a:spcPts val="0"/>
              </a:spcAft>
              <a:buNone/>
            </a:pPr>
            <a:r>
              <a:rPr lang="en-US" sz="1600">
                <a:solidFill>
                  <a:srgbClr val="141413"/>
                </a:solidFill>
                <a:latin typeface="Calibri"/>
                <a:ea typeface="Calibri"/>
                <a:cs typeface="Calibri"/>
                <a:sym typeface="Calibri"/>
              </a:rPr>
              <a:t>• Restart Claude Code after making changes to reload plugin</a:t>
            </a:r>
            <a:endParaRPr/>
          </a:p>
        </p:txBody>
      </p:sp>
      <p:sp>
        <p:nvSpPr>
          <p:cNvPr id="591" name="Google Shape;591;p48"/>
          <p:cNvSpPr/>
          <p:nvPr/>
        </p:nvSpPr>
        <p:spPr>
          <a:xfrm>
            <a:off x="6511636" y="0"/>
            <a:ext cx="2632364" cy="5143500"/>
          </a:xfrm>
          <a:prstGeom prst="rect">
            <a:avLst/>
          </a:prstGeom>
          <a:solidFill>
            <a:srgbClr val="D97757"/>
          </a:solidFill>
          <a:ln cap="flat" cmpd="sng" w="9525">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Key with solid fill" id="592" name="Google Shape;592;p48"/>
          <p:cNvPicPr preferRelativeResize="0"/>
          <p:nvPr/>
        </p:nvPicPr>
        <p:blipFill rotWithShape="1">
          <a:blip r:embed="rId3">
            <a:alphaModFix/>
          </a:blip>
          <a:srcRect b="0" l="0" r="0" t="0"/>
          <a:stretch/>
        </p:blipFill>
        <p:spPr>
          <a:xfrm>
            <a:off x="7370618" y="502920"/>
            <a:ext cx="914400" cy="9144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9BCC"/>
        </a:solidFill>
      </p:bgPr>
    </p:bg>
    <p:spTree>
      <p:nvGrpSpPr>
        <p:cNvPr id="597" name="Shape 597"/>
        <p:cNvGrpSpPr/>
        <p:nvPr/>
      </p:nvGrpSpPr>
      <p:grpSpPr>
        <a:xfrm>
          <a:off x="0" y="0"/>
          <a:ext cx="0" cy="0"/>
          <a:chOff x="0" y="0"/>
          <a:chExt cx="0" cy="0"/>
        </a:xfrm>
      </p:grpSpPr>
      <p:sp>
        <p:nvSpPr>
          <p:cNvPr id="598" name="Google Shape;598;p49"/>
          <p:cNvSpPr txBox="1"/>
          <p:nvPr/>
        </p:nvSpPr>
        <p:spPr>
          <a:xfrm>
            <a:off x="609600" y="655320"/>
            <a:ext cx="8178906"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chemeClr val="lt1"/>
                </a:solidFill>
                <a:latin typeface="Calibri"/>
                <a:ea typeface="Calibri"/>
                <a:cs typeface="Calibri"/>
                <a:sym typeface="Calibri"/>
              </a:rPr>
              <a:t>Module 7: Lab: Creating a Plugin with Custom Skill</a:t>
            </a:r>
            <a:endParaRPr/>
          </a:p>
        </p:txBody>
      </p:sp>
      <p:sp>
        <p:nvSpPr>
          <p:cNvPr id="599" name="Google Shape;599;p49"/>
          <p:cNvSpPr txBox="1"/>
          <p:nvPr/>
        </p:nvSpPr>
        <p:spPr>
          <a:xfrm>
            <a:off x="609600" y="1203960"/>
            <a:ext cx="212019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Hands-On Exercise</a:t>
            </a:r>
            <a:endParaRPr/>
          </a:p>
        </p:txBody>
      </p:sp>
      <p:sp>
        <p:nvSpPr>
          <p:cNvPr id="600" name="Google Shape;600;p49"/>
          <p:cNvSpPr txBox="1"/>
          <p:nvPr/>
        </p:nvSpPr>
        <p:spPr>
          <a:xfrm>
            <a:off x="609600" y="1798320"/>
            <a:ext cx="3506281"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 Create plugin directory structure</a:t>
            </a:r>
            <a:endParaRPr/>
          </a:p>
          <a:p>
            <a:pPr indent="0" lvl="0" marL="0" marR="0" rtl="0" algn="l">
              <a:spcBef>
                <a:spcPts val="0"/>
              </a:spcBef>
              <a:spcAft>
                <a:spcPts val="0"/>
              </a:spcAft>
              <a:buNone/>
            </a:pPr>
            <a:r>
              <a:rPr lang="en-US" sz="1600">
                <a:solidFill>
                  <a:schemeClr val="lt1"/>
                </a:solidFill>
                <a:latin typeface="Calibri"/>
                <a:ea typeface="Calibri"/>
                <a:cs typeface="Calibri"/>
                <a:sym typeface="Calibri"/>
              </a:rPr>
              <a:t>• Write a plugin manifest from scratch</a:t>
            </a:r>
            <a:endParaRPr/>
          </a:p>
          <a:p>
            <a:pPr indent="0" lvl="0" marL="0" marR="0" rtl="0" algn="l">
              <a:spcBef>
                <a:spcPts val="0"/>
              </a:spcBef>
              <a:spcAft>
                <a:spcPts val="0"/>
              </a:spcAft>
              <a:buNone/>
            </a:pPr>
            <a:r>
              <a:rPr lang="en-US" sz="1600">
                <a:solidFill>
                  <a:schemeClr val="lt1"/>
                </a:solidFill>
                <a:latin typeface="Calibri"/>
                <a:ea typeface="Calibri"/>
                <a:cs typeface="Calibri"/>
                <a:sym typeface="Calibri"/>
              </a:rPr>
              <a:t>• Add a custom skill to the plugin</a:t>
            </a:r>
            <a:endParaRPr/>
          </a:p>
          <a:p>
            <a:pPr indent="0" lvl="0" marL="0" marR="0" rtl="0" algn="l">
              <a:spcBef>
                <a:spcPts val="0"/>
              </a:spcBef>
              <a:spcAft>
                <a:spcPts val="0"/>
              </a:spcAft>
              <a:buNone/>
            </a:pPr>
            <a:r>
              <a:rPr lang="en-US" sz="1600">
                <a:solidFill>
                  <a:schemeClr val="lt1"/>
                </a:solidFill>
                <a:latin typeface="Calibri"/>
                <a:ea typeface="Calibri"/>
                <a:cs typeface="Calibri"/>
                <a:sym typeface="Calibri"/>
              </a:rPr>
              <a:t>• Test the plugin locally with --plugin-dir</a:t>
            </a:r>
            <a:endParaRPr sz="1800">
              <a:solidFill>
                <a:schemeClr val="lt1"/>
              </a:solidFill>
              <a:latin typeface="Calibri"/>
              <a:ea typeface="Calibri"/>
              <a:cs typeface="Calibri"/>
              <a:sym typeface="Calibri"/>
            </a:endParaRPr>
          </a:p>
          <a:p>
            <a:pPr indent="0" lvl="0" marL="0" marR="0" rtl="0" algn="l">
              <a:spcBef>
                <a:spcPts val="0"/>
              </a:spcBef>
              <a:spcAft>
                <a:spcPts val="0"/>
              </a:spcAft>
              <a:buNone/>
            </a:pPr>
            <a:r>
              <a:rPr lang="en-US" sz="1600">
                <a:solidFill>
                  <a:schemeClr val="lt1"/>
                </a:solidFill>
                <a:latin typeface="Calibri"/>
                <a:ea typeface="Calibri"/>
                <a:cs typeface="Calibri"/>
                <a:sym typeface="Calibri"/>
              </a:rPr>
              <a:t>• Verify skill invocation and behavior</a:t>
            </a:r>
            <a:endParaRPr/>
          </a:p>
        </p:txBody>
      </p:sp>
      <p:sp>
        <p:nvSpPr>
          <p:cNvPr id="601" name="Google Shape;601;p49"/>
          <p:cNvSpPr/>
          <p:nvPr/>
        </p:nvSpPr>
        <p:spPr>
          <a:xfrm>
            <a:off x="7467600" y="4541520"/>
            <a:ext cx="1371600" cy="457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 30 minutes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06" name="Shape 606"/>
        <p:cNvGrpSpPr/>
        <p:nvPr/>
      </p:nvGrpSpPr>
      <p:grpSpPr>
        <a:xfrm>
          <a:off x="0" y="0"/>
          <a:ext cx="0" cy="0"/>
          <a:chOff x="0" y="0"/>
          <a:chExt cx="0" cy="0"/>
        </a:xfrm>
      </p:grpSpPr>
      <p:sp>
        <p:nvSpPr>
          <p:cNvPr id="607" name="Google Shape;607;p50"/>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41413"/>
                </a:solidFill>
                <a:latin typeface="Calibri"/>
                <a:ea typeface="Calibri"/>
                <a:cs typeface="Calibri"/>
                <a:sym typeface="Calibri"/>
              </a:rPr>
              <a:t>Lab Steps: Build Your First Plugin</a:t>
            </a:r>
            <a:endParaRPr/>
          </a:p>
        </p:txBody>
      </p:sp>
      <p:sp>
        <p:nvSpPr>
          <p:cNvPr id="608" name="Google Shape;608;p50"/>
          <p:cNvSpPr txBox="1"/>
          <p:nvPr/>
        </p:nvSpPr>
        <p:spPr>
          <a:xfrm>
            <a:off x="731520" y="1188720"/>
            <a:ext cx="2286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141413"/>
                </a:solidFill>
                <a:latin typeface="Calibri"/>
                <a:ea typeface="Calibri"/>
                <a:cs typeface="Calibri"/>
                <a:sym typeface="Calibri"/>
              </a:rPr>
              <a:t>Step 1: Create plugin directory</a:t>
            </a:r>
            <a:endParaRPr/>
          </a:p>
        </p:txBody>
      </p:sp>
      <p:sp>
        <p:nvSpPr>
          <p:cNvPr id="609" name="Google Shape;609;p50"/>
          <p:cNvSpPr/>
          <p:nvPr/>
        </p:nvSpPr>
        <p:spPr>
          <a:xfrm>
            <a:off x="3108960" y="1188720"/>
            <a:ext cx="3657600" cy="27432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00">
                <a:solidFill>
                  <a:srgbClr val="FFFFFF"/>
                </a:solidFill>
                <a:latin typeface="Consolas"/>
                <a:ea typeface="Consolas"/>
                <a:cs typeface="Consolas"/>
                <a:sym typeface="Consolas"/>
              </a:rPr>
              <a:t>mkdir my-first-plugin &amp;&amp; mkdir my-first-plugin/.claude-plugin</a:t>
            </a:r>
            <a:endParaRPr/>
          </a:p>
        </p:txBody>
      </p:sp>
      <p:sp>
        <p:nvSpPr>
          <p:cNvPr id="610" name="Google Shape;610;p50"/>
          <p:cNvSpPr txBox="1"/>
          <p:nvPr/>
        </p:nvSpPr>
        <p:spPr>
          <a:xfrm>
            <a:off x="6858000" y="1188720"/>
            <a:ext cx="15544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Sets up basic structure</a:t>
            </a:r>
            <a:endParaRPr/>
          </a:p>
        </p:txBody>
      </p:sp>
      <p:sp>
        <p:nvSpPr>
          <p:cNvPr id="611" name="Google Shape;611;p50"/>
          <p:cNvSpPr txBox="1"/>
          <p:nvPr/>
        </p:nvSpPr>
        <p:spPr>
          <a:xfrm>
            <a:off x="731520" y="1783080"/>
            <a:ext cx="2286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141413"/>
                </a:solidFill>
                <a:latin typeface="Calibri"/>
                <a:ea typeface="Calibri"/>
                <a:cs typeface="Calibri"/>
                <a:sym typeface="Calibri"/>
              </a:rPr>
              <a:t>Step 2: Create manifest</a:t>
            </a:r>
            <a:endParaRPr/>
          </a:p>
        </p:txBody>
      </p:sp>
      <p:sp>
        <p:nvSpPr>
          <p:cNvPr id="612" name="Google Shape;612;p50"/>
          <p:cNvSpPr txBox="1"/>
          <p:nvPr/>
        </p:nvSpPr>
        <p:spPr>
          <a:xfrm>
            <a:off x="3108960" y="1783080"/>
            <a:ext cx="36576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100">
                <a:solidFill>
                  <a:srgbClr val="36454F"/>
                </a:solidFill>
                <a:latin typeface="Calibri"/>
                <a:ea typeface="Calibri"/>
                <a:cs typeface="Calibri"/>
                <a:sym typeface="Calibri"/>
              </a:rPr>
              <a:t>Create plugin.json with name, description, version</a:t>
            </a:r>
            <a:endParaRPr/>
          </a:p>
        </p:txBody>
      </p:sp>
      <p:sp>
        <p:nvSpPr>
          <p:cNvPr id="613" name="Google Shape;613;p50"/>
          <p:cNvSpPr txBox="1"/>
          <p:nvPr/>
        </p:nvSpPr>
        <p:spPr>
          <a:xfrm>
            <a:off x="6858000" y="1783080"/>
            <a:ext cx="15544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Define plugin identity</a:t>
            </a:r>
            <a:endParaRPr/>
          </a:p>
        </p:txBody>
      </p:sp>
      <p:sp>
        <p:nvSpPr>
          <p:cNvPr id="614" name="Google Shape;614;p50"/>
          <p:cNvSpPr txBox="1"/>
          <p:nvPr/>
        </p:nvSpPr>
        <p:spPr>
          <a:xfrm>
            <a:off x="731520" y="2377440"/>
            <a:ext cx="2286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141413"/>
                </a:solidFill>
                <a:latin typeface="Calibri"/>
                <a:ea typeface="Calibri"/>
                <a:cs typeface="Calibri"/>
                <a:sym typeface="Calibri"/>
              </a:rPr>
              <a:t>Step 3: Add skill directory</a:t>
            </a:r>
            <a:endParaRPr/>
          </a:p>
        </p:txBody>
      </p:sp>
      <p:sp>
        <p:nvSpPr>
          <p:cNvPr id="615" name="Google Shape;615;p50"/>
          <p:cNvSpPr/>
          <p:nvPr/>
        </p:nvSpPr>
        <p:spPr>
          <a:xfrm>
            <a:off x="3108960" y="2377440"/>
            <a:ext cx="3657600" cy="27432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00">
                <a:solidFill>
                  <a:srgbClr val="FFFFFF"/>
                </a:solidFill>
                <a:latin typeface="Consolas"/>
                <a:ea typeface="Consolas"/>
                <a:cs typeface="Consolas"/>
                <a:sym typeface="Consolas"/>
              </a:rPr>
              <a:t>mkdir -p my-first-plugin/skills/hello</a:t>
            </a:r>
            <a:endParaRPr/>
          </a:p>
        </p:txBody>
      </p:sp>
      <p:sp>
        <p:nvSpPr>
          <p:cNvPr id="616" name="Google Shape;616;p50"/>
          <p:cNvSpPr txBox="1"/>
          <p:nvPr/>
        </p:nvSpPr>
        <p:spPr>
          <a:xfrm>
            <a:off x="6858000" y="2377440"/>
            <a:ext cx="15544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Skills use directory/SKILL.md pattern</a:t>
            </a:r>
            <a:endParaRPr/>
          </a:p>
        </p:txBody>
      </p:sp>
      <p:sp>
        <p:nvSpPr>
          <p:cNvPr id="617" name="Google Shape;617;p50"/>
          <p:cNvSpPr txBox="1"/>
          <p:nvPr/>
        </p:nvSpPr>
        <p:spPr>
          <a:xfrm>
            <a:off x="731520" y="2971800"/>
            <a:ext cx="2286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141413"/>
                </a:solidFill>
                <a:latin typeface="Calibri"/>
                <a:ea typeface="Calibri"/>
                <a:cs typeface="Calibri"/>
                <a:sym typeface="Calibri"/>
              </a:rPr>
              <a:t>Step 4: Create SKILL.md</a:t>
            </a:r>
            <a:endParaRPr/>
          </a:p>
        </p:txBody>
      </p:sp>
      <p:sp>
        <p:nvSpPr>
          <p:cNvPr id="618" name="Google Shape;618;p50"/>
          <p:cNvSpPr txBox="1"/>
          <p:nvPr/>
        </p:nvSpPr>
        <p:spPr>
          <a:xfrm>
            <a:off x="3108960" y="2971800"/>
            <a:ext cx="36576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100">
                <a:solidFill>
                  <a:srgbClr val="36454F"/>
                </a:solidFill>
                <a:latin typeface="Calibri"/>
                <a:ea typeface="Calibri"/>
                <a:cs typeface="Calibri"/>
                <a:sym typeface="Calibri"/>
              </a:rPr>
              <a:t>Add frontmatter + instructions</a:t>
            </a:r>
            <a:endParaRPr/>
          </a:p>
        </p:txBody>
      </p:sp>
      <p:sp>
        <p:nvSpPr>
          <p:cNvPr id="619" name="Google Shape;619;p50"/>
          <p:cNvSpPr txBox="1"/>
          <p:nvPr/>
        </p:nvSpPr>
        <p:spPr>
          <a:xfrm>
            <a:off x="6858000" y="2971800"/>
            <a:ext cx="15544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description field + skill behavior</a:t>
            </a:r>
            <a:endParaRPr/>
          </a:p>
        </p:txBody>
      </p:sp>
      <p:sp>
        <p:nvSpPr>
          <p:cNvPr id="620" name="Google Shape;620;p50"/>
          <p:cNvSpPr txBox="1"/>
          <p:nvPr/>
        </p:nvSpPr>
        <p:spPr>
          <a:xfrm>
            <a:off x="731520" y="3566160"/>
            <a:ext cx="2286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141413"/>
                </a:solidFill>
                <a:latin typeface="Calibri"/>
                <a:ea typeface="Calibri"/>
                <a:cs typeface="Calibri"/>
                <a:sym typeface="Calibri"/>
              </a:rPr>
              <a:t>Step 5: Test with --plugin-dir</a:t>
            </a:r>
            <a:endParaRPr/>
          </a:p>
        </p:txBody>
      </p:sp>
      <p:sp>
        <p:nvSpPr>
          <p:cNvPr id="621" name="Google Shape;621;p50"/>
          <p:cNvSpPr/>
          <p:nvPr/>
        </p:nvSpPr>
        <p:spPr>
          <a:xfrm>
            <a:off x="3108960" y="3566160"/>
            <a:ext cx="3657600" cy="27432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00">
                <a:solidFill>
                  <a:srgbClr val="FFFFFF"/>
                </a:solidFill>
                <a:latin typeface="Consolas"/>
                <a:ea typeface="Consolas"/>
                <a:cs typeface="Consolas"/>
                <a:sym typeface="Consolas"/>
              </a:rPr>
              <a:t>claude --plugin-dir ./my-first-plugin</a:t>
            </a:r>
            <a:endParaRPr/>
          </a:p>
        </p:txBody>
      </p:sp>
      <p:sp>
        <p:nvSpPr>
          <p:cNvPr id="622" name="Google Shape;622;p50"/>
          <p:cNvSpPr txBox="1"/>
          <p:nvPr/>
        </p:nvSpPr>
        <p:spPr>
          <a:xfrm>
            <a:off x="6858000" y="3566160"/>
            <a:ext cx="15544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Load without installing</a:t>
            </a:r>
            <a:endParaRPr/>
          </a:p>
        </p:txBody>
      </p:sp>
      <p:sp>
        <p:nvSpPr>
          <p:cNvPr id="623" name="Google Shape;623;p50"/>
          <p:cNvSpPr txBox="1"/>
          <p:nvPr/>
        </p:nvSpPr>
        <p:spPr>
          <a:xfrm>
            <a:off x="731520" y="4160520"/>
            <a:ext cx="2286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141413"/>
                </a:solidFill>
                <a:latin typeface="Calibri"/>
                <a:ea typeface="Calibri"/>
                <a:cs typeface="Calibri"/>
                <a:sym typeface="Calibri"/>
              </a:rPr>
              <a:t>Step 6: Try your command</a:t>
            </a:r>
            <a:endParaRPr/>
          </a:p>
        </p:txBody>
      </p:sp>
      <p:sp>
        <p:nvSpPr>
          <p:cNvPr id="624" name="Google Shape;624;p50"/>
          <p:cNvSpPr/>
          <p:nvPr/>
        </p:nvSpPr>
        <p:spPr>
          <a:xfrm>
            <a:off x="3108960" y="4160520"/>
            <a:ext cx="3657600" cy="27432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000">
                <a:solidFill>
                  <a:srgbClr val="FFFFFF"/>
                </a:solidFill>
                <a:latin typeface="Consolas"/>
                <a:ea typeface="Consolas"/>
                <a:cs typeface="Consolas"/>
                <a:sym typeface="Consolas"/>
              </a:rPr>
              <a:t>/my-first-plugin:hello</a:t>
            </a:r>
            <a:endParaRPr/>
          </a:p>
        </p:txBody>
      </p:sp>
      <p:sp>
        <p:nvSpPr>
          <p:cNvPr id="625" name="Google Shape;625;p50"/>
          <p:cNvSpPr txBox="1"/>
          <p:nvPr/>
        </p:nvSpPr>
        <p:spPr>
          <a:xfrm>
            <a:off x="6858000" y="4160520"/>
            <a:ext cx="15544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Namespaced with plugin name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30" name="Shape 630"/>
        <p:cNvGrpSpPr/>
        <p:nvPr/>
      </p:nvGrpSpPr>
      <p:grpSpPr>
        <a:xfrm>
          <a:off x="0" y="0"/>
          <a:ext cx="0" cy="0"/>
          <a:chOff x="0" y="0"/>
          <a:chExt cx="0" cy="0"/>
        </a:xfrm>
      </p:grpSpPr>
      <p:sp>
        <p:nvSpPr>
          <p:cNvPr id="631" name="Google Shape;631;p51"/>
          <p:cNvSpPr/>
          <p:nvPr/>
        </p:nvSpPr>
        <p:spPr>
          <a:xfrm>
            <a:off x="0" y="0"/>
            <a:ext cx="2632364" cy="5143500"/>
          </a:xfrm>
          <a:prstGeom prst="rect">
            <a:avLst/>
          </a:prstGeom>
          <a:solidFill>
            <a:srgbClr val="788C5D"/>
          </a:solidFill>
          <a:ln cap="flat" cmpd="sng" w="9525">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2" name="Google Shape;632;p51"/>
          <p:cNvSpPr txBox="1"/>
          <p:nvPr/>
        </p:nvSpPr>
        <p:spPr>
          <a:xfrm>
            <a:off x="278911" y="3079865"/>
            <a:ext cx="2074542" cy="15696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Module 7:</a:t>
            </a:r>
            <a:endParaRPr sz="1800">
              <a:solidFill>
                <a:schemeClr val="lt1"/>
              </a:solidFill>
              <a:latin typeface="Calibri"/>
              <a:ea typeface="Calibri"/>
              <a:cs typeface="Calibri"/>
              <a:sym typeface="Calibri"/>
            </a:endParaRPr>
          </a:p>
          <a:p>
            <a:pPr indent="0" lvl="0" marL="0" marR="0" rtl="0" algn="ctr">
              <a:spcBef>
                <a:spcPts val="0"/>
              </a:spcBef>
              <a:spcAft>
                <a:spcPts val="0"/>
              </a:spcAft>
              <a:buNone/>
            </a:pPr>
            <a:r>
              <a:rPr b="1" lang="en-US" sz="3200">
                <a:solidFill>
                  <a:schemeClr val="lt1"/>
                </a:solidFill>
                <a:latin typeface="Calibri"/>
                <a:ea typeface="Calibri"/>
                <a:cs typeface="Calibri"/>
                <a:sym typeface="Calibri"/>
              </a:rPr>
              <a:t>Knowledge</a:t>
            </a:r>
            <a:endParaRPr sz="1800">
              <a:solidFill>
                <a:schemeClr val="lt1"/>
              </a:solidFill>
              <a:latin typeface="Calibri"/>
              <a:ea typeface="Calibri"/>
              <a:cs typeface="Calibri"/>
              <a:sym typeface="Calibri"/>
            </a:endParaRPr>
          </a:p>
          <a:p>
            <a:pPr indent="0" lvl="0" marL="0" marR="0" rtl="0" algn="ctr">
              <a:spcBef>
                <a:spcPts val="0"/>
              </a:spcBef>
              <a:spcAft>
                <a:spcPts val="0"/>
              </a:spcAft>
              <a:buNone/>
            </a:pPr>
            <a:r>
              <a:rPr b="1" lang="en-US" sz="3200">
                <a:solidFill>
                  <a:schemeClr val="lt1"/>
                </a:solidFill>
                <a:latin typeface="Calibri"/>
                <a:ea typeface="Calibri"/>
                <a:cs typeface="Calibri"/>
                <a:sym typeface="Calibri"/>
              </a:rPr>
              <a:t>Check</a:t>
            </a:r>
            <a:endParaRPr/>
          </a:p>
        </p:txBody>
      </p:sp>
      <p:pic>
        <p:nvPicPr>
          <p:cNvPr descr="Brain with solid fill" id="633" name="Google Shape;633;p51"/>
          <p:cNvPicPr preferRelativeResize="0"/>
          <p:nvPr/>
        </p:nvPicPr>
        <p:blipFill rotWithShape="1">
          <a:blip r:embed="rId3">
            <a:alphaModFix/>
          </a:blip>
          <a:srcRect b="0" l="0" r="0" t="0"/>
          <a:stretch/>
        </p:blipFill>
        <p:spPr>
          <a:xfrm>
            <a:off x="969818" y="2376055"/>
            <a:ext cx="703810" cy="703810"/>
          </a:xfrm>
          <a:prstGeom prst="rect">
            <a:avLst/>
          </a:prstGeom>
          <a:noFill/>
          <a:ln>
            <a:noFill/>
          </a:ln>
        </p:spPr>
      </p:pic>
      <p:sp>
        <p:nvSpPr>
          <p:cNvPr id="634" name="Google Shape;634;p51"/>
          <p:cNvSpPr txBox="1"/>
          <p:nvPr/>
        </p:nvSpPr>
        <p:spPr>
          <a:xfrm>
            <a:off x="3129308" y="834391"/>
            <a:ext cx="531890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41413"/>
                </a:solidFill>
                <a:latin typeface="Calibri"/>
                <a:ea typeface="Calibri"/>
                <a:cs typeface="Calibri"/>
                <a:sym typeface="Calibri"/>
              </a:rPr>
              <a:t>What is the correct pattern for creating a skill in a plugin?</a:t>
            </a:r>
            <a:endParaRPr/>
          </a:p>
        </p:txBody>
      </p:sp>
      <p:sp>
        <p:nvSpPr>
          <p:cNvPr id="635" name="Google Shape;635;p51"/>
          <p:cNvSpPr txBox="1"/>
          <p:nvPr/>
        </p:nvSpPr>
        <p:spPr>
          <a:xfrm>
            <a:off x="3312188" y="1291590"/>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36454F"/>
                </a:solidFill>
                <a:latin typeface="Calibri"/>
                <a:ea typeface="Calibri"/>
                <a:cs typeface="Calibri"/>
                <a:sym typeface="Calibri"/>
              </a:rPr>
              <a:t>A) skills/SKILL.md</a:t>
            </a:r>
            <a:endParaRPr sz="1800">
              <a:solidFill>
                <a:schemeClr val="dk1"/>
              </a:solidFill>
              <a:latin typeface="Calibri"/>
              <a:ea typeface="Calibri"/>
              <a:cs typeface="Calibri"/>
              <a:sym typeface="Calibri"/>
            </a:endParaRPr>
          </a:p>
        </p:txBody>
      </p:sp>
      <p:sp>
        <p:nvSpPr>
          <p:cNvPr id="636" name="Google Shape;636;p51"/>
          <p:cNvSpPr txBox="1"/>
          <p:nvPr/>
        </p:nvSpPr>
        <p:spPr>
          <a:xfrm>
            <a:off x="3312188" y="1565910"/>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788C5D"/>
                </a:solidFill>
                <a:latin typeface="Calibri"/>
                <a:ea typeface="Calibri"/>
                <a:cs typeface="Calibri"/>
                <a:sym typeface="Calibri"/>
              </a:rPr>
              <a:t>B) skills/skill-name/SKILL.md</a:t>
            </a:r>
            <a:endParaRPr/>
          </a:p>
        </p:txBody>
      </p:sp>
      <p:sp>
        <p:nvSpPr>
          <p:cNvPr id="637" name="Google Shape;637;p51"/>
          <p:cNvSpPr txBox="1"/>
          <p:nvPr/>
        </p:nvSpPr>
        <p:spPr>
          <a:xfrm>
            <a:off x="3312188" y="1840229"/>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36454F"/>
                </a:solidFill>
                <a:latin typeface="Calibri"/>
                <a:ea typeface="Calibri"/>
                <a:cs typeface="Calibri"/>
                <a:sym typeface="Calibri"/>
              </a:rPr>
              <a:t>C) commands/skill-name.md</a:t>
            </a:r>
            <a:endParaRPr/>
          </a:p>
        </p:txBody>
      </p:sp>
      <p:sp>
        <p:nvSpPr>
          <p:cNvPr id="638" name="Google Shape;638;p51"/>
          <p:cNvSpPr txBox="1"/>
          <p:nvPr/>
        </p:nvSpPr>
        <p:spPr>
          <a:xfrm>
            <a:off x="3312188" y="2114549"/>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36454F"/>
                </a:solidFill>
                <a:latin typeface="Calibri"/>
                <a:ea typeface="Calibri"/>
                <a:cs typeface="Calibri"/>
                <a:sym typeface="Calibri"/>
              </a:rPr>
              <a:t>D) .claude-plugin/skills/SKILL.md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43" name="Shape 643"/>
        <p:cNvGrpSpPr/>
        <p:nvPr/>
      </p:nvGrpSpPr>
      <p:grpSpPr>
        <a:xfrm>
          <a:off x="0" y="0"/>
          <a:ext cx="0" cy="0"/>
          <a:chOff x="0" y="0"/>
          <a:chExt cx="0" cy="0"/>
        </a:xfrm>
      </p:grpSpPr>
      <p:sp>
        <p:nvSpPr>
          <p:cNvPr id="644" name="Google Shape;644;p52"/>
          <p:cNvSpPr txBox="1"/>
          <p:nvPr/>
        </p:nvSpPr>
        <p:spPr>
          <a:xfrm>
            <a:off x="457200" y="502920"/>
            <a:ext cx="353032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41413"/>
                </a:solidFill>
                <a:latin typeface="Calibri"/>
                <a:ea typeface="Calibri"/>
                <a:cs typeface="Calibri"/>
                <a:sym typeface="Calibri"/>
              </a:rPr>
              <a:t>Module 8 Summary</a:t>
            </a:r>
            <a:endParaRPr/>
          </a:p>
        </p:txBody>
      </p:sp>
      <p:sp>
        <p:nvSpPr>
          <p:cNvPr id="645" name="Google Shape;645;p52"/>
          <p:cNvSpPr txBox="1"/>
          <p:nvPr/>
        </p:nvSpPr>
        <p:spPr>
          <a:xfrm>
            <a:off x="457200" y="1051560"/>
            <a:ext cx="206338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36454F"/>
                </a:solidFill>
                <a:latin typeface="Calibri"/>
                <a:ea typeface="Calibri"/>
                <a:cs typeface="Calibri"/>
                <a:sym typeface="Calibri"/>
              </a:rPr>
              <a:t>Lab: Creating Plugin</a:t>
            </a:r>
            <a:endParaRPr/>
          </a:p>
        </p:txBody>
      </p:sp>
      <p:sp>
        <p:nvSpPr>
          <p:cNvPr id="646" name="Google Shape;646;p52"/>
          <p:cNvSpPr txBox="1"/>
          <p:nvPr/>
        </p:nvSpPr>
        <p:spPr>
          <a:xfrm>
            <a:off x="45720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Key Takeaways</a:t>
            </a:r>
            <a:endParaRPr/>
          </a:p>
        </p:txBody>
      </p:sp>
      <p:sp>
        <p:nvSpPr>
          <p:cNvPr id="647" name="Google Shape;647;p52"/>
          <p:cNvSpPr txBox="1"/>
          <p:nvPr/>
        </p:nvSpPr>
        <p:spPr>
          <a:xfrm>
            <a:off x="457200" y="2103120"/>
            <a:ext cx="5389418" cy="2472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41413"/>
                </a:solidFill>
                <a:latin typeface="Calibri"/>
                <a:ea typeface="Calibri"/>
                <a:cs typeface="Calibri"/>
                <a:sym typeface="Calibri"/>
              </a:rPr>
              <a:t>• Plugin creation workflow: directory → manifest → skills → test</a:t>
            </a:r>
            <a:endParaRPr/>
          </a:p>
          <a:p>
            <a:pPr indent="0" lvl="0" marL="0" marR="0" rtl="0" algn="l">
              <a:spcBef>
                <a:spcPts val="800"/>
              </a:spcBef>
              <a:spcAft>
                <a:spcPts val="0"/>
              </a:spcAft>
              <a:buNone/>
            </a:pPr>
            <a:r>
              <a:rPr lang="en-US" sz="1600">
                <a:solidFill>
                  <a:srgbClr val="141413"/>
                </a:solidFill>
                <a:latin typeface="Calibri"/>
                <a:ea typeface="Calibri"/>
                <a:cs typeface="Calibri"/>
                <a:sym typeface="Calibri"/>
              </a:rPr>
              <a:t>• Skills follow directory/SKILL.md pattern where directory name = skill name</a:t>
            </a:r>
            <a:endParaRPr/>
          </a:p>
          <a:p>
            <a:pPr indent="0" lvl="0" marL="0" marR="0" rtl="0" algn="l">
              <a:spcBef>
                <a:spcPts val="800"/>
              </a:spcBef>
              <a:spcAft>
                <a:spcPts val="0"/>
              </a:spcAft>
              <a:buNone/>
            </a:pPr>
            <a:r>
              <a:rPr lang="en-US" sz="1600">
                <a:solidFill>
                  <a:srgbClr val="141413"/>
                </a:solidFill>
                <a:latin typeface="Calibri"/>
                <a:ea typeface="Calibri"/>
                <a:cs typeface="Calibri"/>
                <a:sym typeface="Calibri"/>
              </a:rPr>
              <a:t>• Manifest minimum: name, description, version fields</a:t>
            </a:r>
            <a:endParaRPr/>
          </a:p>
          <a:p>
            <a:pPr indent="0" lvl="0" marL="0" marR="0" rtl="0" algn="l">
              <a:spcBef>
                <a:spcPts val="800"/>
              </a:spcBef>
              <a:spcAft>
                <a:spcPts val="0"/>
              </a:spcAft>
              <a:buNone/>
            </a:pPr>
            <a:r>
              <a:rPr lang="en-US" sz="1600">
                <a:solidFill>
                  <a:srgbClr val="141413"/>
                </a:solidFill>
                <a:latin typeface="Calibri"/>
                <a:ea typeface="Calibri"/>
                <a:cs typeface="Calibri"/>
                <a:sym typeface="Calibri"/>
              </a:rPr>
              <a:t>• Test immediately with --plugin-dir before distributing</a:t>
            </a:r>
            <a:endParaRPr/>
          </a:p>
          <a:p>
            <a:pPr indent="0" lvl="0" marL="0" marR="0" rtl="0" algn="l">
              <a:spcBef>
                <a:spcPts val="800"/>
              </a:spcBef>
              <a:spcAft>
                <a:spcPts val="0"/>
              </a:spcAft>
              <a:buNone/>
            </a:pPr>
            <a:r>
              <a:rPr lang="en-US" sz="1600">
                <a:solidFill>
                  <a:srgbClr val="141413"/>
                </a:solidFill>
                <a:latin typeface="Calibri"/>
                <a:ea typeface="Calibri"/>
                <a:cs typeface="Calibri"/>
                <a:sym typeface="Calibri"/>
              </a:rPr>
              <a:t>• Namespaced commands ensure no conflicts: /plugin-name:command</a:t>
            </a:r>
            <a:endParaRPr sz="1800">
              <a:solidFill>
                <a:schemeClr val="dk1"/>
              </a:solidFill>
              <a:latin typeface="Calibri"/>
              <a:ea typeface="Calibri"/>
              <a:cs typeface="Calibri"/>
              <a:sym typeface="Calibri"/>
            </a:endParaRPr>
          </a:p>
        </p:txBody>
      </p:sp>
      <p:sp>
        <p:nvSpPr>
          <p:cNvPr id="648" name="Google Shape;648;p52"/>
          <p:cNvSpPr/>
          <p:nvPr/>
        </p:nvSpPr>
        <p:spPr>
          <a:xfrm>
            <a:off x="6511636" y="0"/>
            <a:ext cx="2632364" cy="5143500"/>
          </a:xfrm>
          <a:prstGeom prst="rect">
            <a:avLst/>
          </a:prstGeom>
          <a:solidFill>
            <a:srgbClr val="D97757"/>
          </a:solidFill>
          <a:ln cap="flat" cmpd="sng" w="9525">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Key with solid fill" id="649" name="Google Shape;649;p52"/>
          <p:cNvPicPr preferRelativeResize="0"/>
          <p:nvPr/>
        </p:nvPicPr>
        <p:blipFill rotWithShape="1">
          <a:blip r:embed="rId3">
            <a:alphaModFix/>
          </a:blip>
          <a:srcRect b="0" l="0" r="0" t="0"/>
          <a:stretch/>
        </p:blipFill>
        <p:spPr>
          <a:xfrm>
            <a:off x="7370618" y="502920"/>
            <a:ext cx="914400" cy="9144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7757"/>
        </a:solidFill>
      </p:bgPr>
    </p:bg>
    <p:spTree>
      <p:nvGrpSpPr>
        <p:cNvPr id="654" name="Shape 654"/>
        <p:cNvGrpSpPr/>
        <p:nvPr/>
      </p:nvGrpSpPr>
      <p:grpSpPr>
        <a:xfrm>
          <a:off x="0" y="0"/>
          <a:ext cx="0" cy="0"/>
          <a:chOff x="0" y="0"/>
          <a:chExt cx="0" cy="0"/>
        </a:xfrm>
      </p:grpSpPr>
      <p:sp>
        <p:nvSpPr>
          <p:cNvPr id="655" name="Google Shape;655;p53"/>
          <p:cNvSpPr txBox="1"/>
          <p:nvPr/>
        </p:nvSpPr>
        <p:spPr>
          <a:xfrm>
            <a:off x="609600" y="655320"/>
            <a:ext cx="7712689"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chemeClr val="lt1"/>
                </a:solidFill>
                <a:latin typeface="Calibri"/>
                <a:ea typeface="Calibri"/>
                <a:cs typeface="Calibri"/>
                <a:sym typeface="Calibri"/>
              </a:rPr>
              <a:t>Module 8: Converting Configurations to Plugins</a:t>
            </a:r>
            <a:endParaRPr/>
          </a:p>
        </p:txBody>
      </p:sp>
      <p:sp>
        <p:nvSpPr>
          <p:cNvPr id="656" name="Google Shape;656;p53"/>
          <p:cNvSpPr txBox="1"/>
          <p:nvPr/>
        </p:nvSpPr>
        <p:spPr>
          <a:xfrm>
            <a:off x="609600" y="1203960"/>
            <a:ext cx="223080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Learning Objectives</a:t>
            </a:r>
            <a:endParaRPr/>
          </a:p>
        </p:txBody>
      </p:sp>
      <p:sp>
        <p:nvSpPr>
          <p:cNvPr id="657" name="Google Shape;657;p53"/>
          <p:cNvSpPr txBox="1"/>
          <p:nvPr/>
        </p:nvSpPr>
        <p:spPr>
          <a:xfrm>
            <a:off x="609600" y="1798320"/>
            <a:ext cx="5447069" cy="1308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 Identify when to convert standalone configurations to plugins</a:t>
            </a:r>
            <a:endParaRPr/>
          </a:p>
          <a:p>
            <a:pPr indent="0" lvl="0" marL="0" marR="0" rtl="0" algn="l">
              <a:spcBef>
                <a:spcPts val="600"/>
              </a:spcBef>
              <a:spcAft>
                <a:spcPts val="0"/>
              </a:spcAft>
              <a:buNone/>
            </a:pPr>
            <a:r>
              <a:rPr lang="en-US" sz="1600">
                <a:solidFill>
                  <a:schemeClr val="lt1"/>
                </a:solidFill>
                <a:latin typeface="Calibri"/>
                <a:ea typeface="Calibri"/>
                <a:cs typeface="Calibri"/>
                <a:sym typeface="Calibri"/>
              </a:rPr>
              <a:t>• Execute the migration workflow systematically</a:t>
            </a:r>
            <a:endParaRPr/>
          </a:p>
          <a:p>
            <a:pPr indent="0" lvl="0" marL="0" marR="0" rtl="0" algn="l">
              <a:spcBef>
                <a:spcPts val="600"/>
              </a:spcBef>
              <a:spcAft>
                <a:spcPts val="0"/>
              </a:spcAft>
              <a:buNone/>
            </a:pPr>
            <a:r>
              <a:rPr lang="en-US" sz="1600">
                <a:solidFill>
                  <a:schemeClr val="lt1"/>
                </a:solidFill>
                <a:latin typeface="Calibri"/>
                <a:ea typeface="Calibri"/>
                <a:cs typeface="Calibri"/>
                <a:sym typeface="Calibri"/>
              </a:rPr>
              <a:t>• Adapt hooks from settings.json format to hooks.json format</a:t>
            </a:r>
            <a:endParaRPr/>
          </a:p>
          <a:p>
            <a:pPr indent="0" lvl="0" marL="0" marR="0" rtl="0" algn="l">
              <a:spcBef>
                <a:spcPts val="600"/>
              </a:spcBef>
              <a:spcAft>
                <a:spcPts val="0"/>
              </a:spcAft>
              <a:buNone/>
            </a:pPr>
            <a:r>
              <a:rPr lang="en-US" sz="1600">
                <a:solidFill>
                  <a:schemeClr val="lt1"/>
                </a:solidFill>
                <a:latin typeface="Calibri"/>
                <a:ea typeface="Calibri"/>
                <a:cs typeface="Calibri"/>
                <a:sym typeface="Calibri"/>
              </a:rPr>
              <a:t>• Verify migrated plugins work correctly</a:t>
            </a:r>
            <a:endParaRPr/>
          </a:p>
        </p:txBody>
      </p:sp>
      <p:sp>
        <p:nvSpPr>
          <p:cNvPr id="658" name="Google Shape;658;p53"/>
          <p:cNvSpPr/>
          <p:nvPr/>
        </p:nvSpPr>
        <p:spPr>
          <a:xfrm>
            <a:off x="7467600" y="4541520"/>
            <a:ext cx="1371600" cy="457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 30 minutes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63" name="Shape 663"/>
        <p:cNvGrpSpPr/>
        <p:nvPr/>
      </p:nvGrpSpPr>
      <p:grpSpPr>
        <a:xfrm>
          <a:off x="0" y="0"/>
          <a:ext cx="0" cy="0"/>
          <a:chOff x="0" y="0"/>
          <a:chExt cx="0" cy="0"/>
        </a:xfrm>
      </p:grpSpPr>
      <p:sp>
        <p:nvSpPr>
          <p:cNvPr id="664" name="Google Shape;664;p54"/>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41413"/>
                </a:solidFill>
                <a:latin typeface="Calibri"/>
                <a:ea typeface="Calibri"/>
                <a:cs typeface="Calibri"/>
                <a:sym typeface="Calibri"/>
              </a:rPr>
              <a:t>When to Convert to Plugins</a:t>
            </a:r>
            <a:endParaRPr/>
          </a:p>
        </p:txBody>
      </p:sp>
      <p:sp>
        <p:nvSpPr>
          <p:cNvPr id="665" name="Google Shape;665;p54"/>
          <p:cNvSpPr txBox="1"/>
          <p:nvPr/>
        </p:nvSpPr>
        <p:spPr>
          <a:xfrm>
            <a:off x="731520" y="1188720"/>
            <a:ext cx="36576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Conversion Triggers</a:t>
            </a:r>
            <a:endParaRPr/>
          </a:p>
        </p:txBody>
      </p:sp>
      <p:sp>
        <p:nvSpPr>
          <p:cNvPr id="666" name="Google Shape;666;p54"/>
          <p:cNvSpPr txBox="1"/>
          <p:nvPr/>
        </p:nvSpPr>
        <p:spPr>
          <a:xfrm>
            <a:off x="731520" y="1645920"/>
            <a:ext cx="3657600" cy="18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41413"/>
                </a:solidFill>
                <a:latin typeface="Calibri"/>
                <a:ea typeface="Calibri"/>
                <a:cs typeface="Calibri"/>
                <a:sym typeface="Calibri"/>
              </a:rPr>
              <a:t>✓ Team members asking for your configs</a:t>
            </a:r>
            <a:endParaRPr/>
          </a:p>
          <a:p>
            <a:pPr indent="0" lvl="0" marL="0" marR="0" rtl="0" algn="l">
              <a:spcBef>
                <a:spcPts val="400"/>
              </a:spcBef>
              <a:spcAft>
                <a:spcPts val="0"/>
              </a:spcAft>
              <a:buNone/>
            </a:pPr>
            <a:r>
              <a:rPr lang="en-US" sz="1400">
                <a:solidFill>
                  <a:srgbClr val="141413"/>
                </a:solidFill>
                <a:latin typeface="Calibri"/>
                <a:ea typeface="Calibri"/>
                <a:cs typeface="Calibri"/>
                <a:sym typeface="Calibri"/>
              </a:rPr>
              <a:t>✓ Manually copying files to new projects</a:t>
            </a:r>
            <a:endParaRPr/>
          </a:p>
          <a:p>
            <a:pPr indent="0" lvl="0" marL="0" marR="0" rtl="0" algn="l">
              <a:spcBef>
                <a:spcPts val="400"/>
              </a:spcBef>
              <a:spcAft>
                <a:spcPts val="0"/>
              </a:spcAft>
              <a:buNone/>
            </a:pPr>
            <a:r>
              <a:rPr lang="en-US" sz="1400">
                <a:solidFill>
                  <a:srgbClr val="141413"/>
                </a:solidFill>
                <a:latin typeface="Calibri"/>
                <a:ea typeface="Calibri"/>
                <a:cs typeface="Calibri"/>
                <a:sym typeface="Calibri"/>
              </a:rPr>
              <a:t>✓ Want version control for your tools</a:t>
            </a:r>
            <a:endParaRPr/>
          </a:p>
          <a:p>
            <a:pPr indent="0" lvl="0" marL="0" marR="0" rtl="0" algn="l">
              <a:spcBef>
                <a:spcPts val="400"/>
              </a:spcBef>
              <a:spcAft>
                <a:spcPts val="0"/>
              </a:spcAft>
              <a:buNone/>
            </a:pPr>
            <a:r>
              <a:rPr lang="en-US" sz="1400">
                <a:solidFill>
                  <a:srgbClr val="141413"/>
                </a:solidFill>
                <a:latin typeface="Calibri"/>
                <a:ea typeface="Calibri"/>
                <a:cs typeface="Calibri"/>
                <a:sym typeface="Calibri"/>
              </a:rPr>
              <a:t>✓ Need to share across multiple repos</a:t>
            </a:r>
            <a:endParaRPr/>
          </a:p>
          <a:p>
            <a:pPr indent="0" lvl="0" marL="0" marR="0" rtl="0" algn="l">
              <a:spcBef>
                <a:spcPts val="400"/>
              </a:spcBef>
              <a:spcAft>
                <a:spcPts val="0"/>
              </a:spcAft>
              <a:buNone/>
            </a:pPr>
            <a:r>
              <a:rPr lang="en-US" sz="1400">
                <a:solidFill>
                  <a:srgbClr val="141413"/>
                </a:solidFill>
                <a:latin typeface="Calibri"/>
                <a:ea typeface="Calibri"/>
                <a:cs typeface="Calibri"/>
                <a:sym typeface="Calibri"/>
              </a:rPr>
              <a:t>✓ Configurations are stable and tested</a:t>
            </a:r>
            <a:endParaRPr/>
          </a:p>
        </p:txBody>
      </p:sp>
      <p:sp>
        <p:nvSpPr>
          <p:cNvPr id="667" name="Google Shape;667;p54"/>
          <p:cNvSpPr/>
          <p:nvPr/>
        </p:nvSpPr>
        <p:spPr>
          <a:xfrm>
            <a:off x="4754880" y="1188720"/>
            <a:ext cx="3931920" cy="3200400"/>
          </a:xfrm>
          <a:prstGeom prst="rect">
            <a:avLst/>
          </a:prstGeom>
          <a:solidFill>
            <a:srgbClr val="788C5D"/>
          </a:solidFill>
          <a:ln cap="flat" cmpd="sng" w="25400">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8" name="Google Shape;668;p54"/>
          <p:cNvSpPr txBox="1"/>
          <p:nvPr/>
        </p:nvSpPr>
        <p:spPr>
          <a:xfrm>
            <a:off x="4937760" y="1371600"/>
            <a:ext cx="3566160" cy="21390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Calibri"/>
                <a:ea typeface="Calibri"/>
                <a:cs typeface="Calibri"/>
                <a:sym typeface="Calibri"/>
              </a:rPr>
              <a:t>Real-World Scenario</a:t>
            </a:r>
            <a:endParaRPr/>
          </a:p>
          <a:p>
            <a:pPr indent="0" lvl="0" marL="0" marR="0" rtl="0" algn="l">
              <a:spcBef>
                <a:spcPts val="600"/>
              </a:spcBef>
              <a:spcAft>
                <a:spcPts val="0"/>
              </a:spcAft>
              <a:buNone/>
            </a:pPr>
            <a:r>
              <a:rPr lang="en-US" sz="1200">
                <a:solidFill>
                  <a:schemeClr val="lt1"/>
                </a:solidFill>
                <a:latin typeface="Calibri"/>
                <a:ea typeface="Calibri"/>
                <a:cs typeface="Calibri"/>
                <a:sym typeface="Calibri"/>
              </a:rPr>
              <a:t>Developer has powerful linter config in .claude/hooks that catches issues early. Three teammates ask for it via Slack.</a:t>
            </a:r>
            <a:endParaRPr/>
          </a:p>
          <a:p>
            <a:pPr indent="0" lvl="0" marL="0" marR="0" rtl="0" algn="l">
              <a:spcBef>
                <a:spcPts val="600"/>
              </a:spcBef>
              <a:spcAft>
                <a:spcPts val="0"/>
              </a:spcAft>
              <a:buNone/>
            </a:pPr>
            <a:r>
              <a:rPr i="1" lang="en-US" sz="1100">
                <a:solidFill>
                  <a:schemeClr val="lt1"/>
                </a:solidFill>
                <a:latin typeface="Calibri"/>
                <a:ea typeface="Calibri"/>
                <a:cs typeface="Calibri"/>
                <a:sym typeface="Calibri"/>
              </a:rPr>
              <a:t>Instead of: Sending JSON snippets that break in copy-paste</a:t>
            </a:r>
            <a:endParaRPr/>
          </a:p>
          <a:p>
            <a:pPr indent="0" lvl="0" marL="0" marR="0" rtl="0" algn="l">
              <a:spcBef>
                <a:spcPts val="600"/>
              </a:spcBef>
              <a:spcAft>
                <a:spcPts val="0"/>
              </a:spcAft>
              <a:buNone/>
            </a:pPr>
            <a:r>
              <a:rPr b="1" lang="en-US" sz="1200">
                <a:solidFill>
                  <a:schemeClr val="lt1"/>
                </a:solidFill>
                <a:latin typeface="Calibri"/>
                <a:ea typeface="Calibri"/>
                <a:cs typeface="Calibri"/>
                <a:sym typeface="Calibri"/>
              </a:rPr>
              <a:t>Solution: Convert to plugin, publish to team marketplace, everyone installs with one command</a:t>
            </a:r>
            <a:endParaRPr/>
          </a:p>
          <a:p>
            <a:pPr indent="0" lvl="0" marL="0" marR="0" rtl="0" algn="l">
              <a:spcBef>
                <a:spcPts val="600"/>
              </a:spcBef>
              <a:spcAft>
                <a:spcPts val="0"/>
              </a:spcAft>
              <a:buNone/>
            </a:pPr>
            <a:r>
              <a:rPr lang="en-US" sz="1200">
                <a:solidFill>
                  <a:schemeClr val="lt1"/>
                </a:solidFill>
                <a:latin typeface="Calibri"/>
                <a:ea typeface="Calibri"/>
                <a:cs typeface="Calibri"/>
                <a:sym typeface="Calibri"/>
              </a:rPr>
              <a:t>Result: Team has identical config, updates push automatically</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73" name="Shape 673"/>
        <p:cNvGrpSpPr/>
        <p:nvPr/>
      </p:nvGrpSpPr>
      <p:grpSpPr>
        <a:xfrm>
          <a:off x="0" y="0"/>
          <a:ext cx="0" cy="0"/>
          <a:chOff x="0" y="0"/>
          <a:chExt cx="0" cy="0"/>
        </a:xfrm>
      </p:grpSpPr>
      <p:sp>
        <p:nvSpPr>
          <p:cNvPr id="674" name="Google Shape;674;p55"/>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41413"/>
                </a:solidFill>
                <a:latin typeface="Calibri"/>
                <a:ea typeface="Calibri"/>
                <a:cs typeface="Calibri"/>
                <a:sym typeface="Calibri"/>
              </a:rPr>
              <a:t>Migration Workflow</a:t>
            </a:r>
            <a:endParaRPr/>
          </a:p>
        </p:txBody>
      </p:sp>
      <p:sp>
        <p:nvSpPr>
          <p:cNvPr id="675" name="Google Shape;675;p55"/>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Step-by-Step Conversion</a:t>
            </a:r>
            <a:endParaRPr/>
          </a:p>
        </p:txBody>
      </p:sp>
      <p:sp>
        <p:nvSpPr>
          <p:cNvPr id="676" name="Google Shape;676;p55"/>
          <p:cNvSpPr txBox="1"/>
          <p:nvPr/>
        </p:nvSpPr>
        <p:spPr>
          <a:xfrm>
            <a:off x="731520" y="1645920"/>
            <a:ext cx="7680960" cy="228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41413"/>
                </a:solidFill>
                <a:latin typeface="Calibri"/>
                <a:ea typeface="Calibri"/>
                <a:cs typeface="Calibri"/>
                <a:sym typeface="Calibri"/>
              </a:rPr>
              <a:t>• 1. Create plugin structure (directory + .claude-plugin/plugin.json)</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2. Copy existing files (commands, agents, skills)</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3. Migrate hooks from settings.json to hooks/hooks.json</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4. Test with --plugin-dir flag</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5. Remove original .claude/ files to avoid duplicates</a:t>
            </a:r>
            <a:endParaRPr/>
          </a:p>
        </p:txBody>
      </p:sp>
      <p:sp>
        <p:nvSpPr>
          <p:cNvPr id="677" name="Google Shape;677;p55"/>
          <p:cNvSpPr txBox="1"/>
          <p:nvPr/>
        </p:nvSpPr>
        <p:spPr>
          <a:xfrm>
            <a:off x="731520" y="294894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What Changes</a:t>
            </a:r>
            <a:endParaRPr/>
          </a:p>
        </p:txBody>
      </p:sp>
      <p:sp>
        <p:nvSpPr>
          <p:cNvPr id="678" name="Google Shape;678;p55"/>
          <p:cNvSpPr txBox="1"/>
          <p:nvPr/>
        </p:nvSpPr>
        <p:spPr>
          <a:xfrm>
            <a:off x="731520" y="340614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36454F"/>
                </a:solidFill>
                <a:latin typeface="Calibri"/>
                <a:ea typeface="Calibri"/>
                <a:cs typeface="Calibri"/>
                <a:sym typeface="Calibri"/>
              </a:rPr>
              <a:t>.claude/commands/ → plugin-name/commands/</a:t>
            </a:r>
            <a:endParaRPr/>
          </a:p>
        </p:txBody>
      </p:sp>
      <p:sp>
        <p:nvSpPr>
          <p:cNvPr id="679" name="Google Shape;679;p55"/>
          <p:cNvSpPr txBox="1"/>
          <p:nvPr/>
        </p:nvSpPr>
        <p:spPr>
          <a:xfrm>
            <a:off x="731520" y="386334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36454F"/>
                </a:solidFill>
                <a:latin typeface="Calibri"/>
                <a:ea typeface="Calibri"/>
                <a:cs typeface="Calibri"/>
                <a:sym typeface="Calibri"/>
              </a:rPr>
              <a:t>settings.json hooks → hooks/hooks.json</a:t>
            </a:r>
            <a:endParaRPr/>
          </a:p>
        </p:txBody>
      </p:sp>
      <p:sp>
        <p:nvSpPr>
          <p:cNvPr id="680" name="Google Shape;680;p55"/>
          <p:cNvSpPr txBox="1"/>
          <p:nvPr/>
        </p:nvSpPr>
        <p:spPr>
          <a:xfrm>
            <a:off x="731520" y="432054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36454F"/>
                </a:solidFill>
                <a:latin typeface="Calibri"/>
                <a:ea typeface="Calibri"/>
                <a:cs typeface="Calibri"/>
                <a:sym typeface="Calibri"/>
              </a:rPr>
              <a:t>/command → /plugin-name:command</a:t>
            </a:r>
            <a:endParaRPr/>
          </a:p>
        </p:txBody>
      </p:sp>
      <p:sp>
        <p:nvSpPr>
          <p:cNvPr id="681" name="Google Shape;681;p55"/>
          <p:cNvSpPr/>
          <p:nvPr/>
        </p:nvSpPr>
        <p:spPr>
          <a:xfrm>
            <a:off x="6906491" y="1330036"/>
            <a:ext cx="1780308" cy="3059084"/>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chemeClr val="lt1"/>
                </a:solidFill>
                <a:latin typeface="Calibri"/>
                <a:ea typeface="Calibri"/>
                <a:cs typeface="Calibri"/>
                <a:sym typeface="Calibri"/>
              </a:rPr>
              <a:t>Hook format stays the same—just move from settings.json to hooks.json</a:t>
            </a:r>
            <a:endParaRPr sz="1800">
              <a:solidFill>
                <a:schemeClr val="lt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86" name="Shape 686"/>
        <p:cNvGrpSpPr/>
        <p:nvPr/>
      </p:nvGrpSpPr>
      <p:grpSpPr>
        <a:xfrm>
          <a:off x="0" y="0"/>
          <a:ext cx="0" cy="0"/>
          <a:chOff x="0" y="0"/>
          <a:chExt cx="0" cy="0"/>
        </a:xfrm>
      </p:grpSpPr>
      <p:sp>
        <p:nvSpPr>
          <p:cNvPr id="687" name="Google Shape;687;p56"/>
          <p:cNvSpPr/>
          <p:nvPr/>
        </p:nvSpPr>
        <p:spPr>
          <a:xfrm>
            <a:off x="0" y="0"/>
            <a:ext cx="2632364" cy="5143500"/>
          </a:xfrm>
          <a:prstGeom prst="rect">
            <a:avLst/>
          </a:prstGeom>
          <a:solidFill>
            <a:srgbClr val="788C5D"/>
          </a:solidFill>
          <a:ln cap="flat" cmpd="sng" w="9525">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8" name="Google Shape;688;p56"/>
          <p:cNvSpPr txBox="1"/>
          <p:nvPr/>
        </p:nvSpPr>
        <p:spPr>
          <a:xfrm>
            <a:off x="278911" y="3079865"/>
            <a:ext cx="2074542" cy="15696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Module 6:</a:t>
            </a:r>
            <a:endParaRPr sz="1800">
              <a:solidFill>
                <a:schemeClr val="lt1"/>
              </a:solidFill>
              <a:latin typeface="Calibri"/>
              <a:ea typeface="Calibri"/>
              <a:cs typeface="Calibri"/>
              <a:sym typeface="Calibri"/>
            </a:endParaRPr>
          </a:p>
          <a:p>
            <a:pPr indent="0" lvl="0" marL="0" marR="0" rtl="0" algn="ctr">
              <a:spcBef>
                <a:spcPts val="0"/>
              </a:spcBef>
              <a:spcAft>
                <a:spcPts val="0"/>
              </a:spcAft>
              <a:buNone/>
            </a:pPr>
            <a:r>
              <a:rPr b="1" lang="en-US" sz="3200">
                <a:solidFill>
                  <a:schemeClr val="lt1"/>
                </a:solidFill>
                <a:latin typeface="Calibri"/>
                <a:ea typeface="Calibri"/>
                <a:cs typeface="Calibri"/>
                <a:sym typeface="Calibri"/>
              </a:rPr>
              <a:t>Knowledge</a:t>
            </a:r>
            <a:endParaRPr sz="1800">
              <a:solidFill>
                <a:schemeClr val="lt1"/>
              </a:solidFill>
              <a:latin typeface="Calibri"/>
              <a:ea typeface="Calibri"/>
              <a:cs typeface="Calibri"/>
              <a:sym typeface="Calibri"/>
            </a:endParaRPr>
          </a:p>
          <a:p>
            <a:pPr indent="0" lvl="0" marL="0" marR="0" rtl="0" algn="ctr">
              <a:spcBef>
                <a:spcPts val="0"/>
              </a:spcBef>
              <a:spcAft>
                <a:spcPts val="0"/>
              </a:spcAft>
              <a:buNone/>
            </a:pPr>
            <a:r>
              <a:rPr b="1" lang="en-US" sz="3200">
                <a:solidFill>
                  <a:schemeClr val="lt1"/>
                </a:solidFill>
                <a:latin typeface="Calibri"/>
                <a:ea typeface="Calibri"/>
                <a:cs typeface="Calibri"/>
                <a:sym typeface="Calibri"/>
              </a:rPr>
              <a:t>Check</a:t>
            </a:r>
            <a:endParaRPr/>
          </a:p>
        </p:txBody>
      </p:sp>
      <p:pic>
        <p:nvPicPr>
          <p:cNvPr descr="Brain with solid fill" id="689" name="Google Shape;689;p56"/>
          <p:cNvPicPr preferRelativeResize="0"/>
          <p:nvPr/>
        </p:nvPicPr>
        <p:blipFill rotWithShape="1">
          <a:blip r:embed="rId3">
            <a:alphaModFix/>
          </a:blip>
          <a:srcRect b="0" l="0" r="0" t="0"/>
          <a:stretch/>
        </p:blipFill>
        <p:spPr>
          <a:xfrm>
            <a:off x="969818" y="2376055"/>
            <a:ext cx="703810" cy="703810"/>
          </a:xfrm>
          <a:prstGeom prst="rect">
            <a:avLst/>
          </a:prstGeom>
          <a:noFill/>
          <a:ln>
            <a:noFill/>
          </a:ln>
        </p:spPr>
      </p:pic>
      <p:sp>
        <p:nvSpPr>
          <p:cNvPr id="690" name="Google Shape;690;p56"/>
          <p:cNvSpPr txBox="1"/>
          <p:nvPr/>
        </p:nvSpPr>
        <p:spPr>
          <a:xfrm>
            <a:off x="3129308" y="834391"/>
            <a:ext cx="531890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41413"/>
                </a:solidFill>
                <a:latin typeface="Calibri"/>
                <a:ea typeface="Calibri"/>
                <a:cs typeface="Calibri"/>
                <a:sym typeface="Calibri"/>
              </a:rPr>
              <a:t>What is the primary difference in hooks configuration between standalone and plugin formats?</a:t>
            </a:r>
            <a:endParaRPr/>
          </a:p>
        </p:txBody>
      </p:sp>
      <p:sp>
        <p:nvSpPr>
          <p:cNvPr id="691" name="Google Shape;691;p56"/>
          <p:cNvSpPr txBox="1"/>
          <p:nvPr/>
        </p:nvSpPr>
        <p:spPr>
          <a:xfrm>
            <a:off x="3129308" y="2571750"/>
            <a:ext cx="531890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41413"/>
                </a:solidFill>
                <a:latin typeface="Calibri"/>
                <a:ea typeface="Calibri"/>
                <a:cs typeface="Calibri"/>
                <a:sym typeface="Calibri"/>
              </a:rPr>
              <a:t>After converting configs to a plugin, what should you do with original .claude/ files?</a:t>
            </a:r>
            <a:endParaRPr/>
          </a:p>
        </p:txBody>
      </p:sp>
      <p:sp>
        <p:nvSpPr>
          <p:cNvPr id="692" name="Google Shape;692;p56"/>
          <p:cNvSpPr txBox="1"/>
          <p:nvPr/>
        </p:nvSpPr>
        <p:spPr>
          <a:xfrm>
            <a:off x="3312188" y="1292458"/>
            <a:ext cx="531890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36454F"/>
                </a:solidFill>
                <a:latin typeface="Calibri"/>
                <a:ea typeface="Calibri"/>
                <a:cs typeface="Calibri"/>
                <a:sym typeface="Calibri"/>
              </a:rPr>
              <a:t>A) Plugins use YAML instead of JSON</a:t>
            </a:r>
            <a:endParaRPr/>
          </a:p>
        </p:txBody>
      </p:sp>
      <p:sp>
        <p:nvSpPr>
          <p:cNvPr id="693" name="Google Shape;693;p56"/>
          <p:cNvSpPr txBox="1"/>
          <p:nvPr/>
        </p:nvSpPr>
        <p:spPr>
          <a:xfrm>
            <a:off x="3312188" y="1566778"/>
            <a:ext cx="531890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788C5D"/>
                </a:solidFill>
                <a:latin typeface="Calibri"/>
                <a:ea typeface="Calibri"/>
                <a:cs typeface="Calibri"/>
                <a:sym typeface="Calibri"/>
              </a:rPr>
              <a:t>B) Standalone uses settings.json, plugins use hooks/hooks.json</a:t>
            </a:r>
            <a:endParaRPr/>
          </a:p>
        </p:txBody>
      </p:sp>
      <p:sp>
        <p:nvSpPr>
          <p:cNvPr id="694" name="Google Shape;694;p56"/>
          <p:cNvSpPr txBox="1"/>
          <p:nvPr/>
        </p:nvSpPr>
        <p:spPr>
          <a:xfrm>
            <a:off x="3312188" y="1841097"/>
            <a:ext cx="531890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36454F"/>
                </a:solidFill>
                <a:latin typeface="Calibri"/>
                <a:ea typeface="Calibri"/>
                <a:cs typeface="Calibri"/>
                <a:sym typeface="Calibri"/>
              </a:rPr>
              <a:t>C) Plugins require different hook event names</a:t>
            </a:r>
            <a:endParaRPr/>
          </a:p>
        </p:txBody>
      </p:sp>
      <p:sp>
        <p:nvSpPr>
          <p:cNvPr id="695" name="Google Shape;695;p56"/>
          <p:cNvSpPr txBox="1"/>
          <p:nvPr/>
        </p:nvSpPr>
        <p:spPr>
          <a:xfrm>
            <a:off x="3312188" y="2115417"/>
            <a:ext cx="531890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36454F"/>
                </a:solidFill>
                <a:latin typeface="Calibri"/>
                <a:ea typeface="Calibri"/>
                <a:cs typeface="Calibri"/>
                <a:sym typeface="Calibri"/>
              </a:rPr>
              <a:t>D) Standalone hooks are more powerful</a:t>
            </a:r>
            <a:endParaRPr/>
          </a:p>
        </p:txBody>
      </p:sp>
      <p:sp>
        <p:nvSpPr>
          <p:cNvPr id="696" name="Google Shape;696;p56"/>
          <p:cNvSpPr txBox="1"/>
          <p:nvPr/>
        </p:nvSpPr>
        <p:spPr>
          <a:xfrm>
            <a:off x="3312188" y="3029817"/>
            <a:ext cx="531890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36454F"/>
                </a:solidFill>
                <a:latin typeface="Calibri"/>
                <a:ea typeface="Calibri"/>
                <a:cs typeface="Calibri"/>
                <a:sym typeface="Calibri"/>
              </a:rPr>
              <a:t>A) Leave them as backup</a:t>
            </a:r>
            <a:endParaRPr/>
          </a:p>
        </p:txBody>
      </p:sp>
      <p:sp>
        <p:nvSpPr>
          <p:cNvPr id="697" name="Google Shape;697;p56"/>
          <p:cNvSpPr txBox="1"/>
          <p:nvPr/>
        </p:nvSpPr>
        <p:spPr>
          <a:xfrm>
            <a:off x="3312188" y="3304137"/>
            <a:ext cx="531890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36454F"/>
                </a:solidFill>
                <a:latin typeface="Calibri"/>
                <a:ea typeface="Calibri"/>
                <a:cs typeface="Calibri"/>
                <a:sym typeface="Calibri"/>
              </a:rPr>
              <a:t>B) Delete them immediately</a:t>
            </a:r>
            <a:endParaRPr/>
          </a:p>
        </p:txBody>
      </p:sp>
      <p:sp>
        <p:nvSpPr>
          <p:cNvPr id="698" name="Google Shape;698;p56"/>
          <p:cNvSpPr txBox="1"/>
          <p:nvPr/>
        </p:nvSpPr>
        <p:spPr>
          <a:xfrm>
            <a:off x="3312188" y="3578457"/>
            <a:ext cx="531890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788C5D"/>
                </a:solidFill>
                <a:latin typeface="Calibri"/>
                <a:ea typeface="Calibri"/>
                <a:cs typeface="Calibri"/>
                <a:sym typeface="Calibri"/>
              </a:rPr>
              <a:t>C) Remove them to avoid duplicates</a:t>
            </a:r>
            <a:endParaRPr/>
          </a:p>
        </p:txBody>
      </p:sp>
      <p:sp>
        <p:nvSpPr>
          <p:cNvPr id="699" name="Google Shape;699;p56"/>
          <p:cNvSpPr txBox="1"/>
          <p:nvPr/>
        </p:nvSpPr>
        <p:spPr>
          <a:xfrm>
            <a:off x="3312188" y="3852777"/>
            <a:ext cx="531890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36454F"/>
                </a:solidFill>
                <a:latin typeface="Calibri"/>
                <a:ea typeface="Calibri"/>
                <a:cs typeface="Calibri"/>
                <a:sym typeface="Calibri"/>
              </a:rPr>
              <a:t>D) Keep both for flexibility</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704" name="Shape 704"/>
        <p:cNvGrpSpPr/>
        <p:nvPr/>
      </p:nvGrpSpPr>
      <p:grpSpPr>
        <a:xfrm>
          <a:off x="0" y="0"/>
          <a:ext cx="0" cy="0"/>
          <a:chOff x="0" y="0"/>
          <a:chExt cx="0" cy="0"/>
        </a:xfrm>
      </p:grpSpPr>
      <p:sp>
        <p:nvSpPr>
          <p:cNvPr id="705" name="Google Shape;705;p57"/>
          <p:cNvSpPr txBox="1"/>
          <p:nvPr/>
        </p:nvSpPr>
        <p:spPr>
          <a:xfrm>
            <a:off x="457200" y="502920"/>
            <a:ext cx="353032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41413"/>
                </a:solidFill>
                <a:latin typeface="Calibri"/>
                <a:ea typeface="Calibri"/>
                <a:cs typeface="Calibri"/>
                <a:sym typeface="Calibri"/>
              </a:rPr>
              <a:t>Module 8 Summary</a:t>
            </a:r>
            <a:endParaRPr/>
          </a:p>
        </p:txBody>
      </p:sp>
      <p:sp>
        <p:nvSpPr>
          <p:cNvPr id="706" name="Google Shape;706;p57"/>
          <p:cNvSpPr txBox="1"/>
          <p:nvPr/>
        </p:nvSpPr>
        <p:spPr>
          <a:xfrm>
            <a:off x="457200" y="1051560"/>
            <a:ext cx="2622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36454F"/>
                </a:solidFill>
                <a:latin typeface="Calibri"/>
                <a:ea typeface="Calibri"/>
                <a:cs typeface="Calibri"/>
                <a:sym typeface="Calibri"/>
              </a:rPr>
              <a:t>Converting Configurations</a:t>
            </a:r>
            <a:endParaRPr/>
          </a:p>
        </p:txBody>
      </p:sp>
      <p:sp>
        <p:nvSpPr>
          <p:cNvPr id="707" name="Google Shape;707;p57"/>
          <p:cNvSpPr txBox="1"/>
          <p:nvPr/>
        </p:nvSpPr>
        <p:spPr>
          <a:xfrm>
            <a:off x="45720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Key Takeaways</a:t>
            </a:r>
            <a:endParaRPr/>
          </a:p>
        </p:txBody>
      </p:sp>
      <p:sp>
        <p:nvSpPr>
          <p:cNvPr id="708" name="Google Shape;708;p57"/>
          <p:cNvSpPr txBox="1"/>
          <p:nvPr/>
        </p:nvSpPr>
        <p:spPr>
          <a:xfrm>
            <a:off x="457200" y="2103120"/>
            <a:ext cx="5389418" cy="29649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41413"/>
                </a:solidFill>
                <a:latin typeface="Calibri"/>
                <a:ea typeface="Calibri"/>
                <a:cs typeface="Calibri"/>
                <a:sym typeface="Calibri"/>
              </a:rPr>
              <a:t>• Convert when: team asks for configs, manually copying between projects, ready to share</a:t>
            </a:r>
            <a:endParaRPr/>
          </a:p>
          <a:p>
            <a:pPr indent="0" lvl="0" marL="0" marR="0" rtl="0" algn="l">
              <a:spcBef>
                <a:spcPts val="800"/>
              </a:spcBef>
              <a:spcAft>
                <a:spcPts val="0"/>
              </a:spcAft>
              <a:buNone/>
            </a:pPr>
            <a:r>
              <a:rPr lang="en-US" sz="1600">
                <a:solidFill>
                  <a:srgbClr val="141413"/>
                </a:solidFill>
                <a:latin typeface="Calibri"/>
                <a:ea typeface="Calibri"/>
                <a:cs typeface="Calibri"/>
                <a:sym typeface="Calibri"/>
              </a:rPr>
              <a:t>• Migration: create structure → copy files → migrate hooks → test → clean up</a:t>
            </a:r>
            <a:endParaRPr/>
          </a:p>
          <a:p>
            <a:pPr indent="0" lvl="0" marL="0" marR="0" rtl="0" algn="l">
              <a:spcBef>
                <a:spcPts val="800"/>
              </a:spcBef>
              <a:spcAft>
                <a:spcPts val="0"/>
              </a:spcAft>
              <a:buNone/>
            </a:pPr>
            <a:r>
              <a:rPr lang="en-US" sz="1600">
                <a:solidFill>
                  <a:srgbClr val="141413"/>
                </a:solidFill>
                <a:latin typeface="Calibri"/>
                <a:ea typeface="Calibri"/>
                <a:cs typeface="Calibri"/>
                <a:sym typeface="Calibri"/>
              </a:rPr>
              <a:t>• Hook format unchanged, just moves from settings.json to hooks/hooks.json</a:t>
            </a:r>
            <a:endParaRPr sz="18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rgbClr val="141413"/>
                </a:solidFill>
                <a:latin typeface="Calibri"/>
                <a:ea typeface="Calibri"/>
                <a:cs typeface="Calibri"/>
                <a:sym typeface="Calibri"/>
              </a:rPr>
              <a:t>• Remove original .claude/ files after successful migration to prevent duplicates</a:t>
            </a:r>
            <a:endParaRPr/>
          </a:p>
          <a:p>
            <a:pPr indent="0" lvl="0" marL="0" marR="0" rtl="0" algn="l">
              <a:spcBef>
                <a:spcPts val="800"/>
              </a:spcBef>
              <a:spcAft>
                <a:spcPts val="0"/>
              </a:spcAft>
              <a:buNone/>
            </a:pPr>
            <a:r>
              <a:rPr lang="en-US" sz="1600">
                <a:solidFill>
                  <a:srgbClr val="141413"/>
                </a:solidFill>
                <a:latin typeface="Calibri"/>
                <a:ea typeface="Calibri"/>
                <a:cs typeface="Calibri"/>
                <a:sym typeface="Calibri"/>
              </a:rPr>
              <a:t>• Commands become namespaced: /cmd becomes /plugin-name:cmd</a:t>
            </a:r>
            <a:endParaRPr sz="1800">
              <a:solidFill>
                <a:schemeClr val="dk1"/>
              </a:solidFill>
              <a:latin typeface="Calibri"/>
              <a:ea typeface="Calibri"/>
              <a:cs typeface="Calibri"/>
              <a:sym typeface="Calibri"/>
            </a:endParaRPr>
          </a:p>
        </p:txBody>
      </p:sp>
      <p:sp>
        <p:nvSpPr>
          <p:cNvPr id="709" name="Google Shape;709;p57"/>
          <p:cNvSpPr/>
          <p:nvPr/>
        </p:nvSpPr>
        <p:spPr>
          <a:xfrm>
            <a:off x="6511636" y="0"/>
            <a:ext cx="2632364" cy="5143500"/>
          </a:xfrm>
          <a:prstGeom prst="rect">
            <a:avLst/>
          </a:prstGeom>
          <a:solidFill>
            <a:srgbClr val="D97757"/>
          </a:solidFill>
          <a:ln cap="flat" cmpd="sng" w="9525">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Key with solid fill" id="710" name="Google Shape;710;p57"/>
          <p:cNvPicPr preferRelativeResize="0"/>
          <p:nvPr/>
        </p:nvPicPr>
        <p:blipFill rotWithShape="1">
          <a:blip r:embed="rId3">
            <a:alphaModFix/>
          </a:blip>
          <a:srcRect b="0" l="0" r="0" t="0"/>
          <a:stretch/>
        </p:blipFill>
        <p:spPr>
          <a:xfrm>
            <a:off x="7370618" y="502920"/>
            <a:ext cx="914400" cy="9144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9BCC"/>
        </a:solidFill>
      </p:bgPr>
    </p:bg>
    <p:spTree>
      <p:nvGrpSpPr>
        <p:cNvPr id="715" name="Shape 715"/>
        <p:cNvGrpSpPr/>
        <p:nvPr/>
      </p:nvGrpSpPr>
      <p:grpSpPr>
        <a:xfrm>
          <a:off x="0" y="0"/>
          <a:ext cx="0" cy="0"/>
          <a:chOff x="0" y="0"/>
          <a:chExt cx="0" cy="0"/>
        </a:xfrm>
      </p:grpSpPr>
      <p:sp>
        <p:nvSpPr>
          <p:cNvPr id="716" name="Google Shape;716;p58"/>
          <p:cNvSpPr txBox="1"/>
          <p:nvPr/>
        </p:nvSpPr>
        <p:spPr>
          <a:xfrm>
            <a:off x="609600" y="655320"/>
            <a:ext cx="712086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chemeClr val="lt1"/>
                </a:solidFill>
                <a:latin typeface="Calibri"/>
                <a:ea typeface="Calibri"/>
                <a:cs typeface="Calibri"/>
                <a:sym typeface="Calibri"/>
              </a:rPr>
              <a:t>Module 9: Lab: Converting Hooks to Plugins</a:t>
            </a:r>
            <a:endParaRPr/>
          </a:p>
        </p:txBody>
      </p:sp>
      <p:sp>
        <p:nvSpPr>
          <p:cNvPr id="717" name="Google Shape;717;p58"/>
          <p:cNvSpPr txBox="1"/>
          <p:nvPr/>
        </p:nvSpPr>
        <p:spPr>
          <a:xfrm>
            <a:off x="609600" y="1203960"/>
            <a:ext cx="212019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Hands-On Exercise</a:t>
            </a:r>
            <a:endParaRPr/>
          </a:p>
        </p:txBody>
      </p:sp>
      <p:sp>
        <p:nvSpPr>
          <p:cNvPr id="718" name="Google Shape;718;p58"/>
          <p:cNvSpPr txBox="1"/>
          <p:nvPr/>
        </p:nvSpPr>
        <p:spPr>
          <a:xfrm>
            <a:off x="609600" y="1798320"/>
            <a:ext cx="4845750"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 Create plugin structure from existing config</a:t>
            </a:r>
            <a:endParaRPr/>
          </a:p>
          <a:p>
            <a:pPr indent="0" lvl="0" marL="0" marR="0" rtl="0" algn="l">
              <a:spcBef>
                <a:spcPts val="0"/>
              </a:spcBef>
              <a:spcAft>
                <a:spcPts val="0"/>
              </a:spcAft>
              <a:buNone/>
            </a:pPr>
            <a:r>
              <a:rPr lang="en-US" sz="1600">
                <a:solidFill>
                  <a:schemeClr val="lt1"/>
                </a:solidFill>
                <a:latin typeface="Calibri"/>
                <a:ea typeface="Calibri"/>
                <a:cs typeface="Calibri"/>
                <a:sym typeface="Calibri"/>
              </a:rPr>
              <a:t>• Copy commands and skills to plugin</a:t>
            </a:r>
            <a:endParaRPr/>
          </a:p>
          <a:p>
            <a:pPr indent="0" lvl="0" marL="0" marR="0" rtl="0" algn="l">
              <a:spcBef>
                <a:spcPts val="0"/>
              </a:spcBef>
              <a:spcAft>
                <a:spcPts val="0"/>
              </a:spcAft>
              <a:buNone/>
            </a:pPr>
            <a:r>
              <a:rPr lang="en-US" sz="1600">
                <a:solidFill>
                  <a:schemeClr val="lt1"/>
                </a:solidFill>
                <a:latin typeface="Calibri"/>
                <a:ea typeface="Calibri"/>
                <a:cs typeface="Calibri"/>
                <a:sym typeface="Calibri"/>
              </a:rPr>
              <a:t>• Migrate hooks from settings.json to hooks.json format</a:t>
            </a:r>
            <a:endParaRPr/>
          </a:p>
          <a:p>
            <a:pPr indent="0" lvl="0" marL="0" marR="0" rtl="0" algn="l">
              <a:spcBef>
                <a:spcPts val="0"/>
              </a:spcBef>
              <a:spcAft>
                <a:spcPts val="0"/>
              </a:spcAft>
              <a:buNone/>
            </a:pPr>
            <a:r>
              <a:rPr lang="en-US" sz="1600">
                <a:solidFill>
                  <a:schemeClr val="lt1"/>
                </a:solidFill>
                <a:latin typeface="Calibri"/>
                <a:ea typeface="Calibri"/>
                <a:cs typeface="Calibri"/>
                <a:sym typeface="Calibri"/>
              </a:rPr>
              <a:t>• Test migrated plugin to ensure functionality</a:t>
            </a:r>
            <a:endParaRPr/>
          </a:p>
          <a:p>
            <a:pPr indent="0" lvl="0" marL="0" marR="0" rtl="0" algn="l">
              <a:spcBef>
                <a:spcPts val="0"/>
              </a:spcBef>
              <a:spcAft>
                <a:spcPts val="0"/>
              </a:spcAft>
              <a:buNone/>
            </a:pPr>
            <a:r>
              <a:rPr lang="en-US" sz="1600">
                <a:solidFill>
                  <a:schemeClr val="lt1"/>
                </a:solidFill>
                <a:latin typeface="Calibri"/>
                <a:ea typeface="Calibri"/>
                <a:cs typeface="Calibri"/>
                <a:sym typeface="Calibri"/>
              </a:rPr>
              <a:t>• Verify hooks trigger correctly</a:t>
            </a:r>
            <a:endParaRPr/>
          </a:p>
        </p:txBody>
      </p:sp>
      <p:sp>
        <p:nvSpPr>
          <p:cNvPr id="719" name="Google Shape;719;p58"/>
          <p:cNvSpPr/>
          <p:nvPr/>
        </p:nvSpPr>
        <p:spPr>
          <a:xfrm>
            <a:off x="7467600" y="4541520"/>
            <a:ext cx="1371600" cy="4572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Calibri"/>
                <a:ea typeface="Calibri"/>
                <a:cs typeface="Calibri"/>
                <a:sym typeface="Calibri"/>
              </a:rPr>
              <a:t>⏱ 30 minutes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724" name="Shape 724"/>
        <p:cNvGrpSpPr/>
        <p:nvPr/>
      </p:nvGrpSpPr>
      <p:grpSpPr>
        <a:xfrm>
          <a:off x="0" y="0"/>
          <a:ext cx="0" cy="0"/>
          <a:chOff x="0" y="0"/>
          <a:chExt cx="0" cy="0"/>
        </a:xfrm>
      </p:grpSpPr>
      <p:sp>
        <p:nvSpPr>
          <p:cNvPr id="725" name="Google Shape;725;p59"/>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41413"/>
                </a:solidFill>
                <a:latin typeface="Calibri"/>
                <a:ea typeface="Calibri"/>
                <a:cs typeface="Calibri"/>
                <a:sym typeface="Calibri"/>
              </a:rPr>
              <a:t>Lab Steps: Hook Migration</a:t>
            </a:r>
            <a:endParaRPr/>
          </a:p>
        </p:txBody>
      </p:sp>
      <p:sp>
        <p:nvSpPr>
          <p:cNvPr id="726" name="Google Shape;726;p59"/>
          <p:cNvSpPr txBox="1"/>
          <p:nvPr/>
        </p:nvSpPr>
        <p:spPr>
          <a:xfrm>
            <a:off x="731520" y="1188720"/>
            <a:ext cx="21031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41413"/>
                </a:solidFill>
                <a:latin typeface="Calibri"/>
                <a:ea typeface="Calibri"/>
                <a:cs typeface="Calibri"/>
                <a:sym typeface="Calibri"/>
              </a:rPr>
              <a:t>Step 1: Create plugin structure</a:t>
            </a:r>
            <a:endParaRPr/>
          </a:p>
        </p:txBody>
      </p:sp>
      <p:sp>
        <p:nvSpPr>
          <p:cNvPr id="727" name="Google Shape;727;p59"/>
          <p:cNvSpPr/>
          <p:nvPr/>
        </p:nvSpPr>
        <p:spPr>
          <a:xfrm>
            <a:off x="2926080" y="1188720"/>
            <a:ext cx="3840480" cy="2286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900">
                <a:solidFill>
                  <a:srgbClr val="FFFFFF"/>
                </a:solidFill>
                <a:latin typeface="Consolas"/>
                <a:ea typeface="Consolas"/>
                <a:cs typeface="Consolas"/>
                <a:sym typeface="Consolas"/>
              </a:rPr>
              <a:t>mkdir my-plugin &amp;&amp; mkdir my-plugin/.claude-plugin</a:t>
            </a:r>
            <a:endParaRPr/>
          </a:p>
        </p:txBody>
      </p:sp>
      <p:sp>
        <p:nvSpPr>
          <p:cNvPr id="728" name="Google Shape;728;p59"/>
          <p:cNvSpPr txBox="1"/>
          <p:nvPr/>
        </p:nvSpPr>
        <p:spPr>
          <a:xfrm>
            <a:off x="6858000" y="1188720"/>
            <a:ext cx="155448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Basic plugin skeleton</a:t>
            </a:r>
            <a:endParaRPr/>
          </a:p>
        </p:txBody>
      </p:sp>
      <p:sp>
        <p:nvSpPr>
          <p:cNvPr id="729" name="Google Shape;729;p59"/>
          <p:cNvSpPr txBox="1"/>
          <p:nvPr/>
        </p:nvSpPr>
        <p:spPr>
          <a:xfrm>
            <a:off x="731520" y="1645920"/>
            <a:ext cx="21031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41413"/>
                </a:solidFill>
                <a:latin typeface="Calibri"/>
                <a:ea typeface="Calibri"/>
                <a:cs typeface="Calibri"/>
                <a:sym typeface="Calibri"/>
              </a:rPr>
              <a:t>Step 2: Write manifest</a:t>
            </a:r>
            <a:endParaRPr/>
          </a:p>
        </p:txBody>
      </p:sp>
      <p:sp>
        <p:nvSpPr>
          <p:cNvPr id="730" name="Google Shape;730;p59"/>
          <p:cNvSpPr txBox="1"/>
          <p:nvPr/>
        </p:nvSpPr>
        <p:spPr>
          <a:xfrm>
            <a:off x="2926080" y="1645920"/>
            <a:ext cx="384048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000">
                <a:solidFill>
                  <a:srgbClr val="36454F"/>
                </a:solidFill>
                <a:latin typeface="Calibri"/>
                <a:ea typeface="Calibri"/>
                <a:cs typeface="Calibri"/>
                <a:sym typeface="Calibri"/>
              </a:rPr>
              <a:t>Create plugin.json with name, description, version</a:t>
            </a:r>
            <a:endParaRPr/>
          </a:p>
        </p:txBody>
      </p:sp>
      <p:sp>
        <p:nvSpPr>
          <p:cNvPr id="731" name="Google Shape;731;p59"/>
          <p:cNvSpPr txBox="1"/>
          <p:nvPr/>
        </p:nvSpPr>
        <p:spPr>
          <a:xfrm>
            <a:off x="6858000" y="1645920"/>
            <a:ext cx="155448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Plugin identity</a:t>
            </a:r>
            <a:endParaRPr/>
          </a:p>
        </p:txBody>
      </p:sp>
      <p:sp>
        <p:nvSpPr>
          <p:cNvPr id="732" name="Google Shape;732;p59"/>
          <p:cNvSpPr txBox="1"/>
          <p:nvPr/>
        </p:nvSpPr>
        <p:spPr>
          <a:xfrm>
            <a:off x="731520" y="2103120"/>
            <a:ext cx="21031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41413"/>
                </a:solidFill>
                <a:latin typeface="Calibri"/>
                <a:ea typeface="Calibri"/>
                <a:cs typeface="Calibri"/>
                <a:sym typeface="Calibri"/>
              </a:rPr>
              <a:t>Step 3: Copy existing files</a:t>
            </a:r>
            <a:endParaRPr/>
          </a:p>
        </p:txBody>
      </p:sp>
      <p:sp>
        <p:nvSpPr>
          <p:cNvPr id="733" name="Google Shape;733;p59"/>
          <p:cNvSpPr/>
          <p:nvPr/>
        </p:nvSpPr>
        <p:spPr>
          <a:xfrm>
            <a:off x="2926080" y="2103120"/>
            <a:ext cx="3840480" cy="2286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900">
                <a:solidFill>
                  <a:srgbClr val="FFFFFF"/>
                </a:solidFill>
                <a:latin typeface="Consolas"/>
                <a:ea typeface="Consolas"/>
                <a:cs typeface="Consolas"/>
                <a:sym typeface="Consolas"/>
              </a:rPr>
              <a:t>cp -r .claude/commands my-plugin/</a:t>
            </a:r>
            <a:endParaRPr/>
          </a:p>
        </p:txBody>
      </p:sp>
      <p:sp>
        <p:nvSpPr>
          <p:cNvPr id="734" name="Google Shape;734;p59"/>
          <p:cNvSpPr txBox="1"/>
          <p:nvPr/>
        </p:nvSpPr>
        <p:spPr>
          <a:xfrm>
            <a:off x="6858000" y="2103120"/>
            <a:ext cx="155448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Migrate commands</a:t>
            </a:r>
            <a:endParaRPr/>
          </a:p>
        </p:txBody>
      </p:sp>
      <p:sp>
        <p:nvSpPr>
          <p:cNvPr id="735" name="Google Shape;735;p59"/>
          <p:cNvSpPr txBox="1"/>
          <p:nvPr/>
        </p:nvSpPr>
        <p:spPr>
          <a:xfrm>
            <a:off x="731520" y="2560320"/>
            <a:ext cx="21031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41413"/>
                </a:solidFill>
                <a:latin typeface="Calibri"/>
                <a:ea typeface="Calibri"/>
                <a:cs typeface="Calibri"/>
                <a:sym typeface="Calibri"/>
              </a:rPr>
              <a:t>Step 4: Create hooks directory</a:t>
            </a:r>
            <a:endParaRPr/>
          </a:p>
        </p:txBody>
      </p:sp>
      <p:sp>
        <p:nvSpPr>
          <p:cNvPr id="736" name="Google Shape;736;p59"/>
          <p:cNvSpPr/>
          <p:nvPr/>
        </p:nvSpPr>
        <p:spPr>
          <a:xfrm>
            <a:off x="2926080" y="2560320"/>
            <a:ext cx="3840480" cy="2286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900">
                <a:solidFill>
                  <a:srgbClr val="FFFFFF"/>
                </a:solidFill>
                <a:latin typeface="Consolas"/>
                <a:ea typeface="Consolas"/>
                <a:cs typeface="Consolas"/>
                <a:sym typeface="Consolas"/>
              </a:rPr>
              <a:t>mkdir my-plugin/hooks</a:t>
            </a:r>
            <a:endParaRPr/>
          </a:p>
        </p:txBody>
      </p:sp>
      <p:sp>
        <p:nvSpPr>
          <p:cNvPr id="737" name="Google Shape;737;p59"/>
          <p:cNvSpPr txBox="1"/>
          <p:nvPr/>
        </p:nvSpPr>
        <p:spPr>
          <a:xfrm>
            <a:off x="6858000" y="2560320"/>
            <a:ext cx="155448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Hooks go here</a:t>
            </a:r>
            <a:endParaRPr/>
          </a:p>
        </p:txBody>
      </p:sp>
      <p:sp>
        <p:nvSpPr>
          <p:cNvPr id="738" name="Google Shape;738;p59"/>
          <p:cNvSpPr txBox="1"/>
          <p:nvPr/>
        </p:nvSpPr>
        <p:spPr>
          <a:xfrm>
            <a:off x="731520" y="3017520"/>
            <a:ext cx="21031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41413"/>
                </a:solidFill>
                <a:latin typeface="Calibri"/>
                <a:ea typeface="Calibri"/>
                <a:cs typeface="Calibri"/>
                <a:sym typeface="Calibri"/>
              </a:rPr>
              <a:t>Step 5: Extract hooks config</a:t>
            </a:r>
            <a:endParaRPr/>
          </a:p>
        </p:txBody>
      </p:sp>
      <p:sp>
        <p:nvSpPr>
          <p:cNvPr id="739" name="Google Shape;739;p59"/>
          <p:cNvSpPr txBox="1"/>
          <p:nvPr/>
        </p:nvSpPr>
        <p:spPr>
          <a:xfrm>
            <a:off x="2926080" y="3017520"/>
            <a:ext cx="384048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000">
                <a:solidFill>
                  <a:srgbClr val="36454F"/>
                </a:solidFill>
                <a:latin typeface="Calibri"/>
                <a:ea typeface="Calibri"/>
                <a:cs typeface="Calibri"/>
                <a:sym typeface="Calibri"/>
              </a:rPr>
              <a:t>Copy hooks object from settings.json</a:t>
            </a:r>
            <a:endParaRPr/>
          </a:p>
        </p:txBody>
      </p:sp>
      <p:sp>
        <p:nvSpPr>
          <p:cNvPr id="740" name="Google Shape;740;p59"/>
          <p:cNvSpPr txBox="1"/>
          <p:nvPr/>
        </p:nvSpPr>
        <p:spPr>
          <a:xfrm>
            <a:off x="6858000" y="3017520"/>
            <a:ext cx="155448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Same format</a:t>
            </a:r>
            <a:endParaRPr/>
          </a:p>
        </p:txBody>
      </p:sp>
      <p:sp>
        <p:nvSpPr>
          <p:cNvPr id="741" name="Google Shape;741;p59"/>
          <p:cNvSpPr txBox="1"/>
          <p:nvPr/>
        </p:nvSpPr>
        <p:spPr>
          <a:xfrm>
            <a:off x="731520" y="3474720"/>
            <a:ext cx="21031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41413"/>
                </a:solidFill>
                <a:latin typeface="Calibri"/>
                <a:ea typeface="Calibri"/>
                <a:cs typeface="Calibri"/>
                <a:sym typeface="Calibri"/>
              </a:rPr>
              <a:t>Step 6: Create hooks.json</a:t>
            </a:r>
            <a:endParaRPr/>
          </a:p>
        </p:txBody>
      </p:sp>
      <p:sp>
        <p:nvSpPr>
          <p:cNvPr id="742" name="Google Shape;742;p59"/>
          <p:cNvSpPr txBox="1"/>
          <p:nvPr/>
        </p:nvSpPr>
        <p:spPr>
          <a:xfrm>
            <a:off x="2926080" y="3474720"/>
            <a:ext cx="384048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000">
                <a:solidFill>
                  <a:srgbClr val="36454F"/>
                </a:solidFill>
                <a:latin typeface="Calibri"/>
                <a:ea typeface="Calibri"/>
                <a:cs typeface="Calibri"/>
                <a:sym typeface="Calibri"/>
              </a:rPr>
              <a:t>Paste into my-plugin/hooks/hooks.json</a:t>
            </a:r>
            <a:endParaRPr/>
          </a:p>
        </p:txBody>
      </p:sp>
      <p:sp>
        <p:nvSpPr>
          <p:cNvPr id="743" name="Google Shape;743;p59"/>
          <p:cNvSpPr txBox="1"/>
          <p:nvPr/>
        </p:nvSpPr>
        <p:spPr>
          <a:xfrm>
            <a:off x="6858000" y="3474720"/>
            <a:ext cx="155448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Format unchanged</a:t>
            </a:r>
            <a:endParaRPr/>
          </a:p>
        </p:txBody>
      </p:sp>
      <p:sp>
        <p:nvSpPr>
          <p:cNvPr id="744" name="Google Shape;744;p59"/>
          <p:cNvSpPr txBox="1"/>
          <p:nvPr/>
        </p:nvSpPr>
        <p:spPr>
          <a:xfrm>
            <a:off x="731520" y="3931920"/>
            <a:ext cx="210312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141413"/>
                </a:solidFill>
                <a:latin typeface="Calibri"/>
                <a:ea typeface="Calibri"/>
                <a:cs typeface="Calibri"/>
                <a:sym typeface="Calibri"/>
              </a:rPr>
              <a:t>Step 7: Test migrated plugin</a:t>
            </a:r>
            <a:endParaRPr/>
          </a:p>
        </p:txBody>
      </p:sp>
      <p:sp>
        <p:nvSpPr>
          <p:cNvPr id="745" name="Google Shape;745;p59"/>
          <p:cNvSpPr/>
          <p:nvPr/>
        </p:nvSpPr>
        <p:spPr>
          <a:xfrm>
            <a:off x="2926080" y="3931920"/>
            <a:ext cx="3840480" cy="228600"/>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900">
                <a:solidFill>
                  <a:srgbClr val="FFFFFF"/>
                </a:solidFill>
                <a:latin typeface="Consolas"/>
                <a:ea typeface="Consolas"/>
                <a:cs typeface="Consolas"/>
                <a:sym typeface="Consolas"/>
              </a:rPr>
              <a:t>claude --plugin-dir ./my-plugin</a:t>
            </a:r>
            <a:endParaRPr/>
          </a:p>
        </p:txBody>
      </p:sp>
      <p:sp>
        <p:nvSpPr>
          <p:cNvPr id="746" name="Google Shape;746;p59"/>
          <p:cNvSpPr txBox="1"/>
          <p:nvPr/>
        </p:nvSpPr>
        <p:spPr>
          <a:xfrm>
            <a:off x="6858000" y="3931920"/>
            <a:ext cx="1554480" cy="22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rgbClr val="36454F"/>
                </a:solidFill>
                <a:latin typeface="Calibri"/>
                <a:ea typeface="Calibri"/>
                <a:cs typeface="Calibri"/>
                <a:sym typeface="Calibri"/>
              </a:rPr>
              <a:t>Verify everything works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751" name="Shape 751"/>
        <p:cNvGrpSpPr/>
        <p:nvPr/>
      </p:nvGrpSpPr>
      <p:grpSpPr>
        <a:xfrm>
          <a:off x="0" y="0"/>
          <a:ext cx="0" cy="0"/>
          <a:chOff x="0" y="0"/>
          <a:chExt cx="0" cy="0"/>
        </a:xfrm>
      </p:grpSpPr>
      <p:sp>
        <p:nvSpPr>
          <p:cNvPr id="752" name="Google Shape;752;p60"/>
          <p:cNvSpPr/>
          <p:nvPr/>
        </p:nvSpPr>
        <p:spPr>
          <a:xfrm>
            <a:off x="0" y="0"/>
            <a:ext cx="2632364" cy="5143500"/>
          </a:xfrm>
          <a:prstGeom prst="rect">
            <a:avLst/>
          </a:prstGeom>
          <a:solidFill>
            <a:srgbClr val="788C5D"/>
          </a:solidFill>
          <a:ln cap="flat" cmpd="sng" w="9525">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3" name="Google Shape;753;p60"/>
          <p:cNvSpPr txBox="1"/>
          <p:nvPr/>
        </p:nvSpPr>
        <p:spPr>
          <a:xfrm>
            <a:off x="278911" y="3079865"/>
            <a:ext cx="2074542" cy="15696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Module 9:</a:t>
            </a:r>
            <a:endParaRPr sz="1800">
              <a:solidFill>
                <a:schemeClr val="lt1"/>
              </a:solidFill>
              <a:latin typeface="Calibri"/>
              <a:ea typeface="Calibri"/>
              <a:cs typeface="Calibri"/>
              <a:sym typeface="Calibri"/>
            </a:endParaRPr>
          </a:p>
          <a:p>
            <a:pPr indent="0" lvl="0" marL="0" marR="0" rtl="0" algn="ctr">
              <a:spcBef>
                <a:spcPts val="0"/>
              </a:spcBef>
              <a:spcAft>
                <a:spcPts val="0"/>
              </a:spcAft>
              <a:buNone/>
            </a:pPr>
            <a:r>
              <a:rPr b="1" lang="en-US" sz="3200">
                <a:solidFill>
                  <a:schemeClr val="lt1"/>
                </a:solidFill>
                <a:latin typeface="Calibri"/>
                <a:ea typeface="Calibri"/>
                <a:cs typeface="Calibri"/>
                <a:sym typeface="Calibri"/>
              </a:rPr>
              <a:t>Knowledge</a:t>
            </a:r>
            <a:endParaRPr sz="1800">
              <a:solidFill>
                <a:schemeClr val="lt1"/>
              </a:solidFill>
              <a:latin typeface="Calibri"/>
              <a:ea typeface="Calibri"/>
              <a:cs typeface="Calibri"/>
              <a:sym typeface="Calibri"/>
            </a:endParaRPr>
          </a:p>
          <a:p>
            <a:pPr indent="0" lvl="0" marL="0" marR="0" rtl="0" algn="ctr">
              <a:spcBef>
                <a:spcPts val="0"/>
              </a:spcBef>
              <a:spcAft>
                <a:spcPts val="0"/>
              </a:spcAft>
              <a:buNone/>
            </a:pPr>
            <a:r>
              <a:rPr b="1" lang="en-US" sz="3200">
                <a:solidFill>
                  <a:schemeClr val="lt1"/>
                </a:solidFill>
                <a:latin typeface="Calibri"/>
                <a:ea typeface="Calibri"/>
                <a:cs typeface="Calibri"/>
                <a:sym typeface="Calibri"/>
              </a:rPr>
              <a:t>Check</a:t>
            </a:r>
            <a:endParaRPr/>
          </a:p>
        </p:txBody>
      </p:sp>
      <p:pic>
        <p:nvPicPr>
          <p:cNvPr descr="Brain with solid fill" id="754" name="Google Shape;754;p60"/>
          <p:cNvPicPr preferRelativeResize="0"/>
          <p:nvPr/>
        </p:nvPicPr>
        <p:blipFill rotWithShape="1">
          <a:blip r:embed="rId3">
            <a:alphaModFix/>
          </a:blip>
          <a:srcRect b="0" l="0" r="0" t="0"/>
          <a:stretch/>
        </p:blipFill>
        <p:spPr>
          <a:xfrm>
            <a:off x="969818" y="2376055"/>
            <a:ext cx="703810" cy="703810"/>
          </a:xfrm>
          <a:prstGeom prst="rect">
            <a:avLst/>
          </a:prstGeom>
          <a:noFill/>
          <a:ln>
            <a:noFill/>
          </a:ln>
        </p:spPr>
      </p:pic>
      <p:sp>
        <p:nvSpPr>
          <p:cNvPr id="755" name="Google Shape;755;p60"/>
          <p:cNvSpPr txBox="1"/>
          <p:nvPr/>
        </p:nvSpPr>
        <p:spPr>
          <a:xfrm>
            <a:off x="3129308" y="834391"/>
            <a:ext cx="531890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41413"/>
                </a:solidFill>
                <a:latin typeface="Calibri"/>
                <a:ea typeface="Calibri"/>
                <a:cs typeface="Calibri"/>
                <a:sym typeface="Calibri"/>
              </a:rPr>
              <a:t>What is the correct plugin structure for hooks?</a:t>
            </a:r>
            <a:endParaRPr/>
          </a:p>
        </p:txBody>
      </p:sp>
      <p:sp>
        <p:nvSpPr>
          <p:cNvPr id="756" name="Google Shape;756;p60"/>
          <p:cNvSpPr txBox="1"/>
          <p:nvPr/>
        </p:nvSpPr>
        <p:spPr>
          <a:xfrm>
            <a:off x="3312188" y="1289443"/>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36454F"/>
                </a:solidFill>
                <a:latin typeface="Calibri"/>
                <a:ea typeface="Calibri"/>
                <a:cs typeface="Calibri"/>
                <a:sym typeface="Calibri"/>
              </a:rPr>
              <a:t>A) hooks.json at plugin root</a:t>
            </a:r>
            <a:endParaRPr/>
          </a:p>
        </p:txBody>
      </p:sp>
      <p:sp>
        <p:nvSpPr>
          <p:cNvPr id="757" name="Google Shape;757;p60"/>
          <p:cNvSpPr txBox="1"/>
          <p:nvPr/>
        </p:nvSpPr>
        <p:spPr>
          <a:xfrm>
            <a:off x="3312188" y="1563763"/>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36454F"/>
                </a:solidFill>
                <a:latin typeface="Calibri"/>
                <a:ea typeface="Calibri"/>
                <a:cs typeface="Calibri"/>
                <a:sym typeface="Calibri"/>
              </a:rPr>
              <a:t>B) .claude-plugin/hooks.json</a:t>
            </a:r>
            <a:endParaRPr/>
          </a:p>
        </p:txBody>
      </p:sp>
      <p:sp>
        <p:nvSpPr>
          <p:cNvPr id="758" name="Google Shape;758;p60"/>
          <p:cNvSpPr txBox="1"/>
          <p:nvPr/>
        </p:nvSpPr>
        <p:spPr>
          <a:xfrm>
            <a:off x="3312188" y="1838082"/>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788C5D"/>
                </a:solidFill>
                <a:latin typeface="Calibri"/>
                <a:ea typeface="Calibri"/>
                <a:cs typeface="Calibri"/>
                <a:sym typeface="Calibri"/>
              </a:rPr>
              <a:t>C) hooks/hooks.json</a:t>
            </a:r>
            <a:endParaRPr/>
          </a:p>
        </p:txBody>
      </p:sp>
      <p:sp>
        <p:nvSpPr>
          <p:cNvPr id="759" name="Google Shape;759;p60"/>
          <p:cNvSpPr txBox="1"/>
          <p:nvPr/>
        </p:nvSpPr>
        <p:spPr>
          <a:xfrm>
            <a:off x="3312188" y="2112402"/>
            <a:ext cx="513602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36454F"/>
                </a:solidFill>
                <a:latin typeface="Calibri"/>
                <a:ea typeface="Calibri"/>
                <a:cs typeface="Calibri"/>
                <a:sym typeface="Calibri"/>
              </a:rPr>
              <a:t>D) config/hooks.json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764" name="Shape 764"/>
        <p:cNvGrpSpPr/>
        <p:nvPr/>
      </p:nvGrpSpPr>
      <p:grpSpPr>
        <a:xfrm>
          <a:off x="0" y="0"/>
          <a:ext cx="0" cy="0"/>
          <a:chOff x="0" y="0"/>
          <a:chExt cx="0" cy="0"/>
        </a:xfrm>
      </p:grpSpPr>
      <p:sp>
        <p:nvSpPr>
          <p:cNvPr id="765" name="Google Shape;765;p61"/>
          <p:cNvSpPr txBox="1"/>
          <p:nvPr/>
        </p:nvSpPr>
        <p:spPr>
          <a:xfrm>
            <a:off x="457200" y="502920"/>
            <a:ext cx="353032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41413"/>
                </a:solidFill>
                <a:latin typeface="Calibri"/>
                <a:ea typeface="Calibri"/>
                <a:cs typeface="Calibri"/>
                <a:sym typeface="Calibri"/>
              </a:rPr>
              <a:t>Module 9 Summary</a:t>
            </a:r>
            <a:endParaRPr/>
          </a:p>
        </p:txBody>
      </p:sp>
      <p:sp>
        <p:nvSpPr>
          <p:cNvPr id="766" name="Google Shape;766;p61"/>
          <p:cNvSpPr txBox="1"/>
          <p:nvPr/>
        </p:nvSpPr>
        <p:spPr>
          <a:xfrm>
            <a:off x="457200" y="1051560"/>
            <a:ext cx="232653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36454F"/>
                </a:solidFill>
                <a:latin typeface="Calibri"/>
                <a:ea typeface="Calibri"/>
                <a:cs typeface="Calibri"/>
                <a:sym typeface="Calibri"/>
              </a:rPr>
              <a:t>Lab: Converting Hooks </a:t>
            </a:r>
            <a:endParaRPr/>
          </a:p>
        </p:txBody>
      </p:sp>
      <p:sp>
        <p:nvSpPr>
          <p:cNvPr id="767" name="Google Shape;767;p61"/>
          <p:cNvSpPr txBox="1"/>
          <p:nvPr/>
        </p:nvSpPr>
        <p:spPr>
          <a:xfrm>
            <a:off x="457200" y="16459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Key Takeaways</a:t>
            </a:r>
            <a:endParaRPr/>
          </a:p>
        </p:txBody>
      </p:sp>
      <p:sp>
        <p:nvSpPr>
          <p:cNvPr id="768" name="Google Shape;768;p61"/>
          <p:cNvSpPr txBox="1"/>
          <p:nvPr/>
        </p:nvSpPr>
        <p:spPr>
          <a:xfrm>
            <a:off x="457200" y="2103120"/>
            <a:ext cx="5389418" cy="271869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41413"/>
                </a:solidFill>
                <a:latin typeface="Calibri"/>
                <a:ea typeface="Calibri"/>
                <a:cs typeface="Calibri"/>
                <a:sym typeface="Calibri"/>
              </a:rPr>
              <a:t>• Migration preserves hook functionality while enabling sharing</a:t>
            </a:r>
            <a:endParaRPr/>
          </a:p>
          <a:p>
            <a:pPr indent="0" lvl="0" marL="0" marR="0" rtl="0" algn="l">
              <a:spcBef>
                <a:spcPts val="800"/>
              </a:spcBef>
              <a:spcAft>
                <a:spcPts val="0"/>
              </a:spcAft>
              <a:buNone/>
            </a:pPr>
            <a:r>
              <a:rPr lang="en-US" sz="1600">
                <a:solidFill>
                  <a:srgbClr val="141413"/>
                </a:solidFill>
                <a:latin typeface="Calibri"/>
                <a:ea typeface="Calibri"/>
                <a:cs typeface="Calibri"/>
                <a:sym typeface="Calibri"/>
              </a:rPr>
              <a:t>• Hook JSON format remains identical—just changes location</a:t>
            </a:r>
            <a:endParaRPr/>
          </a:p>
          <a:p>
            <a:pPr indent="0" lvl="0" marL="0" marR="0" rtl="0" algn="l">
              <a:spcBef>
                <a:spcPts val="800"/>
              </a:spcBef>
              <a:spcAft>
                <a:spcPts val="0"/>
              </a:spcAft>
              <a:buNone/>
            </a:pPr>
            <a:r>
              <a:rPr lang="en-US" sz="1600">
                <a:solidFill>
                  <a:srgbClr val="141413"/>
                </a:solidFill>
                <a:latin typeface="Calibri"/>
                <a:ea typeface="Calibri"/>
                <a:cs typeface="Calibri"/>
                <a:sym typeface="Calibri"/>
              </a:rPr>
              <a:t>• Test thoroughly with --plugin-dir before removing original files</a:t>
            </a:r>
            <a:endParaRPr/>
          </a:p>
          <a:p>
            <a:pPr indent="0" lvl="0" marL="0" marR="0" rtl="0" algn="l">
              <a:spcBef>
                <a:spcPts val="800"/>
              </a:spcBef>
              <a:spcAft>
                <a:spcPts val="0"/>
              </a:spcAft>
              <a:buNone/>
            </a:pPr>
            <a:r>
              <a:rPr lang="en-US" sz="1600">
                <a:solidFill>
                  <a:srgbClr val="141413"/>
                </a:solidFill>
                <a:latin typeface="Calibri"/>
                <a:ea typeface="Calibri"/>
                <a:cs typeface="Calibri"/>
                <a:sym typeface="Calibri"/>
              </a:rPr>
              <a:t>• After successful migration, remove .claude/ files to prevent duplicates</a:t>
            </a:r>
            <a:endParaRPr/>
          </a:p>
          <a:p>
            <a:pPr indent="0" lvl="0" marL="0" marR="0" rtl="0" algn="l">
              <a:spcBef>
                <a:spcPts val="800"/>
              </a:spcBef>
              <a:spcAft>
                <a:spcPts val="0"/>
              </a:spcAft>
              <a:buNone/>
            </a:pPr>
            <a:r>
              <a:rPr lang="en-US" sz="1600">
                <a:solidFill>
                  <a:srgbClr val="141413"/>
                </a:solidFill>
                <a:latin typeface="Calibri"/>
                <a:ea typeface="Calibri"/>
                <a:cs typeface="Calibri"/>
                <a:sym typeface="Calibri"/>
              </a:rPr>
              <a:t>• Converted plugins can be shared via marketplaces immediately</a:t>
            </a:r>
            <a:endParaRPr/>
          </a:p>
        </p:txBody>
      </p:sp>
      <p:sp>
        <p:nvSpPr>
          <p:cNvPr id="769" name="Google Shape;769;p61"/>
          <p:cNvSpPr/>
          <p:nvPr/>
        </p:nvSpPr>
        <p:spPr>
          <a:xfrm>
            <a:off x="6511636" y="0"/>
            <a:ext cx="2632364" cy="5143500"/>
          </a:xfrm>
          <a:prstGeom prst="rect">
            <a:avLst/>
          </a:prstGeom>
          <a:solidFill>
            <a:srgbClr val="D97757"/>
          </a:solidFill>
          <a:ln cap="flat" cmpd="sng" w="9525">
            <a:solidFill>
              <a:srgbClr val="D9775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Key with solid fill" id="770" name="Google Shape;770;p61"/>
          <p:cNvPicPr preferRelativeResize="0"/>
          <p:nvPr/>
        </p:nvPicPr>
        <p:blipFill rotWithShape="1">
          <a:blip r:embed="rId3">
            <a:alphaModFix/>
          </a:blip>
          <a:srcRect b="0" l="0" r="0" t="0"/>
          <a:stretch/>
        </p:blipFill>
        <p:spPr>
          <a:xfrm>
            <a:off x="7370618" y="502920"/>
            <a:ext cx="914400" cy="9144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454F"/>
        </a:solidFill>
      </p:bgPr>
    </p:bg>
    <p:spTree>
      <p:nvGrpSpPr>
        <p:cNvPr id="775" name="Shape 775"/>
        <p:cNvGrpSpPr/>
        <p:nvPr/>
      </p:nvGrpSpPr>
      <p:grpSpPr>
        <a:xfrm>
          <a:off x="0" y="0"/>
          <a:ext cx="0" cy="0"/>
          <a:chOff x="0" y="0"/>
          <a:chExt cx="0" cy="0"/>
        </a:xfrm>
      </p:grpSpPr>
      <p:sp>
        <p:nvSpPr>
          <p:cNvPr id="776" name="Google Shape;776;p62"/>
          <p:cNvSpPr txBox="1"/>
          <p:nvPr/>
        </p:nvSpPr>
        <p:spPr>
          <a:xfrm>
            <a:off x="3362374" y="2103120"/>
            <a:ext cx="2419252"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400">
                <a:solidFill>
                  <a:srgbClr val="FFFFFF"/>
                </a:solidFill>
                <a:latin typeface="Calibri"/>
                <a:ea typeface="Calibri"/>
                <a:cs typeface="Calibri"/>
                <a:sym typeface="Calibri"/>
              </a:rPr>
              <a:t>Appendix</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781" name="Shape 781"/>
        <p:cNvGrpSpPr/>
        <p:nvPr/>
      </p:nvGrpSpPr>
      <p:grpSpPr>
        <a:xfrm>
          <a:off x="0" y="0"/>
          <a:ext cx="0" cy="0"/>
          <a:chOff x="0" y="0"/>
          <a:chExt cx="0" cy="0"/>
        </a:xfrm>
      </p:grpSpPr>
      <p:sp>
        <p:nvSpPr>
          <p:cNvPr id="782" name="Google Shape;782;p63"/>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41413"/>
                </a:solidFill>
                <a:latin typeface="Calibri"/>
                <a:ea typeface="Calibri"/>
                <a:cs typeface="Calibri"/>
                <a:sym typeface="Calibri"/>
              </a:rPr>
              <a:t>Plugin Development Best Practices</a:t>
            </a:r>
            <a:endParaRPr/>
          </a:p>
        </p:txBody>
      </p:sp>
      <p:sp>
        <p:nvSpPr>
          <p:cNvPr id="783" name="Google Shape;783;p63"/>
          <p:cNvSpPr/>
          <p:nvPr/>
        </p:nvSpPr>
        <p:spPr>
          <a:xfrm>
            <a:off x="731520" y="1280160"/>
            <a:ext cx="7680960" cy="640080"/>
          </a:xfrm>
          <a:prstGeom prst="rect">
            <a:avLst/>
          </a:prstGeom>
          <a:solidFill>
            <a:srgbClr val="FFFFFF"/>
          </a:solidFill>
          <a:ln cap="flat" cmpd="sng" w="12700">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4" name="Google Shape;784;p63"/>
          <p:cNvSpPr txBox="1"/>
          <p:nvPr/>
        </p:nvSpPr>
        <p:spPr>
          <a:xfrm>
            <a:off x="914400" y="1325880"/>
            <a:ext cx="73152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41413"/>
                </a:solidFill>
                <a:latin typeface="Calibri"/>
                <a:ea typeface="Calibri"/>
                <a:cs typeface="Calibri"/>
                <a:sym typeface="Calibri"/>
              </a:rPr>
              <a:t>Start with standalone, convert later</a:t>
            </a:r>
            <a:endParaRPr/>
          </a:p>
        </p:txBody>
      </p:sp>
      <p:sp>
        <p:nvSpPr>
          <p:cNvPr id="785" name="Google Shape;785;p63"/>
          <p:cNvSpPr txBox="1"/>
          <p:nvPr/>
        </p:nvSpPr>
        <p:spPr>
          <a:xfrm>
            <a:off x="914400" y="1600200"/>
            <a:ext cx="73152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100">
                <a:solidFill>
                  <a:srgbClr val="36454F"/>
                </a:solidFill>
                <a:latin typeface="Calibri"/>
                <a:ea typeface="Calibri"/>
                <a:cs typeface="Calibri"/>
                <a:sym typeface="Calibri"/>
              </a:rPr>
              <a:t>WHY: Faster iteration without packaging overhead, easy to test and refine</a:t>
            </a:r>
            <a:endParaRPr/>
          </a:p>
        </p:txBody>
      </p:sp>
      <p:sp>
        <p:nvSpPr>
          <p:cNvPr id="786" name="Google Shape;786;p63"/>
          <p:cNvSpPr/>
          <p:nvPr/>
        </p:nvSpPr>
        <p:spPr>
          <a:xfrm>
            <a:off x="731520" y="2011680"/>
            <a:ext cx="7680960" cy="640080"/>
          </a:xfrm>
          <a:prstGeom prst="rect">
            <a:avLst/>
          </a:prstGeom>
          <a:solidFill>
            <a:srgbClr val="FFFFFF"/>
          </a:solidFill>
          <a:ln cap="flat" cmpd="sng" w="12700">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7" name="Google Shape;787;p63"/>
          <p:cNvSpPr txBox="1"/>
          <p:nvPr/>
        </p:nvSpPr>
        <p:spPr>
          <a:xfrm>
            <a:off x="914400" y="2057400"/>
            <a:ext cx="73152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41413"/>
                </a:solidFill>
                <a:latin typeface="Calibri"/>
                <a:ea typeface="Calibri"/>
                <a:cs typeface="Calibri"/>
                <a:sym typeface="Calibri"/>
              </a:rPr>
              <a:t>Use semantic versioning</a:t>
            </a:r>
            <a:endParaRPr/>
          </a:p>
        </p:txBody>
      </p:sp>
      <p:sp>
        <p:nvSpPr>
          <p:cNvPr id="788" name="Google Shape;788;p63"/>
          <p:cNvSpPr txBox="1"/>
          <p:nvPr/>
        </p:nvSpPr>
        <p:spPr>
          <a:xfrm>
            <a:off x="914400" y="2331720"/>
            <a:ext cx="73152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100">
                <a:solidFill>
                  <a:srgbClr val="36454F"/>
                </a:solidFill>
                <a:latin typeface="Calibri"/>
                <a:ea typeface="Calibri"/>
                <a:cs typeface="Calibri"/>
                <a:sym typeface="Calibri"/>
              </a:rPr>
              <a:t>WHY: Users can track breaking changes and updates reliably</a:t>
            </a:r>
            <a:endParaRPr/>
          </a:p>
        </p:txBody>
      </p:sp>
      <p:sp>
        <p:nvSpPr>
          <p:cNvPr id="789" name="Google Shape;789;p63"/>
          <p:cNvSpPr/>
          <p:nvPr/>
        </p:nvSpPr>
        <p:spPr>
          <a:xfrm>
            <a:off x="731520" y="2743200"/>
            <a:ext cx="7680960" cy="640080"/>
          </a:xfrm>
          <a:prstGeom prst="rect">
            <a:avLst/>
          </a:prstGeom>
          <a:solidFill>
            <a:srgbClr val="FFFFFF"/>
          </a:solidFill>
          <a:ln cap="flat" cmpd="sng" w="12700">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0" name="Google Shape;790;p63"/>
          <p:cNvSpPr txBox="1"/>
          <p:nvPr/>
        </p:nvSpPr>
        <p:spPr>
          <a:xfrm>
            <a:off x="914400" y="2788920"/>
            <a:ext cx="73152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41413"/>
                </a:solidFill>
                <a:latin typeface="Calibri"/>
                <a:ea typeface="Calibri"/>
                <a:cs typeface="Calibri"/>
                <a:sym typeface="Calibri"/>
              </a:rPr>
              <a:t>Include a README.md</a:t>
            </a:r>
            <a:endParaRPr/>
          </a:p>
        </p:txBody>
      </p:sp>
      <p:sp>
        <p:nvSpPr>
          <p:cNvPr id="791" name="Google Shape;791;p63"/>
          <p:cNvSpPr txBox="1"/>
          <p:nvPr/>
        </p:nvSpPr>
        <p:spPr>
          <a:xfrm>
            <a:off x="914400" y="3063240"/>
            <a:ext cx="73152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100">
                <a:solidFill>
                  <a:srgbClr val="36454F"/>
                </a:solidFill>
                <a:latin typeface="Calibri"/>
                <a:ea typeface="Calibri"/>
                <a:cs typeface="Calibri"/>
                <a:sym typeface="Calibri"/>
              </a:rPr>
              <a:t>WHY: Others need to understand installation and usage without guessing</a:t>
            </a:r>
            <a:endParaRPr/>
          </a:p>
        </p:txBody>
      </p:sp>
      <p:sp>
        <p:nvSpPr>
          <p:cNvPr id="792" name="Google Shape;792;p63"/>
          <p:cNvSpPr/>
          <p:nvPr/>
        </p:nvSpPr>
        <p:spPr>
          <a:xfrm>
            <a:off x="731520" y="3474720"/>
            <a:ext cx="7680960" cy="640080"/>
          </a:xfrm>
          <a:prstGeom prst="rect">
            <a:avLst/>
          </a:prstGeom>
          <a:solidFill>
            <a:srgbClr val="FFFFFF"/>
          </a:solidFill>
          <a:ln cap="flat" cmpd="sng" w="12700">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3" name="Google Shape;793;p63"/>
          <p:cNvSpPr txBox="1"/>
          <p:nvPr/>
        </p:nvSpPr>
        <p:spPr>
          <a:xfrm>
            <a:off x="914400" y="3520439"/>
            <a:ext cx="73152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41413"/>
                </a:solidFill>
                <a:latin typeface="Calibri"/>
                <a:ea typeface="Calibri"/>
                <a:cs typeface="Calibri"/>
                <a:sym typeface="Calibri"/>
              </a:rPr>
              <a:t>Test with --plugin-dir during development</a:t>
            </a:r>
            <a:endParaRPr/>
          </a:p>
        </p:txBody>
      </p:sp>
      <p:sp>
        <p:nvSpPr>
          <p:cNvPr id="794" name="Google Shape;794;p63"/>
          <p:cNvSpPr txBox="1"/>
          <p:nvPr/>
        </p:nvSpPr>
        <p:spPr>
          <a:xfrm>
            <a:off x="914400" y="3794759"/>
            <a:ext cx="73152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100">
                <a:solidFill>
                  <a:srgbClr val="36454F"/>
                </a:solidFill>
                <a:latin typeface="Calibri"/>
                <a:ea typeface="Calibri"/>
                <a:cs typeface="Calibri"/>
                <a:sym typeface="Calibri"/>
              </a:rPr>
              <a:t>WHY: No installation needed, immediate feedback on changes</a:t>
            </a:r>
            <a:endParaRPr/>
          </a:p>
        </p:txBody>
      </p:sp>
      <p:sp>
        <p:nvSpPr>
          <p:cNvPr id="795" name="Google Shape;795;p63"/>
          <p:cNvSpPr/>
          <p:nvPr/>
        </p:nvSpPr>
        <p:spPr>
          <a:xfrm>
            <a:off x="731520" y="4206240"/>
            <a:ext cx="7680960" cy="640080"/>
          </a:xfrm>
          <a:prstGeom prst="rect">
            <a:avLst/>
          </a:prstGeom>
          <a:solidFill>
            <a:srgbClr val="FFFFFF"/>
          </a:solidFill>
          <a:ln cap="flat" cmpd="sng" w="12700">
            <a:solidFill>
              <a:srgbClr val="788C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6" name="Google Shape;796;p63"/>
          <p:cNvSpPr txBox="1"/>
          <p:nvPr/>
        </p:nvSpPr>
        <p:spPr>
          <a:xfrm>
            <a:off x="914400" y="4251959"/>
            <a:ext cx="73152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141413"/>
                </a:solidFill>
                <a:latin typeface="Calibri"/>
                <a:ea typeface="Calibri"/>
                <a:cs typeface="Calibri"/>
                <a:sym typeface="Calibri"/>
              </a:rPr>
              <a:t>Keep plugin directories at root level</a:t>
            </a:r>
            <a:endParaRPr/>
          </a:p>
        </p:txBody>
      </p:sp>
      <p:sp>
        <p:nvSpPr>
          <p:cNvPr id="797" name="Google Shape;797;p63"/>
          <p:cNvSpPr txBox="1"/>
          <p:nvPr/>
        </p:nvSpPr>
        <p:spPr>
          <a:xfrm>
            <a:off x="914400" y="4526279"/>
            <a:ext cx="73152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100">
                <a:solidFill>
                  <a:srgbClr val="36454F"/>
                </a:solidFill>
                <a:latin typeface="Calibri"/>
                <a:ea typeface="Calibri"/>
                <a:cs typeface="Calibri"/>
                <a:sym typeface="Calibri"/>
              </a:rPr>
              <a:t>WHY: Prevents common structure mistakes that break plugin loading</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802" name="Shape 802"/>
        <p:cNvGrpSpPr/>
        <p:nvPr/>
      </p:nvGrpSpPr>
      <p:grpSpPr>
        <a:xfrm>
          <a:off x="0" y="0"/>
          <a:ext cx="0" cy="0"/>
          <a:chOff x="0" y="0"/>
          <a:chExt cx="0" cy="0"/>
        </a:xfrm>
      </p:grpSpPr>
      <p:sp>
        <p:nvSpPr>
          <p:cNvPr id="803" name="Google Shape;803;p64"/>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41413"/>
                </a:solidFill>
                <a:latin typeface="Calibri"/>
                <a:ea typeface="Calibri"/>
                <a:cs typeface="Calibri"/>
                <a:sym typeface="Calibri"/>
              </a:rPr>
              <a:t>Distribution Best Practices</a:t>
            </a:r>
            <a:endParaRPr/>
          </a:p>
        </p:txBody>
      </p:sp>
      <p:sp>
        <p:nvSpPr>
          <p:cNvPr id="804" name="Google Shape;804;p64"/>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Before Distributing</a:t>
            </a:r>
            <a:endParaRPr/>
          </a:p>
        </p:txBody>
      </p:sp>
      <p:sp>
        <p:nvSpPr>
          <p:cNvPr id="805" name="Google Shape;805;p64"/>
          <p:cNvSpPr txBox="1"/>
          <p:nvPr/>
        </p:nvSpPr>
        <p:spPr>
          <a:xfrm>
            <a:off x="731520" y="1645920"/>
            <a:ext cx="7680960" cy="18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41413"/>
                </a:solidFill>
                <a:latin typeface="Calibri"/>
                <a:ea typeface="Calibri"/>
                <a:cs typeface="Calibri"/>
                <a:sym typeface="Calibri"/>
              </a:rPr>
              <a:t>• Document all dependencies and prerequisites clearly</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Test with multiple team members to catch environment issues</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Version your plugin using semantic versioning (1.0.0, 1.1.0, 2.0.0)</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Add license information to clarify usage rights</a:t>
            </a:r>
            <a:endParaRPr/>
          </a:p>
        </p:txBody>
      </p:sp>
      <p:sp>
        <p:nvSpPr>
          <p:cNvPr id="806" name="Google Shape;806;p64"/>
          <p:cNvSpPr txBox="1"/>
          <p:nvPr/>
        </p:nvSpPr>
        <p:spPr>
          <a:xfrm>
            <a:off x="731520" y="285750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Marketplace Setup</a:t>
            </a:r>
            <a:endParaRPr/>
          </a:p>
        </p:txBody>
      </p:sp>
      <p:sp>
        <p:nvSpPr>
          <p:cNvPr id="807" name="Google Shape;807;p64"/>
          <p:cNvSpPr txBox="1"/>
          <p:nvPr/>
        </p:nvSpPr>
        <p:spPr>
          <a:xfrm>
            <a:off x="731520" y="3314700"/>
            <a:ext cx="7680960" cy="18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41413"/>
                </a:solidFill>
                <a:latin typeface="Calibri"/>
                <a:ea typeface="Calibri"/>
                <a:cs typeface="Calibri"/>
                <a:sym typeface="Calibri"/>
              </a:rPr>
              <a:t>• Use clear, descriptive plugin names (avoid generic names like 'utils')</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Write concise descriptions that explain what the plugin does</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Link to homepage or repository for detailed documentation</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Keep marketplace.json metadata up to date</a:t>
            </a:r>
            <a:endParaRPr/>
          </a:p>
        </p:txBody>
      </p:sp>
      <p:sp>
        <p:nvSpPr>
          <p:cNvPr id="808" name="Google Shape;808;p64"/>
          <p:cNvSpPr/>
          <p:nvPr/>
        </p:nvSpPr>
        <p:spPr>
          <a:xfrm>
            <a:off x="6906491" y="1330036"/>
            <a:ext cx="1780308" cy="3059084"/>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chemeClr val="lt1"/>
                </a:solidFill>
                <a:latin typeface="Calibri"/>
                <a:ea typeface="Calibri"/>
                <a:cs typeface="Calibri"/>
                <a:sym typeface="Calibri"/>
              </a:rPr>
              <a:t>Good documentation prevents support requests and helps users adopt your plugin successfully</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813" name="Shape 813"/>
        <p:cNvGrpSpPr/>
        <p:nvPr/>
      </p:nvGrpSpPr>
      <p:grpSpPr>
        <a:xfrm>
          <a:off x="0" y="0"/>
          <a:ext cx="0" cy="0"/>
          <a:chOff x="0" y="0"/>
          <a:chExt cx="0" cy="0"/>
        </a:xfrm>
      </p:grpSpPr>
      <p:sp>
        <p:nvSpPr>
          <p:cNvPr id="814" name="Google Shape;814;p65"/>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41413"/>
                </a:solidFill>
                <a:latin typeface="Calibri"/>
                <a:ea typeface="Calibri"/>
                <a:cs typeface="Calibri"/>
                <a:sym typeface="Calibri"/>
              </a:rPr>
              <a:t>Troubleshooting Common Issues</a:t>
            </a:r>
            <a:endParaRPr/>
          </a:p>
        </p:txBody>
      </p:sp>
      <p:sp>
        <p:nvSpPr>
          <p:cNvPr id="815" name="Google Shape;815;p65"/>
          <p:cNvSpPr/>
          <p:nvPr/>
        </p:nvSpPr>
        <p:spPr>
          <a:xfrm>
            <a:off x="731520" y="1280160"/>
            <a:ext cx="320040" cy="320040"/>
          </a:xfrm>
          <a:prstGeom prst="ellipse">
            <a:avLst/>
          </a:prstGeom>
          <a:solidFill>
            <a:srgbClr val="D9775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6" name="Google Shape;816;p65"/>
          <p:cNvSpPr txBox="1"/>
          <p:nvPr/>
        </p:nvSpPr>
        <p:spPr>
          <a:xfrm>
            <a:off x="1188720" y="1280160"/>
            <a:ext cx="3200400" cy="3200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1400">
                <a:solidFill>
                  <a:srgbClr val="141413"/>
                </a:solidFill>
                <a:latin typeface="Calibri"/>
                <a:ea typeface="Calibri"/>
                <a:cs typeface="Calibri"/>
                <a:sym typeface="Calibri"/>
              </a:rPr>
              <a:t>Plugin not loading</a:t>
            </a:r>
            <a:endParaRPr/>
          </a:p>
        </p:txBody>
      </p:sp>
      <p:sp>
        <p:nvSpPr>
          <p:cNvPr id="817" name="Google Shape;817;p65"/>
          <p:cNvSpPr txBox="1"/>
          <p:nvPr/>
        </p:nvSpPr>
        <p:spPr>
          <a:xfrm>
            <a:off x="4572000" y="1280160"/>
            <a:ext cx="3840480" cy="3200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1100">
                <a:solidFill>
                  <a:srgbClr val="36454F"/>
                </a:solidFill>
                <a:latin typeface="Calibri"/>
                <a:ea typeface="Calibri"/>
                <a:cs typeface="Calibri"/>
                <a:sym typeface="Calibri"/>
              </a:rPr>
              <a:t>Check: Structure (directories at root, not inside .claude-plugin/)</a:t>
            </a:r>
            <a:endParaRPr/>
          </a:p>
        </p:txBody>
      </p:sp>
      <p:sp>
        <p:nvSpPr>
          <p:cNvPr id="818" name="Google Shape;818;p65"/>
          <p:cNvSpPr/>
          <p:nvPr/>
        </p:nvSpPr>
        <p:spPr>
          <a:xfrm>
            <a:off x="731520" y="1874519"/>
            <a:ext cx="320040" cy="320040"/>
          </a:xfrm>
          <a:prstGeom prst="ellipse">
            <a:avLst/>
          </a:prstGeom>
          <a:solidFill>
            <a:srgbClr val="D9775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9" name="Google Shape;819;p65"/>
          <p:cNvSpPr txBox="1"/>
          <p:nvPr/>
        </p:nvSpPr>
        <p:spPr>
          <a:xfrm>
            <a:off x="1188720" y="1874519"/>
            <a:ext cx="3200400" cy="3200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1400">
                <a:solidFill>
                  <a:srgbClr val="141413"/>
                </a:solidFill>
                <a:latin typeface="Calibri"/>
                <a:ea typeface="Calibri"/>
                <a:cs typeface="Calibri"/>
                <a:sym typeface="Calibri"/>
              </a:rPr>
              <a:t>Command not appearing</a:t>
            </a:r>
            <a:endParaRPr/>
          </a:p>
        </p:txBody>
      </p:sp>
      <p:sp>
        <p:nvSpPr>
          <p:cNvPr id="820" name="Google Shape;820;p65"/>
          <p:cNvSpPr txBox="1"/>
          <p:nvPr/>
        </p:nvSpPr>
        <p:spPr>
          <a:xfrm>
            <a:off x="4572000" y="1874519"/>
            <a:ext cx="3840480" cy="3200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1100">
                <a:solidFill>
                  <a:srgbClr val="36454F"/>
                </a:solidFill>
                <a:latin typeface="Calibri"/>
                <a:ea typeface="Calibri"/>
                <a:cs typeface="Calibri"/>
                <a:sym typeface="Calibri"/>
              </a:rPr>
              <a:t>Check: Restart Claude Code, verify manifest name matches directory</a:t>
            </a:r>
            <a:endParaRPr/>
          </a:p>
        </p:txBody>
      </p:sp>
      <p:sp>
        <p:nvSpPr>
          <p:cNvPr id="821" name="Google Shape;821;p65"/>
          <p:cNvSpPr/>
          <p:nvPr/>
        </p:nvSpPr>
        <p:spPr>
          <a:xfrm>
            <a:off x="731520" y="2468879"/>
            <a:ext cx="320040" cy="320040"/>
          </a:xfrm>
          <a:prstGeom prst="ellipse">
            <a:avLst/>
          </a:prstGeom>
          <a:solidFill>
            <a:srgbClr val="D9775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2" name="Google Shape;822;p65"/>
          <p:cNvSpPr txBox="1"/>
          <p:nvPr/>
        </p:nvSpPr>
        <p:spPr>
          <a:xfrm>
            <a:off x="1188720" y="2468879"/>
            <a:ext cx="3200400" cy="3200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1400">
                <a:solidFill>
                  <a:srgbClr val="141413"/>
                </a:solidFill>
                <a:latin typeface="Calibri"/>
                <a:ea typeface="Calibri"/>
                <a:cs typeface="Calibri"/>
                <a:sym typeface="Calibri"/>
              </a:rPr>
              <a:t>Hooks not triggering</a:t>
            </a:r>
            <a:endParaRPr/>
          </a:p>
        </p:txBody>
      </p:sp>
      <p:sp>
        <p:nvSpPr>
          <p:cNvPr id="823" name="Google Shape;823;p65"/>
          <p:cNvSpPr txBox="1"/>
          <p:nvPr/>
        </p:nvSpPr>
        <p:spPr>
          <a:xfrm>
            <a:off x="4572000" y="2468879"/>
            <a:ext cx="3840480" cy="3200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1100">
                <a:solidFill>
                  <a:srgbClr val="36454F"/>
                </a:solidFill>
                <a:latin typeface="Calibri"/>
                <a:ea typeface="Calibri"/>
                <a:cs typeface="Calibri"/>
                <a:sym typeface="Calibri"/>
              </a:rPr>
              <a:t>Check: hooks.json format, matcher patterns, hook type spelling</a:t>
            </a:r>
            <a:endParaRPr/>
          </a:p>
        </p:txBody>
      </p:sp>
      <p:sp>
        <p:nvSpPr>
          <p:cNvPr id="824" name="Google Shape;824;p65"/>
          <p:cNvSpPr/>
          <p:nvPr/>
        </p:nvSpPr>
        <p:spPr>
          <a:xfrm>
            <a:off x="731520" y="3063239"/>
            <a:ext cx="320040" cy="320040"/>
          </a:xfrm>
          <a:prstGeom prst="ellipse">
            <a:avLst/>
          </a:prstGeom>
          <a:solidFill>
            <a:srgbClr val="D9775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5" name="Google Shape;825;p65"/>
          <p:cNvSpPr txBox="1"/>
          <p:nvPr/>
        </p:nvSpPr>
        <p:spPr>
          <a:xfrm>
            <a:off x="1188720" y="3063239"/>
            <a:ext cx="3200400" cy="3200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1400">
                <a:solidFill>
                  <a:srgbClr val="141413"/>
                </a:solidFill>
                <a:latin typeface="Calibri"/>
                <a:ea typeface="Calibri"/>
                <a:cs typeface="Calibri"/>
                <a:sym typeface="Calibri"/>
              </a:rPr>
              <a:t>Version conflicts</a:t>
            </a:r>
            <a:endParaRPr/>
          </a:p>
        </p:txBody>
      </p:sp>
      <p:sp>
        <p:nvSpPr>
          <p:cNvPr id="826" name="Google Shape;826;p65"/>
          <p:cNvSpPr txBox="1"/>
          <p:nvPr/>
        </p:nvSpPr>
        <p:spPr>
          <a:xfrm>
            <a:off x="4572000" y="3063239"/>
            <a:ext cx="3840480" cy="3200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1100">
                <a:solidFill>
                  <a:srgbClr val="36454F"/>
                </a:solidFill>
                <a:latin typeface="Calibri"/>
                <a:ea typeface="Calibri"/>
                <a:cs typeface="Calibri"/>
                <a:sym typeface="Calibri"/>
              </a:rPr>
              <a:t>Check: /plugin → Errors tab for detailed error messages</a:t>
            </a:r>
            <a:endParaRPr/>
          </a:p>
        </p:txBody>
      </p:sp>
      <p:sp>
        <p:nvSpPr>
          <p:cNvPr id="827" name="Google Shape;827;p65"/>
          <p:cNvSpPr/>
          <p:nvPr/>
        </p:nvSpPr>
        <p:spPr>
          <a:xfrm>
            <a:off x="731520" y="3657599"/>
            <a:ext cx="320040" cy="320040"/>
          </a:xfrm>
          <a:prstGeom prst="ellipse">
            <a:avLst/>
          </a:prstGeom>
          <a:solidFill>
            <a:srgbClr val="D9775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8" name="Google Shape;828;p65"/>
          <p:cNvSpPr txBox="1"/>
          <p:nvPr/>
        </p:nvSpPr>
        <p:spPr>
          <a:xfrm>
            <a:off x="1188720" y="3657599"/>
            <a:ext cx="3200400" cy="3200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1400">
                <a:solidFill>
                  <a:srgbClr val="141413"/>
                </a:solidFill>
                <a:latin typeface="Calibri"/>
                <a:ea typeface="Calibri"/>
                <a:cs typeface="Calibri"/>
                <a:sym typeface="Calibri"/>
              </a:rPr>
              <a:t>Marketplace not found</a:t>
            </a:r>
            <a:endParaRPr/>
          </a:p>
        </p:txBody>
      </p:sp>
      <p:sp>
        <p:nvSpPr>
          <p:cNvPr id="829" name="Google Shape;829;p65"/>
          <p:cNvSpPr txBox="1"/>
          <p:nvPr/>
        </p:nvSpPr>
        <p:spPr>
          <a:xfrm>
            <a:off x="4572000" y="3657599"/>
            <a:ext cx="3840480" cy="32004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1100">
                <a:solidFill>
                  <a:srgbClr val="36454F"/>
                </a:solidFill>
                <a:latin typeface="Calibri"/>
                <a:ea typeface="Calibri"/>
                <a:cs typeface="Calibri"/>
                <a:sym typeface="Calibri"/>
              </a:rPr>
              <a:t>Check: URL/path correctness, network access for remote marketplaces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834" name="Shape 834"/>
        <p:cNvGrpSpPr/>
        <p:nvPr/>
      </p:nvGrpSpPr>
      <p:grpSpPr>
        <a:xfrm>
          <a:off x="0" y="0"/>
          <a:ext cx="0" cy="0"/>
          <a:chOff x="0" y="0"/>
          <a:chExt cx="0" cy="0"/>
        </a:xfrm>
      </p:grpSpPr>
      <p:sp>
        <p:nvSpPr>
          <p:cNvPr id="835" name="Google Shape;835;p66"/>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41413"/>
                </a:solidFill>
                <a:latin typeface="Calibri"/>
                <a:ea typeface="Calibri"/>
                <a:cs typeface="Calibri"/>
                <a:sym typeface="Calibri"/>
              </a:rPr>
              <a:t>Debugging Workflow</a:t>
            </a:r>
            <a:endParaRPr/>
          </a:p>
        </p:txBody>
      </p:sp>
      <p:sp>
        <p:nvSpPr>
          <p:cNvPr id="836" name="Google Shape;836;p66"/>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Step-by-Step Debugging</a:t>
            </a:r>
            <a:endParaRPr/>
          </a:p>
        </p:txBody>
      </p:sp>
      <p:sp>
        <p:nvSpPr>
          <p:cNvPr id="837" name="Google Shape;837;p66"/>
          <p:cNvSpPr txBox="1"/>
          <p:nvPr/>
        </p:nvSpPr>
        <p:spPr>
          <a:xfrm>
            <a:off x="731520" y="1645920"/>
            <a:ext cx="7680960" cy="228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41413"/>
                </a:solidFill>
                <a:latin typeface="Calibri"/>
                <a:ea typeface="Calibri"/>
                <a:cs typeface="Calibri"/>
                <a:sym typeface="Calibri"/>
              </a:rPr>
              <a:t>• 1. Check /plugin → Errors tab for specific error messages</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2. Verify plugin structure: directories at root, plugin.json exists</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3. Test with --plugin-dir flag to isolate issues</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4. Disable other plugins to rule out conflicts</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5. Check docs.claude.com/en/troubleshooting for known issues</a:t>
            </a:r>
            <a:endParaRPr/>
          </a:p>
        </p:txBody>
      </p:sp>
      <p:sp>
        <p:nvSpPr>
          <p:cNvPr id="838" name="Google Shape;838;p66"/>
          <p:cNvSpPr txBox="1"/>
          <p:nvPr/>
        </p:nvSpPr>
        <p:spPr>
          <a:xfrm>
            <a:off x="731520" y="2912224"/>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Useful Commands for Debugging</a:t>
            </a:r>
            <a:endParaRPr/>
          </a:p>
        </p:txBody>
      </p:sp>
      <p:sp>
        <p:nvSpPr>
          <p:cNvPr id="839" name="Google Shape;839;p66"/>
          <p:cNvSpPr/>
          <p:nvPr/>
        </p:nvSpPr>
        <p:spPr>
          <a:xfrm>
            <a:off x="914400" y="3369424"/>
            <a:ext cx="5354782" cy="247996"/>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rgbClr val="FFFFFF"/>
                </a:solidFill>
                <a:latin typeface="Consolas"/>
                <a:ea typeface="Consolas"/>
                <a:cs typeface="Consolas"/>
                <a:sym typeface="Consolas"/>
              </a:rPr>
              <a:t>claude --plugin-dir ./my-plugin  # Test without installing</a:t>
            </a:r>
            <a:endParaRPr/>
          </a:p>
        </p:txBody>
      </p:sp>
      <p:sp>
        <p:nvSpPr>
          <p:cNvPr id="840" name="Google Shape;840;p66"/>
          <p:cNvSpPr/>
          <p:nvPr/>
        </p:nvSpPr>
        <p:spPr>
          <a:xfrm>
            <a:off x="914400" y="3833551"/>
            <a:ext cx="5354782" cy="247996"/>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rgbClr val="FFFFFF"/>
                </a:solidFill>
                <a:latin typeface="Consolas"/>
                <a:ea typeface="Consolas"/>
                <a:cs typeface="Consolas"/>
                <a:sym typeface="Consolas"/>
              </a:rPr>
              <a:t>/plugin  # Check Errors tab</a:t>
            </a:r>
            <a:endParaRPr/>
          </a:p>
        </p:txBody>
      </p:sp>
      <p:sp>
        <p:nvSpPr>
          <p:cNvPr id="841" name="Google Shape;841;p66"/>
          <p:cNvSpPr/>
          <p:nvPr/>
        </p:nvSpPr>
        <p:spPr>
          <a:xfrm>
            <a:off x="914400" y="4282440"/>
            <a:ext cx="5354782" cy="247996"/>
          </a:xfrm>
          <a:prstGeom prst="rect">
            <a:avLst/>
          </a:prstGeom>
          <a:solidFill>
            <a:srgbClr val="36454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rgbClr val="FFFFFF"/>
                </a:solidFill>
                <a:latin typeface="Consolas"/>
                <a:ea typeface="Consolas"/>
                <a:cs typeface="Consolas"/>
                <a:sym typeface="Consolas"/>
              </a:rPr>
              <a:t>/help  # Verify commands appear</a:t>
            </a:r>
            <a:endParaRPr/>
          </a:p>
        </p:txBody>
      </p:sp>
      <p:sp>
        <p:nvSpPr>
          <p:cNvPr id="842" name="Google Shape;842;p66"/>
          <p:cNvSpPr/>
          <p:nvPr/>
        </p:nvSpPr>
        <p:spPr>
          <a:xfrm>
            <a:off x="6906491" y="1330036"/>
            <a:ext cx="1780308" cy="3059084"/>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chemeClr val="lt1"/>
                </a:solidFill>
                <a:latin typeface="Calibri"/>
                <a:ea typeface="Calibri"/>
                <a:cs typeface="Calibri"/>
                <a:sym typeface="Calibri"/>
              </a:rPr>
              <a:t>When reporting issues: include plugin structure, error messages, and Claude Code version</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847" name="Shape 847"/>
        <p:cNvGrpSpPr/>
        <p:nvPr/>
      </p:nvGrpSpPr>
      <p:grpSpPr>
        <a:xfrm>
          <a:off x="0" y="0"/>
          <a:ext cx="0" cy="0"/>
          <a:chOff x="0" y="0"/>
          <a:chExt cx="0" cy="0"/>
        </a:xfrm>
      </p:grpSpPr>
      <p:sp>
        <p:nvSpPr>
          <p:cNvPr id="848" name="Google Shape;848;p67"/>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41413"/>
                </a:solidFill>
                <a:latin typeface="Calibri"/>
                <a:ea typeface="Calibri"/>
                <a:cs typeface="Calibri"/>
                <a:sym typeface="Calibri"/>
              </a:rPr>
              <a:t>Resources &amp; Next Steps</a:t>
            </a:r>
            <a:endParaRPr/>
          </a:p>
        </p:txBody>
      </p:sp>
      <p:sp>
        <p:nvSpPr>
          <p:cNvPr id="849" name="Google Shape;849;p67"/>
          <p:cNvSpPr txBox="1"/>
          <p:nvPr/>
        </p:nvSpPr>
        <p:spPr>
          <a:xfrm>
            <a:off x="731520" y="1188720"/>
            <a:ext cx="36576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 Documentation</a:t>
            </a:r>
            <a:endParaRPr/>
          </a:p>
        </p:txBody>
      </p:sp>
      <p:sp>
        <p:nvSpPr>
          <p:cNvPr id="850" name="Google Shape;850;p67"/>
          <p:cNvSpPr txBox="1"/>
          <p:nvPr/>
        </p:nvSpPr>
        <p:spPr>
          <a:xfrm>
            <a:off x="914400" y="1645920"/>
            <a:ext cx="34747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rgbClr val="6A9BCC"/>
                </a:solidFill>
                <a:latin typeface="Calibri"/>
                <a:ea typeface="Calibri"/>
                <a:cs typeface="Calibri"/>
                <a:sym typeface="Calibri"/>
              </a:rPr>
              <a:t>• docs.claude.com/en/plugins</a:t>
            </a:r>
            <a:endParaRPr/>
          </a:p>
        </p:txBody>
      </p:sp>
      <p:sp>
        <p:nvSpPr>
          <p:cNvPr id="851" name="Google Shape;851;p67"/>
          <p:cNvSpPr txBox="1"/>
          <p:nvPr/>
        </p:nvSpPr>
        <p:spPr>
          <a:xfrm>
            <a:off x="914400" y="1965960"/>
            <a:ext cx="34747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rgbClr val="6A9BCC"/>
                </a:solidFill>
                <a:latin typeface="Calibri"/>
                <a:ea typeface="Calibri"/>
                <a:cs typeface="Calibri"/>
                <a:sym typeface="Calibri"/>
              </a:rPr>
              <a:t>• docs.claude.com/en/plugin-marketplaces</a:t>
            </a:r>
            <a:endParaRPr/>
          </a:p>
        </p:txBody>
      </p:sp>
      <p:sp>
        <p:nvSpPr>
          <p:cNvPr id="852" name="Google Shape;852;p67"/>
          <p:cNvSpPr txBox="1"/>
          <p:nvPr/>
        </p:nvSpPr>
        <p:spPr>
          <a:xfrm>
            <a:off x="914400" y="2286000"/>
            <a:ext cx="34747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rgbClr val="6A9BCC"/>
                </a:solidFill>
                <a:latin typeface="Calibri"/>
                <a:ea typeface="Calibri"/>
                <a:cs typeface="Calibri"/>
                <a:sym typeface="Calibri"/>
              </a:rPr>
              <a:t>• docs.claude.com/en/skills</a:t>
            </a:r>
            <a:endParaRPr/>
          </a:p>
        </p:txBody>
      </p:sp>
      <p:sp>
        <p:nvSpPr>
          <p:cNvPr id="853" name="Google Shape;853;p67"/>
          <p:cNvSpPr txBox="1"/>
          <p:nvPr/>
        </p:nvSpPr>
        <p:spPr>
          <a:xfrm>
            <a:off x="914400" y="2606040"/>
            <a:ext cx="34747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u="sng">
                <a:solidFill>
                  <a:srgbClr val="6A9BCC"/>
                </a:solidFill>
                <a:latin typeface="Calibri"/>
                <a:ea typeface="Calibri"/>
                <a:cs typeface="Calibri"/>
                <a:sym typeface="Calibri"/>
              </a:rPr>
              <a:t>• docs.anthropic.com/mcp</a:t>
            </a:r>
            <a:endParaRPr/>
          </a:p>
        </p:txBody>
      </p:sp>
      <p:sp>
        <p:nvSpPr>
          <p:cNvPr id="854" name="Google Shape;854;p67"/>
          <p:cNvSpPr txBox="1"/>
          <p:nvPr/>
        </p:nvSpPr>
        <p:spPr>
          <a:xfrm>
            <a:off x="4754880" y="1188720"/>
            <a:ext cx="36576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 Next Steps</a:t>
            </a:r>
            <a:endParaRPr/>
          </a:p>
        </p:txBody>
      </p:sp>
      <p:sp>
        <p:nvSpPr>
          <p:cNvPr id="855" name="Google Shape;855;p67"/>
          <p:cNvSpPr txBox="1"/>
          <p:nvPr/>
        </p:nvSpPr>
        <p:spPr>
          <a:xfrm>
            <a:off x="4937760" y="1645920"/>
            <a:ext cx="34747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41413"/>
                </a:solidFill>
                <a:latin typeface="Calibri"/>
                <a:ea typeface="Calibri"/>
                <a:cs typeface="Calibri"/>
                <a:sym typeface="Calibri"/>
              </a:rPr>
              <a:t>✓ Explore the official marketplace</a:t>
            </a:r>
            <a:endParaRPr/>
          </a:p>
        </p:txBody>
      </p:sp>
      <p:sp>
        <p:nvSpPr>
          <p:cNvPr id="856" name="Google Shape;856;p67"/>
          <p:cNvSpPr txBox="1"/>
          <p:nvPr/>
        </p:nvSpPr>
        <p:spPr>
          <a:xfrm>
            <a:off x="4937760" y="2011680"/>
            <a:ext cx="34747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41413"/>
                </a:solidFill>
                <a:latin typeface="Calibri"/>
                <a:ea typeface="Calibri"/>
                <a:cs typeface="Calibri"/>
                <a:sym typeface="Calibri"/>
              </a:rPr>
              <a:t>✓ Create your first custom plugin</a:t>
            </a:r>
            <a:endParaRPr/>
          </a:p>
        </p:txBody>
      </p:sp>
      <p:sp>
        <p:nvSpPr>
          <p:cNvPr id="857" name="Google Shape;857;p67"/>
          <p:cNvSpPr txBox="1"/>
          <p:nvPr/>
        </p:nvSpPr>
        <p:spPr>
          <a:xfrm>
            <a:off x="4937760" y="2377440"/>
            <a:ext cx="34747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41413"/>
                </a:solidFill>
                <a:latin typeface="Calibri"/>
                <a:ea typeface="Calibri"/>
                <a:cs typeface="Calibri"/>
                <a:sym typeface="Calibri"/>
              </a:rPr>
              <a:t>✓ Convert existing configs to plugins</a:t>
            </a:r>
            <a:endParaRPr/>
          </a:p>
        </p:txBody>
      </p:sp>
      <p:sp>
        <p:nvSpPr>
          <p:cNvPr id="858" name="Google Shape;858;p67"/>
          <p:cNvSpPr txBox="1"/>
          <p:nvPr/>
        </p:nvSpPr>
        <p:spPr>
          <a:xfrm>
            <a:off x="4937760" y="2743200"/>
            <a:ext cx="34747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41413"/>
                </a:solidFill>
                <a:latin typeface="Calibri"/>
                <a:ea typeface="Calibri"/>
                <a:cs typeface="Calibri"/>
                <a:sym typeface="Calibri"/>
              </a:rPr>
              <a:t>✓ Set up a team marketplace</a:t>
            </a:r>
            <a:endParaRPr/>
          </a:p>
        </p:txBody>
      </p:sp>
      <p:sp>
        <p:nvSpPr>
          <p:cNvPr id="859" name="Google Shape;859;p67"/>
          <p:cNvSpPr txBox="1"/>
          <p:nvPr/>
        </p:nvSpPr>
        <p:spPr>
          <a:xfrm>
            <a:off x="4937760" y="3108960"/>
            <a:ext cx="347472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41413"/>
                </a:solidFill>
                <a:latin typeface="Calibri"/>
                <a:ea typeface="Calibri"/>
                <a:cs typeface="Calibri"/>
                <a:sym typeface="Calibri"/>
              </a:rPr>
              <a:t>✓ Contribute to the ecosystem</a:t>
            </a:r>
            <a:endParaRPr/>
          </a:p>
        </p:txBody>
      </p:sp>
      <p:sp>
        <p:nvSpPr>
          <p:cNvPr id="860" name="Google Shape;860;p67"/>
          <p:cNvSpPr/>
          <p:nvPr/>
        </p:nvSpPr>
        <p:spPr>
          <a:xfrm>
            <a:off x="914400" y="3840480"/>
            <a:ext cx="7315200" cy="731520"/>
          </a:xfrm>
          <a:prstGeom prst="roundRect">
            <a:avLst>
              <a:gd fmla="val 16667" name="adj"/>
            </a:avLst>
          </a:prstGeom>
          <a:solidFill>
            <a:srgbClr val="D97757"/>
          </a:solidFill>
          <a:ln cap="flat" cmpd="sng" w="25400">
            <a:solidFill>
              <a:srgbClr val="D97757"/>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Calibri"/>
                <a:ea typeface="Calibri"/>
                <a:cs typeface="Calibri"/>
                <a:sym typeface="Calibri"/>
              </a:rPr>
              <a:t>Start building! The plugin ecosystem grows with your contributions.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865" name="Shape 865"/>
        <p:cNvGrpSpPr/>
        <p:nvPr/>
      </p:nvGrpSpPr>
      <p:grpSpPr>
        <a:xfrm>
          <a:off x="0" y="0"/>
          <a:ext cx="0" cy="0"/>
          <a:chOff x="0" y="0"/>
          <a:chExt cx="0" cy="0"/>
        </a:xfrm>
      </p:grpSpPr>
      <p:sp>
        <p:nvSpPr>
          <p:cNvPr id="866" name="Google Shape;866;p68"/>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41413"/>
                </a:solidFill>
                <a:latin typeface="Calibri"/>
                <a:ea typeface="Calibri"/>
                <a:cs typeface="Calibri"/>
                <a:sym typeface="Calibri"/>
              </a:rPr>
              <a:t>Case Study: Anthropic Internal Team</a:t>
            </a:r>
            <a:endParaRPr/>
          </a:p>
        </p:txBody>
      </p:sp>
      <p:sp>
        <p:nvSpPr>
          <p:cNvPr id="867" name="Google Shape;867;p68"/>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How Anthropic Uses Plugins Internally</a:t>
            </a:r>
            <a:endParaRPr/>
          </a:p>
        </p:txBody>
      </p:sp>
      <p:sp>
        <p:nvSpPr>
          <p:cNvPr id="868" name="Google Shape;868;p68"/>
          <p:cNvSpPr txBox="1"/>
          <p:nvPr/>
        </p:nvSpPr>
        <p:spPr>
          <a:xfrm>
            <a:off x="731520" y="1645920"/>
            <a:ext cx="7680960" cy="18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41413"/>
                </a:solidFill>
                <a:latin typeface="Calibri"/>
                <a:ea typeface="Calibri"/>
                <a:cs typeface="Calibri"/>
                <a:sym typeface="Calibri"/>
              </a:rPr>
              <a:t>• Plugin-dev toolkit: Streamlines plugin development workflow</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PR review agents: Automated code review checklists and standards</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Feature-dev workflows: Templates for common development patterns</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Hookify: Automatically adds hooks to enforce team conventions</a:t>
            </a:r>
            <a:endParaRPr/>
          </a:p>
        </p:txBody>
      </p:sp>
      <p:sp>
        <p:nvSpPr>
          <p:cNvPr id="869" name="Google Shape;869;p68"/>
          <p:cNvSpPr/>
          <p:nvPr/>
        </p:nvSpPr>
        <p:spPr>
          <a:xfrm>
            <a:off x="6906491" y="1330036"/>
            <a:ext cx="1780308" cy="3059084"/>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chemeClr val="lt1"/>
                </a:solidFill>
                <a:latin typeface="Calibri"/>
                <a:ea typeface="Calibri"/>
                <a:cs typeface="Calibri"/>
                <a:sym typeface="Calibri"/>
              </a:rPr>
              <a:t>Key Takeaway</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ctr">
              <a:spcBef>
                <a:spcPts val="0"/>
              </a:spcBef>
              <a:spcAft>
                <a:spcPts val="0"/>
              </a:spcAft>
              <a:buNone/>
            </a:pPr>
            <a:r>
              <a:rPr b="1" lang="en-US" sz="1300">
                <a:solidFill>
                  <a:schemeClr val="lt1"/>
                </a:solidFill>
                <a:latin typeface="Calibri"/>
                <a:ea typeface="Calibri"/>
                <a:cs typeface="Calibri"/>
                <a:sym typeface="Calibri"/>
              </a:rPr>
              <a:t>Anthropic eats its own dog food—internal teams rely on plugins daily for standardized workflows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874" name="Shape 874"/>
        <p:cNvGrpSpPr/>
        <p:nvPr/>
      </p:nvGrpSpPr>
      <p:grpSpPr>
        <a:xfrm>
          <a:off x="0" y="0"/>
          <a:ext cx="0" cy="0"/>
          <a:chOff x="0" y="0"/>
          <a:chExt cx="0" cy="0"/>
        </a:xfrm>
      </p:grpSpPr>
      <p:sp>
        <p:nvSpPr>
          <p:cNvPr id="875" name="Google Shape;875;p69"/>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41413"/>
                </a:solidFill>
                <a:latin typeface="Calibri"/>
                <a:ea typeface="Calibri"/>
                <a:cs typeface="Calibri"/>
                <a:sym typeface="Calibri"/>
              </a:rPr>
              <a:t>Case Study: Converting 20 Configs to Plugins</a:t>
            </a:r>
            <a:endParaRPr/>
          </a:p>
        </p:txBody>
      </p:sp>
      <p:sp>
        <p:nvSpPr>
          <p:cNvPr id="876" name="Google Shape;876;p69"/>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The Scenario</a:t>
            </a:r>
            <a:endParaRPr/>
          </a:p>
        </p:txBody>
      </p:sp>
      <p:sp>
        <p:nvSpPr>
          <p:cNvPr id="877" name="Google Shape;877;p69"/>
          <p:cNvSpPr txBox="1"/>
          <p:nvPr/>
        </p:nvSpPr>
        <p:spPr>
          <a:xfrm>
            <a:off x="731520" y="1645920"/>
            <a:ext cx="5987935"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41413"/>
                </a:solidFill>
                <a:latin typeface="Calibri"/>
                <a:ea typeface="Calibri"/>
                <a:cs typeface="Calibri"/>
                <a:sym typeface="Calibri"/>
              </a:rPr>
              <a:t>Development team had accumulated 20+ standalone configurations in individual .claude/ directories. Shared via Slack messages: 'Hey, here's my linter config...' Knowledge scattered, updates manual, new developers overwhelmed.</a:t>
            </a:r>
            <a:endParaRPr/>
          </a:p>
        </p:txBody>
      </p:sp>
      <p:sp>
        <p:nvSpPr>
          <p:cNvPr id="878" name="Google Shape;878;p69"/>
          <p:cNvSpPr txBox="1"/>
          <p:nvPr/>
        </p:nvSpPr>
        <p:spPr>
          <a:xfrm>
            <a:off x="731520" y="25603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The Migration</a:t>
            </a:r>
            <a:endParaRPr/>
          </a:p>
        </p:txBody>
      </p:sp>
      <p:sp>
        <p:nvSpPr>
          <p:cNvPr id="879" name="Google Shape;879;p69"/>
          <p:cNvSpPr txBox="1"/>
          <p:nvPr/>
        </p:nvSpPr>
        <p:spPr>
          <a:xfrm>
            <a:off x="731520" y="3017520"/>
            <a:ext cx="768096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41413"/>
                </a:solidFill>
                <a:latin typeface="Calibri"/>
                <a:ea typeface="Calibri"/>
                <a:cs typeface="Calibri"/>
                <a:sym typeface="Calibri"/>
              </a:rPr>
              <a:t>1. Audited all .claude/ directories across team repos</a:t>
            </a:r>
            <a:endParaRPr/>
          </a:p>
          <a:p>
            <a:pPr indent="0" lvl="0" marL="0" marR="0" rtl="0" algn="l">
              <a:spcBef>
                <a:spcPts val="0"/>
              </a:spcBef>
              <a:spcAft>
                <a:spcPts val="0"/>
              </a:spcAft>
              <a:buNone/>
            </a:pPr>
            <a:r>
              <a:rPr lang="en-US" sz="1200">
                <a:solidFill>
                  <a:srgbClr val="141413"/>
                </a:solidFill>
                <a:latin typeface="Calibri"/>
                <a:ea typeface="Calibri"/>
                <a:cs typeface="Calibri"/>
                <a:sym typeface="Calibri"/>
              </a:rPr>
              <a:t>2. Grouped related configs into logical plugins (dev-toolkit, code-quality, deploy-tools)</a:t>
            </a:r>
            <a:endParaRPr/>
          </a:p>
          <a:p>
            <a:pPr indent="0" lvl="0" marL="0" marR="0" rtl="0" algn="l">
              <a:spcBef>
                <a:spcPts val="0"/>
              </a:spcBef>
              <a:spcAft>
                <a:spcPts val="0"/>
              </a:spcAft>
              <a:buNone/>
            </a:pPr>
            <a:r>
              <a:rPr lang="en-US" sz="1200">
                <a:solidFill>
                  <a:srgbClr val="141413"/>
                </a:solidFill>
                <a:latin typeface="Calibri"/>
                <a:ea typeface="Calibri"/>
                <a:cs typeface="Calibri"/>
                <a:sym typeface="Calibri"/>
              </a:rPr>
              <a:t>3. Created internal marketplace with 3 curated plugins</a:t>
            </a:r>
            <a:endParaRPr/>
          </a:p>
          <a:p>
            <a:pPr indent="0" lvl="0" marL="0" marR="0" rtl="0" algn="l">
              <a:spcBef>
                <a:spcPts val="0"/>
              </a:spcBef>
              <a:spcAft>
                <a:spcPts val="0"/>
              </a:spcAft>
              <a:buNone/>
            </a:pPr>
            <a:r>
              <a:rPr lang="en-US" sz="1200">
                <a:solidFill>
                  <a:srgbClr val="141413"/>
                </a:solidFill>
                <a:latin typeface="Calibri"/>
                <a:ea typeface="Calibri"/>
                <a:cs typeface="Calibri"/>
                <a:sym typeface="Calibri"/>
              </a:rPr>
              <a:t>4. Onboarded team: everyone ran /plugin install dev-toolkit@company</a:t>
            </a:r>
            <a:endParaRPr/>
          </a:p>
        </p:txBody>
      </p:sp>
      <p:sp>
        <p:nvSpPr>
          <p:cNvPr id="880" name="Google Shape;880;p69"/>
          <p:cNvSpPr/>
          <p:nvPr/>
        </p:nvSpPr>
        <p:spPr>
          <a:xfrm>
            <a:off x="6906491" y="1330036"/>
            <a:ext cx="1780308" cy="3059084"/>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chemeClr val="lt1"/>
                </a:solidFill>
                <a:latin typeface="Calibri"/>
                <a:ea typeface="Calibri"/>
                <a:cs typeface="Calibri"/>
                <a:sym typeface="Calibri"/>
              </a:rPr>
              <a:t>The Result:</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ctr">
              <a:spcBef>
                <a:spcPts val="0"/>
              </a:spcBef>
              <a:spcAft>
                <a:spcPts val="0"/>
              </a:spcAft>
              <a:buNone/>
            </a:pPr>
            <a:r>
              <a:rPr b="1" lang="en-US" sz="1300">
                <a:solidFill>
                  <a:schemeClr val="lt1"/>
                </a:solidFill>
                <a:latin typeface="Calibri"/>
                <a:ea typeface="Calibri"/>
                <a:cs typeface="Calibri"/>
                <a:sym typeface="Calibri"/>
              </a:rPr>
              <a:t>Single source of truth</a:t>
            </a:r>
            <a:br>
              <a:rPr b="1" lang="en-US" sz="1300">
                <a:solidFill>
                  <a:schemeClr val="lt1"/>
                </a:solidFill>
                <a:latin typeface="Calibri"/>
                <a:ea typeface="Calibri"/>
                <a:cs typeface="Calibri"/>
                <a:sym typeface="Calibri"/>
              </a:rPr>
            </a:br>
            <a:r>
              <a:rPr b="1" lang="en-US" sz="1300">
                <a:solidFill>
                  <a:schemeClr val="lt1"/>
                </a:solidFill>
                <a:latin typeface="Calibri"/>
                <a:ea typeface="Calibri"/>
                <a:cs typeface="Calibri"/>
                <a:sym typeface="Calibri"/>
              </a:rPr>
              <a:t>• Version-controlled updates</a:t>
            </a:r>
            <a:br>
              <a:rPr b="1" lang="en-US" sz="1300">
                <a:solidFill>
                  <a:schemeClr val="lt1"/>
                </a:solidFill>
                <a:latin typeface="Calibri"/>
                <a:ea typeface="Calibri"/>
                <a:cs typeface="Calibri"/>
                <a:sym typeface="Calibri"/>
              </a:rPr>
            </a:br>
            <a:r>
              <a:rPr b="1" lang="en-US" sz="1300">
                <a:solidFill>
                  <a:schemeClr val="lt1"/>
                </a:solidFill>
                <a:latin typeface="Calibri"/>
                <a:ea typeface="Calibri"/>
                <a:cs typeface="Calibri"/>
                <a:sym typeface="Calibri"/>
              </a:rPr>
              <a:t>• New devs onboard in 1 command</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885" name="Shape 885"/>
        <p:cNvGrpSpPr/>
        <p:nvPr/>
      </p:nvGrpSpPr>
      <p:grpSpPr>
        <a:xfrm>
          <a:off x="0" y="0"/>
          <a:ext cx="0" cy="0"/>
          <a:chOff x="0" y="0"/>
          <a:chExt cx="0" cy="0"/>
        </a:xfrm>
      </p:grpSpPr>
      <p:sp>
        <p:nvSpPr>
          <p:cNvPr id="886" name="Google Shape;886;p70"/>
          <p:cNvSpPr txBox="1"/>
          <p:nvPr/>
        </p:nvSpPr>
        <p:spPr>
          <a:xfrm>
            <a:off x="457200" y="45720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41413"/>
                </a:solidFill>
                <a:latin typeface="Calibri"/>
                <a:ea typeface="Calibri"/>
                <a:cs typeface="Calibri"/>
                <a:sym typeface="Calibri"/>
              </a:rPr>
              <a:t>Case Study: Custom Enterprise Marketplace</a:t>
            </a:r>
            <a:endParaRPr/>
          </a:p>
        </p:txBody>
      </p:sp>
      <p:sp>
        <p:nvSpPr>
          <p:cNvPr id="887" name="Google Shape;887;p70"/>
          <p:cNvSpPr txBox="1"/>
          <p:nvPr/>
        </p:nvSpPr>
        <p:spPr>
          <a:xfrm>
            <a:off x="731520" y="118872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Large Enterprise Deployment</a:t>
            </a:r>
            <a:endParaRPr/>
          </a:p>
        </p:txBody>
      </p:sp>
      <p:sp>
        <p:nvSpPr>
          <p:cNvPr id="888" name="Google Shape;888;p70"/>
          <p:cNvSpPr txBox="1"/>
          <p:nvPr/>
        </p:nvSpPr>
        <p:spPr>
          <a:xfrm>
            <a:off x="731520" y="1645920"/>
            <a:ext cx="7680960" cy="274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41413"/>
                </a:solidFill>
                <a:latin typeface="Calibri"/>
                <a:ea typeface="Calibri"/>
                <a:cs typeface="Calibri"/>
                <a:sym typeface="Calibri"/>
              </a:rPr>
              <a:t>• Challenge: 500+ developers across multiple teams needed standardized tools</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Solution: Built internal marketplace with plugins for:</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 Security scanning and compliance checks</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 Company-specific API integrations</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 Standardized documentation templates</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 Internal code review workflows</a:t>
            </a:r>
            <a:endParaRPr/>
          </a:p>
        </p:txBody>
      </p:sp>
      <p:sp>
        <p:nvSpPr>
          <p:cNvPr id="889" name="Google Shape;889;p70"/>
          <p:cNvSpPr txBox="1"/>
          <p:nvPr/>
        </p:nvSpPr>
        <p:spPr>
          <a:xfrm>
            <a:off x="731520" y="3200400"/>
            <a:ext cx="76809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41413"/>
                </a:solidFill>
                <a:latin typeface="Calibri"/>
                <a:ea typeface="Calibri"/>
                <a:cs typeface="Calibri"/>
                <a:sym typeface="Calibri"/>
              </a:rPr>
              <a:t>Implementation</a:t>
            </a:r>
            <a:endParaRPr/>
          </a:p>
        </p:txBody>
      </p:sp>
      <p:sp>
        <p:nvSpPr>
          <p:cNvPr id="890" name="Google Shape;890;p70"/>
          <p:cNvSpPr txBox="1"/>
          <p:nvPr/>
        </p:nvSpPr>
        <p:spPr>
          <a:xfrm>
            <a:off x="731520" y="3657600"/>
            <a:ext cx="7680960" cy="137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41413"/>
                </a:solidFill>
                <a:latin typeface="Calibri"/>
                <a:ea typeface="Calibri"/>
                <a:cs typeface="Calibri"/>
                <a:sym typeface="Calibri"/>
              </a:rPr>
              <a:t>• Used managed settings to pre-configure marketplace for all devs</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strictKnownMarketplaces ensured only approved plugins</a:t>
            </a:r>
            <a:endParaRPr/>
          </a:p>
          <a:p>
            <a:pPr indent="0" lvl="0" marL="0" marR="0" rtl="0" algn="l">
              <a:spcBef>
                <a:spcPts val="0"/>
              </a:spcBef>
              <a:spcAft>
                <a:spcPts val="0"/>
              </a:spcAft>
              <a:buNone/>
            </a:pPr>
            <a:r>
              <a:rPr lang="en-US" sz="1400">
                <a:solidFill>
                  <a:srgbClr val="141413"/>
                </a:solidFill>
                <a:latin typeface="Calibri"/>
                <a:ea typeface="Calibri"/>
                <a:cs typeface="Calibri"/>
                <a:sym typeface="Calibri"/>
              </a:rPr>
              <a:t>• Central plugin team maintains and versions all plugins</a:t>
            </a:r>
            <a:endParaRPr/>
          </a:p>
        </p:txBody>
      </p:sp>
      <p:sp>
        <p:nvSpPr>
          <p:cNvPr id="891" name="Google Shape;891;p70"/>
          <p:cNvSpPr/>
          <p:nvPr/>
        </p:nvSpPr>
        <p:spPr>
          <a:xfrm>
            <a:off x="6906491" y="1330036"/>
            <a:ext cx="1780308" cy="3059084"/>
          </a:xfrm>
          <a:prstGeom prst="rect">
            <a:avLst/>
          </a:prstGeom>
          <a:solidFill>
            <a:srgbClr val="6A9BCC"/>
          </a:solidFill>
          <a:ln cap="flat" cmpd="sng" w="25400">
            <a:solidFill>
              <a:srgbClr val="6A9B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chemeClr val="lt1"/>
                </a:solidFill>
                <a:latin typeface="Calibri"/>
                <a:ea typeface="Calibri"/>
                <a:cs typeface="Calibri"/>
                <a:sym typeface="Calibri"/>
              </a:rPr>
              <a:t>Key Success Factor:</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ctr">
              <a:spcBef>
                <a:spcPts val="0"/>
              </a:spcBef>
              <a:spcAft>
                <a:spcPts val="0"/>
              </a:spcAft>
              <a:buNone/>
            </a:pPr>
            <a:r>
              <a:rPr b="1" lang="en-US" sz="1300">
                <a:solidFill>
                  <a:schemeClr val="lt1"/>
                </a:solidFill>
                <a:latin typeface="Calibri"/>
                <a:ea typeface="Calibri"/>
                <a:cs typeface="Calibri"/>
                <a:sym typeface="Calibri"/>
              </a:rPr>
              <a:t>Treated plugins as infrastructure—maintained by central team with SLAs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3"/>
        </a:solidFill>
      </p:bgPr>
    </p:bg>
    <p:spTree>
      <p:nvGrpSpPr>
        <p:cNvPr id="896" name="Shape 896"/>
        <p:cNvGrpSpPr/>
        <p:nvPr/>
      </p:nvGrpSpPr>
      <p:grpSpPr>
        <a:xfrm>
          <a:off x="0" y="0"/>
          <a:ext cx="0" cy="0"/>
          <a:chOff x="0" y="0"/>
          <a:chExt cx="0" cy="0"/>
        </a:xfrm>
      </p:grpSpPr>
      <p:sp>
        <p:nvSpPr>
          <p:cNvPr id="897" name="Google Shape;897;p71"/>
          <p:cNvSpPr txBox="1"/>
          <p:nvPr/>
        </p:nvSpPr>
        <p:spPr>
          <a:xfrm>
            <a:off x="457200" y="2103120"/>
            <a:ext cx="8229600"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a:solidFill>
                  <a:srgbClr val="FFFFFF"/>
                </a:solidFill>
                <a:latin typeface="Calibri"/>
                <a:ea typeface="Calibri"/>
                <a:cs typeface="Calibri"/>
                <a:sym typeface="Calibri"/>
              </a:rPr>
              <a:t>Thank You!</a:t>
            </a:r>
            <a:endParaRPr/>
          </a:p>
        </p:txBody>
      </p:sp>
      <p:sp>
        <p:nvSpPr>
          <p:cNvPr id="898" name="Google Shape;898;p71"/>
          <p:cNvSpPr txBox="1"/>
          <p:nvPr/>
        </p:nvSpPr>
        <p:spPr>
          <a:xfrm>
            <a:off x="457200" y="2926080"/>
            <a:ext cx="82296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D97757"/>
                </a:solidFill>
                <a:latin typeface="Calibri"/>
                <a:ea typeface="Calibri"/>
                <a:cs typeface="Calibri"/>
                <a:sym typeface="Calibri"/>
              </a:rPr>
              <a:t>You're now ready to master Claude Code plugins</a:t>
            </a:r>
            <a:endParaRPr/>
          </a:p>
        </p:txBody>
      </p:sp>
      <p:pic>
        <p:nvPicPr>
          <p:cNvPr id="899" name="Google Shape;899;p71"/>
          <p:cNvPicPr preferRelativeResize="0"/>
          <p:nvPr/>
        </p:nvPicPr>
        <p:blipFill rotWithShape="1">
          <a:blip r:embed="rId3">
            <a:alphaModFix/>
          </a:blip>
          <a:srcRect b="0" l="0" r="0" t="0"/>
          <a:stretch/>
        </p:blipFill>
        <p:spPr>
          <a:xfrm>
            <a:off x="4167662" y="1295674"/>
            <a:ext cx="808676" cy="65559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