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Claude Code Plugins training. This comprehensive course will take you from understanding what plugins are through creating and distributing your own custom plugins. By the end of this training, you'll be able to discover, install, create, and share plugins within the Claude Code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course is structured into three main learning paths: First, you'll learn to discover and install plugins from marketplaces, understanding different installation scopes. Second, you'll create your own plugins with various components. Finally, you'll learn to convert existing configurations into shareable plugins. The course alternates between conceptual modules and hands-on labs to reinforce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introduces the plugin system and explains when to use plugins versus standalone configurations. Key learning point: plugins use namespacing (like /plugin-name:command) to prevent conflicts when multiple plugins have similar commands. Students should understand that the best practice is to start with standalone configuration in .claude/ for rapid development, then convert to a plugin when ready to share with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 namespacing is a critical concept. The namespace prefix comes from the plugin's 'name' field in plugin.json. This ensures that commands from different plugins never conflict, even if they have identical base names. For example, /greet-plugin:hello and /welcome:hello are completely different commands. This is why standalone configurations can use short names like /hello, but plugin commands are always namespaced.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covers plugin marketplaces - the central repositories where plugins are discovered and installed. The plugin manager has four tabs: Discover (browse available plugins), Installed (manage what you've installed), Marketplaces (add new plugin sources), and Errors (troubleshoot loading issues). Important security note: Anthropic doesn't control or verify what's in plugins, so users should check each plugin's homepage and evaluate trustworthiness before installation.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3 is a hands-on exercise where students add the Anthropic demo marketplace. Unlike the official marketplace, the demo marketplace must be added manually. Students will use the command /plugin marketplace add anthropics/claude-code, then open the plugin manager with /plugin to explore. They'll practice navigating between tabs using Tab and Shift+Tab. This lab builds familiarity with the plugin manager interface before students install actual plugins.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covers installation and management in detail. The three scopes are critical: User scope (default, personal across all projects), Project scope (team-shared via .claude/settings.json), and Local scope (personal in one repo only). Students should understand that disabling is temporary - it prevents the plugin from loading without uninstalling. Managed scope plugins, set by administrators, cannot be modified by users. The --scope flag can be used with CLI commands to target specific scopes.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5 gives students hands-on practice installing a real plugin. They'll install commit-commands, which adds git workflow automation. The key learning point is understanding namespaced commands - after installation, the plugin's commands are available as /commit-commands:commit, /commit-commands:push, etc. Students should verify installation by checking the Installed tab and testing the command. This lab reinforces the installation scope concepts from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teaches plugin creation from scratch. The most critical concept is directory structure - only plugin.json goes inside .claude-plugin/, everything else (commands/, skills/, agents/, hooks/) goes at the plugin root. This is a common mistake. The manifest file defines the plugin's identity: name becomes the namespace prefix, description appears in the manager, and version enables update tracking. Students will learn to test locally using the --plugin-dir flag before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breaks down the four main component types plugins can include. Commands are user-invoked (like /hello), while Skills are model-invoked by Claude based on task context. Agents define custom AI behaviors, and Hooks are event handlers that trigger on specific tool use (like running a linter after editing files). Students should understand that plugins can include any combination of these components based on their needs. MCP servers and LSP servers can also be included for advanced functionality.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7 walks students through creating a complete plugin from scratch. They'll create the directory structure, write a plugin.json manifest with name, description, and version fields, add a skill in skills/hello/SKILL.md with proper frontmatter, and test using the --plugin-dir flag. The skill will use the $ARGUMENTS placeholder to accept dynamic input. This lab reinforces the directory structure concepts and gives practical experience with the development workflow. Students should restart Claude Code after making changes to see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8 covers converting existing standalone configurations into shareable plugins. The key differences: standalone configs are project-specific with files in .claude/, while plugins are shareable packages with their own directory structure. Hooks migrate from settings.json to hooks/hooks.json. Commands move from .claude/commands/ to plugin-name/commands/. After conversion, the original .claude/ files should be removed to avoid duplicates. The migration enables team sharing and version control for previously personal configurations.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9 provides hands-on practice converting existing hooks into a plugin. Students create the plugin structure, copy existing files, and most importantly, learn to adapt hooks from settings.json format to the plugin hooks.json format. The key technical detail is that hooks receive input as JSON on stdin, often using jq to extract specific fields. The example shows a PostToolUse hook that runs a linter after Write/Edit operations. Students verify the migration by testing with --plugin-dir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consolidates best practices learned throughout the course. Start with standalone for rapid iteration, test with --plugin-dir before distribution, use semantic versioning for updates, document thoroughly with README files, be transparent about security and access, and share through marketplaces for easy installation. These practices ensure plugins are maintainable, trustworthy, and valuable to the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troubleshooting scenarios students may encounter: Plugin not loading usually means directory structure is wrong - remember only plugin.json goes inside .claude-plugin/. Commands not appearing often requires a restart of Claude Code to reload plugins. Hooks not triggering typically involves incorrect hooks.json format or matcher patterns. Namespace conflicts occur when multiple plugins have the same name field. Use the Errors tab in the plugin manager to diagnose loading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essential resources and next steps. Students should bookmark the plugin documentation, reference guide, skills documentation, and MCP documentation for ongoing development. The next steps encourage students to explore the official marketplace, create custom plugins for their team, contribute to the community, and potentially set up their own marketplace for distribution. This positions them to become active contributors to the Claude Code plugin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celebrating completion of the training. Students now have the knowledge to discover, install, create, and distribute Claude Code plugins. They've completed hands-on labs, understand best practices, and know how to troubleshoot common issues. Encourage them to put their learning into practice by creating plugins for their own workflows and contributing to the Claude Code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457200" y="1645920"/>
            <a:ext cx="8229600" cy="1097280"/>
          </a:xfrm>
          <a:prstGeom prst="rect">
            <a:avLst/>
          </a:prstGeom>
          <a:noFill/>
          <a:ln/>
        </p:spPr>
        <p:txBody>
          <a:bodyPr wrap="square" rtlCol="0" anchor="ctr"/>
          <a:lstStyle/>
          <a:p>
            <a:pPr algn="ctr" indent="0" marL="0">
              <a:buNone/>
            </a:pPr>
            <a:r>
              <a:rPr lang="en-US" sz="4800" b="1" dirty="0">
                <a:solidFill>
                  <a:srgbClr val="FAF9F5"/>
                </a:solidFill>
                <a:latin typeface="Poppins" pitchFamily="34" charset="0"/>
                <a:ea typeface="Poppins" pitchFamily="34" charset="-122"/>
                <a:cs typeface="Poppins" pitchFamily="34" charset="-120"/>
              </a:rPr>
              <a:t>Mastering Claude Code Plugins</a:t>
            </a:r>
            <a:endParaRPr lang="en-US" sz="4800" dirty="0"/>
          </a:p>
        </p:txBody>
      </p:sp>
      <p:sp>
        <p:nvSpPr>
          <p:cNvPr id="3" name="Text 1"/>
          <p:cNvSpPr/>
          <p:nvPr/>
        </p:nvSpPr>
        <p:spPr>
          <a:xfrm>
            <a:off x="457200" y="2743200"/>
            <a:ext cx="8229600" cy="548640"/>
          </a:xfrm>
          <a:prstGeom prst="rect">
            <a:avLst/>
          </a:prstGeom>
          <a:noFill/>
          <a:ln/>
        </p:spPr>
        <p:txBody>
          <a:bodyPr wrap="square" rtlCol="0" anchor="ctr"/>
          <a:lstStyle/>
          <a:p>
            <a:pPr algn="ctr" indent="0" marL="0">
              <a:buNone/>
            </a:pPr>
            <a:r>
              <a:rPr lang="en-US" sz="2400" dirty="0">
                <a:solidFill>
                  <a:srgbClr val="B0AEA5"/>
                </a:solidFill>
                <a:latin typeface="Lora" pitchFamily="34" charset="0"/>
                <a:ea typeface="Lora" pitchFamily="34" charset="-122"/>
                <a:cs typeface="Lora" pitchFamily="34" charset="-120"/>
              </a:rPr>
              <a:t>From Discovery to Distribution</a:t>
            </a:r>
            <a:endParaRPr lang="en-US" sz="2400" dirty="0"/>
          </a:p>
        </p:txBody>
      </p:sp>
      <p:pic>
        <p:nvPicPr>
          <p:cNvPr id="4" name="Image 0" descr="preencoded.png">    </p:cNvPr>
          <p:cNvPicPr>
            <a:picLocks noChangeAspect="1"/>
          </p:cNvPicPr>
          <p:nvPr/>
        </p:nvPicPr>
        <p:blipFill>
          <a:blip r:embed="rId1"/>
          <a:stretch>
            <a:fillRect/>
          </a:stretch>
        </p:blipFill>
        <p:spPr>
          <a:xfrm>
            <a:off x="4114800" y="3657600"/>
            <a:ext cx="914400" cy="914400"/>
          </a:xfrm>
          <a:prstGeom prst="rect">
            <a:avLst/>
          </a:prstGeom>
        </p:spPr>
      </p:pic>
      <p:sp>
        <p:nvSpPr>
          <p:cNvPr id="5" name="Text 2"/>
          <p:cNvSpPr/>
          <p:nvPr/>
        </p:nvSpPr>
        <p:spPr>
          <a:xfrm>
            <a:off x="457200" y="4663440"/>
            <a:ext cx="8229600" cy="274320"/>
          </a:xfrm>
          <a:prstGeom prst="rect">
            <a:avLst/>
          </a:prstGeom>
          <a:noFill/>
          <a:ln/>
        </p:spPr>
        <p:txBody>
          <a:bodyPr wrap="square" rtlCol="0" anchor="ctr"/>
          <a:lstStyle/>
          <a:p>
            <a:pPr algn="ctr" indent="0" marL="0">
              <a:buNone/>
            </a:pPr>
            <a:r>
              <a:rPr lang="en-US" sz="1200" dirty="0">
                <a:solidFill>
                  <a:srgbClr val="B0AEA5"/>
                </a:solidFill>
                <a:latin typeface="Lora" pitchFamily="34" charset="0"/>
                <a:ea typeface="Lora" pitchFamily="34" charset="-122"/>
                <a:cs typeface="Lora" pitchFamily="34" charset="-120"/>
              </a:rPr>
              <a:t>Technical Enablement | Anthropic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algn="l" indent="0" marL="0">
              <a:buNone/>
            </a:pPr>
            <a:r>
              <a:rPr lang="en-US" sz="3600" b="1" dirty="0">
                <a:solidFill>
                  <a:srgbClr val="141413"/>
                </a:solidFill>
                <a:latin typeface="Poppins" pitchFamily="34" charset="0"/>
                <a:ea typeface="Poppins" pitchFamily="34" charset="-122"/>
                <a:cs typeface="Poppins" pitchFamily="34" charset="-120"/>
              </a:rPr>
              <a:t>Course Overview</a:t>
            </a:r>
            <a:endParaRPr lang="en-US" sz="3600" dirty="0"/>
          </a:p>
        </p:txBody>
      </p:sp>
      <p:sp>
        <p:nvSpPr>
          <p:cNvPr id="3" name="Shape 1"/>
          <p:cNvSpPr/>
          <p:nvPr/>
        </p:nvSpPr>
        <p:spPr>
          <a:xfrm>
            <a:off x="457200" y="1188720"/>
            <a:ext cx="640080" cy="640080"/>
          </a:xfrm>
          <a:prstGeom prst="ellipse">
            <a:avLst/>
          </a:prstGeom>
          <a:solidFill>
            <a:srgbClr val="E8E6DC"/>
          </a:solidFill>
          <a:ln/>
        </p:spPr>
      </p:sp>
      <p:pic>
        <p:nvPicPr>
          <p:cNvPr id="4" name="Image 0" descr="preencoded.png">    </p:cNvPr>
          <p:cNvPicPr>
            <a:picLocks noChangeAspect="1"/>
          </p:cNvPicPr>
          <p:nvPr/>
        </p:nvPicPr>
        <p:blipFill>
          <a:blip r:embed="rId1"/>
          <a:stretch>
            <a:fillRect/>
          </a:stretch>
        </p:blipFill>
        <p:spPr>
          <a:xfrm>
            <a:off x="594360" y="1325880"/>
            <a:ext cx="365760" cy="365760"/>
          </a:xfrm>
          <a:prstGeom prst="rect">
            <a:avLst/>
          </a:prstGeom>
        </p:spPr>
      </p:pic>
      <p:sp>
        <p:nvSpPr>
          <p:cNvPr id="5" name="Text 2"/>
          <p:cNvSpPr/>
          <p:nvPr/>
        </p:nvSpPr>
        <p:spPr>
          <a:xfrm>
            <a:off x="1371600" y="1188720"/>
            <a:ext cx="7315200" cy="320040"/>
          </a:xfrm>
          <a:prstGeom prst="rect">
            <a:avLst/>
          </a:prstGeom>
          <a:noFill/>
          <a:ln/>
        </p:spPr>
        <p:txBody>
          <a:bodyPr wrap="square" rtlCol="0" anchor="t"/>
          <a:lstStyle/>
          <a:p>
            <a:pPr indent="0" marL="0">
              <a:buNone/>
            </a:pPr>
            <a:r>
              <a:rPr lang="en-US" sz="2000" b="1" dirty="0">
                <a:solidFill>
                  <a:srgbClr val="141413"/>
                </a:solidFill>
                <a:latin typeface="Poppins" pitchFamily="34" charset="0"/>
                <a:ea typeface="Poppins" pitchFamily="34" charset="-122"/>
                <a:cs typeface="Poppins" pitchFamily="34" charset="-120"/>
              </a:rPr>
              <a:t>Discover &amp; Install</a:t>
            </a:r>
            <a:endParaRPr lang="en-US" sz="2000" dirty="0"/>
          </a:p>
        </p:txBody>
      </p:sp>
      <p:sp>
        <p:nvSpPr>
          <p:cNvPr id="6" name="Text 3"/>
          <p:cNvSpPr/>
          <p:nvPr/>
        </p:nvSpPr>
        <p:spPr>
          <a:xfrm>
            <a:off x="1371600" y="1508760"/>
            <a:ext cx="7315200" cy="320040"/>
          </a:xfrm>
          <a:prstGeom prst="rect">
            <a:avLst/>
          </a:prstGeom>
          <a:noFill/>
          <a:ln/>
        </p:spPr>
        <p:txBody>
          <a:bodyPr wrap="square" rtlCol="0" anchor="t"/>
          <a:lstStyle/>
          <a:p>
            <a:pPr indent="0" marL="0">
              <a:buNone/>
            </a:pPr>
            <a:r>
              <a:rPr lang="en-US" sz="1400" dirty="0">
                <a:solidFill>
                  <a:srgbClr val="B0AEA5"/>
                </a:solidFill>
                <a:latin typeface="Lora" pitchFamily="34" charset="0"/>
                <a:ea typeface="Lora" pitchFamily="34" charset="-122"/>
                <a:cs typeface="Lora" pitchFamily="34" charset="-120"/>
              </a:rPr>
              <a:t>Navigate marketplaces, evaluate plugins, and manage installations across different scopes</a:t>
            </a:r>
            <a:endParaRPr lang="en-US" sz="1400" dirty="0"/>
          </a:p>
        </p:txBody>
      </p:sp>
      <p:sp>
        <p:nvSpPr>
          <p:cNvPr id="7" name="Shape 4"/>
          <p:cNvSpPr/>
          <p:nvPr/>
        </p:nvSpPr>
        <p:spPr>
          <a:xfrm>
            <a:off x="457200" y="2560320"/>
            <a:ext cx="640080" cy="640080"/>
          </a:xfrm>
          <a:prstGeom prst="ellipse">
            <a:avLst/>
          </a:prstGeom>
          <a:solidFill>
            <a:srgbClr val="E8E6DC"/>
          </a:solidFill>
          <a:ln/>
        </p:spPr>
      </p:sp>
      <p:pic>
        <p:nvPicPr>
          <p:cNvPr id="8" name="Image 1" descr="preencoded.png">    </p:cNvPr>
          <p:cNvPicPr>
            <a:picLocks noChangeAspect="1"/>
          </p:cNvPicPr>
          <p:nvPr/>
        </p:nvPicPr>
        <p:blipFill>
          <a:blip r:embed="rId2"/>
          <a:stretch>
            <a:fillRect/>
          </a:stretch>
        </p:blipFill>
        <p:spPr>
          <a:xfrm>
            <a:off x="594360" y="2697480"/>
            <a:ext cx="365760" cy="365760"/>
          </a:xfrm>
          <a:prstGeom prst="rect">
            <a:avLst/>
          </a:prstGeom>
        </p:spPr>
      </p:pic>
      <p:sp>
        <p:nvSpPr>
          <p:cNvPr id="9" name="Text 5"/>
          <p:cNvSpPr/>
          <p:nvPr/>
        </p:nvSpPr>
        <p:spPr>
          <a:xfrm>
            <a:off x="1371600" y="2560320"/>
            <a:ext cx="7315200" cy="320040"/>
          </a:xfrm>
          <a:prstGeom prst="rect">
            <a:avLst/>
          </a:prstGeom>
          <a:noFill/>
          <a:ln/>
        </p:spPr>
        <p:txBody>
          <a:bodyPr wrap="square" rtlCol="0" anchor="t"/>
          <a:lstStyle/>
          <a:p>
            <a:pPr indent="0" marL="0">
              <a:buNone/>
            </a:pPr>
            <a:r>
              <a:rPr lang="en-US" sz="2000" b="1" dirty="0">
                <a:solidFill>
                  <a:srgbClr val="141413"/>
                </a:solidFill>
                <a:latin typeface="Poppins" pitchFamily="34" charset="0"/>
                <a:ea typeface="Poppins" pitchFamily="34" charset="-122"/>
                <a:cs typeface="Poppins" pitchFamily="34" charset="-120"/>
              </a:rPr>
              <a:t>Create &amp; Test</a:t>
            </a:r>
            <a:endParaRPr lang="en-US" sz="2000" dirty="0"/>
          </a:p>
        </p:txBody>
      </p:sp>
      <p:sp>
        <p:nvSpPr>
          <p:cNvPr id="10" name="Text 6"/>
          <p:cNvSpPr/>
          <p:nvPr/>
        </p:nvSpPr>
        <p:spPr>
          <a:xfrm>
            <a:off x="1371600" y="2880360"/>
            <a:ext cx="7315200" cy="320040"/>
          </a:xfrm>
          <a:prstGeom prst="rect">
            <a:avLst/>
          </a:prstGeom>
          <a:noFill/>
          <a:ln/>
        </p:spPr>
        <p:txBody>
          <a:bodyPr wrap="square" rtlCol="0" anchor="t"/>
          <a:lstStyle/>
          <a:p>
            <a:pPr indent="0" marL="0">
              <a:buNone/>
            </a:pPr>
            <a:r>
              <a:rPr lang="en-US" sz="1400" dirty="0">
                <a:solidFill>
                  <a:srgbClr val="B0AEA5"/>
                </a:solidFill>
                <a:latin typeface="Lora" pitchFamily="34" charset="0"/>
                <a:ea typeface="Lora" pitchFamily="34" charset="-122"/>
                <a:cs typeface="Lora" pitchFamily="34" charset="-120"/>
              </a:rPr>
              <a:t>Build custom plugins with skills, agents, hooks, and MCP servers using best practices</a:t>
            </a:r>
            <a:endParaRPr lang="en-US" sz="1400" dirty="0"/>
          </a:p>
        </p:txBody>
      </p:sp>
      <p:sp>
        <p:nvSpPr>
          <p:cNvPr id="11" name="Shape 7"/>
          <p:cNvSpPr/>
          <p:nvPr/>
        </p:nvSpPr>
        <p:spPr>
          <a:xfrm>
            <a:off x="457200" y="3931920"/>
            <a:ext cx="640080" cy="640080"/>
          </a:xfrm>
          <a:prstGeom prst="ellipse">
            <a:avLst/>
          </a:prstGeom>
          <a:solidFill>
            <a:srgbClr val="E8E6DC"/>
          </a:solidFill>
          <a:ln/>
        </p:spPr>
      </p:sp>
      <p:pic>
        <p:nvPicPr>
          <p:cNvPr id="12" name="Image 2" descr="preencoded.png">    </p:cNvPr>
          <p:cNvPicPr>
            <a:picLocks noChangeAspect="1"/>
          </p:cNvPicPr>
          <p:nvPr/>
        </p:nvPicPr>
        <p:blipFill>
          <a:blip r:embed="rId3"/>
          <a:stretch>
            <a:fillRect/>
          </a:stretch>
        </p:blipFill>
        <p:spPr>
          <a:xfrm>
            <a:off x="594360" y="4069080"/>
            <a:ext cx="365760" cy="365760"/>
          </a:xfrm>
          <a:prstGeom prst="rect">
            <a:avLst/>
          </a:prstGeom>
        </p:spPr>
      </p:pic>
      <p:sp>
        <p:nvSpPr>
          <p:cNvPr id="13" name="Text 8"/>
          <p:cNvSpPr/>
          <p:nvPr/>
        </p:nvSpPr>
        <p:spPr>
          <a:xfrm>
            <a:off x="1371600" y="3931920"/>
            <a:ext cx="7315200" cy="320040"/>
          </a:xfrm>
          <a:prstGeom prst="rect">
            <a:avLst/>
          </a:prstGeom>
          <a:noFill/>
          <a:ln/>
        </p:spPr>
        <p:txBody>
          <a:bodyPr wrap="square" rtlCol="0" anchor="t"/>
          <a:lstStyle/>
          <a:p>
            <a:pPr indent="0" marL="0">
              <a:buNone/>
            </a:pPr>
            <a:r>
              <a:rPr lang="en-US" sz="2000" b="1" dirty="0">
                <a:solidFill>
                  <a:srgbClr val="141413"/>
                </a:solidFill>
                <a:latin typeface="Poppins" pitchFamily="34" charset="0"/>
                <a:ea typeface="Poppins" pitchFamily="34" charset="-122"/>
                <a:cs typeface="Poppins" pitchFamily="34" charset="-120"/>
              </a:rPr>
              <a:t>Convert &amp; Share</a:t>
            </a:r>
            <a:endParaRPr lang="en-US" sz="2000" dirty="0"/>
          </a:p>
        </p:txBody>
      </p:sp>
      <p:sp>
        <p:nvSpPr>
          <p:cNvPr id="14" name="Text 9"/>
          <p:cNvSpPr/>
          <p:nvPr/>
        </p:nvSpPr>
        <p:spPr>
          <a:xfrm>
            <a:off x="1371600" y="4251960"/>
            <a:ext cx="7315200" cy="320040"/>
          </a:xfrm>
          <a:prstGeom prst="rect">
            <a:avLst/>
          </a:prstGeom>
          <a:noFill/>
          <a:ln/>
        </p:spPr>
        <p:txBody>
          <a:bodyPr wrap="square" rtlCol="0" anchor="t"/>
          <a:lstStyle/>
          <a:p>
            <a:pPr indent="0" marL="0">
              <a:buNone/>
            </a:pPr>
            <a:r>
              <a:rPr lang="en-US" sz="1400" dirty="0">
                <a:solidFill>
                  <a:srgbClr val="B0AEA5"/>
                </a:solidFill>
                <a:latin typeface="Lora" pitchFamily="34" charset="0"/>
                <a:ea typeface="Lora" pitchFamily="34" charset="-122"/>
                <a:cs typeface="Lora" pitchFamily="34" charset="-120"/>
              </a:rPr>
              <a:t>Migrate existing configurations to plugins and distribute through marketplaces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Module 1: What Plugins Are and How They Work</a:t>
            </a:r>
            <a:endParaRPr lang="en-US" sz="3200" dirty="0"/>
          </a:p>
        </p:txBody>
      </p:sp>
      <p:pic>
        <p:nvPicPr>
          <p:cNvPr id="3" name="Image 0" descr="preencoded.png">    </p:cNvPr>
          <p:cNvPicPr>
            <a:picLocks noChangeAspect="1"/>
          </p:cNvPicPr>
          <p:nvPr/>
        </p:nvPicPr>
        <p:blipFill>
          <a:blip r:embed="rId1"/>
          <a:stretch>
            <a:fillRect/>
          </a:stretch>
        </p:blipFill>
        <p:spPr>
          <a:xfrm>
            <a:off x="457200" y="1005840"/>
            <a:ext cx="548640" cy="548640"/>
          </a:xfrm>
          <a:prstGeom prst="rect">
            <a:avLst/>
          </a:prstGeom>
        </p:spPr>
      </p:pic>
      <p:sp>
        <p:nvSpPr>
          <p:cNvPr id="4" name="Text 1"/>
          <p:cNvSpPr/>
          <p:nvPr/>
        </p:nvSpPr>
        <p:spPr>
          <a:xfrm>
            <a:off x="1188720" y="1005840"/>
            <a:ext cx="7315200" cy="548640"/>
          </a:xfrm>
          <a:prstGeom prst="rect">
            <a:avLst/>
          </a:prstGeom>
          <a:noFill/>
          <a:ln/>
        </p:spPr>
        <p:txBody>
          <a:bodyPr wrap="square" rtlCol="0" anchor="ctr"/>
          <a:lstStyle/>
          <a:p>
            <a:pPr indent="0" marL="0">
              <a:buNone/>
            </a:pPr>
            <a:r>
              <a:rPr lang="en-US" sz="2000" b="1" dirty="0">
                <a:solidFill>
                  <a:srgbClr val="141413"/>
                </a:solidFill>
                <a:latin typeface="Poppins" pitchFamily="34" charset="0"/>
                <a:ea typeface="Poppins" pitchFamily="34" charset="-122"/>
                <a:cs typeface="Poppins" pitchFamily="34" charset="-120"/>
              </a:rPr>
              <a:t>Learning Objectives</a:t>
            </a:r>
            <a:endParaRPr lang="en-US" sz="2000" dirty="0"/>
          </a:p>
        </p:txBody>
      </p:sp>
      <p:sp>
        <p:nvSpPr>
          <p:cNvPr id="5" name="Text 2"/>
          <p:cNvSpPr/>
          <p:nvPr/>
        </p:nvSpPr>
        <p:spPr>
          <a:xfrm>
            <a:off x="1188720" y="1645920"/>
            <a:ext cx="7498080" cy="1645920"/>
          </a:xfrm>
          <a:prstGeom prst="rect">
            <a:avLst/>
          </a:prstGeom>
          <a:noFill/>
          <a:ln/>
        </p:spPr>
        <p:txBody>
          <a:bodyPr wrap="square" rtlCol="0" anchor="ctr"/>
          <a:lstStyle/>
          <a:p>
            <a:pPr marL="342900" indent="-342900">
              <a:buSzPct val="100000"/>
              <a:buChar char="•"/>
            </a:pPr>
            <a:r>
              <a:rPr lang="en-US" sz="1400" dirty="0">
                <a:solidFill>
                  <a:srgbClr val="141413"/>
                </a:solidFill>
                <a:latin typeface="Lora" pitchFamily="34" charset="0"/>
                <a:ea typeface="Lora" pitchFamily="34" charset="-122"/>
                <a:cs typeface="Lora" pitchFamily="34" charset="-120"/>
              </a:rPr>
              <a:t>Define what Claude Code plugins are and their purpose</a:t>
            </a:r>
            <a:endParaRPr lang="en-US" sz="1400" dirty="0"/>
          </a:p>
          <a:p>
            <a:pPr marL="342900" indent="-342900">
              <a:buSzPct val="100000"/>
              <a:buChar char="•"/>
            </a:pPr>
            <a:r>
              <a:rPr lang="en-US" sz="1400" dirty="0">
                <a:solidFill>
                  <a:srgbClr val="141413"/>
                </a:solidFill>
                <a:latin typeface="Lora" pitchFamily="34" charset="0"/>
                <a:ea typeface="Lora" pitchFamily="34" charset="-122"/>
                <a:cs typeface="Lora" pitchFamily="34" charset="-120"/>
              </a:rPr>
              <a:t>Compare plugins vs standalone configurations</a:t>
            </a:r>
            <a:endParaRPr lang="en-US" sz="1400" dirty="0"/>
          </a:p>
          <a:p>
            <a:pPr marL="342900" indent="-342900">
              <a:buSzPct val="100000"/>
              <a:buChar char="•"/>
            </a:pPr>
            <a:r>
              <a:rPr lang="en-US" sz="1400" dirty="0">
                <a:solidFill>
                  <a:srgbClr val="141413"/>
                </a:solidFill>
                <a:latin typeface="Lora" pitchFamily="34" charset="0"/>
                <a:ea typeface="Lora" pitchFamily="34" charset="-122"/>
                <a:cs typeface="Lora" pitchFamily="34" charset="-120"/>
              </a:rPr>
              <a:t>Explain plugin namespacing and conflict prevention</a:t>
            </a:r>
            <a:endParaRPr lang="en-US" sz="1400" dirty="0"/>
          </a:p>
          <a:p>
            <a:pPr marL="342900" indent="-342900">
              <a:buSzPct val="100000"/>
              <a:buChar char="•"/>
            </a:pPr>
            <a:r>
              <a:rPr lang="en-US" sz="1400" dirty="0">
                <a:solidFill>
                  <a:srgbClr val="141413"/>
                </a:solidFill>
                <a:latin typeface="Lora" pitchFamily="34" charset="0"/>
                <a:ea typeface="Lora" pitchFamily="34" charset="-122"/>
                <a:cs typeface="Lora" pitchFamily="34" charset="-120"/>
              </a:rPr>
              <a:t>Identify plugin capabilities: skills, agents, hooks, MCP servers</a:t>
            </a:r>
            <a:endParaRPr lang="en-US" sz="1400" dirty="0"/>
          </a:p>
        </p:txBody>
      </p:sp>
      <p:sp>
        <p:nvSpPr>
          <p:cNvPr id="6" name="Shape 3"/>
          <p:cNvSpPr/>
          <p:nvPr/>
        </p:nvSpPr>
        <p:spPr>
          <a:xfrm>
            <a:off x="457200" y="3474720"/>
            <a:ext cx="8229600" cy="137160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7" name="Text 4"/>
          <p:cNvSpPr/>
          <p:nvPr/>
        </p:nvSpPr>
        <p:spPr>
          <a:xfrm>
            <a:off x="640080" y="3611880"/>
            <a:ext cx="7863840" cy="320040"/>
          </a:xfrm>
          <a:prstGeom prst="rect">
            <a:avLst/>
          </a:prstGeom>
          <a:noFill/>
          <a:ln/>
        </p:spPr>
        <p:txBody>
          <a:bodyPr wrap="square" rtlCol="0" anchor="ctr"/>
          <a:lstStyle/>
          <a:p>
            <a:pPr indent="0" marL="0">
              <a:buNone/>
            </a:pPr>
            <a:r>
              <a:rPr lang="en-US" sz="1800" b="1" dirty="0">
                <a:solidFill>
                  <a:srgbClr val="141413"/>
                </a:solidFill>
                <a:latin typeface="Poppins" pitchFamily="34" charset="0"/>
                <a:ea typeface="Poppins" pitchFamily="34" charset="-122"/>
                <a:cs typeface="Poppins" pitchFamily="34" charset="-120"/>
              </a:rPr>
              <a:t>Plugin vs Standalone</a:t>
            </a:r>
            <a:endParaRPr lang="en-US" sz="1800" dirty="0"/>
          </a:p>
        </p:txBody>
      </p:sp>
      <p:sp>
        <p:nvSpPr>
          <p:cNvPr id="8" name="Text 5"/>
          <p:cNvSpPr/>
          <p:nvPr/>
        </p:nvSpPr>
        <p:spPr>
          <a:xfrm>
            <a:off x="640080" y="3977640"/>
            <a:ext cx="3657600" cy="731520"/>
          </a:xfrm>
          <a:prstGeom prst="rect">
            <a:avLst/>
          </a:prstGeom>
          <a:noFill/>
          <a:ln/>
        </p:spPr>
        <p:txBody>
          <a:bodyPr wrap="square" rtlCol="0" anchor="t"/>
          <a:lstStyle/>
          <a:p>
            <a:pPr indent="0" marL="0">
              <a:buNone/>
            </a:pPr>
            <a:r>
              <a:rPr lang="en-US" sz="1300" dirty="0">
                <a:solidFill>
                  <a:srgbClr val="141413"/>
                </a:solidFill>
                <a:latin typeface="Lora" pitchFamily="34" charset="0"/>
                <a:ea typeface="Lora" pitchFamily="34" charset="-122"/>
                <a:cs typeface="Lora" pitchFamily="34" charset="-120"/>
              </a:rPr>
              <a:t>Start with standalone .claude/ for quick iteration → Convert to plugin for sharing</a:t>
            </a:r>
            <a:endParaRPr lang="en-US" sz="1300" dirty="0"/>
          </a:p>
        </p:txBody>
      </p:sp>
      <p:sp>
        <p:nvSpPr>
          <p:cNvPr id="9" name="Text 6"/>
          <p:cNvSpPr/>
          <p:nvPr/>
        </p:nvSpPr>
        <p:spPr>
          <a:xfrm>
            <a:off x="4480560" y="3977640"/>
            <a:ext cx="4023360" cy="731520"/>
          </a:xfrm>
          <a:prstGeom prst="rect">
            <a:avLst/>
          </a:prstGeom>
          <a:noFill/>
          <a:ln/>
        </p:spPr>
        <p:txBody>
          <a:bodyPr wrap="square" rtlCol="0" anchor="t"/>
          <a:lstStyle/>
          <a:p>
            <a:pPr indent="0" marL="0">
              <a:buNone/>
            </a:pPr>
            <a:r>
              <a:rPr lang="en-US" sz="1300" dirty="0">
                <a:solidFill>
                  <a:srgbClr val="141413"/>
                </a:solidFill>
                <a:latin typeface="Lora" pitchFamily="34" charset="0"/>
                <a:ea typeface="Lora" pitchFamily="34" charset="-122"/>
                <a:cs typeface="Lora" pitchFamily="34" charset="-120"/>
              </a:rPr>
              <a:t>Plugins enable team sharing, version control, and cross-project reusability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Understanding Plugin Namespacing</a:t>
            </a:r>
            <a:endParaRPr lang="en-US" sz="3200" dirty="0"/>
          </a:p>
        </p:txBody>
      </p:sp>
      <p:sp>
        <p:nvSpPr>
          <p:cNvPr id="3" name="Text 1"/>
          <p:cNvSpPr/>
          <p:nvPr/>
        </p:nvSpPr>
        <p:spPr>
          <a:xfrm>
            <a:off x="457200" y="1097280"/>
            <a:ext cx="4114800" cy="365760"/>
          </a:xfrm>
          <a:prstGeom prst="rect">
            <a:avLst/>
          </a:prstGeom>
          <a:noFill/>
          <a:ln/>
        </p:spPr>
        <p:txBody>
          <a:bodyPr wrap="square" rtlCol="0" anchor="ctr"/>
          <a:lstStyle/>
          <a:p>
            <a:pPr indent="0" marL="0">
              <a:buNone/>
            </a:pPr>
            <a:r>
              <a:rPr lang="en-US" sz="1800" b="1" dirty="0">
                <a:solidFill>
                  <a:srgbClr val="141413"/>
                </a:solidFill>
                <a:latin typeface="Poppins" pitchFamily="34" charset="0"/>
                <a:ea typeface="Poppins" pitchFamily="34" charset="-122"/>
                <a:cs typeface="Poppins" pitchFamily="34" charset="-120"/>
              </a:rPr>
              <a:t>Why Namespacing?</a:t>
            </a:r>
            <a:endParaRPr lang="en-US" sz="1800" dirty="0"/>
          </a:p>
        </p:txBody>
      </p:sp>
      <p:sp>
        <p:nvSpPr>
          <p:cNvPr id="4" name="Text 2"/>
          <p:cNvSpPr/>
          <p:nvPr/>
        </p:nvSpPr>
        <p:spPr>
          <a:xfrm>
            <a:off x="457200" y="1554480"/>
            <a:ext cx="4114800" cy="822960"/>
          </a:xfrm>
          <a:prstGeom prst="rect">
            <a:avLst/>
          </a:prstGeom>
          <a:noFill/>
          <a:ln/>
        </p:spPr>
        <p:txBody>
          <a:bodyPr wrap="square" rtlCol="0" anchor="ctr"/>
          <a:lstStyle/>
          <a:p>
            <a:pPr indent="0" marL="0">
              <a:buNone/>
            </a:pPr>
            <a:r>
              <a:rPr lang="en-US" sz="1400" dirty="0">
                <a:solidFill>
                  <a:srgbClr val="141413"/>
                </a:solidFill>
                <a:latin typeface="Lora" pitchFamily="34" charset="0"/>
                <a:ea typeface="Lora" pitchFamily="34" charset="-122"/>
                <a:cs typeface="Lora" pitchFamily="34" charset="-120"/>
              </a:rPr>
              <a:t>Prevents conflicts when multiple plugins have commands with the same name. Each plugin gets its own namespace.</a:t>
            </a:r>
            <a:endParaRPr lang="en-US" sz="1400" dirty="0"/>
          </a:p>
        </p:txBody>
      </p:sp>
      <p:sp>
        <p:nvSpPr>
          <p:cNvPr id="5" name="Shape 3"/>
          <p:cNvSpPr/>
          <p:nvPr/>
        </p:nvSpPr>
        <p:spPr>
          <a:xfrm>
            <a:off x="457200" y="2560320"/>
            <a:ext cx="4114800" cy="548640"/>
          </a:xfrm>
          <a:prstGeom prst="rect">
            <a:avLst/>
          </a:prstGeom>
          <a:solidFill>
            <a:srgbClr val="E8E6DC"/>
          </a:solidFill>
          <a:ln/>
        </p:spPr>
      </p:sp>
      <p:sp>
        <p:nvSpPr>
          <p:cNvPr id="6" name="Text 4"/>
          <p:cNvSpPr/>
          <p:nvPr/>
        </p:nvSpPr>
        <p:spPr>
          <a:xfrm>
            <a:off x="640080" y="2606040"/>
            <a:ext cx="1371600" cy="457200"/>
          </a:xfrm>
          <a:prstGeom prst="rect">
            <a:avLst/>
          </a:prstGeom>
          <a:noFill/>
          <a:ln/>
        </p:spPr>
        <p:txBody>
          <a:bodyPr wrap="square" rtlCol="0" anchor="ctr"/>
          <a:lstStyle/>
          <a:p>
            <a:pPr indent="0" marL="0">
              <a:buNone/>
            </a:pPr>
            <a:r>
              <a:rPr lang="en-US" sz="1200" b="1" dirty="0">
                <a:solidFill>
                  <a:srgbClr val="B0AEA5"/>
                </a:solidFill>
                <a:latin typeface="Lora" pitchFamily="34" charset="0"/>
                <a:ea typeface="Lora" pitchFamily="34" charset="-122"/>
                <a:cs typeface="Lora" pitchFamily="34" charset="-120"/>
              </a:rPr>
              <a:t>Standalone</a:t>
            </a:r>
            <a:endParaRPr lang="en-US" sz="1200" dirty="0"/>
          </a:p>
        </p:txBody>
      </p:sp>
      <p:sp>
        <p:nvSpPr>
          <p:cNvPr id="7" name="Text 5"/>
          <p:cNvSpPr/>
          <p:nvPr/>
        </p:nvSpPr>
        <p:spPr>
          <a:xfrm>
            <a:off x="2103120" y="2606040"/>
            <a:ext cx="2286000" cy="457200"/>
          </a:xfrm>
          <a:prstGeom prst="rect">
            <a:avLst/>
          </a:prstGeom>
          <a:noFill/>
          <a:ln/>
        </p:spPr>
        <p:txBody>
          <a:bodyPr wrap="square" rtlCol="0" anchor="ctr"/>
          <a:lstStyle/>
          <a:p>
            <a:pPr indent="0" marL="0">
              <a:buNone/>
            </a:pPr>
            <a:r>
              <a:rPr lang="en-US" sz="1400" dirty="0">
                <a:solidFill>
                  <a:srgbClr val="6A9BCC"/>
                </a:solidFill>
                <a:latin typeface="Courier New" pitchFamily="34" charset="0"/>
                <a:ea typeface="Courier New" pitchFamily="34" charset="-122"/>
                <a:cs typeface="Courier New" pitchFamily="34" charset="-120"/>
              </a:rPr>
              <a:t>/hello</a:t>
            </a:r>
            <a:endParaRPr lang="en-US" sz="1400" dirty="0"/>
          </a:p>
        </p:txBody>
      </p:sp>
      <p:sp>
        <p:nvSpPr>
          <p:cNvPr id="8" name="Shape 6"/>
          <p:cNvSpPr/>
          <p:nvPr/>
        </p:nvSpPr>
        <p:spPr>
          <a:xfrm>
            <a:off x="457200" y="3291840"/>
            <a:ext cx="4114800" cy="548640"/>
          </a:xfrm>
          <a:prstGeom prst="rect">
            <a:avLst/>
          </a:prstGeom>
          <a:solidFill>
            <a:srgbClr val="E8E6DC"/>
          </a:solidFill>
          <a:ln/>
        </p:spPr>
      </p:sp>
      <p:sp>
        <p:nvSpPr>
          <p:cNvPr id="9" name="Text 7"/>
          <p:cNvSpPr/>
          <p:nvPr/>
        </p:nvSpPr>
        <p:spPr>
          <a:xfrm>
            <a:off x="640080" y="3337560"/>
            <a:ext cx="1371600" cy="457200"/>
          </a:xfrm>
          <a:prstGeom prst="rect">
            <a:avLst/>
          </a:prstGeom>
          <a:noFill/>
          <a:ln/>
        </p:spPr>
        <p:txBody>
          <a:bodyPr wrap="square" rtlCol="0" anchor="ctr"/>
          <a:lstStyle/>
          <a:p>
            <a:pPr indent="0" marL="0">
              <a:buNone/>
            </a:pPr>
            <a:r>
              <a:rPr lang="en-US" sz="1200" b="1" dirty="0">
                <a:solidFill>
                  <a:srgbClr val="B0AEA5"/>
                </a:solidFill>
                <a:latin typeface="Lora" pitchFamily="34" charset="0"/>
                <a:ea typeface="Lora" pitchFamily="34" charset="-122"/>
                <a:cs typeface="Lora" pitchFamily="34" charset="-120"/>
              </a:rPr>
              <a:t>Plugin A</a:t>
            </a:r>
            <a:endParaRPr lang="en-US" sz="1200" dirty="0"/>
          </a:p>
        </p:txBody>
      </p:sp>
      <p:sp>
        <p:nvSpPr>
          <p:cNvPr id="10" name="Text 8"/>
          <p:cNvSpPr/>
          <p:nvPr/>
        </p:nvSpPr>
        <p:spPr>
          <a:xfrm>
            <a:off x="2103120" y="3337560"/>
            <a:ext cx="2286000" cy="457200"/>
          </a:xfrm>
          <a:prstGeom prst="rect">
            <a:avLst/>
          </a:prstGeom>
          <a:noFill/>
          <a:ln/>
        </p:spPr>
        <p:txBody>
          <a:bodyPr wrap="square" rtlCol="0" anchor="ctr"/>
          <a:lstStyle/>
          <a:p>
            <a:pPr indent="0" marL="0">
              <a:buNone/>
            </a:pPr>
            <a:r>
              <a:rPr lang="en-US" sz="1400" dirty="0">
                <a:solidFill>
                  <a:srgbClr val="D97757"/>
                </a:solidFill>
                <a:latin typeface="Courier New" pitchFamily="34" charset="0"/>
                <a:ea typeface="Courier New" pitchFamily="34" charset="-122"/>
                <a:cs typeface="Courier New" pitchFamily="34" charset="-120"/>
              </a:rPr>
              <a:t>/greet-plugin:hello</a:t>
            </a:r>
            <a:endParaRPr lang="en-US" sz="1400" dirty="0"/>
          </a:p>
        </p:txBody>
      </p:sp>
      <p:sp>
        <p:nvSpPr>
          <p:cNvPr id="11" name="Shape 9"/>
          <p:cNvSpPr/>
          <p:nvPr/>
        </p:nvSpPr>
        <p:spPr>
          <a:xfrm>
            <a:off x="457200" y="4023360"/>
            <a:ext cx="4114800" cy="548640"/>
          </a:xfrm>
          <a:prstGeom prst="rect">
            <a:avLst/>
          </a:prstGeom>
          <a:solidFill>
            <a:srgbClr val="E8E6DC"/>
          </a:solidFill>
          <a:ln/>
        </p:spPr>
      </p:sp>
      <p:sp>
        <p:nvSpPr>
          <p:cNvPr id="12" name="Text 10"/>
          <p:cNvSpPr/>
          <p:nvPr/>
        </p:nvSpPr>
        <p:spPr>
          <a:xfrm>
            <a:off x="640080" y="4069080"/>
            <a:ext cx="1371600" cy="457200"/>
          </a:xfrm>
          <a:prstGeom prst="rect">
            <a:avLst/>
          </a:prstGeom>
          <a:noFill/>
          <a:ln/>
        </p:spPr>
        <p:txBody>
          <a:bodyPr wrap="square" rtlCol="0" anchor="ctr"/>
          <a:lstStyle/>
          <a:p>
            <a:pPr indent="0" marL="0">
              <a:buNone/>
            </a:pPr>
            <a:r>
              <a:rPr lang="en-US" sz="1200" b="1" dirty="0">
                <a:solidFill>
                  <a:srgbClr val="B0AEA5"/>
                </a:solidFill>
                <a:latin typeface="Lora" pitchFamily="34" charset="0"/>
                <a:ea typeface="Lora" pitchFamily="34" charset="-122"/>
                <a:cs typeface="Lora" pitchFamily="34" charset="-120"/>
              </a:rPr>
              <a:t>Plugin B</a:t>
            </a:r>
            <a:endParaRPr lang="en-US" sz="1200" dirty="0"/>
          </a:p>
        </p:txBody>
      </p:sp>
      <p:sp>
        <p:nvSpPr>
          <p:cNvPr id="13" name="Text 11"/>
          <p:cNvSpPr/>
          <p:nvPr/>
        </p:nvSpPr>
        <p:spPr>
          <a:xfrm>
            <a:off x="2103120" y="4069080"/>
            <a:ext cx="2286000" cy="457200"/>
          </a:xfrm>
          <a:prstGeom prst="rect">
            <a:avLst/>
          </a:prstGeom>
          <a:noFill/>
          <a:ln/>
        </p:spPr>
        <p:txBody>
          <a:bodyPr wrap="square" rtlCol="0" anchor="ctr"/>
          <a:lstStyle/>
          <a:p>
            <a:pPr indent="0" marL="0">
              <a:buNone/>
            </a:pPr>
            <a:r>
              <a:rPr lang="en-US" sz="1400" dirty="0">
                <a:solidFill>
                  <a:srgbClr val="788C5D"/>
                </a:solidFill>
                <a:latin typeface="Courier New" pitchFamily="34" charset="0"/>
                <a:ea typeface="Courier New" pitchFamily="34" charset="-122"/>
                <a:cs typeface="Courier New" pitchFamily="34" charset="-120"/>
              </a:rPr>
              <a:t>/welcome:hello</a:t>
            </a:r>
            <a:endParaRPr lang="en-US" sz="1400" dirty="0"/>
          </a:p>
        </p:txBody>
      </p:sp>
      <p:sp>
        <p:nvSpPr>
          <p:cNvPr id="14" name="Shape 12"/>
          <p:cNvSpPr/>
          <p:nvPr/>
        </p:nvSpPr>
        <p:spPr>
          <a:xfrm>
            <a:off x="5029200" y="1097280"/>
            <a:ext cx="3657600" cy="3566160"/>
          </a:xfrm>
          <a:prstGeom prst="rect">
            <a:avLst/>
          </a:prstGeom>
          <a:solidFill>
            <a:srgbClr val="141413"/>
          </a:solidFill>
          <a:ln/>
        </p:spPr>
      </p:sp>
      <p:sp>
        <p:nvSpPr>
          <p:cNvPr id="15" name="Text 13"/>
          <p:cNvSpPr/>
          <p:nvPr/>
        </p:nvSpPr>
        <p:spPr>
          <a:xfrm>
            <a:off x="5212080" y="1280160"/>
            <a:ext cx="3291840" cy="365760"/>
          </a:xfrm>
          <a:prstGeom prst="rect">
            <a:avLst/>
          </a:prstGeom>
          <a:noFill/>
          <a:ln/>
        </p:spPr>
        <p:txBody>
          <a:bodyPr wrap="square" rtlCol="0" anchor="ctr"/>
          <a:lstStyle/>
          <a:p>
            <a:pPr indent="0" marL="0">
              <a:buNone/>
            </a:pPr>
            <a:r>
              <a:rPr lang="en-US" sz="1800" b="1" dirty="0">
                <a:solidFill>
                  <a:srgbClr val="FAF9F5"/>
                </a:solidFill>
                <a:latin typeface="Poppins" pitchFamily="34" charset="0"/>
                <a:ea typeface="Poppins" pitchFamily="34" charset="-122"/>
                <a:cs typeface="Poppins" pitchFamily="34" charset="-120"/>
              </a:rPr>
              <a:t>No Conflicts</a:t>
            </a:r>
            <a:endParaRPr lang="en-US" sz="1800" dirty="0"/>
          </a:p>
        </p:txBody>
      </p:sp>
      <p:sp>
        <p:nvSpPr>
          <p:cNvPr id="16" name="Text 14"/>
          <p:cNvSpPr/>
          <p:nvPr/>
        </p:nvSpPr>
        <p:spPr>
          <a:xfrm>
            <a:off x="5212080" y="1737360"/>
            <a:ext cx="3291840" cy="1828800"/>
          </a:xfrm>
          <a:prstGeom prst="rect">
            <a:avLst/>
          </a:prstGeom>
          <a:noFill/>
          <a:ln/>
        </p:spPr>
        <p:txBody>
          <a:bodyPr wrap="square" rtlCol="0" anchor="ctr"/>
          <a:lstStyle/>
          <a:p>
            <a:pPr marL="342900" indent="-342900">
              <a:buSzPct val="100000"/>
              <a:buChar char="•"/>
            </a:pPr>
            <a:r>
              <a:rPr lang="en-US" sz="1300" dirty="0">
                <a:solidFill>
                  <a:srgbClr val="FAF9F5"/>
                </a:solidFill>
                <a:latin typeface="Lora" pitchFamily="34" charset="0"/>
                <a:ea typeface="Lora" pitchFamily="34" charset="-122"/>
                <a:cs typeface="Lora" pitchFamily="34" charset="-120"/>
              </a:rPr>
              <a:t>Multiple plugins can coexist</a:t>
            </a:r>
            <a:endParaRPr lang="en-US" sz="1300" dirty="0"/>
          </a:p>
          <a:p>
            <a:pPr marL="342900" indent="-342900">
              <a:buSzPct val="100000"/>
              <a:buChar char="•"/>
            </a:pPr>
            <a:r>
              <a:rPr lang="en-US" sz="1300" dirty="0">
                <a:solidFill>
                  <a:srgbClr val="FAF9F5"/>
                </a:solidFill>
                <a:latin typeface="Lora" pitchFamily="34" charset="0"/>
                <a:ea typeface="Lora" pitchFamily="34" charset="-122"/>
                <a:cs typeface="Lora" pitchFamily="34" charset="-120"/>
              </a:rPr>
              <a:t>Same command names, different namespaces</a:t>
            </a:r>
            <a:endParaRPr lang="en-US" sz="1300" dirty="0"/>
          </a:p>
          <a:p>
            <a:pPr marL="342900" indent="-342900">
              <a:buSzPct val="100000"/>
              <a:buChar char="•"/>
            </a:pPr>
            <a:r>
              <a:rPr lang="en-US" sz="1300" dirty="0">
                <a:solidFill>
                  <a:srgbClr val="FAF9F5"/>
                </a:solidFill>
                <a:latin typeface="Lora" pitchFamily="34" charset="0"/>
                <a:ea typeface="Lora" pitchFamily="34" charset="-122"/>
                <a:cs typeface="Lora" pitchFamily="34" charset="-120"/>
              </a:rPr>
              <a:t>No ambiguity for Claude or users</a:t>
            </a:r>
            <a:endParaRPr lang="en-US" sz="1300" dirty="0"/>
          </a:p>
        </p:txBody>
      </p:sp>
      <p:pic>
        <p:nvPicPr>
          <p:cNvPr id="17" name="Image 0" descr="preencoded.png">    </p:cNvPr>
          <p:cNvPicPr>
            <a:picLocks noChangeAspect="1"/>
          </p:cNvPicPr>
          <p:nvPr/>
        </p:nvPicPr>
        <p:blipFill>
          <a:blip r:embed="rId1"/>
          <a:stretch>
            <a:fillRect/>
          </a:stretch>
        </p:blipFill>
        <p:spPr>
          <a:xfrm>
            <a:off x="6400800" y="3840480"/>
            <a:ext cx="822960" cy="8229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Module 2: Plugin Marketplaces</a:t>
            </a:r>
            <a:endParaRPr lang="en-US" sz="3200" dirty="0"/>
          </a:p>
        </p:txBody>
      </p:sp>
      <p:pic>
        <p:nvPicPr>
          <p:cNvPr id="3" name="Image 0" descr="preencoded.png">    </p:cNvPr>
          <p:cNvPicPr>
            <a:picLocks noChangeAspect="1"/>
          </p:cNvPicPr>
          <p:nvPr/>
        </p:nvPicPr>
        <p:blipFill>
          <a:blip r:embed="rId1"/>
          <a:stretch>
            <a:fillRect/>
          </a:stretch>
        </p:blipFill>
        <p:spPr>
          <a:xfrm>
            <a:off x="457200" y="1005840"/>
            <a:ext cx="548640" cy="548640"/>
          </a:xfrm>
          <a:prstGeom prst="rect">
            <a:avLst/>
          </a:prstGeom>
        </p:spPr>
      </p:pic>
      <p:sp>
        <p:nvSpPr>
          <p:cNvPr id="4" name="Text 1"/>
          <p:cNvSpPr/>
          <p:nvPr/>
        </p:nvSpPr>
        <p:spPr>
          <a:xfrm>
            <a:off x="1188720" y="1005840"/>
            <a:ext cx="7315200" cy="548640"/>
          </a:xfrm>
          <a:prstGeom prst="rect">
            <a:avLst/>
          </a:prstGeom>
          <a:noFill/>
          <a:ln/>
        </p:spPr>
        <p:txBody>
          <a:bodyPr wrap="square" rtlCol="0" anchor="ctr"/>
          <a:lstStyle/>
          <a:p>
            <a:pPr indent="0" marL="0">
              <a:buNone/>
            </a:pPr>
            <a:r>
              <a:rPr lang="en-US" sz="2000" b="1" dirty="0">
                <a:solidFill>
                  <a:srgbClr val="141413"/>
                </a:solidFill>
                <a:latin typeface="Poppins" pitchFamily="34" charset="0"/>
                <a:ea typeface="Poppins" pitchFamily="34" charset="-122"/>
                <a:cs typeface="Poppins" pitchFamily="34" charset="-120"/>
              </a:rPr>
              <a:t>Plugin Discovery Hub</a:t>
            </a:r>
            <a:endParaRPr lang="en-US" sz="2000" dirty="0"/>
          </a:p>
        </p:txBody>
      </p:sp>
      <p:sp>
        <p:nvSpPr>
          <p:cNvPr id="5" name="Shape 2"/>
          <p:cNvSpPr/>
          <p:nvPr/>
        </p:nvSpPr>
        <p:spPr>
          <a:xfrm>
            <a:off x="457200" y="1920240"/>
            <a:ext cx="1828800" cy="1463040"/>
          </a:xfrm>
          <a:prstGeom prst="rect">
            <a:avLst/>
          </a:prstGeom>
          <a:solidFill>
            <a:srgbClr val="E8E6DC"/>
          </a:solidFill>
          <a:ln/>
          <a:effectLst>
            <a:outerShdw sx="100000" sy="100000" kx="0" ky="0" algn="bl" rotWithShape="0" blurRad="76200" dist="25400" dir="8100000">
              <a:srgbClr val="000000">
                <a:alpha val="15000"/>
              </a:srgbClr>
            </a:outerShdw>
          </a:effectLst>
        </p:spPr>
      </p:sp>
      <p:pic>
        <p:nvPicPr>
          <p:cNvPr id="6" name="Image 1" descr="preencoded.png">    </p:cNvPr>
          <p:cNvPicPr>
            <a:picLocks noChangeAspect="1"/>
          </p:cNvPicPr>
          <p:nvPr/>
        </p:nvPicPr>
        <p:blipFill>
          <a:blip r:embed="rId2"/>
          <a:stretch>
            <a:fillRect/>
          </a:stretch>
        </p:blipFill>
        <p:spPr>
          <a:xfrm>
            <a:off x="1097280" y="2103120"/>
            <a:ext cx="548640" cy="548640"/>
          </a:xfrm>
          <a:prstGeom prst="rect">
            <a:avLst/>
          </a:prstGeom>
        </p:spPr>
      </p:pic>
      <p:sp>
        <p:nvSpPr>
          <p:cNvPr id="7" name="Text 3"/>
          <p:cNvSpPr/>
          <p:nvPr/>
        </p:nvSpPr>
        <p:spPr>
          <a:xfrm>
            <a:off x="548640" y="2788920"/>
            <a:ext cx="1645920" cy="274320"/>
          </a:xfrm>
          <a:prstGeom prst="rect">
            <a:avLst/>
          </a:prstGeom>
          <a:noFill/>
          <a:ln/>
        </p:spPr>
        <p:txBody>
          <a:bodyPr wrap="square" rtlCol="0" anchor="ctr"/>
          <a:lstStyle/>
          <a:p>
            <a:pPr algn="ctr" indent="0" marL="0">
              <a:buNone/>
            </a:pPr>
            <a:r>
              <a:rPr lang="en-US" sz="1400" b="1" dirty="0">
                <a:solidFill>
                  <a:srgbClr val="141413"/>
                </a:solidFill>
                <a:latin typeface="Poppins" pitchFamily="34" charset="0"/>
                <a:ea typeface="Poppins" pitchFamily="34" charset="-122"/>
                <a:cs typeface="Poppins" pitchFamily="34" charset="-120"/>
              </a:rPr>
              <a:t>Discover</a:t>
            </a:r>
            <a:endParaRPr lang="en-US" sz="1400" dirty="0"/>
          </a:p>
        </p:txBody>
      </p:sp>
      <p:sp>
        <p:nvSpPr>
          <p:cNvPr id="8" name="Text 4"/>
          <p:cNvSpPr/>
          <p:nvPr/>
        </p:nvSpPr>
        <p:spPr>
          <a:xfrm>
            <a:off x="548640" y="3063240"/>
            <a:ext cx="1645920" cy="274320"/>
          </a:xfrm>
          <a:prstGeom prst="rect">
            <a:avLst/>
          </a:prstGeom>
          <a:noFill/>
          <a:ln/>
        </p:spPr>
        <p:txBody>
          <a:bodyPr wrap="square" rtlCol="0" anchor="ctr"/>
          <a:lstStyle/>
          <a:p>
            <a:pPr algn="ctr" indent="0" marL="0">
              <a:buNone/>
            </a:pPr>
            <a:r>
              <a:rPr lang="en-US" sz="1100" dirty="0">
                <a:solidFill>
                  <a:srgbClr val="B0AEA5"/>
                </a:solidFill>
                <a:latin typeface="Lora" pitchFamily="34" charset="0"/>
                <a:ea typeface="Lora" pitchFamily="34" charset="-122"/>
                <a:cs typeface="Lora" pitchFamily="34" charset="-120"/>
              </a:rPr>
              <a:t>Browse available plugins</a:t>
            </a:r>
            <a:endParaRPr lang="en-US" sz="1100" dirty="0"/>
          </a:p>
        </p:txBody>
      </p:sp>
      <p:sp>
        <p:nvSpPr>
          <p:cNvPr id="9" name="Shape 5"/>
          <p:cNvSpPr/>
          <p:nvPr/>
        </p:nvSpPr>
        <p:spPr>
          <a:xfrm>
            <a:off x="2743200" y="1920240"/>
            <a:ext cx="1828800" cy="1463040"/>
          </a:xfrm>
          <a:prstGeom prst="rect">
            <a:avLst/>
          </a:prstGeom>
          <a:solidFill>
            <a:srgbClr val="E8E6DC"/>
          </a:solidFill>
          <a:ln/>
          <a:effectLst>
            <a:outerShdw sx="100000" sy="100000" kx="0" ky="0" algn="bl" rotWithShape="0" blurRad="76200" dist="25400" dir="8100000">
              <a:srgbClr val="000000">
                <a:alpha val="15000"/>
              </a:srgbClr>
            </a:outerShdw>
          </a:effectLst>
        </p:spPr>
      </p:sp>
      <p:pic>
        <p:nvPicPr>
          <p:cNvPr id="10" name="Image 2" descr="preencoded.png">    </p:cNvPr>
          <p:cNvPicPr>
            <a:picLocks noChangeAspect="1"/>
          </p:cNvPicPr>
          <p:nvPr/>
        </p:nvPicPr>
        <p:blipFill>
          <a:blip r:embed="rId3"/>
          <a:stretch>
            <a:fillRect/>
          </a:stretch>
        </p:blipFill>
        <p:spPr>
          <a:xfrm>
            <a:off x="3383280" y="2103120"/>
            <a:ext cx="548640" cy="548640"/>
          </a:xfrm>
          <a:prstGeom prst="rect">
            <a:avLst/>
          </a:prstGeom>
        </p:spPr>
      </p:pic>
      <p:sp>
        <p:nvSpPr>
          <p:cNvPr id="11" name="Text 6"/>
          <p:cNvSpPr/>
          <p:nvPr/>
        </p:nvSpPr>
        <p:spPr>
          <a:xfrm>
            <a:off x="2834640" y="2788920"/>
            <a:ext cx="1645920" cy="274320"/>
          </a:xfrm>
          <a:prstGeom prst="rect">
            <a:avLst/>
          </a:prstGeom>
          <a:noFill/>
          <a:ln/>
        </p:spPr>
        <p:txBody>
          <a:bodyPr wrap="square" rtlCol="0" anchor="ctr"/>
          <a:lstStyle/>
          <a:p>
            <a:pPr algn="ctr" indent="0" marL="0">
              <a:buNone/>
            </a:pPr>
            <a:r>
              <a:rPr lang="en-US" sz="1400" b="1" dirty="0">
                <a:solidFill>
                  <a:srgbClr val="141413"/>
                </a:solidFill>
                <a:latin typeface="Poppins" pitchFamily="34" charset="0"/>
                <a:ea typeface="Poppins" pitchFamily="34" charset="-122"/>
                <a:cs typeface="Poppins" pitchFamily="34" charset="-120"/>
              </a:rPr>
              <a:t>Installed</a:t>
            </a:r>
            <a:endParaRPr lang="en-US" sz="1400" dirty="0"/>
          </a:p>
        </p:txBody>
      </p:sp>
      <p:sp>
        <p:nvSpPr>
          <p:cNvPr id="12" name="Text 7"/>
          <p:cNvSpPr/>
          <p:nvPr/>
        </p:nvSpPr>
        <p:spPr>
          <a:xfrm>
            <a:off x="2834640" y="3063240"/>
            <a:ext cx="1645920" cy="274320"/>
          </a:xfrm>
          <a:prstGeom prst="rect">
            <a:avLst/>
          </a:prstGeom>
          <a:noFill/>
          <a:ln/>
        </p:spPr>
        <p:txBody>
          <a:bodyPr wrap="square" rtlCol="0" anchor="ctr"/>
          <a:lstStyle/>
          <a:p>
            <a:pPr algn="ctr" indent="0" marL="0">
              <a:buNone/>
            </a:pPr>
            <a:r>
              <a:rPr lang="en-US" sz="1100" dirty="0">
                <a:solidFill>
                  <a:srgbClr val="B0AEA5"/>
                </a:solidFill>
                <a:latin typeface="Lora" pitchFamily="34" charset="0"/>
                <a:ea typeface="Lora" pitchFamily="34" charset="-122"/>
                <a:cs typeface="Lora" pitchFamily="34" charset="-120"/>
              </a:rPr>
              <a:t>Manage your plugins</a:t>
            </a:r>
            <a:endParaRPr lang="en-US" sz="1100" dirty="0"/>
          </a:p>
        </p:txBody>
      </p:sp>
      <p:sp>
        <p:nvSpPr>
          <p:cNvPr id="13" name="Shape 8"/>
          <p:cNvSpPr/>
          <p:nvPr/>
        </p:nvSpPr>
        <p:spPr>
          <a:xfrm>
            <a:off x="5029200" y="1920240"/>
            <a:ext cx="1828800" cy="1463040"/>
          </a:xfrm>
          <a:prstGeom prst="rect">
            <a:avLst/>
          </a:prstGeom>
          <a:solidFill>
            <a:srgbClr val="E8E6DC"/>
          </a:solidFill>
          <a:ln/>
          <a:effectLst>
            <a:outerShdw sx="100000" sy="100000" kx="0" ky="0" algn="bl" rotWithShape="0" blurRad="76200" dist="25400" dir="8100000">
              <a:srgbClr val="000000">
                <a:alpha val="15000"/>
              </a:srgbClr>
            </a:outerShdw>
          </a:effectLst>
        </p:spPr>
      </p:sp>
      <p:pic>
        <p:nvPicPr>
          <p:cNvPr id="14" name="Image 3" descr="preencoded.png">    </p:cNvPr>
          <p:cNvPicPr>
            <a:picLocks noChangeAspect="1"/>
          </p:cNvPicPr>
          <p:nvPr/>
        </p:nvPicPr>
        <p:blipFill>
          <a:blip r:embed="rId4"/>
          <a:stretch>
            <a:fillRect/>
          </a:stretch>
        </p:blipFill>
        <p:spPr>
          <a:xfrm>
            <a:off x="5669280" y="2103120"/>
            <a:ext cx="548640" cy="548640"/>
          </a:xfrm>
          <a:prstGeom prst="rect">
            <a:avLst/>
          </a:prstGeom>
        </p:spPr>
      </p:pic>
      <p:sp>
        <p:nvSpPr>
          <p:cNvPr id="15" name="Text 9"/>
          <p:cNvSpPr/>
          <p:nvPr/>
        </p:nvSpPr>
        <p:spPr>
          <a:xfrm>
            <a:off x="5120640" y="2788920"/>
            <a:ext cx="1645920" cy="274320"/>
          </a:xfrm>
          <a:prstGeom prst="rect">
            <a:avLst/>
          </a:prstGeom>
          <a:noFill/>
          <a:ln/>
        </p:spPr>
        <p:txBody>
          <a:bodyPr wrap="square" rtlCol="0" anchor="ctr"/>
          <a:lstStyle/>
          <a:p>
            <a:pPr algn="ctr" indent="0" marL="0">
              <a:buNone/>
            </a:pPr>
            <a:r>
              <a:rPr lang="en-US" sz="1400" b="1" dirty="0">
                <a:solidFill>
                  <a:srgbClr val="141413"/>
                </a:solidFill>
                <a:latin typeface="Poppins" pitchFamily="34" charset="0"/>
                <a:ea typeface="Poppins" pitchFamily="34" charset="-122"/>
                <a:cs typeface="Poppins" pitchFamily="34" charset="-120"/>
              </a:rPr>
              <a:t>Marketplaces</a:t>
            </a:r>
            <a:endParaRPr lang="en-US" sz="1400" dirty="0"/>
          </a:p>
        </p:txBody>
      </p:sp>
      <p:sp>
        <p:nvSpPr>
          <p:cNvPr id="16" name="Text 10"/>
          <p:cNvSpPr/>
          <p:nvPr/>
        </p:nvSpPr>
        <p:spPr>
          <a:xfrm>
            <a:off x="5120640" y="3063240"/>
            <a:ext cx="1645920" cy="274320"/>
          </a:xfrm>
          <a:prstGeom prst="rect">
            <a:avLst/>
          </a:prstGeom>
          <a:noFill/>
          <a:ln/>
        </p:spPr>
        <p:txBody>
          <a:bodyPr wrap="square" rtlCol="0" anchor="ctr"/>
          <a:lstStyle/>
          <a:p>
            <a:pPr algn="ctr" indent="0" marL="0">
              <a:buNone/>
            </a:pPr>
            <a:r>
              <a:rPr lang="en-US" sz="1100" dirty="0">
                <a:solidFill>
                  <a:srgbClr val="B0AEA5"/>
                </a:solidFill>
                <a:latin typeface="Lora" pitchFamily="34" charset="0"/>
                <a:ea typeface="Lora" pitchFamily="34" charset="-122"/>
                <a:cs typeface="Lora" pitchFamily="34" charset="-120"/>
              </a:rPr>
              <a:t>Add new sources</a:t>
            </a:r>
            <a:endParaRPr lang="en-US" sz="1100" dirty="0"/>
          </a:p>
        </p:txBody>
      </p:sp>
      <p:sp>
        <p:nvSpPr>
          <p:cNvPr id="17" name="Shape 11"/>
          <p:cNvSpPr/>
          <p:nvPr/>
        </p:nvSpPr>
        <p:spPr>
          <a:xfrm>
            <a:off x="7315200" y="1920240"/>
            <a:ext cx="1828800" cy="1463040"/>
          </a:xfrm>
          <a:prstGeom prst="rect">
            <a:avLst/>
          </a:prstGeom>
          <a:solidFill>
            <a:srgbClr val="E8E6DC"/>
          </a:solidFill>
          <a:ln/>
          <a:effectLst>
            <a:outerShdw sx="100000" sy="100000" kx="0" ky="0" algn="bl" rotWithShape="0" blurRad="76200" dist="25400" dir="8100000">
              <a:srgbClr val="000000">
                <a:alpha val="15000"/>
              </a:srgbClr>
            </a:outerShdw>
          </a:effectLst>
        </p:spPr>
      </p:sp>
      <p:pic>
        <p:nvPicPr>
          <p:cNvPr id="18" name="Image 4" descr="preencoded.png">    </p:cNvPr>
          <p:cNvPicPr>
            <a:picLocks noChangeAspect="1"/>
          </p:cNvPicPr>
          <p:nvPr/>
        </p:nvPicPr>
        <p:blipFill>
          <a:blip r:embed="rId5"/>
          <a:stretch>
            <a:fillRect/>
          </a:stretch>
        </p:blipFill>
        <p:spPr>
          <a:xfrm>
            <a:off x="7955280" y="2103120"/>
            <a:ext cx="548640" cy="548640"/>
          </a:xfrm>
          <a:prstGeom prst="rect">
            <a:avLst/>
          </a:prstGeom>
        </p:spPr>
      </p:pic>
      <p:sp>
        <p:nvSpPr>
          <p:cNvPr id="19" name="Text 12"/>
          <p:cNvSpPr/>
          <p:nvPr/>
        </p:nvSpPr>
        <p:spPr>
          <a:xfrm>
            <a:off x="7406640" y="2788920"/>
            <a:ext cx="1645920" cy="274320"/>
          </a:xfrm>
          <a:prstGeom prst="rect">
            <a:avLst/>
          </a:prstGeom>
          <a:noFill/>
          <a:ln/>
        </p:spPr>
        <p:txBody>
          <a:bodyPr wrap="square" rtlCol="0" anchor="ctr"/>
          <a:lstStyle/>
          <a:p>
            <a:pPr algn="ctr" indent="0" marL="0">
              <a:buNone/>
            </a:pPr>
            <a:r>
              <a:rPr lang="en-US" sz="1400" b="1" dirty="0">
                <a:solidFill>
                  <a:srgbClr val="141413"/>
                </a:solidFill>
                <a:latin typeface="Poppins" pitchFamily="34" charset="0"/>
                <a:ea typeface="Poppins" pitchFamily="34" charset="-122"/>
                <a:cs typeface="Poppins" pitchFamily="34" charset="-120"/>
              </a:rPr>
              <a:t>Errors</a:t>
            </a:r>
            <a:endParaRPr lang="en-US" sz="1400" dirty="0"/>
          </a:p>
        </p:txBody>
      </p:sp>
      <p:sp>
        <p:nvSpPr>
          <p:cNvPr id="20" name="Text 13"/>
          <p:cNvSpPr/>
          <p:nvPr/>
        </p:nvSpPr>
        <p:spPr>
          <a:xfrm>
            <a:off x="7406640" y="3063240"/>
            <a:ext cx="1645920" cy="274320"/>
          </a:xfrm>
          <a:prstGeom prst="rect">
            <a:avLst/>
          </a:prstGeom>
          <a:noFill/>
          <a:ln/>
        </p:spPr>
        <p:txBody>
          <a:bodyPr wrap="square" rtlCol="0" anchor="ctr"/>
          <a:lstStyle/>
          <a:p>
            <a:pPr algn="ctr" indent="0" marL="0">
              <a:buNone/>
            </a:pPr>
            <a:r>
              <a:rPr lang="en-US" sz="1100" dirty="0">
                <a:solidFill>
                  <a:srgbClr val="B0AEA5"/>
                </a:solidFill>
                <a:latin typeface="Lora" pitchFamily="34" charset="0"/>
                <a:ea typeface="Lora" pitchFamily="34" charset="-122"/>
                <a:cs typeface="Lora" pitchFamily="34" charset="-120"/>
              </a:rPr>
              <a:t>Troubleshoot issues</a:t>
            </a:r>
            <a:endParaRPr lang="en-US" sz="1100" dirty="0"/>
          </a:p>
        </p:txBody>
      </p:sp>
      <p:sp>
        <p:nvSpPr>
          <p:cNvPr id="21" name="Shape 14"/>
          <p:cNvSpPr/>
          <p:nvPr/>
        </p:nvSpPr>
        <p:spPr>
          <a:xfrm>
            <a:off x="457200" y="3657600"/>
            <a:ext cx="8229600" cy="914400"/>
          </a:xfrm>
          <a:prstGeom prst="rect">
            <a:avLst/>
          </a:prstGeom>
          <a:solidFill>
            <a:srgbClr val="D97757"/>
          </a:solidFill>
          <a:ln/>
        </p:spPr>
      </p:sp>
      <p:pic>
        <p:nvPicPr>
          <p:cNvPr id="22" name="Image 5" descr="preencoded.png">    </p:cNvPr>
          <p:cNvPicPr>
            <a:picLocks noChangeAspect="1"/>
          </p:cNvPicPr>
          <p:nvPr/>
        </p:nvPicPr>
        <p:blipFill>
          <a:blip r:embed="rId6"/>
          <a:stretch>
            <a:fillRect/>
          </a:stretch>
        </p:blipFill>
        <p:spPr>
          <a:xfrm>
            <a:off x="640080" y="3840480"/>
            <a:ext cx="548640" cy="548640"/>
          </a:xfrm>
          <a:prstGeom prst="rect">
            <a:avLst/>
          </a:prstGeom>
        </p:spPr>
      </p:pic>
      <p:sp>
        <p:nvSpPr>
          <p:cNvPr id="23" name="Text 15"/>
          <p:cNvSpPr/>
          <p:nvPr/>
        </p:nvSpPr>
        <p:spPr>
          <a:xfrm>
            <a:off x="1371600" y="3840480"/>
            <a:ext cx="7132320" cy="548640"/>
          </a:xfrm>
          <a:prstGeom prst="rect">
            <a:avLst/>
          </a:prstGeom>
          <a:noFill/>
          <a:ln/>
        </p:spPr>
        <p:txBody>
          <a:bodyPr wrap="square" rtlCol="0" anchor="ctr"/>
          <a:lstStyle/>
          <a:p>
            <a:pPr indent="0" marL="0">
              <a:buNone/>
            </a:pPr>
            <a:r>
              <a:rPr lang="en-US" sz="1400" dirty="0">
                <a:solidFill>
                  <a:srgbClr val="141413"/>
                </a:solidFill>
                <a:latin typeface="Lora" pitchFamily="34" charset="0"/>
                <a:ea typeface="Lora" pitchFamily="34" charset="-122"/>
                <a:cs typeface="Lora" pitchFamily="34" charset="-120"/>
              </a:rPr>
              <a:t>Trust &amp; Security: Always verify plugin sources and check homepages before installing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Lab: Adding the Demo Marketplace</a:t>
            </a:r>
            <a:endParaRPr lang="en-US" sz="3200" dirty="0"/>
          </a:p>
        </p:txBody>
      </p:sp>
      <p:pic>
        <p:nvPicPr>
          <p:cNvPr id="3" name="Image 0" descr="preencoded.png">    </p:cNvPr>
          <p:cNvPicPr>
            <a:picLocks noChangeAspect="1"/>
          </p:cNvPicPr>
          <p:nvPr/>
        </p:nvPicPr>
        <p:blipFill>
          <a:blip r:embed="rId1"/>
          <a:stretch>
            <a:fillRect/>
          </a:stretch>
        </p:blipFill>
        <p:spPr>
          <a:xfrm>
            <a:off x="457200" y="1005840"/>
            <a:ext cx="548640" cy="548640"/>
          </a:xfrm>
          <a:prstGeom prst="rect">
            <a:avLst/>
          </a:prstGeom>
        </p:spPr>
      </p:pic>
      <p:sp>
        <p:nvSpPr>
          <p:cNvPr id="4" name="Text 1"/>
          <p:cNvSpPr/>
          <p:nvPr/>
        </p:nvSpPr>
        <p:spPr>
          <a:xfrm>
            <a:off x="1188720" y="1005840"/>
            <a:ext cx="7315200" cy="548640"/>
          </a:xfrm>
          <a:prstGeom prst="rect">
            <a:avLst/>
          </a:prstGeom>
          <a:noFill/>
          <a:ln/>
        </p:spPr>
        <p:txBody>
          <a:bodyPr wrap="square" rtlCol="0" anchor="ctr"/>
          <a:lstStyle/>
          <a:p>
            <a:pPr indent="0" marL="0">
              <a:buNone/>
            </a:pPr>
            <a:r>
              <a:rPr lang="en-US" sz="2000" b="1" dirty="0">
                <a:solidFill>
                  <a:srgbClr val="141413"/>
                </a:solidFill>
                <a:latin typeface="Poppins" pitchFamily="34" charset="0"/>
                <a:ea typeface="Poppins" pitchFamily="34" charset="-122"/>
                <a:cs typeface="Poppins" pitchFamily="34" charset="-120"/>
              </a:rPr>
              <a:t>Hands-On Exercise</a:t>
            </a:r>
            <a:endParaRPr lang="en-US" sz="2000" dirty="0"/>
          </a:p>
        </p:txBody>
      </p:sp>
      <p:sp>
        <p:nvSpPr>
          <p:cNvPr id="5" name="Shape 2"/>
          <p:cNvSpPr/>
          <p:nvPr/>
        </p:nvSpPr>
        <p:spPr>
          <a:xfrm>
            <a:off x="457200" y="1828800"/>
            <a:ext cx="457200" cy="457200"/>
          </a:xfrm>
          <a:prstGeom prst="ellipse">
            <a:avLst/>
          </a:prstGeom>
          <a:solidFill>
            <a:srgbClr val="D97757"/>
          </a:solidFill>
          <a:ln/>
        </p:spPr>
      </p:sp>
      <p:sp>
        <p:nvSpPr>
          <p:cNvPr id="6" name="Text 3"/>
          <p:cNvSpPr/>
          <p:nvPr/>
        </p:nvSpPr>
        <p:spPr>
          <a:xfrm>
            <a:off x="457200" y="1828800"/>
            <a:ext cx="457200" cy="457200"/>
          </a:xfrm>
          <a:prstGeom prst="rect">
            <a:avLst/>
          </a:prstGeom>
          <a:noFill/>
          <a:ln/>
        </p:spPr>
        <p:txBody>
          <a:bodyPr wrap="square" rtlCol="0" anchor="ctr"/>
          <a:lstStyle/>
          <a:p>
            <a:pPr algn="ctr" indent="0" marL="0">
              <a:buNone/>
            </a:pPr>
            <a:r>
              <a:rPr lang="en-US" sz="2000" b="1" dirty="0">
                <a:solidFill>
                  <a:srgbClr val="FAF9F5"/>
                </a:solidFill>
                <a:latin typeface="Poppins" pitchFamily="34" charset="0"/>
                <a:ea typeface="Poppins" pitchFamily="34" charset="-122"/>
                <a:cs typeface="Poppins" pitchFamily="34" charset="-120"/>
              </a:rPr>
              <a:t>1</a:t>
            </a:r>
            <a:endParaRPr lang="en-US" sz="2000" dirty="0"/>
          </a:p>
        </p:txBody>
      </p:sp>
      <p:sp>
        <p:nvSpPr>
          <p:cNvPr id="7" name="Text 4"/>
          <p:cNvSpPr/>
          <p:nvPr/>
        </p:nvSpPr>
        <p:spPr>
          <a:xfrm>
            <a:off x="1097280" y="1828800"/>
            <a:ext cx="2743200" cy="457200"/>
          </a:xfrm>
          <a:prstGeom prst="rect">
            <a:avLst/>
          </a:prstGeom>
          <a:noFill/>
          <a:ln/>
        </p:spPr>
        <p:txBody>
          <a:bodyPr wrap="square" rtlCol="0" anchor="ctr"/>
          <a:lstStyle/>
          <a:p>
            <a:pPr indent="0" marL="0">
              <a:buNone/>
            </a:pPr>
            <a:r>
              <a:rPr lang="en-US" sz="1500" dirty="0">
                <a:solidFill>
                  <a:srgbClr val="141413"/>
                </a:solidFill>
                <a:latin typeface="Lora" pitchFamily="34" charset="0"/>
                <a:ea typeface="Lora" pitchFamily="34" charset="-122"/>
                <a:cs typeface="Lora" pitchFamily="34" charset="-120"/>
              </a:rPr>
              <a:t>Add marketplace</a:t>
            </a:r>
            <a:endParaRPr lang="en-US" sz="1500" dirty="0"/>
          </a:p>
        </p:txBody>
      </p:sp>
      <p:sp>
        <p:nvSpPr>
          <p:cNvPr id="8" name="Shape 5"/>
          <p:cNvSpPr/>
          <p:nvPr/>
        </p:nvSpPr>
        <p:spPr>
          <a:xfrm>
            <a:off x="4114800" y="1874520"/>
            <a:ext cx="4572000" cy="365760"/>
          </a:xfrm>
          <a:prstGeom prst="rect">
            <a:avLst/>
          </a:prstGeom>
          <a:solidFill>
            <a:srgbClr val="141413"/>
          </a:solidFill>
          <a:ln/>
        </p:spPr>
      </p:sp>
      <p:sp>
        <p:nvSpPr>
          <p:cNvPr id="9" name="Text 6"/>
          <p:cNvSpPr/>
          <p:nvPr/>
        </p:nvSpPr>
        <p:spPr>
          <a:xfrm>
            <a:off x="4251960" y="1874520"/>
            <a:ext cx="4297680" cy="365760"/>
          </a:xfrm>
          <a:prstGeom prst="rect">
            <a:avLst/>
          </a:prstGeom>
          <a:noFill/>
          <a:ln/>
        </p:spPr>
        <p:txBody>
          <a:bodyPr wrap="square" rtlCol="0" anchor="ctr"/>
          <a:lstStyle/>
          <a:p>
            <a:pPr indent="0" marL="0">
              <a:buNone/>
            </a:pPr>
            <a:r>
              <a:rPr lang="en-US" sz="1300" dirty="0">
                <a:solidFill>
                  <a:srgbClr val="FAF9F5"/>
                </a:solidFill>
                <a:latin typeface="Courier New" pitchFamily="34" charset="0"/>
                <a:ea typeface="Courier New" pitchFamily="34" charset="-122"/>
                <a:cs typeface="Courier New" pitchFamily="34" charset="-120"/>
              </a:rPr>
              <a:t>/plugin marketplace add anthropics/claude-code</a:t>
            </a:r>
            <a:endParaRPr lang="en-US" sz="1300" dirty="0"/>
          </a:p>
        </p:txBody>
      </p:sp>
      <p:sp>
        <p:nvSpPr>
          <p:cNvPr id="10" name="Shape 7"/>
          <p:cNvSpPr/>
          <p:nvPr/>
        </p:nvSpPr>
        <p:spPr>
          <a:xfrm>
            <a:off x="457200" y="2651760"/>
            <a:ext cx="457200" cy="457200"/>
          </a:xfrm>
          <a:prstGeom prst="ellipse">
            <a:avLst/>
          </a:prstGeom>
          <a:solidFill>
            <a:srgbClr val="D97757"/>
          </a:solidFill>
          <a:ln/>
        </p:spPr>
      </p:sp>
      <p:sp>
        <p:nvSpPr>
          <p:cNvPr id="11" name="Text 8"/>
          <p:cNvSpPr/>
          <p:nvPr/>
        </p:nvSpPr>
        <p:spPr>
          <a:xfrm>
            <a:off x="457200" y="2651760"/>
            <a:ext cx="457200" cy="457200"/>
          </a:xfrm>
          <a:prstGeom prst="rect">
            <a:avLst/>
          </a:prstGeom>
          <a:noFill/>
          <a:ln/>
        </p:spPr>
        <p:txBody>
          <a:bodyPr wrap="square" rtlCol="0" anchor="ctr"/>
          <a:lstStyle/>
          <a:p>
            <a:pPr algn="ctr" indent="0" marL="0">
              <a:buNone/>
            </a:pPr>
            <a:r>
              <a:rPr lang="en-US" sz="2000" b="1" dirty="0">
                <a:solidFill>
                  <a:srgbClr val="FAF9F5"/>
                </a:solidFill>
                <a:latin typeface="Poppins" pitchFamily="34" charset="0"/>
                <a:ea typeface="Poppins" pitchFamily="34" charset="-122"/>
                <a:cs typeface="Poppins" pitchFamily="34" charset="-120"/>
              </a:rPr>
              <a:t>2</a:t>
            </a:r>
            <a:endParaRPr lang="en-US" sz="2000" dirty="0"/>
          </a:p>
        </p:txBody>
      </p:sp>
      <p:sp>
        <p:nvSpPr>
          <p:cNvPr id="12" name="Text 9"/>
          <p:cNvSpPr/>
          <p:nvPr/>
        </p:nvSpPr>
        <p:spPr>
          <a:xfrm>
            <a:off x="1097280" y="2651760"/>
            <a:ext cx="2743200" cy="457200"/>
          </a:xfrm>
          <a:prstGeom prst="rect">
            <a:avLst/>
          </a:prstGeom>
          <a:noFill/>
          <a:ln/>
        </p:spPr>
        <p:txBody>
          <a:bodyPr wrap="square" rtlCol="0" anchor="ctr"/>
          <a:lstStyle/>
          <a:p>
            <a:pPr indent="0" marL="0">
              <a:buNone/>
            </a:pPr>
            <a:r>
              <a:rPr lang="en-US" sz="1500" dirty="0">
                <a:solidFill>
                  <a:srgbClr val="141413"/>
                </a:solidFill>
                <a:latin typeface="Lora" pitchFamily="34" charset="0"/>
                <a:ea typeface="Lora" pitchFamily="34" charset="-122"/>
                <a:cs typeface="Lora" pitchFamily="34" charset="-120"/>
              </a:rPr>
              <a:t>Open plugin manager</a:t>
            </a:r>
            <a:endParaRPr lang="en-US" sz="1500" dirty="0"/>
          </a:p>
        </p:txBody>
      </p:sp>
      <p:sp>
        <p:nvSpPr>
          <p:cNvPr id="13" name="Shape 10"/>
          <p:cNvSpPr/>
          <p:nvPr/>
        </p:nvSpPr>
        <p:spPr>
          <a:xfrm>
            <a:off x="4114800" y="2697480"/>
            <a:ext cx="4572000" cy="365760"/>
          </a:xfrm>
          <a:prstGeom prst="rect">
            <a:avLst/>
          </a:prstGeom>
          <a:solidFill>
            <a:srgbClr val="141413"/>
          </a:solidFill>
          <a:ln/>
        </p:spPr>
      </p:sp>
      <p:sp>
        <p:nvSpPr>
          <p:cNvPr id="14" name="Text 11"/>
          <p:cNvSpPr/>
          <p:nvPr/>
        </p:nvSpPr>
        <p:spPr>
          <a:xfrm>
            <a:off x="4251960" y="2697480"/>
            <a:ext cx="4297680" cy="365760"/>
          </a:xfrm>
          <a:prstGeom prst="rect">
            <a:avLst/>
          </a:prstGeom>
          <a:noFill/>
          <a:ln/>
        </p:spPr>
        <p:txBody>
          <a:bodyPr wrap="square" rtlCol="0" anchor="ctr"/>
          <a:lstStyle/>
          <a:p>
            <a:pPr indent="0" marL="0">
              <a:buNone/>
            </a:pPr>
            <a:r>
              <a:rPr lang="en-US" sz="1300" dirty="0">
                <a:solidFill>
                  <a:srgbClr val="FAF9F5"/>
                </a:solidFill>
                <a:latin typeface="Courier New" pitchFamily="34" charset="0"/>
                <a:ea typeface="Courier New" pitchFamily="34" charset="-122"/>
                <a:cs typeface="Courier New" pitchFamily="34" charset="-120"/>
              </a:rPr>
              <a:t>/plugin</a:t>
            </a:r>
            <a:endParaRPr lang="en-US" sz="1300" dirty="0"/>
          </a:p>
        </p:txBody>
      </p:sp>
      <p:sp>
        <p:nvSpPr>
          <p:cNvPr id="15" name="Shape 12"/>
          <p:cNvSpPr/>
          <p:nvPr/>
        </p:nvSpPr>
        <p:spPr>
          <a:xfrm>
            <a:off x="457200" y="3474720"/>
            <a:ext cx="457200" cy="457200"/>
          </a:xfrm>
          <a:prstGeom prst="ellipse">
            <a:avLst/>
          </a:prstGeom>
          <a:solidFill>
            <a:srgbClr val="D97757"/>
          </a:solidFill>
          <a:ln/>
        </p:spPr>
      </p:sp>
      <p:sp>
        <p:nvSpPr>
          <p:cNvPr id="16" name="Text 13"/>
          <p:cNvSpPr/>
          <p:nvPr/>
        </p:nvSpPr>
        <p:spPr>
          <a:xfrm>
            <a:off x="457200" y="3474720"/>
            <a:ext cx="457200" cy="457200"/>
          </a:xfrm>
          <a:prstGeom prst="rect">
            <a:avLst/>
          </a:prstGeom>
          <a:noFill/>
          <a:ln/>
        </p:spPr>
        <p:txBody>
          <a:bodyPr wrap="square" rtlCol="0" anchor="ctr"/>
          <a:lstStyle/>
          <a:p>
            <a:pPr algn="ctr" indent="0" marL="0">
              <a:buNone/>
            </a:pPr>
            <a:r>
              <a:rPr lang="en-US" sz="2000" b="1" dirty="0">
                <a:solidFill>
                  <a:srgbClr val="FAF9F5"/>
                </a:solidFill>
                <a:latin typeface="Poppins" pitchFamily="34" charset="0"/>
                <a:ea typeface="Poppins" pitchFamily="34" charset="-122"/>
                <a:cs typeface="Poppins" pitchFamily="34" charset="-120"/>
              </a:rPr>
              <a:t>3</a:t>
            </a:r>
            <a:endParaRPr lang="en-US" sz="2000" dirty="0"/>
          </a:p>
        </p:txBody>
      </p:sp>
      <p:sp>
        <p:nvSpPr>
          <p:cNvPr id="17" name="Text 14"/>
          <p:cNvSpPr/>
          <p:nvPr/>
        </p:nvSpPr>
        <p:spPr>
          <a:xfrm>
            <a:off x="1097280" y="3474720"/>
            <a:ext cx="2743200" cy="457200"/>
          </a:xfrm>
          <a:prstGeom prst="rect">
            <a:avLst/>
          </a:prstGeom>
          <a:noFill/>
          <a:ln/>
        </p:spPr>
        <p:txBody>
          <a:bodyPr wrap="square" rtlCol="0" anchor="ctr"/>
          <a:lstStyle/>
          <a:p>
            <a:pPr indent="0" marL="0">
              <a:buNone/>
            </a:pPr>
            <a:r>
              <a:rPr lang="en-US" sz="1500" dirty="0">
                <a:solidFill>
                  <a:srgbClr val="141413"/>
                </a:solidFill>
                <a:latin typeface="Lora" pitchFamily="34" charset="0"/>
                <a:ea typeface="Lora" pitchFamily="34" charset="-122"/>
                <a:cs typeface="Lora" pitchFamily="34" charset="-120"/>
              </a:rPr>
              <a:t>Navigate tabs</a:t>
            </a:r>
            <a:endParaRPr lang="en-US" sz="1500" dirty="0"/>
          </a:p>
        </p:txBody>
      </p:sp>
      <p:sp>
        <p:nvSpPr>
          <p:cNvPr id="18" name="Shape 15"/>
          <p:cNvSpPr/>
          <p:nvPr/>
        </p:nvSpPr>
        <p:spPr>
          <a:xfrm>
            <a:off x="4114800" y="3520440"/>
            <a:ext cx="4572000" cy="365760"/>
          </a:xfrm>
          <a:prstGeom prst="rect">
            <a:avLst/>
          </a:prstGeom>
          <a:solidFill>
            <a:srgbClr val="141413"/>
          </a:solidFill>
          <a:ln/>
        </p:spPr>
      </p:sp>
      <p:sp>
        <p:nvSpPr>
          <p:cNvPr id="19" name="Text 16"/>
          <p:cNvSpPr/>
          <p:nvPr/>
        </p:nvSpPr>
        <p:spPr>
          <a:xfrm>
            <a:off x="4251960" y="3520440"/>
            <a:ext cx="4297680" cy="365760"/>
          </a:xfrm>
          <a:prstGeom prst="rect">
            <a:avLst/>
          </a:prstGeom>
          <a:noFill/>
          <a:ln/>
        </p:spPr>
        <p:txBody>
          <a:bodyPr wrap="square" rtlCol="0" anchor="ctr"/>
          <a:lstStyle/>
          <a:p>
            <a:pPr indent="0" marL="0">
              <a:buNone/>
            </a:pPr>
            <a:r>
              <a:rPr lang="en-US" sz="1300" dirty="0">
                <a:solidFill>
                  <a:srgbClr val="FAF9F5"/>
                </a:solidFill>
                <a:latin typeface="Courier New" pitchFamily="34" charset="0"/>
                <a:ea typeface="Courier New" pitchFamily="34" charset="-122"/>
                <a:cs typeface="Courier New" pitchFamily="34" charset="-120"/>
              </a:rPr>
              <a:t>Tab / Shift+Tab</a:t>
            </a:r>
            <a:endParaRPr lang="en-US" sz="1300" dirty="0"/>
          </a:p>
        </p:txBody>
      </p:sp>
      <p:sp>
        <p:nvSpPr>
          <p:cNvPr id="20" name="Text 17"/>
          <p:cNvSpPr/>
          <p:nvPr/>
        </p:nvSpPr>
        <p:spPr>
          <a:xfrm>
            <a:off x="457200" y="4206240"/>
            <a:ext cx="8229600" cy="274320"/>
          </a:xfrm>
          <a:prstGeom prst="rect">
            <a:avLst/>
          </a:prstGeom>
          <a:noFill/>
          <a:ln/>
        </p:spPr>
        <p:txBody>
          <a:bodyPr wrap="square" rtlCol="0" anchor="ctr"/>
          <a:lstStyle/>
          <a:p>
            <a:pPr indent="0" marL="0">
              <a:buNone/>
            </a:pPr>
            <a:r>
              <a:rPr lang="en-US" sz="1600" b="1" dirty="0">
                <a:solidFill>
                  <a:srgbClr val="141413"/>
                </a:solidFill>
                <a:latin typeface="Poppins" pitchFamily="34" charset="0"/>
                <a:ea typeface="Poppins" pitchFamily="34" charset="-122"/>
                <a:cs typeface="Poppins" pitchFamily="34" charset="-120"/>
              </a:rPr>
              <a:t>Expected Outcome</a:t>
            </a:r>
            <a:endParaRPr lang="en-US" sz="1600" dirty="0"/>
          </a:p>
        </p:txBody>
      </p:sp>
      <p:sp>
        <p:nvSpPr>
          <p:cNvPr id="21" name="Text 18"/>
          <p:cNvSpPr/>
          <p:nvPr/>
        </p:nvSpPr>
        <p:spPr>
          <a:xfrm>
            <a:off x="457200" y="4526280"/>
            <a:ext cx="8229600" cy="274320"/>
          </a:xfrm>
          <a:prstGeom prst="rect">
            <a:avLst/>
          </a:prstGeom>
          <a:noFill/>
          <a:ln/>
        </p:spPr>
        <p:txBody>
          <a:bodyPr wrap="square" rtlCol="0" anchor="ctr"/>
          <a:lstStyle/>
          <a:p>
            <a:pPr indent="0" marL="0">
              <a:buNone/>
            </a:pPr>
            <a:r>
              <a:rPr lang="en-US" sz="1300" dirty="0">
                <a:solidFill>
                  <a:srgbClr val="B0AEA5"/>
                </a:solidFill>
                <a:latin typeface="Lora" pitchFamily="34" charset="0"/>
                <a:ea typeface="Lora" pitchFamily="34" charset="-122"/>
                <a:cs typeface="Lora" pitchFamily="34" charset="-120"/>
              </a:rPr>
              <a:t>Demo marketplace appears in Marketplaces tab, plugins visible in Discover tab</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Module 4: Installing and Managing Plugins</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indent="0" marL="0">
              <a:buNone/>
            </a:pPr>
            <a:r>
              <a:rPr lang="en-US" sz="2000" b="1" dirty="0">
                <a:solidFill>
                  <a:srgbClr val="141413"/>
                </a:solidFill>
                <a:latin typeface="Poppins" pitchFamily="34" charset="0"/>
                <a:ea typeface="Poppins" pitchFamily="34" charset="-122"/>
                <a:cs typeface="Poppins" pitchFamily="34" charset="-120"/>
              </a:rPr>
              <a:t>Understanding Installation Scopes</a:t>
            </a:r>
            <a:endParaRPr lang="en-US" sz="2000" dirty="0"/>
          </a:p>
        </p:txBody>
      </p:sp>
      <p:sp>
        <p:nvSpPr>
          <p:cNvPr id="4" name="Shape 2"/>
          <p:cNvSpPr/>
          <p:nvPr/>
        </p:nvSpPr>
        <p:spPr>
          <a:xfrm>
            <a:off x="457200" y="1645920"/>
            <a:ext cx="2468880" cy="182880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5" name="Shape 3"/>
          <p:cNvSpPr/>
          <p:nvPr/>
        </p:nvSpPr>
        <p:spPr>
          <a:xfrm>
            <a:off x="457200" y="1645920"/>
            <a:ext cx="73152" cy="1828800"/>
          </a:xfrm>
          <a:prstGeom prst="rect">
            <a:avLst/>
          </a:prstGeom>
          <a:solidFill>
            <a:srgbClr val="6A9BCC"/>
          </a:solidFill>
          <a:ln/>
        </p:spPr>
      </p:sp>
      <p:pic>
        <p:nvPicPr>
          <p:cNvPr id="6" name="Image 0" descr="preencoded.png">    </p:cNvPr>
          <p:cNvPicPr>
            <a:picLocks noChangeAspect="1"/>
          </p:cNvPicPr>
          <p:nvPr/>
        </p:nvPicPr>
        <p:blipFill>
          <a:blip r:embed="rId1"/>
          <a:stretch>
            <a:fillRect/>
          </a:stretch>
        </p:blipFill>
        <p:spPr>
          <a:xfrm>
            <a:off x="1371600" y="1828800"/>
            <a:ext cx="640080" cy="640080"/>
          </a:xfrm>
          <a:prstGeom prst="rect">
            <a:avLst/>
          </a:prstGeom>
        </p:spPr>
      </p:pic>
      <p:sp>
        <p:nvSpPr>
          <p:cNvPr id="7" name="Text 4"/>
          <p:cNvSpPr/>
          <p:nvPr/>
        </p:nvSpPr>
        <p:spPr>
          <a:xfrm>
            <a:off x="594360" y="2606040"/>
            <a:ext cx="2194560" cy="274320"/>
          </a:xfrm>
          <a:prstGeom prst="rect">
            <a:avLst/>
          </a:prstGeom>
          <a:noFill/>
          <a:ln/>
        </p:spPr>
        <p:txBody>
          <a:bodyPr wrap="square" rtlCol="0" anchor="ctr"/>
          <a:lstStyle/>
          <a:p>
            <a:pPr algn="ctr" indent="0" marL="0">
              <a:buNone/>
            </a:pPr>
            <a:r>
              <a:rPr lang="en-US" sz="1500" b="1" dirty="0">
                <a:solidFill>
                  <a:srgbClr val="141413"/>
                </a:solidFill>
                <a:latin typeface="Poppins" pitchFamily="34" charset="0"/>
                <a:ea typeface="Poppins" pitchFamily="34" charset="-122"/>
                <a:cs typeface="Poppins" pitchFamily="34" charset="-120"/>
              </a:rPr>
              <a:t>User Scope</a:t>
            </a:r>
            <a:endParaRPr lang="en-US" sz="1500" dirty="0"/>
          </a:p>
        </p:txBody>
      </p:sp>
      <p:sp>
        <p:nvSpPr>
          <p:cNvPr id="8" name="Text 5"/>
          <p:cNvSpPr/>
          <p:nvPr/>
        </p:nvSpPr>
        <p:spPr>
          <a:xfrm>
            <a:off x="594360" y="2880360"/>
            <a:ext cx="2194560" cy="228600"/>
          </a:xfrm>
          <a:prstGeom prst="rect">
            <a:avLst/>
          </a:prstGeom>
          <a:noFill/>
          <a:ln/>
        </p:spPr>
        <p:txBody>
          <a:bodyPr wrap="square" rtlCol="0" anchor="ctr"/>
          <a:lstStyle/>
          <a:p>
            <a:pPr algn="ctr" indent="0" marL="0">
              <a:buNone/>
            </a:pPr>
            <a:r>
              <a:rPr lang="en-US" sz="1100" dirty="0">
                <a:solidFill>
                  <a:srgbClr val="141413"/>
                </a:solidFill>
                <a:latin typeface="Lora" pitchFamily="34" charset="0"/>
                <a:ea typeface="Lora" pitchFamily="34" charset="-122"/>
                <a:cs typeface="Lora" pitchFamily="34" charset="-120"/>
              </a:rPr>
              <a:t>Personal, across all projects</a:t>
            </a:r>
            <a:endParaRPr lang="en-US" sz="1100" dirty="0"/>
          </a:p>
        </p:txBody>
      </p:sp>
      <p:sp>
        <p:nvSpPr>
          <p:cNvPr id="9" name="Text 6"/>
          <p:cNvSpPr/>
          <p:nvPr/>
        </p:nvSpPr>
        <p:spPr>
          <a:xfrm>
            <a:off x="594360" y="3108960"/>
            <a:ext cx="2194560" cy="228600"/>
          </a:xfrm>
          <a:prstGeom prst="rect">
            <a:avLst/>
          </a:prstGeom>
          <a:noFill/>
          <a:ln/>
        </p:spPr>
        <p:txBody>
          <a:bodyPr wrap="square" rtlCol="0" anchor="ctr"/>
          <a:lstStyle/>
          <a:p>
            <a:pPr algn="ctr" indent="0" marL="0">
              <a:buNone/>
            </a:pPr>
            <a:r>
              <a:rPr lang="en-US" sz="1000" i="1" dirty="0">
                <a:solidFill>
                  <a:srgbClr val="B0AEA5"/>
                </a:solidFill>
                <a:latin typeface="Lora" pitchFamily="34" charset="0"/>
                <a:ea typeface="Lora" pitchFamily="34" charset="-122"/>
                <a:cs typeface="Lora" pitchFamily="34" charset="-120"/>
              </a:rPr>
              <a:t>Default for CLI installs</a:t>
            </a:r>
            <a:endParaRPr lang="en-US" sz="1000" dirty="0"/>
          </a:p>
        </p:txBody>
      </p:sp>
      <p:sp>
        <p:nvSpPr>
          <p:cNvPr id="10" name="Shape 7"/>
          <p:cNvSpPr/>
          <p:nvPr/>
        </p:nvSpPr>
        <p:spPr>
          <a:xfrm>
            <a:off x="3383280" y="1645920"/>
            <a:ext cx="2468880" cy="182880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11" name="Shape 8"/>
          <p:cNvSpPr/>
          <p:nvPr/>
        </p:nvSpPr>
        <p:spPr>
          <a:xfrm>
            <a:off x="3383280" y="1645920"/>
            <a:ext cx="73152" cy="1828800"/>
          </a:xfrm>
          <a:prstGeom prst="rect">
            <a:avLst/>
          </a:prstGeom>
          <a:solidFill>
            <a:srgbClr val="D97757"/>
          </a:solidFill>
          <a:ln/>
        </p:spPr>
      </p:sp>
      <p:pic>
        <p:nvPicPr>
          <p:cNvPr id="12" name="Image 1" descr="preencoded.png">    </p:cNvPr>
          <p:cNvPicPr>
            <a:picLocks noChangeAspect="1"/>
          </p:cNvPicPr>
          <p:nvPr/>
        </p:nvPicPr>
        <p:blipFill>
          <a:blip r:embed="rId2"/>
          <a:stretch>
            <a:fillRect/>
          </a:stretch>
        </p:blipFill>
        <p:spPr>
          <a:xfrm>
            <a:off x="4297680" y="1828800"/>
            <a:ext cx="640080" cy="640080"/>
          </a:xfrm>
          <a:prstGeom prst="rect">
            <a:avLst/>
          </a:prstGeom>
        </p:spPr>
      </p:pic>
      <p:sp>
        <p:nvSpPr>
          <p:cNvPr id="13" name="Text 9"/>
          <p:cNvSpPr/>
          <p:nvPr/>
        </p:nvSpPr>
        <p:spPr>
          <a:xfrm>
            <a:off x="3520440" y="2606040"/>
            <a:ext cx="2194560" cy="274320"/>
          </a:xfrm>
          <a:prstGeom prst="rect">
            <a:avLst/>
          </a:prstGeom>
          <a:noFill/>
          <a:ln/>
        </p:spPr>
        <p:txBody>
          <a:bodyPr wrap="square" rtlCol="0" anchor="ctr"/>
          <a:lstStyle/>
          <a:p>
            <a:pPr algn="ctr" indent="0" marL="0">
              <a:buNone/>
            </a:pPr>
            <a:r>
              <a:rPr lang="en-US" sz="1500" b="1" dirty="0">
                <a:solidFill>
                  <a:srgbClr val="141413"/>
                </a:solidFill>
                <a:latin typeface="Poppins" pitchFamily="34" charset="0"/>
                <a:ea typeface="Poppins" pitchFamily="34" charset="-122"/>
                <a:cs typeface="Poppins" pitchFamily="34" charset="-120"/>
              </a:rPr>
              <a:t>Project Scope</a:t>
            </a:r>
            <a:endParaRPr lang="en-US" sz="1500" dirty="0"/>
          </a:p>
        </p:txBody>
      </p:sp>
      <p:sp>
        <p:nvSpPr>
          <p:cNvPr id="14" name="Text 10"/>
          <p:cNvSpPr/>
          <p:nvPr/>
        </p:nvSpPr>
        <p:spPr>
          <a:xfrm>
            <a:off x="3520440" y="2880360"/>
            <a:ext cx="2194560" cy="228600"/>
          </a:xfrm>
          <a:prstGeom prst="rect">
            <a:avLst/>
          </a:prstGeom>
          <a:noFill/>
          <a:ln/>
        </p:spPr>
        <p:txBody>
          <a:bodyPr wrap="square" rtlCol="0" anchor="ctr"/>
          <a:lstStyle/>
          <a:p>
            <a:pPr algn="ctr" indent="0" marL="0">
              <a:buNone/>
            </a:pPr>
            <a:r>
              <a:rPr lang="en-US" sz="1100" dirty="0">
                <a:solidFill>
                  <a:srgbClr val="141413"/>
                </a:solidFill>
                <a:latin typeface="Lora" pitchFamily="34" charset="0"/>
                <a:ea typeface="Lora" pitchFamily="34" charset="-122"/>
                <a:cs typeface="Lora" pitchFamily="34" charset="-120"/>
              </a:rPr>
              <a:t>Shared with all collaborators</a:t>
            </a:r>
            <a:endParaRPr lang="en-US" sz="1100" dirty="0"/>
          </a:p>
        </p:txBody>
      </p:sp>
      <p:sp>
        <p:nvSpPr>
          <p:cNvPr id="15" name="Text 11"/>
          <p:cNvSpPr/>
          <p:nvPr/>
        </p:nvSpPr>
        <p:spPr>
          <a:xfrm>
            <a:off x="3520440" y="3108960"/>
            <a:ext cx="2194560" cy="228600"/>
          </a:xfrm>
          <a:prstGeom prst="rect">
            <a:avLst/>
          </a:prstGeom>
          <a:noFill/>
          <a:ln/>
        </p:spPr>
        <p:txBody>
          <a:bodyPr wrap="square" rtlCol="0" anchor="ctr"/>
          <a:lstStyle/>
          <a:p>
            <a:pPr algn="ctr" indent="0" marL="0">
              <a:buNone/>
            </a:pPr>
            <a:r>
              <a:rPr lang="en-US" sz="1000" i="1" dirty="0">
                <a:solidFill>
                  <a:srgbClr val="B0AEA5"/>
                </a:solidFill>
                <a:latin typeface="Lora" pitchFamily="34" charset="0"/>
                <a:ea typeface="Lora" pitchFamily="34" charset="-122"/>
                <a:cs typeface="Lora" pitchFamily="34" charset="-120"/>
              </a:rPr>
              <a:t>Added to .claude/settings.json</a:t>
            </a:r>
            <a:endParaRPr lang="en-US" sz="1000" dirty="0"/>
          </a:p>
        </p:txBody>
      </p:sp>
      <p:sp>
        <p:nvSpPr>
          <p:cNvPr id="16" name="Shape 12"/>
          <p:cNvSpPr/>
          <p:nvPr/>
        </p:nvSpPr>
        <p:spPr>
          <a:xfrm>
            <a:off x="6309360" y="1645920"/>
            <a:ext cx="2468880" cy="182880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17" name="Shape 13"/>
          <p:cNvSpPr/>
          <p:nvPr/>
        </p:nvSpPr>
        <p:spPr>
          <a:xfrm>
            <a:off x="6309360" y="1645920"/>
            <a:ext cx="73152" cy="1828800"/>
          </a:xfrm>
          <a:prstGeom prst="rect">
            <a:avLst/>
          </a:prstGeom>
          <a:solidFill>
            <a:srgbClr val="788C5D"/>
          </a:solidFill>
          <a:ln/>
        </p:spPr>
      </p:sp>
      <p:pic>
        <p:nvPicPr>
          <p:cNvPr id="18" name="Image 2" descr="preencoded.png">    </p:cNvPr>
          <p:cNvPicPr>
            <a:picLocks noChangeAspect="1"/>
          </p:cNvPicPr>
          <p:nvPr/>
        </p:nvPicPr>
        <p:blipFill>
          <a:blip r:embed="rId3"/>
          <a:stretch>
            <a:fillRect/>
          </a:stretch>
        </p:blipFill>
        <p:spPr>
          <a:xfrm>
            <a:off x="7223760" y="1828800"/>
            <a:ext cx="640080" cy="640080"/>
          </a:xfrm>
          <a:prstGeom prst="rect">
            <a:avLst/>
          </a:prstGeom>
        </p:spPr>
      </p:pic>
      <p:sp>
        <p:nvSpPr>
          <p:cNvPr id="19" name="Text 14"/>
          <p:cNvSpPr/>
          <p:nvPr/>
        </p:nvSpPr>
        <p:spPr>
          <a:xfrm>
            <a:off x="6446520" y="2606040"/>
            <a:ext cx="2194560" cy="274320"/>
          </a:xfrm>
          <a:prstGeom prst="rect">
            <a:avLst/>
          </a:prstGeom>
          <a:noFill/>
          <a:ln/>
        </p:spPr>
        <p:txBody>
          <a:bodyPr wrap="square" rtlCol="0" anchor="ctr"/>
          <a:lstStyle/>
          <a:p>
            <a:pPr algn="ctr" indent="0" marL="0">
              <a:buNone/>
            </a:pPr>
            <a:r>
              <a:rPr lang="en-US" sz="1500" b="1" dirty="0">
                <a:solidFill>
                  <a:srgbClr val="141413"/>
                </a:solidFill>
                <a:latin typeface="Poppins" pitchFamily="34" charset="0"/>
                <a:ea typeface="Poppins" pitchFamily="34" charset="-122"/>
                <a:cs typeface="Poppins" pitchFamily="34" charset="-120"/>
              </a:rPr>
              <a:t>Local Scope</a:t>
            </a:r>
            <a:endParaRPr lang="en-US" sz="1500" dirty="0"/>
          </a:p>
        </p:txBody>
      </p:sp>
      <p:sp>
        <p:nvSpPr>
          <p:cNvPr id="20" name="Text 15"/>
          <p:cNvSpPr/>
          <p:nvPr/>
        </p:nvSpPr>
        <p:spPr>
          <a:xfrm>
            <a:off x="6446520" y="2880360"/>
            <a:ext cx="2194560" cy="228600"/>
          </a:xfrm>
          <a:prstGeom prst="rect">
            <a:avLst/>
          </a:prstGeom>
          <a:noFill/>
          <a:ln/>
        </p:spPr>
        <p:txBody>
          <a:bodyPr wrap="square" rtlCol="0" anchor="ctr"/>
          <a:lstStyle/>
          <a:p>
            <a:pPr algn="ctr" indent="0" marL="0">
              <a:buNone/>
            </a:pPr>
            <a:r>
              <a:rPr lang="en-US" sz="1100" dirty="0">
                <a:solidFill>
                  <a:srgbClr val="141413"/>
                </a:solidFill>
                <a:latin typeface="Lora" pitchFamily="34" charset="0"/>
                <a:ea typeface="Lora" pitchFamily="34" charset="-122"/>
                <a:cs typeface="Lora" pitchFamily="34" charset="-120"/>
              </a:rPr>
              <a:t>Personal, single repository</a:t>
            </a:r>
            <a:endParaRPr lang="en-US" sz="1100" dirty="0"/>
          </a:p>
        </p:txBody>
      </p:sp>
      <p:sp>
        <p:nvSpPr>
          <p:cNvPr id="21" name="Text 16"/>
          <p:cNvSpPr/>
          <p:nvPr/>
        </p:nvSpPr>
        <p:spPr>
          <a:xfrm>
            <a:off x="6446520" y="3108960"/>
            <a:ext cx="2194560" cy="228600"/>
          </a:xfrm>
          <a:prstGeom prst="rect">
            <a:avLst/>
          </a:prstGeom>
          <a:noFill/>
          <a:ln/>
        </p:spPr>
        <p:txBody>
          <a:bodyPr wrap="square" rtlCol="0" anchor="ctr"/>
          <a:lstStyle/>
          <a:p>
            <a:pPr algn="ctr" indent="0" marL="0">
              <a:buNone/>
            </a:pPr>
            <a:r>
              <a:rPr lang="en-US" sz="1000" i="1" dirty="0">
                <a:solidFill>
                  <a:srgbClr val="B0AEA5"/>
                </a:solidFill>
                <a:latin typeface="Lora" pitchFamily="34" charset="0"/>
                <a:ea typeface="Lora" pitchFamily="34" charset="-122"/>
                <a:cs typeface="Lora" pitchFamily="34" charset="-120"/>
              </a:rPr>
              <a:t>Testing without broad impact</a:t>
            </a:r>
            <a:endParaRPr lang="en-US" sz="1000" dirty="0"/>
          </a:p>
        </p:txBody>
      </p:sp>
      <p:sp>
        <p:nvSpPr>
          <p:cNvPr id="22" name="Text 17"/>
          <p:cNvSpPr/>
          <p:nvPr/>
        </p:nvSpPr>
        <p:spPr>
          <a:xfrm>
            <a:off x="457200" y="3749040"/>
            <a:ext cx="8229600" cy="274320"/>
          </a:xfrm>
          <a:prstGeom prst="rect">
            <a:avLst/>
          </a:prstGeom>
          <a:noFill/>
          <a:ln/>
        </p:spPr>
        <p:txBody>
          <a:bodyPr wrap="square" rtlCol="0" anchor="ctr"/>
          <a:lstStyle/>
          <a:p>
            <a:pPr indent="0" marL="0">
              <a:buNone/>
            </a:pPr>
            <a:r>
              <a:rPr lang="en-US" sz="1600" b="1" dirty="0">
                <a:solidFill>
                  <a:srgbClr val="141413"/>
                </a:solidFill>
                <a:latin typeface="Poppins" pitchFamily="34" charset="0"/>
                <a:ea typeface="Poppins" pitchFamily="34" charset="-122"/>
                <a:cs typeface="Poppins" pitchFamily="34" charset="-120"/>
              </a:rPr>
              <a:t>Key Commands</a:t>
            </a:r>
            <a:endParaRPr lang="en-US" sz="1600" dirty="0"/>
          </a:p>
        </p:txBody>
      </p:sp>
      <p:sp>
        <p:nvSpPr>
          <p:cNvPr id="23" name="Text 18"/>
          <p:cNvSpPr/>
          <p:nvPr/>
        </p:nvSpPr>
        <p:spPr>
          <a:xfrm>
            <a:off x="457200" y="4114800"/>
            <a:ext cx="4114800" cy="228600"/>
          </a:xfrm>
          <a:prstGeom prst="rect">
            <a:avLst/>
          </a:prstGeom>
          <a:noFill/>
          <a:ln/>
        </p:spPr>
        <p:txBody>
          <a:bodyPr wrap="square" rtlCol="0" anchor="ctr"/>
          <a:lstStyle/>
          <a:p>
            <a:pPr indent="0" marL="0">
              <a:buNone/>
            </a:pPr>
            <a:r>
              <a:rPr lang="en-US" sz="1100" dirty="0">
                <a:solidFill>
                  <a:srgbClr val="D97757"/>
                </a:solidFill>
                <a:latin typeface="Courier New" pitchFamily="34" charset="0"/>
                <a:ea typeface="Courier New" pitchFamily="34" charset="-122"/>
                <a:cs typeface="Courier New" pitchFamily="34" charset="-120"/>
              </a:rPr>
              <a:t>/plugin install name@marketplace</a:t>
            </a:r>
            <a:endParaRPr lang="en-US" sz="1100" dirty="0"/>
          </a:p>
        </p:txBody>
      </p:sp>
      <p:sp>
        <p:nvSpPr>
          <p:cNvPr id="24" name="Text 19"/>
          <p:cNvSpPr/>
          <p:nvPr/>
        </p:nvSpPr>
        <p:spPr>
          <a:xfrm>
            <a:off x="4754880" y="4114800"/>
            <a:ext cx="3931920" cy="228600"/>
          </a:xfrm>
          <a:prstGeom prst="rect">
            <a:avLst/>
          </a:prstGeom>
          <a:noFill/>
          <a:ln/>
        </p:spPr>
        <p:txBody>
          <a:bodyPr wrap="square" rtlCol="0" anchor="ctr"/>
          <a:lstStyle/>
          <a:p>
            <a:pPr indent="0" marL="0">
              <a:buNone/>
            </a:pPr>
            <a:r>
              <a:rPr lang="en-US" sz="1100" dirty="0">
                <a:solidFill>
                  <a:srgbClr val="B0AEA5"/>
                </a:solidFill>
                <a:latin typeface="Lora" pitchFamily="34" charset="0"/>
                <a:ea typeface="Lora" pitchFamily="34" charset="-122"/>
                <a:cs typeface="Lora" pitchFamily="34" charset="-120"/>
              </a:rPr>
              <a:t>Install plugin (defaults to user scope)</a:t>
            </a:r>
            <a:endParaRPr lang="en-US" sz="1100" dirty="0"/>
          </a:p>
        </p:txBody>
      </p:sp>
      <p:sp>
        <p:nvSpPr>
          <p:cNvPr id="25" name="Text 20"/>
          <p:cNvSpPr/>
          <p:nvPr/>
        </p:nvSpPr>
        <p:spPr>
          <a:xfrm>
            <a:off x="457200" y="4389120"/>
            <a:ext cx="4114800" cy="228600"/>
          </a:xfrm>
          <a:prstGeom prst="rect">
            <a:avLst/>
          </a:prstGeom>
          <a:noFill/>
          <a:ln/>
        </p:spPr>
        <p:txBody>
          <a:bodyPr wrap="square" rtlCol="0" anchor="ctr"/>
          <a:lstStyle/>
          <a:p>
            <a:pPr indent="0" marL="0">
              <a:buNone/>
            </a:pPr>
            <a:r>
              <a:rPr lang="en-US" sz="1100" dirty="0">
                <a:solidFill>
                  <a:srgbClr val="D97757"/>
                </a:solidFill>
                <a:latin typeface="Courier New" pitchFamily="34" charset="0"/>
                <a:ea typeface="Courier New" pitchFamily="34" charset="-122"/>
                <a:cs typeface="Courier New" pitchFamily="34" charset="-120"/>
              </a:rPr>
              <a:t>/plugin disable name@marketplace</a:t>
            </a:r>
            <a:endParaRPr lang="en-US" sz="1100" dirty="0"/>
          </a:p>
        </p:txBody>
      </p:sp>
      <p:sp>
        <p:nvSpPr>
          <p:cNvPr id="26" name="Text 21"/>
          <p:cNvSpPr/>
          <p:nvPr/>
        </p:nvSpPr>
        <p:spPr>
          <a:xfrm>
            <a:off x="4754880" y="4389120"/>
            <a:ext cx="3931920" cy="228600"/>
          </a:xfrm>
          <a:prstGeom prst="rect">
            <a:avLst/>
          </a:prstGeom>
          <a:noFill/>
          <a:ln/>
        </p:spPr>
        <p:txBody>
          <a:bodyPr wrap="square" rtlCol="0" anchor="ctr"/>
          <a:lstStyle/>
          <a:p>
            <a:pPr indent="0" marL="0">
              <a:buNone/>
            </a:pPr>
            <a:r>
              <a:rPr lang="en-US" sz="1100" dirty="0">
                <a:solidFill>
                  <a:srgbClr val="B0AEA5"/>
                </a:solidFill>
                <a:latin typeface="Lora" pitchFamily="34" charset="0"/>
                <a:ea typeface="Lora" pitchFamily="34" charset="-122"/>
                <a:cs typeface="Lora" pitchFamily="34" charset="-120"/>
              </a:rPr>
              <a:t>Temporarily disable without uninstalling</a:t>
            </a:r>
            <a:endParaRPr lang="en-US" sz="1100" dirty="0"/>
          </a:p>
        </p:txBody>
      </p:sp>
      <p:sp>
        <p:nvSpPr>
          <p:cNvPr id="27" name="Text 22"/>
          <p:cNvSpPr/>
          <p:nvPr/>
        </p:nvSpPr>
        <p:spPr>
          <a:xfrm>
            <a:off x="457200" y="4663440"/>
            <a:ext cx="4114800" cy="228600"/>
          </a:xfrm>
          <a:prstGeom prst="rect">
            <a:avLst/>
          </a:prstGeom>
          <a:noFill/>
          <a:ln/>
        </p:spPr>
        <p:txBody>
          <a:bodyPr wrap="square" rtlCol="0" anchor="ctr"/>
          <a:lstStyle/>
          <a:p>
            <a:pPr indent="0" marL="0">
              <a:buNone/>
            </a:pPr>
            <a:r>
              <a:rPr lang="en-US" sz="1100" dirty="0">
                <a:solidFill>
                  <a:srgbClr val="D97757"/>
                </a:solidFill>
                <a:latin typeface="Courier New" pitchFamily="34" charset="0"/>
                <a:ea typeface="Courier New" pitchFamily="34" charset="-122"/>
                <a:cs typeface="Courier New" pitchFamily="34" charset="-120"/>
              </a:rPr>
              <a:t>/plugin enable name@marketplace</a:t>
            </a:r>
            <a:endParaRPr lang="en-US" sz="1100" dirty="0"/>
          </a:p>
        </p:txBody>
      </p:sp>
      <p:sp>
        <p:nvSpPr>
          <p:cNvPr id="28" name="Text 23"/>
          <p:cNvSpPr/>
          <p:nvPr/>
        </p:nvSpPr>
        <p:spPr>
          <a:xfrm>
            <a:off x="4754880" y="4663440"/>
            <a:ext cx="3931920" cy="228600"/>
          </a:xfrm>
          <a:prstGeom prst="rect">
            <a:avLst/>
          </a:prstGeom>
          <a:noFill/>
          <a:ln/>
        </p:spPr>
        <p:txBody>
          <a:bodyPr wrap="square" rtlCol="0" anchor="ctr"/>
          <a:lstStyle/>
          <a:p>
            <a:pPr indent="0" marL="0">
              <a:buNone/>
            </a:pPr>
            <a:r>
              <a:rPr lang="en-US" sz="1100" dirty="0">
                <a:solidFill>
                  <a:srgbClr val="B0AEA5"/>
                </a:solidFill>
                <a:latin typeface="Lora" pitchFamily="34" charset="0"/>
                <a:ea typeface="Lora" pitchFamily="34" charset="-122"/>
                <a:cs typeface="Lora" pitchFamily="34" charset="-120"/>
              </a:rPr>
              <a:t>Re-enable a disabled plugin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Lab: Installing a Plugin</a:t>
            </a:r>
            <a:endParaRPr lang="en-US" sz="3200" dirty="0"/>
          </a:p>
        </p:txBody>
      </p:sp>
      <p:pic>
        <p:nvPicPr>
          <p:cNvPr id="3" name="Image 0" descr="preencoded.png">    </p:cNvPr>
          <p:cNvPicPr>
            <a:picLocks noChangeAspect="1"/>
          </p:cNvPicPr>
          <p:nvPr/>
        </p:nvPicPr>
        <p:blipFill>
          <a:blip r:embed="rId1"/>
          <a:stretch>
            <a:fillRect/>
          </a:stretch>
        </p:blipFill>
        <p:spPr>
          <a:xfrm>
            <a:off x="457200" y="1005840"/>
            <a:ext cx="548640" cy="548640"/>
          </a:xfrm>
          <a:prstGeom prst="rect">
            <a:avLst/>
          </a:prstGeom>
        </p:spPr>
      </p:pic>
      <p:sp>
        <p:nvSpPr>
          <p:cNvPr id="4" name="Text 1"/>
          <p:cNvSpPr/>
          <p:nvPr/>
        </p:nvSpPr>
        <p:spPr>
          <a:xfrm>
            <a:off x="1188720" y="1005840"/>
            <a:ext cx="7315200" cy="548640"/>
          </a:xfrm>
          <a:prstGeom prst="rect">
            <a:avLst/>
          </a:prstGeom>
          <a:noFill/>
          <a:ln/>
        </p:spPr>
        <p:txBody>
          <a:bodyPr wrap="square" rtlCol="0" anchor="ctr"/>
          <a:lstStyle/>
          <a:p>
            <a:pPr indent="0" marL="0">
              <a:buNone/>
            </a:pPr>
            <a:r>
              <a:rPr lang="en-US" sz="2000" b="1" dirty="0">
                <a:solidFill>
                  <a:srgbClr val="141413"/>
                </a:solidFill>
                <a:latin typeface="Poppins" pitchFamily="34" charset="0"/>
                <a:ea typeface="Poppins" pitchFamily="34" charset="-122"/>
                <a:cs typeface="Poppins" pitchFamily="34" charset="-120"/>
              </a:rPr>
              <a:t>Practice Plugin Installation</a:t>
            </a:r>
            <a:endParaRPr lang="en-US" sz="2000" dirty="0"/>
          </a:p>
        </p:txBody>
      </p:sp>
      <p:sp>
        <p:nvSpPr>
          <p:cNvPr id="5" name="Shape 2"/>
          <p:cNvSpPr/>
          <p:nvPr/>
        </p:nvSpPr>
        <p:spPr>
          <a:xfrm>
            <a:off x="457200" y="1737360"/>
            <a:ext cx="4114800" cy="274320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6" name="Text 3"/>
          <p:cNvSpPr/>
          <p:nvPr/>
        </p:nvSpPr>
        <p:spPr>
          <a:xfrm>
            <a:off x="640080" y="1874520"/>
            <a:ext cx="3749040" cy="320040"/>
          </a:xfrm>
          <a:prstGeom prst="rect">
            <a:avLst/>
          </a:prstGeom>
          <a:noFill/>
          <a:ln/>
        </p:spPr>
        <p:txBody>
          <a:bodyPr wrap="square" rtlCol="0" anchor="ctr"/>
          <a:lstStyle/>
          <a:p>
            <a:pPr indent="0" marL="0">
              <a:buNone/>
            </a:pPr>
            <a:r>
              <a:rPr lang="en-US" sz="1600" b="1" dirty="0">
                <a:solidFill>
                  <a:srgbClr val="141413"/>
                </a:solidFill>
                <a:latin typeface="Poppins" pitchFamily="34" charset="0"/>
                <a:ea typeface="Poppins" pitchFamily="34" charset="-122"/>
                <a:cs typeface="Poppins" pitchFamily="34" charset="-120"/>
              </a:rPr>
              <a:t>Installation Steps</a:t>
            </a:r>
            <a:endParaRPr lang="en-US" sz="1600" dirty="0"/>
          </a:p>
        </p:txBody>
      </p:sp>
      <p:sp>
        <p:nvSpPr>
          <p:cNvPr id="7" name="Text 4"/>
          <p:cNvSpPr/>
          <p:nvPr/>
        </p:nvSpPr>
        <p:spPr>
          <a:xfrm>
            <a:off x="640080" y="2286000"/>
            <a:ext cx="3749040" cy="2011680"/>
          </a:xfrm>
          <a:prstGeom prst="rect">
            <a:avLst/>
          </a:prstGeom>
          <a:noFill/>
          <a:ln/>
        </p:spPr>
        <p:txBody>
          <a:bodyPr wrap="square" rtlCol="0" anchor="ctr"/>
          <a:lstStyle/>
          <a:p>
            <a:pPr marL="342900" indent="-342900">
              <a:buSzPct val="100000"/>
              <a:buChar char="•"/>
            </a:pPr>
            <a:r>
              <a:rPr lang="en-US" sz="1300" dirty="0">
                <a:solidFill>
                  <a:srgbClr val="141413"/>
                </a:solidFill>
                <a:latin typeface="Lora" pitchFamily="34" charset="0"/>
                <a:ea typeface="Lora" pitchFamily="34" charset="-122"/>
                <a:cs typeface="Lora" pitchFamily="34" charset="-120"/>
              </a:rPr>
              <a:t>Open plugin manager with /plugin</a:t>
            </a:r>
            <a:endParaRPr lang="en-US" sz="1300" dirty="0"/>
          </a:p>
          <a:p>
            <a:pPr marL="342900" indent="-342900">
              <a:buSzPct val="100000"/>
              <a:buChar char="•"/>
            </a:pPr>
            <a:r>
              <a:rPr lang="en-US" sz="1300" dirty="0">
                <a:solidFill>
                  <a:srgbClr val="141413"/>
                </a:solidFill>
                <a:latin typeface="Lora" pitchFamily="34" charset="0"/>
                <a:ea typeface="Lora" pitchFamily="34" charset="-122"/>
                <a:cs typeface="Lora" pitchFamily="34" charset="-120"/>
              </a:rPr>
              <a:t>Go to Discover tab</a:t>
            </a:r>
            <a:endParaRPr lang="en-US" sz="1300" dirty="0"/>
          </a:p>
          <a:p>
            <a:pPr marL="342900" indent="-342900">
              <a:buSzPct val="100000"/>
              <a:buChar char="•"/>
            </a:pPr>
            <a:r>
              <a:rPr lang="en-US" sz="1300" dirty="0">
                <a:solidFill>
                  <a:srgbClr val="141413"/>
                </a:solidFill>
                <a:latin typeface="Lora" pitchFamily="34" charset="0"/>
                <a:ea typeface="Lora" pitchFamily="34" charset="-122"/>
                <a:cs typeface="Lora" pitchFamily="34" charset="-120"/>
              </a:rPr>
              <a:t>Select commit-commands plugin</a:t>
            </a:r>
            <a:endParaRPr lang="en-US" sz="1300" dirty="0"/>
          </a:p>
          <a:p>
            <a:pPr marL="342900" indent="-342900">
              <a:buSzPct val="100000"/>
              <a:buChar char="•"/>
            </a:pPr>
            <a:r>
              <a:rPr lang="en-US" sz="1300" dirty="0">
                <a:solidFill>
                  <a:srgbClr val="141413"/>
                </a:solidFill>
                <a:latin typeface="Lora" pitchFamily="34" charset="0"/>
                <a:ea typeface="Lora" pitchFamily="34" charset="-122"/>
                <a:cs typeface="Lora" pitchFamily="34" charset="-120"/>
              </a:rPr>
              <a:t>Choose User scope</a:t>
            </a:r>
            <a:endParaRPr lang="en-US" sz="1300" dirty="0"/>
          </a:p>
          <a:p>
            <a:pPr marL="342900" indent="-342900">
              <a:buSzPct val="100000"/>
              <a:buChar char="•"/>
            </a:pPr>
            <a:r>
              <a:rPr lang="en-US" sz="1300" dirty="0">
                <a:solidFill>
                  <a:srgbClr val="141413"/>
                </a:solidFill>
                <a:latin typeface="Lora" pitchFamily="34" charset="0"/>
                <a:ea typeface="Lora" pitchFamily="34" charset="-122"/>
                <a:cs typeface="Lora" pitchFamily="34" charset="-120"/>
              </a:rPr>
              <a:t>Verify in Installed tab</a:t>
            </a:r>
            <a:endParaRPr lang="en-US" sz="1300" dirty="0"/>
          </a:p>
        </p:txBody>
      </p:sp>
      <p:sp>
        <p:nvSpPr>
          <p:cNvPr id="8" name="Shape 5"/>
          <p:cNvSpPr/>
          <p:nvPr/>
        </p:nvSpPr>
        <p:spPr>
          <a:xfrm>
            <a:off x="5029200" y="1737360"/>
            <a:ext cx="3657600" cy="2743200"/>
          </a:xfrm>
          <a:prstGeom prst="rect">
            <a:avLst/>
          </a:prstGeom>
          <a:solidFill>
            <a:srgbClr val="141413"/>
          </a:solidFill>
          <a:ln/>
        </p:spPr>
      </p:sp>
      <p:sp>
        <p:nvSpPr>
          <p:cNvPr id="9" name="Text 6"/>
          <p:cNvSpPr/>
          <p:nvPr/>
        </p:nvSpPr>
        <p:spPr>
          <a:xfrm>
            <a:off x="5212080" y="1874520"/>
            <a:ext cx="3291840" cy="320040"/>
          </a:xfrm>
          <a:prstGeom prst="rect">
            <a:avLst/>
          </a:prstGeom>
          <a:noFill/>
          <a:ln/>
        </p:spPr>
        <p:txBody>
          <a:bodyPr wrap="square" rtlCol="0" anchor="ctr"/>
          <a:lstStyle/>
          <a:p>
            <a:pPr indent="0" marL="0">
              <a:buNone/>
            </a:pPr>
            <a:r>
              <a:rPr lang="en-US" sz="1600" b="1" dirty="0">
                <a:solidFill>
                  <a:srgbClr val="FAF9F5"/>
                </a:solidFill>
                <a:latin typeface="Poppins" pitchFamily="34" charset="0"/>
                <a:ea typeface="Poppins" pitchFamily="34" charset="-122"/>
                <a:cs typeface="Poppins" pitchFamily="34" charset="-120"/>
              </a:rPr>
              <a:t>Using the Plugin</a:t>
            </a:r>
            <a:endParaRPr lang="en-US" sz="1600" dirty="0"/>
          </a:p>
        </p:txBody>
      </p:sp>
      <p:sp>
        <p:nvSpPr>
          <p:cNvPr id="10" name="Shape 7"/>
          <p:cNvSpPr/>
          <p:nvPr/>
        </p:nvSpPr>
        <p:spPr>
          <a:xfrm>
            <a:off x="5212080" y="2377440"/>
            <a:ext cx="3291840" cy="457200"/>
          </a:xfrm>
          <a:prstGeom prst="rect">
            <a:avLst/>
          </a:prstGeom>
          <a:solidFill>
            <a:srgbClr val="2D2D2D"/>
          </a:solidFill>
          <a:ln/>
        </p:spPr>
      </p:sp>
      <p:sp>
        <p:nvSpPr>
          <p:cNvPr id="11" name="Text 8"/>
          <p:cNvSpPr/>
          <p:nvPr/>
        </p:nvSpPr>
        <p:spPr>
          <a:xfrm>
            <a:off x="5349240" y="2377440"/>
            <a:ext cx="3017520" cy="457200"/>
          </a:xfrm>
          <a:prstGeom prst="rect">
            <a:avLst/>
          </a:prstGeom>
          <a:noFill/>
          <a:ln/>
        </p:spPr>
        <p:txBody>
          <a:bodyPr wrap="square" rtlCol="0" anchor="ctr"/>
          <a:lstStyle/>
          <a:p>
            <a:pPr indent="0" marL="0">
              <a:buNone/>
            </a:pPr>
            <a:r>
              <a:rPr lang="en-US" sz="1300" dirty="0">
                <a:solidFill>
                  <a:srgbClr val="D97757"/>
                </a:solidFill>
                <a:latin typeface="Courier New" pitchFamily="34" charset="0"/>
                <a:ea typeface="Courier New" pitchFamily="34" charset="-122"/>
                <a:cs typeface="Courier New" pitchFamily="34" charset="-120"/>
              </a:rPr>
              <a:t>/commit-commands:commit</a:t>
            </a:r>
            <a:endParaRPr lang="en-US" sz="1300" dirty="0"/>
          </a:p>
        </p:txBody>
      </p:sp>
      <p:sp>
        <p:nvSpPr>
          <p:cNvPr id="12" name="Text 9"/>
          <p:cNvSpPr/>
          <p:nvPr/>
        </p:nvSpPr>
        <p:spPr>
          <a:xfrm>
            <a:off x="5212080" y="3017520"/>
            <a:ext cx="3291840" cy="1188720"/>
          </a:xfrm>
          <a:prstGeom prst="rect">
            <a:avLst/>
          </a:prstGeom>
          <a:noFill/>
          <a:ln/>
        </p:spPr>
        <p:txBody>
          <a:bodyPr wrap="square" rtlCol="0" anchor="ctr"/>
          <a:lstStyle/>
          <a:p>
            <a:pPr marL="342900" indent="-342900">
              <a:buSzPct val="100000"/>
              <a:buChar char="•"/>
            </a:pPr>
            <a:r>
              <a:rPr lang="en-US" sz="1200" dirty="0">
                <a:solidFill>
                  <a:srgbClr val="FAF9F5"/>
                </a:solidFill>
                <a:latin typeface="Lora" pitchFamily="34" charset="0"/>
                <a:ea typeface="Lora" pitchFamily="34" charset="-122"/>
                <a:cs typeface="Lora" pitchFamily="34" charset="-120"/>
              </a:rPr>
              <a:t>Stages changes</a:t>
            </a:r>
            <a:endParaRPr lang="en-US" sz="1200" dirty="0"/>
          </a:p>
          <a:p>
            <a:pPr marL="342900" indent="-342900">
              <a:buSzPct val="100000"/>
              <a:buChar char="•"/>
            </a:pPr>
            <a:r>
              <a:rPr lang="en-US" sz="1200" dirty="0">
                <a:solidFill>
                  <a:srgbClr val="FAF9F5"/>
                </a:solidFill>
                <a:latin typeface="Lora" pitchFamily="34" charset="0"/>
                <a:ea typeface="Lora" pitchFamily="34" charset="-122"/>
                <a:cs typeface="Lora" pitchFamily="34" charset="-120"/>
              </a:rPr>
              <a:t>Generates commit message</a:t>
            </a:r>
            <a:endParaRPr lang="en-US" sz="1200" dirty="0"/>
          </a:p>
          <a:p>
            <a:pPr marL="342900" indent="-342900">
              <a:buSzPct val="100000"/>
              <a:buChar char="•"/>
            </a:pPr>
            <a:r>
              <a:rPr lang="en-US" sz="1200" dirty="0">
                <a:solidFill>
                  <a:srgbClr val="FAF9F5"/>
                </a:solidFill>
                <a:latin typeface="Lora" pitchFamily="34" charset="0"/>
                <a:ea typeface="Lora" pitchFamily="34" charset="-122"/>
                <a:cs typeface="Lora" pitchFamily="34" charset="-120"/>
              </a:rPr>
              <a:t>Creates the commit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Module 6: Creating Plugins</a:t>
            </a:r>
            <a:endParaRPr lang="en-US" sz="3200" dirty="0"/>
          </a:p>
        </p:txBody>
      </p:sp>
      <p:sp>
        <p:nvSpPr>
          <p:cNvPr id="3" name="Text 1"/>
          <p:cNvSpPr/>
          <p:nvPr/>
        </p:nvSpPr>
        <p:spPr>
          <a:xfrm>
            <a:off x="457200" y="1005840"/>
            <a:ext cx="4114800" cy="365760"/>
          </a:xfrm>
          <a:prstGeom prst="rect">
            <a:avLst/>
          </a:prstGeom>
          <a:noFill/>
          <a:ln/>
        </p:spPr>
        <p:txBody>
          <a:bodyPr wrap="square" rtlCol="0" anchor="ctr"/>
          <a:lstStyle/>
          <a:p>
            <a:pPr indent="0" marL="0">
              <a:buNone/>
            </a:pPr>
            <a:r>
              <a:rPr lang="en-US" sz="1800" b="1" dirty="0">
                <a:solidFill>
                  <a:srgbClr val="141413"/>
                </a:solidFill>
                <a:latin typeface="Poppins" pitchFamily="34" charset="0"/>
                <a:ea typeface="Poppins" pitchFamily="34" charset="-122"/>
                <a:cs typeface="Poppins" pitchFamily="34" charset="-120"/>
              </a:rPr>
              <a:t>Plugin Directory Structure</a:t>
            </a:r>
            <a:endParaRPr lang="en-US" sz="1800" dirty="0"/>
          </a:p>
        </p:txBody>
      </p:sp>
      <p:sp>
        <p:nvSpPr>
          <p:cNvPr id="4" name="Shape 2"/>
          <p:cNvSpPr/>
          <p:nvPr/>
        </p:nvSpPr>
        <p:spPr>
          <a:xfrm>
            <a:off x="457200" y="1463040"/>
            <a:ext cx="4114800" cy="3200400"/>
          </a:xfrm>
          <a:prstGeom prst="rect">
            <a:avLst/>
          </a:prstGeom>
          <a:solidFill>
            <a:srgbClr val="141413"/>
          </a:solidFill>
          <a:ln/>
        </p:spPr>
      </p:sp>
      <p:sp>
        <p:nvSpPr>
          <p:cNvPr id="5" name="Text 3"/>
          <p:cNvSpPr/>
          <p:nvPr/>
        </p:nvSpPr>
        <p:spPr>
          <a:xfrm>
            <a:off x="640080" y="1645920"/>
            <a:ext cx="3749040" cy="2834640"/>
          </a:xfrm>
          <a:prstGeom prst="rect">
            <a:avLst/>
          </a:prstGeom>
          <a:noFill/>
          <a:ln/>
        </p:spPr>
        <p:txBody>
          <a:bodyPr wrap="square" rtlCol="0" anchor="ctr"/>
          <a:lstStyle/>
          <a:p>
            <a:pPr indent="0" marL="0">
              <a:lnSpc>
                <a:spcPts val="2000"/>
              </a:lnSpc>
              <a:buNone/>
            </a:pPr>
            <a:r>
              <a:rPr lang="en-US" sz="1300" dirty="0">
                <a:solidFill>
                  <a:srgbClr val="FAF9F5"/>
                </a:solidFill>
                <a:latin typeface="Courier New" pitchFamily="34" charset="0"/>
                <a:ea typeface="Courier New" pitchFamily="34" charset="-122"/>
                <a:cs typeface="Courier New" pitchFamily="34" charset="-120"/>
              </a:rPr>
              <a:t>my-plugin/</a:t>
            </a:r>
            <a:endParaRPr lang="en-US" sz="1300" dirty="0"/>
          </a:p>
          <a:p>
            <a:pPr indent="0" marL="0">
              <a:lnSpc>
                <a:spcPts val="2000"/>
              </a:lnSpc>
              <a:buNone/>
            </a:pPr>
            <a:r>
              <a:rPr lang="en-US" sz="1300" dirty="0">
                <a:solidFill>
                  <a:srgbClr val="FAF9F5"/>
                </a:solidFill>
                <a:latin typeface="Courier New" pitchFamily="34" charset="0"/>
                <a:ea typeface="Courier New" pitchFamily="34" charset="-122"/>
                <a:cs typeface="Courier New" pitchFamily="34" charset="-120"/>
              </a:rPr>
              <a:t>  .claude-plugin/</a:t>
            </a:r>
            <a:endParaRPr lang="en-US" sz="1300" dirty="0"/>
          </a:p>
          <a:p>
            <a:pPr indent="0" marL="0">
              <a:lnSpc>
                <a:spcPts val="2000"/>
              </a:lnSpc>
              <a:buNone/>
            </a:pPr>
            <a:r>
              <a:rPr lang="en-US" sz="1300" dirty="0">
                <a:solidFill>
                  <a:srgbClr val="D97757"/>
                </a:solidFill>
                <a:latin typeface="Courier New" pitchFamily="34" charset="0"/>
                <a:ea typeface="Courier New" pitchFamily="34" charset="-122"/>
                <a:cs typeface="Courier New" pitchFamily="34" charset="-120"/>
              </a:rPr>
              <a:t>    plugin.json</a:t>
            </a:r>
            <a:endParaRPr lang="en-US" sz="1300" dirty="0"/>
          </a:p>
          <a:p>
            <a:pPr indent="0" marL="0">
              <a:lnSpc>
                <a:spcPts val="2000"/>
              </a:lnSpc>
              <a:buNone/>
            </a:pPr>
            <a:r>
              <a:rPr lang="en-US" sz="1300" dirty="0">
                <a:solidFill>
                  <a:srgbClr val="FAF9F5"/>
                </a:solidFill>
                <a:latin typeface="Courier New" pitchFamily="34" charset="0"/>
                <a:ea typeface="Courier New" pitchFamily="34" charset="-122"/>
                <a:cs typeface="Courier New" pitchFamily="34" charset="-120"/>
              </a:rPr>
              <a:t>  commands/</a:t>
            </a:r>
            <a:endParaRPr lang="en-US" sz="1300" dirty="0"/>
          </a:p>
          <a:p>
            <a:pPr indent="0" marL="0">
              <a:lnSpc>
                <a:spcPts val="2000"/>
              </a:lnSpc>
              <a:buNone/>
            </a:pPr>
            <a:r>
              <a:rPr lang="en-US" sz="1300" dirty="0">
                <a:solidFill>
                  <a:srgbClr val="FAF9F5"/>
                </a:solidFill>
                <a:latin typeface="Courier New" pitchFamily="34" charset="0"/>
                <a:ea typeface="Courier New" pitchFamily="34" charset="-122"/>
                <a:cs typeface="Courier New" pitchFamily="34" charset="-120"/>
              </a:rPr>
              <a:t>  skills/</a:t>
            </a:r>
            <a:endParaRPr lang="en-US" sz="1300" dirty="0"/>
          </a:p>
          <a:p>
            <a:pPr indent="0" marL="0">
              <a:lnSpc>
                <a:spcPts val="2000"/>
              </a:lnSpc>
              <a:buNone/>
            </a:pPr>
            <a:r>
              <a:rPr lang="en-US" sz="1300" dirty="0">
                <a:solidFill>
                  <a:srgbClr val="FAF9F5"/>
                </a:solidFill>
                <a:latin typeface="Courier New" pitchFamily="34" charset="0"/>
                <a:ea typeface="Courier New" pitchFamily="34" charset="-122"/>
                <a:cs typeface="Courier New" pitchFamily="34" charset="-120"/>
              </a:rPr>
              <a:t>  agents/</a:t>
            </a:r>
            <a:endParaRPr lang="en-US" sz="1300" dirty="0"/>
          </a:p>
          <a:p>
            <a:pPr indent="0" marL="0">
              <a:lnSpc>
                <a:spcPts val="2000"/>
              </a:lnSpc>
              <a:buNone/>
            </a:pPr>
            <a:r>
              <a:rPr lang="en-US" sz="1300" dirty="0">
                <a:solidFill>
                  <a:srgbClr val="FAF9F5"/>
                </a:solidFill>
                <a:latin typeface="Courier New" pitchFamily="34" charset="0"/>
                <a:ea typeface="Courier New" pitchFamily="34" charset="-122"/>
                <a:cs typeface="Courier New" pitchFamily="34" charset="-120"/>
              </a:rPr>
              <a:t>  hooks/</a:t>
            </a:r>
            <a:endParaRPr lang="en-US" sz="1300" dirty="0"/>
          </a:p>
          <a:p>
            <a:pPr indent="0" marL="0">
              <a:lnSpc>
                <a:spcPts val="2000"/>
              </a:lnSpc>
              <a:buNone/>
            </a:pPr>
            <a:r>
              <a:rPr lang="en-US" sz="1300" dirty="0">
                <a:solidFill>
                  <a:srgbClr val="788C5D"/>
                </a:solidFill>
                <a:latin typeface="Courier New" pitchFamily="34" charset="0"/>
                <a:ea typeface="Courier New" pitchFamily="34" charset="-122"/>
                <a:cs typeface="Courier New" pitchFamily="34" charset="-120"/>
              </a:rPr>
              <a:t>  .mcp.json</a:t>
            </a:r>
            <a:endParaRPr lang="en-US" sz="1300" dirty="0"/>
          </a:p>
          <a:p>
            <a:pPr indent="0" marL="0">
              <a:lnSpc>
                <a:spcPts val="2000"/>
              </a:lnSpc>
              <a:buNone/>
            </a:pPr>
            <a:r>
              <a:rPr lang="en-US" sz="1300" dirty="0">
                <a:solidFill>
                  <a:srgbClr val="6A9BCC"/>
                </a:solidFill>
                <a:latin typeface="Courier New" pitchFamily="34" charset="0"/>
                <a:ea typeface="Courier New" pitchFamily="34" charset="-122"/>
                <a:cs typeface="Courier New" pitchFamily="34" charset="-120"/>
              </a:rPr>
              <a:t>  .lsp.json</a:t>
            </a:r>
            <a:endParaRPr lang="en-US" sz="1300" dirty="0"/>
          </a:p>
        </p:txBody>
      </p:sp>
      <p:sp>
        <p:nvSpPr>
          <p:cNvPr id="6" name="Shape 4"/>
          <p:cNvSpPr/>
          <p:nvPr/>
        </p:nvSpPr>
        <p:spPr>
          <a:xfrm>
            <a:off x="5029200" y="1463040"/>
            <a:ext cx="3657600" cy="1371600"/>
          </a:xfrm>
          <a:prstGeom prst="rect">
            <a:avLst/>
          </a:prstGeom>
          <a:solidFill>
            <a:srgbClr val="D97757"/>
          </a:solidFill>
          <a:ln/>
        </p:spPr>
      </p:sp>
      <p:sp>
        <p:nvSpPr>
          <p:cNvPr id="7" name="Text 5"/>
          <p:cNvSpPr/>
          <p:nvPr/>
        </p:nvSpPr>
        <p:spPr>
          <a:xfrm>
            <a:off x="5212080" y="1600200"/>
            <a:ext cx="3291840" cy="320040"/>
          </a:xfrm>
          <a:prstGeom prst="rect">
            <a:avLst/>
          </a:prstGeom>
          <a:noFill/>
          <a:ln/>
        </p:spPr>
        <p:txBody>
          <a:bodyPr wrap="square" rtlCol="0" anchor="ctr"/>
          <a:lstStyle/>
          <a:p>
            <a:pPr indent="0" marL="0">
              <a:buNone/>
            </a:pPr>
            <a:r>
              <a:rPr lang="en-US" sz="1600" b="1" dirty="0">
                <a:solidFill>
                  <a:srgbClr val="141413"/>
                </a:solidFill>
                <a:latin typeface="Poppins" pitchFamily="34" charset="0"/>
                <a:ea typeface="Poppins" pitchFamily="34" charset="-122"/>
                <a:cs typeface="Poppins" pitchFamily="34" charset="-120"/>
              </a:rPr>
              <a:t>⚠️ Common Mistake</a:t>
            </a:r>
            <a:endParaRPr lang="en-US" sz="1600" dirty="0"/>
          </a:p>
        </p:txBody>
      </p:sp>
      <p:sp>
        <p:nvSpPr>
          <p:cNvPr id="8" name="Text 6"/>
          <p:cNvSpPr/>
          <p:nvPr/>
        </p:nvSpPr>
        <p:spPr>
          <a:xfrm>
            <a:off x="5212080" y="1965960"/>
            <a:ext cx="3291840" cy="731520"/>
          </a:xfrm>
          <a:prstGeom prst="rect">
            <a:avLst/>
          </a:prstGeom>
          <a:noFill/>
          <a:ln/>
        </p:spPr>
        <p:txBody>
          <a:bodyPr wrap="square" rtlCol="0" anchor="t"/>
          <a:lstStyle/>
          <a:p>
            <a:pPr indent="0" marL="0">
              <a:buNone/>
            </a:pPr>
            <a:r>
              <a:rPr lang="en-US" sz="1300" dirty="0">
                <a:solidFill>
                  <a:srgbClr val="141413"/>
                </a:solidFill>
                <a:latin typeface="Lora" pitchFamily="34" charset="0"/>
                <a:ea typeface="Lora" pitchFamily="34" charset="-122"/>
                <a:cs typeface="Lora" pitchFamily="34" charset="-120"/>
              </a:rPr>
              <a:t>ONLY plugin.json goes inside .claude-plugin/. All other directories must be at the plugin root level.</a:t>
            </a:r>
            <a:endParaRPr lang="en-US" sz="1300" dirty="0"/>
          </a:p>
        </p:txBody>
      </p:sp>
      <p:sp>
        <p:nvSpPr>
          <p:cNvPr id="9" name="Shape 7"/>
          <p:cNvSpPr/>
          <p:nvPr/>
        </p:nvSpPr>
        <p:spPr>
          <a:xfrm>
            <a:off x="5029200" y="3017520"/>
            <a:ext cx="3657600" cy="164592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10" name="Text 8"/>
          <p:cNvSpPr/>
          <p:nvPr/>
        </p:nvSpPr>
        <p:spPr>
          <a:xfrm>
            <a:off x="5212080" y="3154680"/>
            <a:ext cx="3291840" cy="274320"/>
          </a:xfrm>
          <a:prstGeom prst="rect">
            <a:avLst/>
          </a:prstGeom>
          <a:noFill/>
          <a:ln/>
        </p:spPr>
        <p:txBody>
          <a:bodyPr wrap="square" rtlCol="0" anchor="ctr"/>
          <a:lstStyle/>
          <a:p>
            <a:pPr indent="0" marL="0">
              <a:buNone/>
            </a:pPr>
            <a:r>
              <a:rPr lang="en-US" sz="1500" b="1" dirty="0">
                <a:solidFill>
                  <a:srgbClr val="141413"/>
                </a:solidFill>
                <a:latin typeface="Poppins" pitchFamily="34" charset="0"/>
                <a:ea typeface="Poppins" pitchFamily="34" charset="-122"/>
                <a:cs typeface="Poppins" pitchFamily="34" charset="-120"/>
              </a:rPr>
              <a:t>Plugin Manifest (plugin.json)</a:t>
            </a:r>
            <a:endParaRPr lang="en-US" sz="1500" dirty="0"/>
          </a:p>
        </p:txBody>
      </p:sp>
      <p:sp>
        <p:nvSpPr>
          <p:cNvPr id="11" name="Text 9"/>
          <p:cNvSpPr/>
          <p:nvPr/>
        </p:nvSpPr>
        <p:spPr>
          <a:xfrm>
            <a:off x="5212080" y="3474720"/>
            <a:ext cx="3291840" cy="1097280"/>
          </a:xfrm>
          <a:prstGeom prst="rect">
            <a:avLst/>
          </a:prstGeom>
          <a:noFill/>
          <a:ln/>
        </p:spPr>
        <p:txBody>
          <a:bodyPr wrap="square" rtlCol="0" anchor="ctr"/>
          <a:lstStyle/>
          <a:p>
            <a:pPr marL="342900" indent="-342900">
              <a:buSzPct val="100000"/>
              <a:buChar char="•"/>
            </a:pPr>
            <a:r>
              <a:rPr lang="en-US" sz="1100" dirty="0">
                <a:solidFill>
                  <a:srgbClr val="141413"/>
                </a:solidFill>
                <a:latin typeface="Lora" pitchFamily="34" charset="0"/>
                <a:ea typeface="Lora" pitchFamily="34" charset="-122"/>
                <a:cs typeface="Lora" pitchFamily="34" charset="-120"/>
              </a:rPr>
              <a:t>name: Unique ID &amp; namespace prefix</a:t>
            </a:r>
            <a:endParaRPr lang="en-US" sz="1100" dirty="0"/>
          </a:p>
          <a:p>
            <a:pPr marL="342900" indent="-342900">
              <a:buSzPct val="100000"/>
              <a:buChar char="•"/>
            </a:pPr>
            <a:r>
              <a:rPr lang="en-US" sz="1100" dirty="0">
                <a:solidFill>
                  <a:srgbClr val="141413"/>
                </a:solidFill>
                <a:latin typeface="Lora" pitchFamily="34" charset="0"/>
                <a:ea typeface="Lora" pitchFamily="34" charset="-122"/>
                <a:cs typeface="Lora" pitchFamily="34" charset="-120"/>
              </a:rPr>
              <a:t>description: Shown in plugin manager</a:t>
            </a:r>
            <a:endParaRPr lang="en-US" sz="1100" dirty="0"/>
          </a:p>
          <a:p>
            <a:pPr marL="342900" indent="-342900">
              <a:buSzPct val="100000"/>
              <a:buChar char="•"/>
            </a:pPr>
            <a:r>
              <a:rPr lang="en-US" sz="1100" dirty="0">
                <a:solidFill>
                  <a:srgbClr val="141413"/>
                </a:solidFill>
                <a:latin typeface="Lora" pitchFamily="34" charset="0"/>
                <a:ea typeface="Lora" pitchFamily="34" charset="-122"/>
                <a:cs typeface="Lora" pitchFamily="34" charset="-120"/>
              </a:rPr>
              <a:t>version: Semantic versioning (1.0.0)</a:t>
            </a:r>
            <a:endParaRPr lang="en-US" sz="1100" dirty="0"/>
          </a:p>
          <a:p>
            <a:pPr marL="342900" indent="-342900">
              <a:buSzPct val="100000"/>
              <a:buChar char="•"/>
            </a:pPr>
            <a:r>
              <a:rPr lang="en-US" sz="1100" dirty="0">
                <a:solidFill>
                  <a:srgbClr val="141413"/>
                </a:solidFill>
                <a:latin typeface="Lora" pitchFamily="34" charset="0"/>
                <a:ea typeface="Lora" pitchFamily="34" charset="-122"/>
                <a:cs typeface="Lora" pitchFamily="34" charset="-120"/>
              </a:rPr>
              <a:t>author: Optional attribution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Plugin Components</a:t>
            </a:r>
            <a:endParaRPr lang="en-US" sz="3200" dirty="0"/>
          </a:p>
        </p:txBody>
      </p:sp>
      <p:sp>
        <p:nvSpPr>
          <p:cNvPr id="3" name="Shape 1"/>
          <p:cNvSpPr/>
          <p:nvPr/>
        </p:nvSpPr>
        <p:spPr>
          <a:xfrm>
            <a:off x="457200" y="1097280"/>
            <a:ext cx="3886200" cy="182880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4" name="Shape 2"/>
          <p:cNvSpPr/>
          <p:nvPr/>
        </p:nvSpPr>
        <p:spPr>
          <a:xfrm>
            <a:off x="457200" y="1097280"/>
            <a:ext cx="3886200" cy="73152"/>
          </a:xfrm>
          <a:prstGeom prst="rect">
            <a:avLst/>
          </a:prstGeom>
          <a:solidFill>
            <a:srgbClr val="D97757"/>
          </a:solidFill>
          <a:ln/>
        </p:spPr>
      </p:sp>
      <p:pic>
        <p:nvPicPr>
          <p:cNvPr id="5" name="Image 0" descr="preencoded.png">    </p:cNvPr>
          <p:cNvPicPr>
            <a:picLocks noChangeAspect="1"/>
          </p:cNvPicPr>
          <p:nvPr/>
        </p:nvPicPr>
        <p:blipFill>
          <a:blip r:embed="rId1"/>
          <a:stretch>
            <a:fillRect/>
          </a:stretch>
        </p:blipFill>
        <p:spPr>
          <a:xfrm>
            <a:off x="731520" y="1371600"/>
            <a:ext cx="548640" cy="548640"/>
          </a:xfrm>
          <a:prstGeom prst="rect">
            <a:avLst/>
          </a:prstGeom>
        </p:spPr>
      </p:pic>
      <p:sp>
        <p:nvSpPr>
          <p:cNvPr id="6" name="Text 3"/>
          <p:cNvSpPr/>
          <p:nvPr/>
        </p:nvSpPr>
        <p:spPr>
          <a:xfrm>
            <a:off x="1463040" y="1371600"/>
            <a:ext cx="2651760" cy="548640"/>
          </a:xfrm>
          <a:prstGeom prst="rect">
            <a:avLst/>
          </a:prstGeom>
          <a:noFill/>
          <a:ln/>
        </p:spPr>
        <p:txBody>
          <a:bodyPr wrap="square" rtlCol="0" anchor="ctr"/>
          <a:lstStyle/>
          <a:p>
            <a:pPr indent="0" marL="0">
              <a:buNone/>
            </a:pPr>
            <a:r>
              <a:rPr lang="en-US" sz="1800" b="1" dirty="0">
                <a:solidFill>
                  <a:srgbClr val="141413"/>
                </a:solidFill>
                <a:latin typeface="Poppins" pitchFamily="34" charset="0"/>
                <a:ea typeface="Poppins" pitchFamily="34" charset="-122"/>
                <a:cs typeface="Poppins" pitchFamily="34" charset="-120"/>
              </a:rPr>
              <a:t>Commands</a:t>
            </a:r>
            <a:endParaRPr lang="en-US" sz="1800" dirty="0"/>
          </a:p>
        </p:txBody>
      </p:sp>
      <p:sp>
        <p:nvSpPr>
          <p:cNvPr id="7" name="Text 4"/>
          <p:cNvSpPr/>
          <p:nvPr/>
        </p:nvSpPr>
        <p:spPr>
          <a:xfrm>
            <a:off x="640080" y="2011680"/>
            <a:ext cx="3520440" cy="36576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User-invoked with slash syntax</a:t>
            </a:r>
            <a:endParaRPr lang="en-US" sz="1300" dirty="0"/>
          </a:p>
        </p:txBody>
      </p:sp>
      <p:sp>
        <p:nvSpPr>
          <p:cNvPr id="8" name="Text 5"/>
          <p:cNvSpPr/>
          <p:nvPr/>
        </p:nvSpPr>
        <p:spPr>
          <a:xfrm>
            <a:off x="640080" y="2423160"/>
            <a:ext cx="3520440" cy="320040"/>
          </a:xfrm>
          <a:prstGeom prst="rect">
            <a:avLst/>
          </a:prstGeom>
          <a:noFill/>
          <a:ln/>
        </p:spPr>
        <p:txBody>
          <a:bodyPr wrap="square" rtlCol="0" anchor="ctr"/>
          <a:lstStyle/>
          <a:p>
            <a:pPr indent="0" marL="0">
              <a:buNone/>
            </a:pPr>
            <a:r>
              <a:rPr lang="en-US" sz="1100" i="1" dirty="0">
                <a:solidFill>
                  <a:srgbClr val="B0AEA5"/>
                </a:solidFill>
                <a:latin typeface="Courier New" pitchFamily="34" charset="0"/>
                <a:ea typeface="Courier New" pitchFamily="34" charset="-122"/>
                <a:cs typeface="Courier New" pitchFamily="34" charset="-120"/>
              </a:rPr>
              <a:t>/plugin-name:hello</a:t>
            </a:r>
            <a:endParaRPr lang="en-US" sz="1100" dirty="0"/>
          </a:p>
        </p:txBody>
      </p:sp>
      <p:sp>
        <p:nvSpPr>
          <p:cNvPr id="9" name="Shape 6"/>
          <p:cNvSpPr/>
          <p:nvPr/>
        </p:nvSpPr>
        <p:spPr>
          <a:xfrm>
            <a:off x="4800600" y="1097280"/>
            <a:ext cx="3886200" cy="182880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10" name="Shape 7"/>
          <p:cNvSpPr/>
          <p:nvPr/>
        </p:nvSpPr>
        <p:spPr>
          <a:xfrm>
            <a:off x="4800600" y="1097280"/>
            <a:ext cx="3886200" cy="73152"/>
          </a:xfrm>
          <a:prstGeom prst="rect">
            <a:avLst/>
          </a:prstGeom>
          <a:solidFill>
            <a:srgbClr val="6A9BCC"/>
          </a:solidFill>
          <a:ln/>
        </p:spPr>
      </p:sp>
      <p:pic>
        <p:nvPicPr>
          <p:cNvPr id="11" name="Image 1" descr="preencoded.png">    </p:cNvPr>
          <p:cNvPicPr>
            <a:picLocks noChangeAspect="1"/>
          </p:cNvPicPr>
          <p:nvPr/>
        </p:nvPicPr>
        <p:blipFill>
          <a:blip r:embed="rId2"/>
          <a:stretch>
            <a:fillRect/>
          </a:stretch>
        </p:blipFill>
        <p:spPr>
          <a:xfrm>
            <a:off x="5074920" y="1371600"/>
            <a:ext cx="548640" cy="548640"/>
          </a:xfrm>
          <a:prstGeom prst="rect">
            <a:avLst/>
          </a:prstGeom>
        </p:spPr>
      </p:pic>
      <p:sp>
        <p:nvSpPr>
          <p:cNvPr id="12" name="Text 8"/>
          <p:cNvSpPr/>
          <p:nvPr/>
        </p:nvSpPr>
        <p:spPr>
          <a:xfrm>
            <a:off x="5806440" y="1371600"/>
            <a:ext cx="2651760" cy="548640"/>
          </a:xfrm>
          <a:prstGeom prst="rect">
            <a:avLst/>
          </a:prstGeom>
          <a:noFill/>
          <a:ln/>
        </p:spPr>
        <p:txBody>
          <a:bodyPr wrap="square" rtlCol="0" anchor="ctr"/>
          <a:lstStyle/>
          <a:p>
            <a:pPr indent="0" marL="0">
              <a:buNone/>
            </a:pPr>
            <a:r>
              <a:rPr lang="en-US" sz="1800" b="1" dirty="0">
                <a:solidFill>
                  <a:srgbClr val="141413"/>
                </a:solidFill>
                <a:latin typeface="Poppins" pitchFamily="34" charset="0"/>
                <a:ea typeface="Poppins" pitchFamily="34" charset="-122"/>
                <a:cs typeface="Poppins" pitchFamily="34" charset="-120"/>
              </a:rPr>
              <a:t>Skills</a:t>
            </a:r>
            <a:endParaRPr lang="en-US" sz="1800" dirty="0"/>
          </a:p>
        </p:txBody>
      </p:sp>
      <p:sp>
        <p:nvSpPr>
          <p:cNvPr id="13" name="Text 9"/>
          <p:cNvSpPr/>
          <p:nvPr/>
        </p:nvSpPr>
        <p:spPr>
          <a:xfrm>
            <a:off x="4983480" y="2011680"/>
            <a:ext cx="3520440" cy="36576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Model-invoked based on context</a:t>
            </a:r>
            <a:endParaRPr lang="en-US" sz="1300" dirty="0"/>
          </a:p>
        </p:txBody>
      </p:sp>
      <p:sp>
        <p:nvSpPr>
          <p:cNvPr id="14" name="Text 10"/>
          <p:cNvSpPr/>
          <p:nvPr/>
        </p:nvSpPr>
        <p:spPr>
          <a:xfrm>
            <a:off x="4983480" y="2423160"/>
            <a:ext cx="3520440" cy="320040"/>
          </a:xfrm>
          <a:prstGeom prst="rect">
            <a:avLst/>
          </a:prstGeom>
          <a:noFill/>
          <a:ln/>
        </p:spPr>
        <p:txBody>
          <a:bodyPr wrap="square" rtlCol="0" anchor="ctr"/>
          <a:lstStyle/>
          <a:p>
            <a:pPr indent="0" marL="0">
              <a:buNone/>
            </a:pPr>
            <a:r>
              <a:rPr lang="en-US" sz="1100" i="1" dirty="0">
                <a:solidFill>
                  <a:srgbClr val="B0AEA5"/>
                </a:solidFill>
                <a:latin typeface="Courier New" pitchFamily="34" charset="0"/>
                <a:ea typeface="Courier New" pitchFamily="34" charset="-122"/>
                <a:cs typeface="Courier New" pitchFamily="34" charset="-120"/>
              </a:rPr>
              <a:t>SKILL.md with frontmatter</a:t>
            </a:r>
            <a:endParaRPr lang="en-US" sz="1100" dirty="0"/>
          </a:p>
        </p:txBody>
      </p:sp>
      <p:sp>
        <p:nvSpPr>
          <p:cNvPr id="15" name="Shape 11"/>
          <p:cNvSpPr/>
          <p:nvPr/>
        </p:nvSpPr>
        <p:spPr>
          <a:xfrm>
            <a:off x="457200" y="3200400"/>
            <a:ext cx="3886200" cy="182880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16" name="Shape 12"/>
          <p:cNvSpPr/>
          <p:nvPr/>
        </p:nvSpPr>
        <p:spPr>
          <a:xfrm>
            <a:off x="457200" y="3200400"/>
            <a:ext cx="3886200" cy="73152"/>
          </a:xfrm>
          <a:prstGeom prst="rect">
            <a:avLst/>
          </a:prstGeom>
          <a:solidFill>
            <a:srgbClr val="788C5D"/>
          </a:solidFill>
          <a:ln/>
        </p:spPr>
      </p:sp>
      <p:pic>
        <p:nvPicPr>
          <p:cNvPr id="17" name="Image 2" descr="preencoded.png">    </p:cNvPr>
          <p:cNvPicPr>
            <a:picLocks noChangeAspect="1"/>
          </p:cNvPicPr>
          <p:nvPr/>
        </p:nvPicPr>
        <p:blipFill>
          <a:blip r:embed="rId3"/>
          <a:stretch>
            <a:fillRect/>
          </a:stretch>
        </p:blipFill>
        <p:spPr>
          <a:xfrm>
            <a:off x="731520" y="3474720"/>
            <a:ext cx="548640" cy="548640"/>
          </a:xfrm>
          <a:prstGeom prst="rect">
            <a:avLst/>
          </a:prstGeom>
        </p:spPr>
      </p:pic>
      <p:sp>
        <p:nvSpPr>
          <p:cNvPr id="18" name="Text 13"/>
          <p:cNvSpPr/>
          <p:nvPr/>
        </p:nvSpPr>
        <p:spPr>
          <a:xfrm>
            <a:off x="1463040" y="3474720"/>
            <a:ext cx="2651760" cy="548640"/>
          </a:xfrm>
          <a:prstGeom prst="rect">
            <a:avLst/>
          </a:prstGeom>
          <a:noFill/>
          <a:ln/>
        </p:spPr>
        <p:txBody>
          <a:bodyPr wrap="square" rtlCol="0" anchor="ctr"/>
          <a:lstStyle/>
          <a:p>
            <a:pPr indent="0" marL="0">
              <a:buNone/>
            </a:pPr>
            <a:r>
              <a:rPr lang="en-US" sz="1800" b="1" dirty="0">
                <a:solidFill>
                  <a:srgbClr val="141413"/>
                </a:solidFill>
                <a:latin typeface="Poppins" pitchFamily="34" charset="0"/>
                <a:ea typeface="Poppins" pitchFamily="34" charset="-122"/>
                <a:cs typeface="Poppins" pitchFamily="34" charset="-120"/>
              </a:rPr>
              <a:t>Agents</a:t>
            </a:r>
            <a:endParaRPr lang="en-US" sz="1800" dirty="0"/>
          </a:p>
        </p:txBody>
      </p:sp>
      <p:sp>
        <p:nvSpPr>
          <p:cNvPr id="19" name="Text 14"/>
          <p:cNvSpPr/>
          <p:nvPr/>
        </p:nvSpPr>
        <p:spPr>
          <a:xfrm>
            <a:off x="640080" y="4114800"/>
            <a:ext cx="3520440" cy="36576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Custom agent definitions</a:t>
            </a:r>
            <a:endParaRPr lang="en-US" sz="1300" dirty="0"/>
          </a:p>
        </p:txBody>
      </p:sp>
      <p:sp>
        <p:nvSpPr>
          <p:cNvPr id="20" name="Text 15"/>
          <p:cNvSpPr/>
          <p:nvPr/>
        </p:nvSpPr>
        <p:spPr>
          <a:xfrm>
            <a:off x="640080" y="4526280"/>
            <a:ext cx="3520440" cy="320040"/>
          </a:xfrm>
          <a:prstGeom prst="rect">
            <a:avLst/>
          </a:prstGeom>
          <a:noFill/>
          <a:ln/>
        </p:spPr>
        <p:txBody>
          <a:bodyPr wrap="square" rtlCol="0" anchor="ctr"/>
          <a:lstStyle/>
          <a:p>
            <a:pPr indent="0" marL="0">
              <a:buNone/>
            </a:pPr>
            <a:r>
              <a:rPr lang="en-US" sz="1100" i="1" dirty="0">
                <a:solidFill>
                  <a:srgbClr val="B0AEA5"/>
                </a:solidFill>
                <a:latin typeface="Courier New" pitchFamily="34" charset="0"/>
                <a:ea typeface="Courier New" pitchFamily="34" charset="-122"/>
                <a:cs typeface="Courier New" pitchFamily="34" charset="-120"/>
              </a:rPr>
              <a:t>agents/ directory</a:t>
            </a:r>
            <a:endParaRPr lang="en-US" sz="1100" dirty="0"/>
          </a:p>
        </p:txBody>
      </p:sp>
      <p:sp>
        <p:nvSpPr>
          <p:cNvPr id="21" name="Shape 16"/>
          <p:cNvSpPr/>
          <p:nvPr/>
        </p:nvSpPr>
        <p:spPr>
          <a:xfrm>
            <a:off x="4800600" y="3200400"/>
            <a:ext cx="3886200" cy="182880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22" name="Shape 17"/>
          <p:cNvSpPr/>
          <p:nvPr/>
        </p:nvSpPr>
        <p:spPr>
          <a:xfrm>
            <a:off x="4800600" y="3200400"/>
            <a:ext cx="3886200" cy="73152"/>
          </a:xfrm>
          <a:prstGeom prst="rect">
            <a:avLst/>
          </a:prstGeom>
          <a:solidFill>
            <a:srgbClr val="D97757"/>
          </a:solidFill>
          <a:ln/>
        </p:spPr>
      </p:sp>
      <p:pic>
        <p:nvPicPr>
          <p:cNvPr id="23" name="Image 3" descr="preencoded.png">    </p:cNvPr>
          <p:cNvPicPr>
            <a:picLocks noChangeAspect="1"/>
          </p:cNvPicPr>
          <p:nvPr/>
        </p:nvPicPr>
        <p:blipFill>
          <a:blip r:embed="rId4"/>
          <a:stretch>
            <a:fillRect/>
          </a:stretch>
        </p:blipFill>
        <p:spPr>
          <a:xfrm>
            <a:off x="5074920" y="3474720"/>
            <a:ext cx="548640" cy="548640"/>
          </a:xfrm>
          <a:prstGeom prst="rect">
            <a:avLst/>
          </a:prstGeom>
        </p:spPr>
      </p:pic>
      <p:sp>
        <p:nvSpPr>
          <p:cNvPr id="24" name="Text 18"/>
          <p:cNvSpPr/>
          <p:nvPr/>
        </p:nvSpPr>
        <p:spPr>
          <a:xfrm>
            <a:off x="5806440" y="3474720"/>
            <a:ext cx="2651760" cy="548640"/>
          </a:xfrm>
          <a:prstGeom prst="rect">
            <a:avLst/>
          </a:prstGeom>
          <a:noFill/>
          <a:ln/>
        </p:spPr>
        <p:txBody>
          <a:bodyPr wrap="square" rtlCol="0" anchor="ctr"/>
          <a:lstStyle/>
          <a:p>
            <a:pPr indent="0" marL="0">
              <a:buNone/>
            </a:pPr>
            <a:r>
              <a:rPr lang="en-US" sz="1800" b="1" dirty="0">
                <a:solidFill>
                  <a:srgbClr val="141413"/>
                </a:solidFill>
                <a:latin typeface="Poppins" pitchFamily="34" charset="0"/>
                <a:ea typeface="Poppins" pitchFamily="34" charset="-122"/>
                <a:cs typeface="Poppins" pitchFamily="34" charset="-120"/>
              </a:rPr>
              <a:t>Hooks</a:t>
            </a:r>
            <a:endParaRPr lang="en-US" sz="1800" dirty="0"/>
          </a:p>
        </p:txBody>
      </p:sp>
      <p:sp>
        <p:nvSpPr>
          <p:cNvPr id="25" name="Text 19"/>
          <p:cNvSpPr/>
          <p:nvPr/>
        </p:nvSpPr>
        <p:spPr>
          <a:xfrm>
            <a:off x="4983480" y="4114800"/>
            <a:ext cx="3520440" cy="36576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Event handlers for tool use</a:t>
            </a:r>
            <a:endParaRPr lang="en-US" sz="1300" dirty="0"/>
          </a:p>
        </p:txBody>
      </p:sp>
      <p:sp>
        <p:nvSpPr>
          <p:cNvPr id="26" name="Text 20"/>
          <p:cNvSpPr/>
          <p:nvPr/>
        </p:nvSpPr>
        <p:spPr>
          <a:xfrm>
            <a:off x="4983480" y="4526280"/>
            <a:ext cx="3520440" cy="320040"/>
          </a:xfrm>
          <a:prstGeom prst="rect">
            <a:avLst/>
          </a:prstGeom>
          <a:noFill/>
          <a:ln/>
        </p:spPr>
        <p:txBody>
          <a:bodyPr wrap="square" rtlCol="0" anchor="ctr"/>
          <a:lstStyle/>
          <a:p>
            <a:pPr indent="0" marL="0">
              <a:buNone/>
            </a:pPr>
            <a:r>
              <a:rPr lang="en-US" sz="1100" i="1" dirty="0">
                <a:solidFill>
                  <a:srgbClr val="B0AEA5"/>
                </a:solidFill>
                <a:latin typeface="Courier New" pitchFamily="34" charset="0"/>
                <a:ea typeface="Courier New" pitchFamily="34" charset="-122"/>
                <a:cs typeface="Courier New" pitchFamily="34" charset="-120"/>
              </a:rPr>
              <a:t>hooks/hooks.json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Lab: Creating Your First Plugin</a:t>
            </a:r>
            <a:endParaRPr lang="en-US" sz="3200" dirty="0"/>
          </a:p>
        </p:txBody>
      </p:sp>
      <p:pic>
        <p:nvPicPr>
          <p:cNvPr id="3" name="Image 0" descr="preencoded.png">    </p:cNvPr>
          <p:cNvPicPr>
            <a:picLocks noChangeAspect="1"/>
          </p:cNvPicPr>
          <p:nvPr/>
        </p:nvPicPr>
        <p:blipFill>
          <a:blip r:embed="rId1"/>
          <a:stretch>
            <a:fillRect/>
          </a:stretch>
        </p:blipFill>
        <p:spPr>
          <a:xfrm>
            <a:off x="457200" y="1005840"/>
            <a:ext cx="548640" cy="548640"/>
          </a:xfrm>
          <a:prstGeom prst="rect">
            <a:avLst/>
          </a:prstGeom>
        </p:spPr>
      </p:pic>
      <p:sp>
        <p:nvSpPr>
          <p:cNvPr id="4" name="Text 1"/>
          <p:cNvSpPr/>
          <p:nvPr/>
        </p:nvSpPr>
        <p:spPr>
          <a:xfrm>
            <a:off x="1188720" y="1005840"/>
            <a:ext cx="7315200" cy="548640"/>
          </a:xfrm>
          <a:prstGeom prst="rect">
            <a:avLst/>
          </a:prstGeom>
          <a:noFill/>
          <a:ln/>
        </p:spPr>
        <p:txBody>
          <a:bodyPr wrap="square" rtlCol="0" anchor="ctr"/>
          <a:lstStyle/>
          <a:p>
            <a:pPr indent="0" marL="0">
              <a:buNone/>
            </a:pPr>
            <a:r>
              <a:rPr lang="en-US" sz="2000" b="1" dirty="0">
                <a:solidFill>
                  <a:srgbClr val="141413"/>
                </a:solidFill>
                <a:latin typeface="Poppins" pitchFamily="34" charset="0"/>
                <a:ea typeface="Poppins" pitchFamily="34" charset="-122"/>
                <a:cs typeface="Poppins" pitchFamily="34" charset="-120"/>
              </a:rPr>
              <a:t>Build a Complete Plugin</a:t>
            </a:r>
            <a:endParaRPr lang="en-US" sz="2000" dirty="0"/>
          </a:p>
        </p:txBody>
      </p:sp>
      <p:sp>
        <p:nvSpPr>
          <p:cNvPr id="5" name="Shape 2"/>
          <p:cNvSpPr/>
          <p:nvPr/>
        </p:nvSpPr>
        <p:spPr>
          <a:xfrm>
            <a:off x="457200" y="1828800"/>
            <a:ext cx="411480" cy="411480"/>
          </a:xfrm>
          <a:prstGeom prst="ellipse">
            <a:avLst/>
          </a:prstGeom>
          <a:solidFill>
            <a:srgbClr val="6A9BCC"/>
          </a:solidFill>
          <a:ln/>
        </p:spPr>
      </p:sp>
      <p:sp>
        <p:nvSpPr>
          <p:cNvPr id="6" name="Text 3"/>
          <p:cNvSpPr/>
          <p:nvPr/>
        </p:nvSpPr>
        <p:spPr>
          <a:xfrm>
            <a:off x="457200" y="1828800"/>
            <a:ext cx="411480" cy="411480"/>
          </a:xfrm>
          <a:prstGeom prst="rect">
            <a:avLst/>
          </a:prstGeom>
          <a:noFill/>
          <a:ln/>
        </p:spPr>
        <p:txBody>
          <a:bodyPr wrap="square" rtlCol="0" anchor="ctr"/>
          <a:lstStyle/>
          <a:p>
            <a:pPr algn="ctr" indent="0" marL="0">
              <a:buNone/>
            </a:pPr>
            <a:r>
              <a:rPr lang="en-US" sz="1600" b="1" dirty="0">
                <a:solidFill>
                  <a:srgbClr val="FAF9F5"/>
                </a:solidFill>
                <a:latin typeface="Poppins" pitchFamily="34" charset="0"/>
                <a:ea typeface="Poppins" pitchFamily="34" charset="-122"/>
                <a:cs typeface="Poppins" pitchFamily="34" charset="-120"/>
              </a:rPr>
              <a:t>1</a:t>
            </a:r>
            <a:endParaRPr lang="en-US" sz="1600" dirty="0"/>
          </a:p>
        </p:txBody>
      </p:sp>
      <p:sp>
        <p:nvSpPr>
          <p:cNvPr id="7" name="Text 4"/>
          <p:cNvSpPr/>
          <p:nvPr/>
        </p:nvSpPr>
        <p:spPr>
          <a:xfrm>
            <a:off x="1005840" y="1828800"/>
            <a:ext cx="2286000" cy="411480"/>
          </a:xfrm>
          <a:prstGeom prst="rect">
            <a:avLst/>
          </a:prstGeom>
          <a:noFill/>
          <a:ln/>
        </p:spPr>
        <p:txBody>
          <a:bodyPr wrap="square" rtlCol="0" anchor="ctr"/>
          <a:lstStyle/>
          <a:p>
            <a:pPr indent="0" marL="0">
              <a:buNone/>
            </a:pPr>
            <a:r>
              <a:rPr lang="en-US" sz="1400" b="1" dirty="0">
                <a:solidFill>
                  <a:srgbClr val="141413"/>
                </a:solidFill>
                <a:latin typeface="Lora" pitchFamily="34" charset="0"/>
                <a:ea typeface="Lora" pitchFamily="34" charset="-122"/>
                <a:cs typeface="Lora" pitchFamily="34" charset="-120"/>
              </a:rPr>
              <a:t>Create directory</a:t>
            </a:r>
            <a:endParaRPr lang="en-US" sz="1400" dirty="0"/>
          </a:p>
        </p:txBody>
      </p:sp>
      <p:sp>
        <p:nvSpPr>
          <p:cNvPr id="8" name="Text 5"/>
          <p:cNvSpPr/>
          <p:nvPr/>
        </p:nvSpPr>
        <p:spPr>
          <a:xfrm>
            <a:off x="3474720" y="1828800"/>
            <a:ext cx="5212080" cy="411480"/>
          </a:xfrm>
          <a:prstGeom prst="rect">
            <a:avLst/>
          </a:prstGeom>
          <a:noFill/>
          <a:ln/>
        </p:spPr>
        <p:txBody>
          <a:bodyPr wrap="square" rtlCol="0" anchor="ctr"/>
          <a:lstStyle/>
          <a:p>
            <a:pPr indent="0" marL="0">
              <a:buNone/>
            </a:pPr>
            <a:r>
              <a:rPr lang="en-US" sz="1200" dirty="0">
                <a:solidFill>
                  <a:srgbClr val="B0AEA5"/>
                </a:solidFill>
                <a:latin typeface="Courier New" pitchFamily="34" charset="0"/>
                <a:ea typeface="Courier New" pitchFamily="34" charset="-122"/>
                <a:cs typeface="Courier New" pitchFamily="34" charset="-120"/>
              </a:rPr>
              <a:t>mkdir my-first-plugin</a:t>
            </a:r>
            <a:endParaRPr lang="en-US" sz="1200" dirty="0"/>
          </a:p>
        </p:txBody>
      </p:sp>
      <p:sp>
        <p:nvSpPr>
          <p:cNvPr id="9" name="Shape 6"/>
          <p:cNvSpPr/>
          <p:nvPr/>
        </p:nvSpPr>
        <p:spPr>
          <a:xfrm>
            <a:off x="457200" y="2377440"/>
            <a:ext cx="411480" cy="411480"/>
          </a:xfrm>
          <a:prstGeom prst="ellipse">
            <a:avLst/>
          </a:prstGeom>
          <a:solidFill>
            <a:srgbClr val="6A9BCC"/>
          </a:solidFill>
          <a:ln/>
        </p:spPr>
      </p:sp>
      <p:sp>
        <p:nvSpPr>
          <p:cNvPr id="10" name="Text 7"/>
          <p:cNvSpPr/>
          <p:nvPr/>
        </p:nvSpPr>
        <p:spPr>
          <a:xfrm>
            <a:off x="457200" y="2377440"/>
            <a:ext cx="411480" cy="411480"/>
          </a:xfrm>
          <a:prstGeom prst="rect">
            <a:avLst/>
          </a:prstGeom>
          <a:noFill/>
          <a:ln/>
        </p:spPr>
        <p:txBody>
          <a:bodyPr wrap="square" rtlCol="0" anchor="ctr"/>
          <a:lstStyle/>
          <a:p>
            <a:pPr algn="ctr" indent="0" marL="0">
              <a:buNone/>
            </a:pPr>
            <a:r>
              <a:rPr lang="en-US" sz="1600" b="1" dirty="0">
                <a:solidFill>
                  <a:srgbClr val="FAF9F5"/>
                </a:solidFill>
                <a:latin typeface="Poppins" pitchFamily="34" charset="0"/>
                <a:ea typeface="Poppins" pitchFamily="34" charset="-122"/>
                <a:cs typeface="Poppins" pitchFamily="34" charset="-120"/>
              </a:rPr>
              <a:t>2</a:t>
            </a:r>
            <a:endParaRPr lang="en-US" sz="1600" dirty="0"/>
          </a:p>
        </p:txBody>
      </p:sp>
      <p:sp>
        <p:nvSpPr>
          <p:cNvPr id="11" name="Text 8"/>
          <p:cNvSpPr/>
          <p:nvPr/>
        </p:nvSpPr>
        <p:spPr>
          <a:xfrm>
            <a:off x="1005840" y="2377440"/>
            <a:ext cx="2286000" cy="411480"/>
          </a:xfrm>
          <a:prstGeom prst="rect">
            <a:avLst/>
          </a:prstGeom>
          <a:noFill/>
          <a:ln/>
        </p:spPr>
        <p:txBody>
          <a:bodyPr wrap="square" rtlCol="0" anchor="ctr"/>
          <a:lstStyle/>
          <a:p>
            <a:pPr indent="0" marL="0">
              <a:buNone/>
            </a:pPr>
            <a:r>
              <a:rPr lang="en-US" sz="1400" b="1" dirty="0">
                <a:solidFill>
                  <a:srgbClr val="141413"/>
                </a:solidFill>
                <a:latin typeface="Lora" pitchFamily="34" charset="0"/>
                <a:ea typeface="Lora" pitchFamily="34" charset="-122"/>
                <a:cs typeface="Lora" pitchFamily="34" charset="-120"/>
              </a:rPr>
              <a:t>Add manifest</a:t>
            </a:r>
            <a:endParaRPr lang="en-US" sz="1400" dirty="0"/>
          </a:p>
        </p:txBody>
      </p:sp>
      <p:sp>
        <p:nvSpPr>
          <p:cNvPr id="12" name="Text 9"/>
          <p:cNvSpPr/>
          <p:nvPr/>
        </p:nvSpPr>
        <p:spPr>
          <a:xfrm>
            <a:off x="3474720" y="2377440"/>
            <a:ext cx="5212080" cy="411480"/>
          </a:xfrm>
          <a:prstGeom prst="rect">
            <a:avLst/>
          </a:prstGeom>
          <a:noFill/>
          <a:ln/>
        </p:spPr>
        <p:txBody>
          <a:bodyPr wrap="square" rtlCol="0" anchor="ctr"/>
          <a:lstStyle/>
          <a:p>
            <a:pPr indent="0" marL="0">
              <a:buNone/>
            </a:pPr>
            <a:r>
              <a:rPr lang="en-US" sz="1200" dirty="0">
                <a:solidFill>
                  <a:srgbClr val="B0AEA5"/>
                </a:solidFill>
                <a:latin typeface="Courier New" pitchFamily="34" charset="0"/>
                <a:ea typeface="Courier New" pitchFamily="34" charset="-122"/>
                <a:cs typeface="Courier New" pitchFamily="34" charset="-120"/>
              </a:rPr>
              <a:t>.claude-plugin/plugin.json</a:t>
            </a:r>
            <a:endParaRPr lang="en-US" sz="1200" dirty="0"/>
          </a:p>
        </p:txBody>
      </p:sp>
      <p:sp>
        <p:nvSpPr>
          <p:cNvPr id="13" name="Shape 10"/>
          <p:cNvSpPr/>
          <p:nvPr/>
        </p:nvSpPr>
        <p:spPr>
          <a:xfrm>
            <a:off x="457200" y="2926080"/>
            <a:ext cx="411480" cy="411480"/>
          </a:xfrm>
          <a:prstGeom prst="ellipse">
            <a:avLst/>
          </a:prstGeom>
          <a:solidFill>
            <a:srgbClr val="6A9BCC"/>
          </a:solidFill>
          <a:ln/>
        </p:spPr>
      </p:sp>
      <p:sp>
        <p:nvSpPr>
          <p:cNvPr id="14" name="Text 11"/>
          <p:cNvSpPr/>
          <p:nvPr/>
        </p:nvSpPr>
        <p:spPr>
          <a:xfrm>
            <a:off x="457200" y="2926080"/>
            <a:ext cx="411480" cy="411480"/>
          </a:xfrm>
          <a:prstGeom prst="rect">
            <a:avLst/>
          </a:prstGeom>
          <a:noFill/>
          <a:ln/>
        </p:spPr>
        <p:txBody>
          <a:bodyPr wrap="square" rtlCol="0" anchor="ctr"/>
          <a:lstStyle/>
          <a:p>
            <a:pPr algn="ctr" indent="0" marL="0">
              <a:buNone/>
            </a:pPr>
            <a:r>
              <a:rPr lang="en-US" sz="1600" b="1" dirty="0">
                <a:solidFill>
                  <a:srgbClr val="FAF9F5"/>
                </a:solidFill>
                <a:latin typeface="Poppins" pitchFamily="34" charset="0"/>
                <a:ea typeface="Poppins" pitchFamily="34" charset="-122"/>
                <a:cs typeface="Poppins" pitchFamily="34" charset="-120"/>
              </a:rPr>
              <a:t>3</a:t>
            </a:r>
            <a:endParaRPr lang="en-US" sz="1600" dirty="0"/>
          </a:p>
        </p:txBody>
      </p:sp>
      <p:sp>
        <p:nvSpPr>
          <p:cNvPr id="15" name="Text 12"/>
          <p:cNvSpPr/>
          <p:nvPr/>
        </p:nvSpPr>
        <p:spPr>
          <a:xfrm>
            <a:off x="1005840" y="2926080"/>
            <a:ext cx="2286000" cy="411480"/>
          </a:xfrm>
          <a:prstGeom prst="rect">
            <a:avLst/>
          </a:prstGeom>
          <a:noFill/>
          <a:ln/>
        </p:spPr>
        <p:txBody>
          <a:bodyPr wrap="square" rtlCol="0" anchor="ctr"/>
          <a:lstStyle/>
          <a:p>
            <a:pPr indent="0" marL="0">
              <a:buNone/>
            </a:pPr>
            <a:r>
              <a:rPr lang="en-US" sz="1400" b="1" dirty="0">
                <a:solidFill>
                  <a:srgbClr val="141413"/>
                </a:solidFill>
                <a:latin typeface="Lora" pitchFamily="34" charset="0"/>
                <a:ea typeface="Lora" pitchFamily="34" charset="-122"/>
                <a:cs typeface="Lora" pitchFamily="34" charset="-120"/>
              </a:rPr>
              <a:t>Create skill</a:t>
            </a:r>
            <a:endParaRPr lang="en-US" sz="1400" dirty="0"/>
          </a:p>
        </p:txBody>
      </p:sp>
      <p:sp>
        <p:nvSpPr>
          <p:cNvPr id="16" name="Text 13"/>
          <p:cNvSpPr/>
          <p:nvPr/>
        </p:nvSpPr>
        <p:spPr>
          <a:xfrm>
            <a:off x="3474720" y="2926080"/>
            <a:ext cx="5212080" cy="411480"/>
          </a:xfrm>
          <a:prstGeom prst="rect">
            <a:avLst/>
          </a:prstGeom>
          <a:noFill/>
          <a:ln/>
        </p:spPr>
        <p:txBody>
          <a:bodyPr wrap="square" rtlCol="0" anchor="ctr"/>
          <a:lstStyle/>
          <a:p>
            <a:pPr indent="0" marL="0">
              <a:buNone/>
            </a:pPr>
            <a:r>
              <a:rPr lang="en-US" sz="1200" dirty="0">
                <a:solidFill>
                  <a:srgbClr val="B0AEA5"/>
                </a:solidFill>
                <a:latin typeface="Courier New" pitchFamily="34" charset="0"/>
                <a:ea typeface="Courier New" pitchFamily="34" charset="-122"/>
                <a:cs typeface="Courier New" pitchFamily="34" charset="-120"/>
              </a:rPr>
              <a:t>skills/hello/SKILL.md</a:t>
            </a:r>
            <a:endParaRPr lang="en-US" sz="1200" dirty="0"/>
          </a:p>
        </p:txBody>
      </p:sp>
      <p:sp>
        <p:nvSpPr>
          <p:cNvPr id="17" name="Shape 14"/>
          <p:cNvSpPr/>
          <p:nvPr/>
        </p:nvSpPr>
        <p:spPr>
          <a:xfrm>
            <a:off x="457200" y="3474720"/>
            <a:ext cx="411480" cy="411480"/>
          </a:xfrm>
          <a:prstGeom prst="ellipse">
            <a:avLst/>
          </a:prstGeom>
          <a:solidFill>
            <a:srgbClr val="6A9BCC"/>
          </a:solidFill>
          <a:ln/>
        </p:spPr>
      </p:sp>
      <p:sp>
        <p:nvSpPr>
          <p:cNvPr id="18" name="Text 15"/>
          <p:cNvSpPr/>
          <p:nvPr/>
        </p:nvSpPr>
        <p:spPr>
          <a:xfrm>
            <a:off x="457200" y="3474720"/>
            <a:ext cx="411480" cy="411480"/>
          </a:xfrm>
          <a:prstGeom prst="rect">
            <a:avLst/>
          </a:prstGeom>
          <a:noFill/>
          <a:ln/>
        </p:spPr>
        <p:txBody>
          <a:bodyPr wrap="square" rtlCol="0" anchor="ctr"/>
          <a:lstStyle/>
          <a:p>
            <a:pPr algn="ctr" indent="0" marL="0">
              <a:buNone/>
            </a:pPr>
            <a:r>
              <a:rPr lang="en-US" sz="1600" b="1" dirty="0">
                <a:solidFill>
                  <a:srgbClr val="FAF9F5"/>
                </a:solidFill>
                <a:latin typeface="Poppins" pitchFamily="34" charset="0"/>
                <a:ea typeface="Poppins" pitchFamily="34" charset="-122"/>
                <a:cs typeface="Poppins" pitchFamily="34" charset="-120"/>
              </a:rPr>
              <a:t>4</a:t>
            </a:r>
            <a:endParaRPr lang="en-US" sz="1600" dirty="0"/>
          </a:p>
        </p:txBody>
      </p:sp>
      <p:sp>
        <p:nvSpPr>
          <p:cNvPr id="19" name="Text 16"/>
          <p:cNvSpPr/>
          <p:nvPr/>
        </p:nvSpPr>
        <p:spPr>
          <a:xfrm>
            <a:off x="1005840" y="3474720"/>
            <a:ext cx="2286000" cy="411480"/>
          </a:xfrm>
          <a:prstGeom prst="rect">
            <a:avLst/>
          </a:prstGeom>
          <a:noFill/>
          <a:ln/>
        </p:spPr>
        <p:txBody>
          <a:bodyPr wrap="square" rtlCol="0" anchor="ctr"/>
          <a:lstStyle/>
          <a:p>
            <a:pPr indent="0" marL="0">
              <a:buNone/>
            </a:pPr>
            <a:r>
              <a:rPr lang="en-US" sz="1400" b="1" dirty="0">
                <a:solidFill>
                  <a:srgbClr val="141413"/>
                </a:solidFill>
                <a:latin typeface="Lora" pitchFamily="34" charset="0"/>
                <a:ea typeface="Lora" pitchFamily="34" charset="-122"/>
                <a:cs typeface="Lora" pitchFamily="34" charset="-120"/>
              </a:rPr>
              <a:t>Test locally</a:t>
            </a:r>
            <a:endParaRPr lang="en-US" sz="1400" dirty="0"/>
          </a:p>
        </p:txBody>
      </p:sp>
      <p:sp>
        <p:nvSpPr>
          <p:cNvPr id="20" name="Text 17"/>
          <p:cNvSpPr/>
          <p:nvPr/>
        </p:nvSpPr>
        <p:spPr>
          <a:xfrm>
            <a:off x="3474720" y="3474720"/>
            <a:ext cx="5212080" cy="411480"/>
          </a:xfrm>
          <a:prstGeom prst="rect">
            <a:avLst/>
          </a:prstGeom>
          <a:noFill/>
          <a:ln/>
        </p:spPr>
        <p:txBody>
          <a:bodyPr wrap="square" rtlCol="0" anchor="ctr"/>
          <a:lstStyle/>
          <a:p>
            <a:pPr indent="0" marL="0">
              <a:buNone/>
            </a:pPr>
            <a:r>
              <a:rPr lang="en-US" sz="1200" dirty="0">
                <a:solidFill>
                  <a:srgbClr val="B0AEA5"/>
                </a:solidFill>
                <a:latin typeface="Courier New" pitchFamily="34" charset="0"/>
                <a:ea typeface="Courier New" pitchFamily="34" charset="-122"/>
                <a:cs typeface="Courier New" pitchFamily="34" charset="-120"/>
              </a:rPr>
              <a:t>claude --plugin-dir ./my-first-plugin</a:t>
            </a:r>
            <a:endParaRPr lang="en-US" sz="1200" dirty="0"/>
          </a:p>
        </p:txBody>
      </p:sp>
      <p:sp>
        <p:nvSpPr>
          <p:cNvPr id="21" name="Shape 18"/>
          <p:cNvSpPr/>
          <p:nvPr/>
        </p:nvSpPr>
        <p:spPr>
          <a:xfrm>
            <a:off x="457200" y="4023360"/>
            <a:ext cx="411480" cy="411480"/>
          </a:xfrm>
          <a:prstGeom prst="ellipse">
            <a:avLst/>
          </a:prstGeom>
          <a:solidFill>
            <a:srgbClr val="6A9BCC"/>
          </a:solidFill>
          <a:ln/>
        </p:spPr>
      </p:sp>
      <p:sp>
        <p:nvSpPr>
          <p:cNvPr id="22" name="Text 19"/>
          <p:cNvSpPr/>
          <p:nvPr/>
        </p:nvSpPr>
        <p:spPr>
          <a:xfrm>
            <a:off x="457200" y="4023360"/>
            <a:ext cx="411480" cy="411480"/>
          </a:xfrm>
          <a:prstGeom prst="rect">
            <a:avLst/>
          </a:prstGeom>
          <a:noFill/>
          <a:ln/>
        </p:spPr>
        <p:txBody>
          <a:bodyPr wrap="square" rtlCol="0" anchor="ctr"/>
          <a:lstStyle/>
          <a:p>
            <a:pPr algn="ctr" indent="0" marL="0">
              <a:buNone/>
            </a:pPr>
            <a:r>
              <a:rPr lang="en-US" sz="1600" b="1" dirty="0">
                <a:solidFill>
                  <a:srgbClr val="FAF9F5"/>
                </a:solidFill>
                <a:latin typeface="Poppins" pitchFamily="34" charset="0"/>
                <a:ea typeface="Poppins" pitchFamily="34" charset="-122"/>
                <a:cs typeface="Poppins" pitchFamily="34" charset="-120"/>
              </a:rPr>
              <a:t>5</a:t>
            </a:r>
            <a:endParaRPr lang="en-US" sz="1600" dirty="0"/>
          </a:p>
        </p:txBody>
      </p:sp>
      <p:sp>
        <p:nvSpPr>
          <p:cNvPr id="23" name="Text 20"/>
          <p:cNvSpPr/>
          <p:nvPr/>
        </p:nvSpPr>
        <p:spPr>
          <a:xfrm>
            <a:off x="1005840" y="4023360"/>
            <a:ext cx="2286000" cy="411480"/>
          </a:xfrm>
          <a:prstGeom prst="rect">
            <a:avLst/>
          </a:prstGeom>
          <a:noFill/>
          <a:ln/>
        </p:spPr>
        <p:txBody>
          <a:bodyPr wrap="square" rtlCol="0" anchor="ctr"/>
          <a:lstStyle/>
          <a:p>
            <a:pPr indent="0" marL="0">
              <a:buNone/>
            </a:pPr>
            <a:r>
              <a:rPr lang="en-US" sz="1400" b="1" dirty="0">
                <a:solidFill>
                  <a:srgbClr val="141413"/>
                </a:solidFill>
                <a:latin typeface="Lora" pitchFamily="34" charset="0"/>
                <a:ea typeface="Lora" pitchFamily="34" charset="-122"/>
                <a:cs typeface="Lora" pitchFamily="34" charset="-120"/>
              </a:rPr>
              <a:t>Add arguments</a:t>
            </a:r>
            <a:endParaRPr lang="en-US" sz="1400" dirty="0"/>
          </a:p>
        </p:txBody>
      </p:sp>
      <p:sp>
        <p:nvSpPr>
          <p:cNvPr id="24" name="Text 21"/>
          <p:cNvSpPr/>
          <p:nvPr/>
        </p:nvSpPr>
        <p:spPr>
          <a:xfrm>
            <a:off x="3474720" y="4023360"/>
            <a:ext cx="5212080" cy="411480"/>
          </a:xfrm>
          <a:prstGeom prst="rect">
            <a:avLst/>
          </a:prstGeom>
          <a:noFill/>
          <a:ln/>
        </p:spPr>
        <p:txBody>
          <a:bodyPr wrap="square" rtlCol="0" anchor="ctr"/>
          <a:lstStyle/>
          <a:p>
            <a:pPr indent="0" marL="0">
              <a:buNone/>
            </a:pPr>
            <a:r>
              <a:rPr lang="en-US" sz="1200" dirty="0">
                <a:solidFill>
                  <a:srgbClr val="B0AEA5"/>
                </a:solidFill>
                <a:latin typeface="Courier New" pitchFamily="34" charset="0"/>
                <a:ea typeface="Courier New" pitchFamily="34" charset="-122"/>
                <a:cs typeface="Courier New" pitchFamily="34" charset="-120"/>
              </a:rPr>
              <a:t>Use $ARGUMENTS placeholder</a:t>
            </a:r>
            <a:endParaRPr lang="en-US" sz="1200" dirty="0"/>
          </a:p>
        </p:txBody>
      </p:sp>
      <p:sp>
        <p:nvSpPr>
          <p:cNvPr id="25" name="Shape 22"/>
          <p:cNvSpPr/>
          <p:nvPr/>
        </p:nvSpPr>
        <p:spPr>
          <a:xfrm>
            <a:off x="457200" y="4663440"/>
            <a:ext cx="8229600" cy="365760"/>
          </a:xfrm>
          <a:prstGeom prst="rect">
            <a:avLst/>
          </a:prstGeom>
          <a:solidFill>
            <a:srgbClr val="788C5D"/>
          </a:solidFill>
          <a:ln/>
        </p:spPr>
      </p:sp>
      <p:sp>
        <p:nvSpPr>
          <p:cNvPr id="26" name="Text 23"/>
          <p:cNvSpPr/>
          <p:nvPr/>
        </p:nvSpPr>
        <p:spPr>
          <a:xfrm>
            <a:off x="640080" y="4663440"/>
            <a:ext cx="7863840" cy="36576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 Skills need frontmatter with description + instructions in markdown body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Module 8: Converting Configurations to Plugins</a:t>
            </a:r>
            <a:endParaRPr lang="en-US" sz="3200" dirty="0"/>
          </a:p>
        </p:txBody>
      </p:sp>
      <p:pic>
        <p:nvPicPr>
          <p:cNvPr id="3" name="Image 0" descr="preencoded.png">    </p:cNvPr>
          <p:cNvPicPr>
            <a:picLocks noChangeAspect="1"/>
          </p:cNvPicPr>
          <p:nvPr/>
        </p:nvPicPr>
        <p:blipFill>
          <a:blip r:embed="rId1"/>
          <a:stretch>
            <a:fillRect/>
          </a:stretch>
        </p:blipFill>
        <p:spPr>
          <a:xfrm>
            <a:off x="457200" y="1005840"/>
            <a:ext cx="548640" cy="548640"/>
          </a:xfrm>
          <a:prstGeom prst="rect">
            <a:avLst/>
          </a:prstGeom>
        </p:spPr>
      </p:pic>
      <p:sp>
        <p:nvSpPr>
          <p:cNvPr id="4" name="Text 1"/>
          <p:cNvSpPr/>
          <p:nvPr/>
        </p:nvSpPr>
        <p:spPr>
          <a:xfrm>
            <a:off x="1188720" y="1005840"/>
            <a:ext cx="7315200" cy="548640"/>
          </a:xfrm>
          <a:prstGeom prst="rect">
            <a:avLst/>
          </a:prstGeom>
          <a:noFill/>
          <a:ln/>
        </p:spPr>
        <p:txBody>
          <a:bodyPr wrap="square" rtlCol="0" anchor="ctr"/>
          <a:lstStyle/>
          <a:p>
            <a:pPr indent="0" marL="0">
              <a:buNone/>
            </a:pPr>
            <a:r>
              <a:rPr lang="en-US" sz="2000" b="1" dirty="0">
                <a:solidFill>
                  <a:srgbClr val="141413"/>
                </a:solidFill>
                <a:latin typeface="Poppins" pitchFamily="34" charset="0"/>
                <a:ea typeface="Poppins" pitchFamily="34" charset="-122"/>
                <a:cs typeface="Poppins" pitchFamily="34" charset="-120"/>
              </a:rPr>
              <a:t>Migration Workflow</a:t>
            </a:r>
            <a:endParaRPr lang="en-US" sz="2000" dirty="0"/>
          </a:p>
        </p:txBody>
      </p:sp>
      <p:sp>
        <p:nvSpPr>
          <p:cNvPr id="5" name="Shape 2"/>
          <p:cNvSpPr/>
          <p:nvPr/>
        </p:nvSpPr>
        <p:spPr>
          <a:xfrm>
            <a:off x="457200" y="1737360"/>
            <a:ext cx="3886200" cy="292608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6" name="Text 3"/>
          <p:cNvSpPr/>
          <p:nvPr/>
        </p:nvSpPr>
        <p:spPr>
          <a:xfrm>
            <a:off x="640080" y="1874520"/>
            <a:ext cx="3520440" cy="320040"/>
          </a:xfrm>
          <a:prstGeom prst="rect">
            <a:avLst/>
          </a:prstGeom>
          <a:noFill/>
          <a:ln/>
        </p:spPr>
        <p:txBody>
          <a:bodyPr wrap="square" rtlCol="0" anchor="ctr"/>
          <a:lstStyle/>
          <a:p>
            <a:pPr indent="0" marL="0">
              <a:buNone/>
            </a:pPr>
            <a:r>
              <a:rPr lang="en-US" sz="1600" b="1" dirty="0">
                <a:solidFill>
                  <a:srgbClr val="141413"/>
                </a:solidFill>
                <a:latin typeface="Poppins" pitchFamily="34" charset="0"/>
                <a:ea typeface="Poppins" pitchFamily="34" charset="-122"/>
                <a:cs typeface="Poppins" pitchFamily="34" charset="-120"/>
              </a:rPr>
              <a:t>Before: Standalone</a:t>
            </a:r>
            <a:endParaRPr lang="en-US" sz="1600" dirty="0"/>
          </a:p>
        </p:txBody>
      </p:sp>
      <p:sp>
        <p:nvSpPr>
          <p:cNvPr id="7" name="Text 4"/>
          <p:cNvSpPr/>
          <p:nvPr/>
        </p:nvSpPr>
        <p:spPr>
          <a:xfrm>
            <a:off x="640080" y="2286000"/>
            <a:ext cx="3520440" cy="2194560"/>
          </a:xfrm>
          <a:prstGeom prst="rect">
            <a:avLst/>
          </a:prstGeom>
          <a:noFill/>
          <a:ln/>
        </p:spPr>
        <p:txBody>
          <a:bodyPr wrap="square" rtlCol="0" anchor="ctr"/>
          <a:lstStyle/>
          <a:p>
            <a:pPr marL="342900" indent="-342900">
              <a:buSzPct val="100000"/>
              <a:buChar char="•"/>
            </a:pPr>
            <a:r>
              <a:rPr lang="en-US" sz="1300" dirty="0">
                <a:solidFill>
                  <a:srgbClr val="141413"/>
                </a:solidFill>
                <a:latin typeface="Lora" pitchFamily="34" charset="0"/>
                <a:ea typeface="Lora" pitchFamily="34" charset="-122"/>
                <a:cs typeface="Lora" pitchFamily="34" charset="-120"/>
              </a:rPr>
              <a:t>Only in one project</a:t>
            </a:r>
            <a:endParaRPr lang="en-US" sz="1300" dirty="0"/>
          </a:p>
          <a:p>
            <a:pPr marL="342900" indent="-342900">
              <a:buSzPct val="100000"/>
              <a:buChar char="•"/>
            </a:pPr>
            <a:r>
              <a:rPr lang="en-US" sz="1300" dirty="0">
                <a:solidFill>
                  <a:srgbClr val="141413"/>
                </a:solidFill>
                <a:latin typeface="Lora" pitchFamily="34" charset="0"/>
                <a:ea typeface="Lora" pitchFamily="34" charset="-122"/>
                <a:cs typeface="Lora" pitchFamily="34" charset="-120"/>
              </a:rPr>
              <a:t>Files in .claude/</a:t>
            </a:r>
            <a:endParaRPr lang="en-US" sz="1300" dirty="0"/>
          </a:p>
          <a:p>
            <a:pPr marL="342900" indent="-342900">
              <a:buSzPct val="100000"/>
              <a:buChar char="•"/>
            </a:pPr>
            <a:r>
              <a:rPr lang="en-US" sz="1300" dirty="0">
                <a:solidFill>
                  <a:srgbClr val="141413"/>
                </a:solidFill>
                <a:latin typeface="Lora" pitchFamily="34" charset="0"/>
                <a:ea typeface="Lora" pitchFamily="34" charset="-122"/>
                <a:cs typeface="Lora" pitchFamily="34" charset="-120"/>
              </a:rPr>
              <a:t>Hooks in settings.json</a:t>
            </a:r>
            <a:endParaRPr lang="en-US" sz="1300" dirty="0"/>
          </a:p>
          <a:p>
            <a:pPr marL="342900" indent="-342900">
              <a:buSzPct val="100000"/>
              <a:buChar char="•"/>
            </a:pPr>
            <a:r>
              <a:rPr lang="en-US" sz="1300" dirty="0">
                <a:solidFill>
                  <a:srgbClr val="141413"/>
                </a:solidFill>
                <a:latin typeface="Lora" pitchFamily="34" charset="0"/>
                <a:ea typeface="Lora" pitchFamily="34" charset="-122"/>
                <a:cs typeface="Lora" pitchFamily="34" charset="-120"/>
              </a:rPr>
              <a:t>Manual copy to share</a:t>
            </a:r>
            <a:endParaRPr lang="en-US" sz="1300" dirty="0"/>
          </a:p>
          <a:p>
            <a:pPr marL="342900" indent="-342900">
              <a:buSzPct val="100000"/>
              <a:buChar char="•"/>
            </a:pPr>
            <a:r>
              <a:rPr lang="en-US" sz="1300" dirty="0">
                <a:solidFill>
                  <a:srgbClr val="141413"/>
                </a:solidFill>
                <a:latin typeface="Lora" pitchFamily="34" charset="0"/>
                <a:ea typeface="Lora" pitchFamily="34" charset="-122"/>
                <a:cs typeface="Lora" pitchFamily="34" charset="-120"/>
              </a:rPr>
              <a:t>Short command names</a:t>
            </a:r>
            <a:endParaRPr lang="en-US" sz="1300" dirty="0"/>
          </a:p>
        </p:txBody>
      </p:sp>
      <p:sp>
        <p:nvSpPr>
          <p:cNvPr id="8" name="Shape 5"/>
          <p:cNvSpPr/>
          <p:nvPr/>
        </p:nvSpPr>
        <p:spPr>
          <a:xfrm>
            <a:off x="4800600" y="1737360"/>
            <a:ext cx="3886200" cy="292608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9" name="Text 6"/>
          <p:cNvSpPr/>
          <p:nvPr/>
        </p:nvSpPr>
        <p:spPr>
          <a:xfrm>
            <a:off x="4983480" y="1874520"/>
            <a:ext cx="3520440" cy="320040"/>
          </a:xfrm>
          <a:prstGeom prst="rect">
            <a:avLst/>
          </a:prstGeom>
          <a:noFill/>
          <a:ln/>
        </p:spPr>
        <p:txBody>
          <a:bodyPr wrap="square" rtlCol="0" anchor="ctr"/>
          <a:lstStyle/>
          <a:p>
            <a:pPr indent="0" marL="0">
              <a:buNone/>
            </a:pPr>
            <a:r>
              <a:rPr lang="en-US" sz="1600" b="1" dirty="0">
                <a:solidFill>
                  <a:srgbClr val="141413"/>
                </a:solidFill>
                <a:latin typeface="Poppins" pitchFamily="34" charset="0"/>
                <a:ea typeface="Poppins" pitchFamily="34" charset="-122"/>
                <a:cs typeface="Poppins" pitchFamily="34" charset="-120"/>
              </a:rPr>
              <a:t>After: Plugin</a:t>
            </a:r>
            <a:endParaRPr lang="en-US" sz="1600" dirty="0"/>
          </a:p>
        </p:txBody>
      </p:sp>
      <p:sp>
        <p:nvSpPr>
          <p:cNvPr id="10" name="Text 7"/>
          <p:cNvSpPr/>
          <p:nvPr/>
        </p:nvSpPr>
        <p:spPr>
          <a:xfrm>
            <a:off x="4983480" y="2286000"/>
            <a:ext cx="3520440" cy="2194560"/>
          </a:xfrm>
          <a:prstGeom prst="rect">
            <a:avLst/>
          </a:prstGeom>
          <a:noFill/>
          <a:ln/>
        </p:spPr>
        <p:txBody>
          <a:bodyPr wrap="square" rtlCol="0" anchor="ctr"/>
          <a:lstStyle/>
          <a:p>
            <a:pPr marL="342900" indent="-342900">
              <a:buSzPct val="100000"/>
              <a:buChar char="•"/>
            </a:pPr>
            <a:r>
              <a:rPr lang="en-US" sz="1300" dirty="0">
                <a:solidFill>
                  <a:srgbClr val="141413"/>
                </a:solidFill>
                <a:latin typeface="Lora" pitchFamily="34" charset="0"/>
                <a:ea typeface="Lora" pitchFamily="34" charset="-122"/>
                <a:cs typeface="Lora" pitchFamily="34" charset="-120"/>
              </a:rPr>
              <a:t>Shareable via marketplaces</a:t>
            </a:r>
            <a:endParaRPr lang="en-US" sz="1300" dirty="0"/>
          </a:p>
          <a:p>
            <a:pPr marL="342900" indent="-342900">
              <a:buSzPct val="100000"/>
              <a:buChar char="•"/>
            </a:pPr>
            <a:r>
              <a:rPr lang="en-US" sz="1300" dirty="0">
                <a:solidFill>
                  <a:srgbClr val="141413"/>
                </a:solidFill>
                <a:latin typeface="Lora" pitchFamily="34" charset="0"/>
                <a:ea typeface="Lora" pitchFamily="34" charset="-122"/>
                <a:cs typeface="Lora" pitchFamily="34" charset="-120"/>
              </a:rPr>
              <a:t>Files in plugin-name/</a:t>
            </a:r>
            <a:endParaRPr lang="en-US" sz="1300" dirty="0"/>
          </a:p>
          <a:p>
            <a:pPr marL="342900" indent="-342900">
              <a:buSzPct val="100000"/>
              <a:buChar char="•"/>
            </a:pPr>
            <a:r>
              <a:rPr lang="en-US" sz="1300" dirty="0">
                <a:solidFill>
                  <a:srgbClr val="141413"/>
                </a:solidFill>
                <a:latin typeface="Lora" pitchFamily="34" charset="0"/>
                <a:ea typeface="Lora" pitchFamily="34" charset="-122"/>
                <a:cs typeface="Lora" pitchFamily="34" charset="-120"/>
              </a:rPr>
              <a:t>Hooks in hooks/hooks.json</a:t>
            </a:r>
            <a:endParaRPr lang="en-US" sz="1300" dirty="0"/>
          </a:p>
          <a:p>
            <a:pPr marL="342900" indent="-342900">
              <a:buSzPct val="100000"/>
              <a:buChar char="•"/>
            </a:pPr>
            <a:r>
              <a:rPr lang="en-US" sz="1300" dirty="0">
                <a:solidFill>
                  <a:srgbClr val="141413"/>
                </a:solidFill>
                <a:latin typeface="Lora" pitchFamily="34" charset="0"/>
                <a:ea typeface="Lora" pitchFamily="34" charset="-122"/>
                <a:cs typeface="Lora" pitchFamily="34" charset="-120"/>
              </a:rPr>
              <a:t>Easy install command</a:t>
            </a:r>
            <a:endParaRPr lang="en-US" sz="1300" dirty="0"/>
          </a:p>
          <a:p>
            <a:pPr marL="342900" indent="-342900">
              <a:buSzPct val="100000"/>
              <a:buChar char="•"/>
            </a:pPr>
            <a:r>
              <a:rPr lang="en-US" sz="1300" dirty="0">
                <a:solidFill>
                  <a:srgbClr val="141413"/>
                </a:solidFill>
                <a:latin typeface="Lora" pitchFamily="34" charset="0"/>
                <a:ea typeface="Lora" pitchFamily="34" charset="-122"/>
                <a:cs typeface="Lora" pitchFamily="34" charset="-120"/>
              </a:rPr>
              <a:t>Namespaced commands</a:t>
            </a:r>
            <a:endParaRPr lang="en-US" sz="1300" dirty="0"/>
          </a:p>
        </p:txBody>
      </p:sp>
      <p:sp>
        <p:nvSpPr>
          <p:cNvPr id="11" name="Shape 8"/>
          <p:cNvSpPr/>
          <p:nvPr/>
        </p:nvSpPr>
        <p:spPr>
          <a:xfrm>
            <a:off x="4023360" y="2926080"/>
            <a:ext cx="914400" cy="457200"/>
          </a:xfrm>
          <a:prstGeom prst="rightArrow">
            <a:avLst/>
          </a:prstGeom>
          <a:solidFill>
            <a:srgbClr val="D97757"/>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Lab: Converting Hooks to Plugins</a:t>
            </a:r>
            <a:endParaRPr lang="en-US" sz="3200" dirty="0"/>
          </a:p>
        </p:txBody>
      </p:sp>
      <p:pic>
        <p:nvPicPr>
          <p:cNvPr id="3" name="Image 0" descr="preencoded.png">    </p:cNvPr>
          <p:cNvPicPr>
            <a:picLocks noChangeAspect="1"/>
          </p:cNvPicPr>
          <p:nvPr/>
        </p:nvPicPr>
        <p:blipFill>
          <a:blip r:embed="rId1"/>
          <a:stretch>
            <a:fillRect/>
          </a:stretch>
        </p:blipFill>
        <p:spPr>
          <a:xfrm>
            <a:off x="457200" y="1005840"/>
            <a:ext cx="548640" cy="548640"/>
          </a:xfrm>
          <a:prstGeom prst="rect">
            <a:avLst/>
          </a:prstGeom>
        </p:spPr>
      </p:pic>
      <p:sp>
        <p:nvSpPr>
          <p:cNvPr id="4" name="Text 1"/>
          <p:cNvSpPr/>
          <p:nvPr/>
        </p:nvSpPr>
        <p:spPr>
          <a:xfrm>
            <a:off x="1188720" y="1005840"/>
            <a:ext cx="7315200" cy="548640"/>
          </a:xfrm>
          <a:prstGeom prst="rect">
            <a:avLst/>
          </a:prstGeom>
          <a:noFill/>
          <a:ln/>
        </p:spPr>
        <p:txBody>
          <a:bodyPr wrap="square" rtlCol="0" anchor="ctr"/>
          <a:lstStyle/>
          <a:p>
            <a:pPr indent="0" marL="0">
              <a:buNone/>
            </a:pPr>
            <a:r>
              <a:rPr lang="en-US" sz="2000" b="1" dirty="0">
                <a:solidFill>
                  <a:srgbClr val="141413"/>
                </a:solidFill>
                <a:latin typeface="Poppins" pitchFamily="34" charset="0"/>
                <a:ea typeface="Poppins" pitchFamily="34" charset="-122"/>
                <a:cs typeface="Poppins" pitchFamily="34" charset="-120"/>
              </a:rPr>
              <a:t>Practical Migration Exercise</a:t>
            </a:r>
            <a:endParaRPr lang="en-US" sz="2000" dirty="0"/>
          </a:p>
        </p:txBody>
      </p:sp>
      <p:sp>
        <p:nvSpPr>
          <p:cNvPr id="5" name="Shape 2"/>
          <p:cNvSpPr/>
          <p:nvPr/>
        </p:nvSpPr>
        <p:spPr>
          <a:xfrm>
            <a:off x="457200" y="1783080"/>
            <a:ext cx="320040" cy="320040"/>
          </a:xfrm>
          <a:prstGeom prst="rect">
            <a:avLst/>
          </a:prstGeom>
          <a:solidFill>
            <a:srgbClr val="6A9BCC"/>
          </a:solidFill>
          <a:ln/>
        </p:spPr>
      </p:sp>
      <p:sp>
        <p:nvSpPr>
          <p:cNvPr id="6" name="Text 3"/>
          <p:cNvSpPr/>
          <p:nvPr/>
        </p:nvSpPr>
        <p:spPr>
          <a:xfrm>
            <a:off x="457200" y="1783080"/>
            <a:ext cx="320040" cy="320040"/>
          </a:xfrm>
          <a:prstGeom prst="rect">
            <a:avLst/>
          </a:prstGeom>
          <a:noFill/>
          <a:ln/>
        </p:spPr>
        <p:txBody>
          <a:bodyPr wrap="square" rtlCol="0" anchor="ctr"/>
          <a:lstStyle/>
          <a:p>
            <a:pPr algn="ctr" indent="0" marL="0">
              <a:buNone/>
            </a:pPr>
            <a:r>
              <a:rPr lang="en-US" sz="1400" b="1" dirty="0">
                <a:solidFill>
                  <a:srgbClr val="FAF9F5"/>
                </a:solidFill>
                <a:latin typeface="Poppins" pitchFamily="34" charset="0"/>
                <a:ea typeface="Poppins" pitchFamily="34" charset="-122"/>
                <a:cs typeface="Poppins" pitchFamily="34" charset="-120"/>
              </a:rPr>
              <a:t>1</a:t>
            </a:r>
            <a:endParaRPr lang="en-US" sz="1400" dirty="0"/>
          </a:p>
        </p:txBody>
      </p:sp>
      <p:sp>
        <p:nvSpPr>
          <p:cNvPr id="7" name="Text 4"/>
          <p:cNvSpPr/>
          <p:nvPr/>
        </p:nvSpPr>
        <p:spPr>
          <a:xfrm>
            <a:off x="914400" y="1783080"/>
            <a:ext cx="7772400" cy="32004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Create plugin structure with .claude-plugin/</a:t>
            </a:r>
            <a:endParaRPr lang="en-US" sz="1300" dirty="0"/>
          </a:p>
        </p:txBody>
      </p:sp>
      <p:sp>
        <p:nvSpPr>
          <p:cNvPr id="8" name="Shape 5"/>
          <p:cNvSpPr/>
          <p:nvPr/>
        </p:nvSpPr>
        <p:spPr>
          <a:xfrm>
            <a:off x="457200" y="2240280"/>
            <a:ext cx="320040" cy="320040"/>
          </a:xfrm>
          <a:prstGeom prst="rect">
            <a:avLst/>
          </a:prstGeom>
          <a:solidFill>
            <a:srgbClr val="6A9BCC"/>
          </a:solidFill>
          <a:ln/>
        </p:spPr>
      </p:sp>
      <p:sp>
        <p:nvSpPr>
          <p:cNvPr id="9" name="Text 6"/>
          <p:cNvSpPr/>
          <p:nvPr/>
        </p:nvSpPr>
        <p:spPr>
          <a:xfrm>
            <a:off x="457200" y="2240280"/>
            <a:ext cx="320040" cy="320040"/>
          </a:xfrm>
          <a:prstGeom prst="rect">
            <a:avLst/>
          </a:prstGeom>
          <a:noFill/>
          <a:ln/>
        </p:spPr>
        <p:txBody>
          <a:bodyPr wrap="square" rtlCol="0" anchor="ctr"/>
          <a:lstStyle/>
          <a:p>
            <a:pPr algn="ctr" indent="0" marL="0">
              <a:buNone/>
            </a:pPr>
            <a:r>
              <a:rPr lang="en-US" sz="1400" b="1" dirty="0">
                <a:solidFill>
                  <a:srgbClr val="FAF9F5"/>
                </a:solidFill>
                <a:latin typeface="Poppins" pitchFamily="34" charset="0"/>
                <a:ea typeface="Poppins" pitchFamily="34" charset="-122"/>
                <a:cs typeface="Poppins" pitchFamily="34" charset="-120"/>
              </a:rPr>
              <a:t>2</a:t>
            </a:r>
            <a:endParaRPr lang="en-US" sz="1400" dirty="0"/>
          </a:p>
        </p:txBody>
      </p:sp>
      <p:sp>
        <p:nvSpPr>
          <p:cNvPr id="10" name="Text 7"/>
          <p:cNvSpPr/>
          <p:nvPr/>
        </p:nvSpPr>
        <p:spPr>
          <a:xfrm>
            <a:off x="914400" y="2240280"/>
            <a:ext cx="7772400" cy="32004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Write plugin manifest (plugin.json)</a:t>
            </a:r>
            <a:endParaRPr lang="en-US" sz="1300" dirty="0"/>
          </a:p>
        </p:txBody>
      </p:sp>
      <p:sp>
        <p:nvSpPr>
          <p:cNvPr id="11" name="Shape 8"/>
          <p:cNvSpPr/>
          <p:nvPr/>
        </p:nvSpPr>
        <p:spPr>
          <a:xfrm>
            <a:off x="457200" y="2697480"/>
            <a:ext cx="320040" cy="320040"/>
          </a:xfrm>
          <a:prstGeom prst="rect">
            <a:avLst/>
          </a:prstGeom>
          <a:solidFill>
            <a:srgbClr val="6A9BCC"/>
          </a:solidFill>
          <a:ln/>
        </p:spPr>
      </p:sp>
      <p:sp>
        <p:nvSpPr>
          <p:cNvPr id="12" name="Text 9"/>
          <p:cNvSpPr/>
          <p:nvPr/>
        </p:nvSpPr>
        <p:spPr>
          <a:xfrm>
            <a:off x="457200" y="2697480"/>
            <a:ext cx="320040" cy="320040"/>
          </a:xfrm>
          <a:prstGeom prst="rect">
            <a:avLst/>
          </a:prstGeom>
          <a:noFill/>
          <a:ln/>
        </p:spPr>
        <p:txBody>
          <a:bodyPr wrap="square" rtlCol="0" anchor="ctr"/>
          <a:lstStyle/>
          <a:p>
            <a:pPr algn="ctr" indent="0" marL="0">
              <a:buNone/>
            </a:pPr>
            <a:r>
              <a:rPr lang="en-US" sz="1400" b="1" dirty="0">
                <a:solidFill>
                  <a:srgbClr val="FAF9F5"/>
                </a:solidFill>
                <a:latin typeface="Poppins" pitchFamily="34" charset="0"/>
                <a:ea typeface="Poppins" pitchFamily="34" charset="-122"/>
                <a:cs typeface="Poppins" pitchFamily="34" charset="-120"/>
              </a:rPr>
              <a:t>3</a:t>
            </a:r>
            <a:endParaRPr lang="en-US" sz="1400" dirty="0"/>
          </a:p>
        </p:txBody>
      </p:sp>
      <p:sp>
        <p:nvSpPr>
          <p:cNvPr id="13" name="Text 10"/>
          <p:cNvSpPr/>
          <p:nvPr/>
        </p:nvSpPr>
        <p:spPr>
          <a:xfrm>
            <a:off x="914400" y="2697480"/>
            <a:ext cx="7772400" cy="32004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Copy commands, skills, agents from .claude/</a:t>
            </a:r>
            <a:endParaRPr lang="en-US" sz="1300" dirty="0"/>
          </a:p>
        </p:txBody>
      </p:sp>
      <p:sp>
        <p:nvSpPr>
          <p:cNvPr id="14" name="Shape 11"/>
          <p:cNvSpPr/>
          <p:nvPr/>
        </p:nvSpPr>
        <p:spPr>
          <a:xfrm>
            <a:off x="457200" y="3154680"/>
            <a:ext cx="320040" cy="320040"/>
          </a:xfrm>
          <a:prstGeom prst="rect">
            <a:avLst/>
          </a:prstGeom>
          <a:solidFill>
            <a:srgbClr val="6A9BCC"/>
          </a:solidFill>
          <a:ln/>
        </p:spPr>
      </p:sp>
      <p:sp>
        <p:nvSpPr>
          <p:cNvPr id="15" name="Text 12"/>
          <p:cNvSpPr/>
          <p:nvPr/>
        </p:nvSpPr>
        <p:spPr>
          <a:xfrm>
            <a:off x="457200" y="3154680"/>
            <a:ext cx="320040" cy="320040"/>
          </a:xfrm>
          <a:prstGeom prst="rect">
            <a:avLst/>
          </a:prstGeom>
          <a:noFill/>
          <a:ln/>
        </p:spPr>
        <p:txBody>
          <a:bodyPr wrap="square" rtlCol="0" anchor="ctr"/>
          <a:lstStyle/>
          <a:p>
            <a:pPr algn="ctr" indent="0" marL="0">
              <a:buNone/>
            </a:pPr>
            <a:r>
              <a:rPr lang="en-US" sz="1400" b="1" dirty="0">
                <a:solidFill>
                  <a:srgbClr val="FAF9F5"/>
                </a:solidFill>
                <a:latin typeface="Poppins" pitchFamily="34" charset="0"/>
                <a:ea typeface="Poppins" pitchFamily="34" charset="-122"/>
                <a:cs typeface="Poppins" pitchFamily="34" charset="-120"/>
              </a:rPr>
              <a:t>4</a:t>
            </a:r>
            <a:endParaRPr lang="en-US" sz="1400" dirty="0"/>
          </a:p>
        </p:txBody>
      </p:sp>
      <p:sp>
        <p:nvSpPr>
          <p:cNvPr id="16" name="Text 13"/>
          <p:cNvSpPr/>
          <p:nvPr/>
        </p:nvSpPr>
        <p:spPr>
          <a:xfrm>
            <a:off x="914400" y="3154680"/>
            <a:ext cx="7772400" cy="32004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Create hooks/ directory</a:t>
            </a:r>
            <a:endParaRPr lang="en-US" sz="1300" dirty="0"/>
          </a:p>
        </p:txBody>
      </p:sp>
      <p:sp>
        <p:nvSpPr>
          <p:cNvPr id="17" name="Shape 14"/>
          <p:cNvSpPr/>
          <p:nvPr/>
        </p:nvSpPr>
        <p:spPr>
          <a:xfrm>
            <a:off x="457200" y="3611880"/>
            <a:ext cx="320040" cy="320040"/>
          </a:xfrm>
          <a:prstGeom prst="rect">
            <a:avLst/>
          </a:prstGeom>
          <a:solidFill>
            <a:srgbClr val="6A9BCC"/>
          </a:solidFill>
          <a:ln/>
        </p:spPr>
      </p:sp>
      <p:sp>
        <p:nvSpPr>
          <p:cNvPr id="18" name="Text 15"/>
          <p:cNvSpPr/>
          <p:nvPr/>
        </p:nvSpPr>
        <p:spPr>
          <a:xfrm>
            <a:off x="457200" y="3611880"/>
            <a:ext cx="320040" cy="320040"/>
          </a:xfrm>
          <a:prstGeom prst="rect">
            <a:avLst/>
          </a:prstGeom>
          <a:noFill/>
          <a:ln/>
        </p:spPr>
        <p:txBody>
          <a:bodyPr wrap="square" rtlCol="0" anchor="ctr"/>
          <a:lstStyle/>
          <a:p>
            <a:pPr algn="ctr" indent="0" marL="0">
              <a:buNone/>
            </a:pPr>
            <a:r>
              <a:rPr lang="en-US" sz="1400" b="1" dirty="0">
                <a:solidFill>
                  <a:srgbClr val="FAF9F5"/>
                </a:solidFill>
                <a:latin typeface="Poppins" pitchFamily="34" charset="0"/>
                <a:ea typeface="Poppins" pitchFamily="34" charset="-122"/>
                <a:cs typeface="Poppins" pitchFamily="34" charset="-120"/>
              </a:rPr>
              <a:t>5</a:t>
            </a:r>
            <a:endParaRPr lang="en-US" sz="1400" dirty="0"/>
          </a:p>
        </p:txBody>
      </p:sp>
      <p:sp>
        <p:nvSpPr>
          <p:cNvPr id="19" name="Text 16"/>
          <p:cNvSpPr/>
          <p:nvPr/>
        </p:nvSpPr>
        <p:spPr>
          <a:xfrm>
            <a:off x="914400" y="3611880"/>
            <a:ext cx="7772400" cy="32004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Extract hooks from settings.json → hooks.json</a:t>
            </a:r>
            <a:endParaRPr lang="en-US" sz="1300" dirty="0"/>
          </a:p>
        </p:txBody>
      </p:sp>
      <p:sp>
        <p:nvSpPr>
          <p:cNvPr id="20" name="Shape 17"/>
          <p:cNvSpPr/>
          <p:nvPr/>
        </p:nvSpPr>
        <p:spPr>
          <a:xfrm>
            <a:off x="457200" y="4069080"/>
            <a:ext cx="320040" cy="320040"/>
          </a:xfrm>
          <a:prstGeom prst="rect">
            <a:avLst/>
          </a:prstGeom>
          <a:solidFill>
            <a:srgbClr val="6A9BCC"/>
          </a:solidFill>
          <a:ln/>
        </p:spPr>
      </p:sp>
      <p:sp>
        <p:nvSpPr>
          <p:cNvPr id="21" name="Text 18"/>
          <p:cNvSpPr/>
          <p:nvPr/>
        </p:nvSpPr>
        <p:spPr>
          <a:xfrm>
            <a:off x="457200" y="4069080"/>
            <a:ext cx="320040" cy="320040"/>
          </a:xfrm>
          <a:prstGeom prst="rect">
            <a:avLst/>
          </a:prstGeom>
          <a:noFill/>
          <a:ln/>
        </p:spPr>
        <p:txBody>
          <a:bodyPr wrap="square" rtlCol="0" anchor="ctr"/>
          <a:lstStyle/>
          <a:p>
            <a:pPr algn="ctr" indent="0" marL="0">
              <a:buNone/>
            </a:pPr>
            <a:r>
              <a:rPr lang="en-US" sz="1400" b="1" dirty="0">
                <a:solidFill>
                  <a:srgbClr val="FAF9F5"/>
                </a:solidFill>
                <a:latin typeface="Poppins" pitchFamily="34" charset="0"/>
                <a:ea typeface="Poppins" pitchFamily="34" charset="-122"/>
                <a:cs typeface="Poppins" pitchFamily="34" charset="-120"/>
              </a:rPr>
              <a:t>6</a:t>
            </a:r>
            <a:endParaRPr lang="en-US" sz="1400" dirty="0"/>
          </a:p>
        </p:txBody>
      </p:sp>
      <p:sp>
        <p:nvSpPr>
          <p:cNvPr id="22" name="Text 19"/>
          <p:cNvSpPr/>
          <p:nvPr/>
        </p:nvSpPr>
        <p:spPr>
          <a:xfrm>
            <a:off x="914400" y="4069080"/>
            <a:ext cx="7772400" cy="32004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Test with claude --plugin-dir</a:t>
            </a:r>
            <a:endParaRPr lang="en-US" sz="1300" dirty="0"/>
          </a:p>
        </p:txBody>
      </p:sp>
      <p:sp>
        <p:nvSpPr>
          <p:cNvPr id="23" name="Shape 20"/>
          <p:cNvSpPr/>
          <p:nvPr/>
        </p:nvSpPr>
        <p:spPr>
          <a:xfrm>
            <a:off x="457200" y="4389120"/>
            <a:ext cx="8229600" cy="640080"/>
          </a:xfrm>
          <a:prstGeom prst="rect">
            <a:avLst/>
          </a:prstGeom>
          <a:solidFill>
            <a:srgbClr val="141413"/>
          </a:solidFill>
          <a:ln/>
        </p:spPr>
      </p:sp>
      <p:sp>
        <p:nvSpPr>
          <p:cNvPr id="24" name="Text 21"/>
          <p:cNvSpPr/>
          <p:nvPr/>
        </p:nvSpPr>
        <p:spPr>
          <a:xfrm>
            <a:off x="640080" y="4389120"/>
            <a:ext cx="7863840" cy="320040"/>
          </a:xfrm>
          <a:prstGeom prst="rect">
            <a:avLst/>
          </a:prstGeom>
          <a:noFill/>
          <a:ln/>
        </p:spPr>
        <p:txBody>
          <a:bodyPr wrap="square" rtlCol="0" anchor="ctr"/>
          <a:lstStyle/>
          <a:p>
            <a:pPr indent="0" marL="0">
              <a:buNone/>
            </a:pPr>
            <a:r>
              <a:rPr lang="en-US" sz="1300" dirty="0">
                <a:solidFill>
                  <a:srgbClr val="FAF9F5"/>
                </a:solidFill>
                <a:latin typeface="Lora" pitchFamily="34" charset="0"/>
                <a:ea typeface="Lora" pitchFamily="34" charset="-122"/>
                <a:cs typeface="Lora" pitchFamily="34" charset="-120"/>
              </a:rPr>
              <a:t>Hook receives JSON on stdin → use jq to extract fields</a:t>
            </a:r>
            <a:endParaRPr lang="en-US" sz="1300" dirty="0"/>
          </a:p>
        </p:txBody>
      </p:sp>
      <p:sp>
        <p:nvSpPr>
          <p:cNvPr id="25" name="Text 22"/>
          <p:cNvSpPr/>
          <p:nvPr/>
        </p:nvSpPr>
        <p:spPr>
          <a:xfrm>
            <a:off x="640080" y="4709160"/>
            <a:ext cx="7863840" cy="320040"/>
          </a:xfrm>
          <a:prstGeom prst="rect">
            <a:avLst/>
          </a:prstGeom>
          <a:noFill/>
          <a:ln/>
        </p:spPr>
        <p:txBody>
          <a:bodyPr wrap="square" rtlCol="0" anchor="ctr"/>
          <a:lstStyle/>
          <a:p>
            <a:pPr indent="0" marL="0">
              <a:buNone/>
            </a:pPr>
            <a:r>
              <a:rPr lang="en-US" sz="1100" dirty="0">
                <a:solidFill>
                  <a:srgbClr val="D97757"/>
                </a:solidFill>
                <a:latin typeface="Courier New" pitchFamily="34" charset="0"/>
                <a:ea typeface="Courier New" pitchFamily="34" charset="-122"/>
                <a:cs typeface="Courier New" pitchFamily="34" charset="-120"/>
              </a:rPr>
              <a:t>jq -r '.tool_input.file_path' | xargs npm run lint:fix</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Plugin Development Best Practices</a:t>
            </a:r>
            <a:endParaRPr lang="en-US" sz="3200" dirty="0"/>
          </a:p>
        </p:txBody>
      </p:sp>
      <p:sp>
        <p:nvSpPr>
          <p:cNvPr id="3" name="Shape 1"/>
          <p:cNvSpPr/>
          <p:nvPr/>
        </p:nvSpPr>
        <p:spPr>
          <a:xfrm>
            <a:off x="457200" y="1097280"/>
            <a:ext cx="3886200" cy="1280160"/>
          </a:xfrm>
          <a:prstGeom prst="rect">
            <a:avLst/>
          </a:prstGeom>
          <a:solidFill>
            <a:srgbClr val="E8E6DC"/>
          </a:solidFill>
          <a:ln/>
          <a:effectLst>
            <a:outerShdw sx="100000" sy="100000" kx="0" ky="0" algn="bl" rotWithShape="0" blurRad="76200" dist="25400" dir="8100000">
              <a:srgbClr val="000000">
                <a:alpha val="15000"/>
              </a:srgbClr>
            </a:outerShdw>
          </a:effectLst>
        </p:spPr>
      </p:sp>
      <p:pic>
        <p:nvPicPr>
          <p:cNvPr id="4" name="Image 0" descr="preencoded.png">    </p:cNvPr>
          <p:cNvPicPr>
            <a:picLocks noChangeAspect="1"/>
          </p:cNvPicPr>
          <p:nvPr/>
        </p:nvPicPr>
        <p:blipFill>
          <a:blip r:embed="rId1"/>
          <a:stretch>
            <a:fillRect/>
          </a:stretch>
        </p:blipFill>
        <p:spPr>
          <a:xfrm>
            <a:off x="731520" y="1417320"/>
            <a:ext cx="640080" cy="640080"/>
          </a:xfrm>
          <a:prstGeom prst="rect">
            <a:avLst/>
          </a:prstGeom>
        </p:spPr>
      </p:pic>
      <p:sp>
        <p:nvSpPr>
          <p:cNvPr id="5" name="Text 2"/>
          <p:cNvSpPr/>
          <p:nvPr/>
        </p:nvSpPr>
        <p:spPr>
          <a:xfrm>
            <a:off x="1554480" y="1280160"/>
            <a:ext cx="2560320" cy="365760"/>
          </a:xfrm>
          <a:prstGeom prst="rect">
            <a:avLst/>
          </a:prstGeom>
          <a:noFill/>
          <a:ln/>
        </p:spPr>
        <p:txBody>
          <a:bodyPr wrap="square" rtlCol="0" anchor="ctr"/>
          <a:lstStyle/>
          <a:p>
            <a:pPr indent="0" marL="0">
              <a:buNone/>
            </a:pPr>
            <a:r>
              <a:rPr lang="en-US" sz="1600" b="1" dirty="0">
                <a:solidFill>
                  <a:srgbClr val="141413"/>
                </a:solidFill>
                <a:latin typeface="Poppins" pitchFamily="34" charset="0"/>
                <a:ea typeface="Poppins" pitchFamily="34" charset="-122"/>
                <a:cs typeface="Poppins" pitchFamily="34" charset="-120"/>
              </a:rPr>
              <a:t>Start Standalone</a:t>
            </a:r>
            <a:endParaRPr lang="en-US" sz="1600" dirty="0"/>
          </a:p>
        </p:txBody>
      </p:sp>
      <p:sp>
        <p:nvSpPr>
          <p:cNvPr id="6" name="Text 3"/>
          <p:cNvSpPr/>
          <p:nvPr/>
        </p:nvSpPr>
        <p:spPr>
          <a:xfrm>
            <a:off x="1554480" y="1691640"/>
            <a:ext cx="2560320" cy="548640"/>
          </a:xfrm>
          <a:prstGeom prst="rect">
            <a:avLst/>
          </a:prstGeom>
          <a:noFill/>
          <a:ln/>
        </p:spPr>
        <p:txBody>
          <a:bodyPr wrap="square" rtlCol="0" anchor="t"/>
          <a:lstStyle/>
          <a:p>
            <a:pPr indent="0" marL="0">
              <a:buNone/>
            </a:pPr>
            <a:r>
              <a:rPr lang="en-US" sz="1200" dirty="0">
                <a:solidFill>
                  <a:srgbClr val="141413"/>
                </a:solidFill>
                <a:latin typeface="Lora" pitchFamily="34" charset="0"/>
                <a:ea typeface="Lora" pitchFamily="34" charset="-122"/>
                <a:cs typeface="Lora" pitchFamily="34" charset="-120"/>
              </a:rPr>
              <a:t>Rapid iteration with short names, convert when ready to share</a:t>
            </a:r>
            <a:endParaRPr lang="en-US" sz="1200" dirty="0"/>
          </a:p>
        </p:txBody>
      </p:sp>
      <p:sp>
        <p:nvSpPr>
          <p:cNvPr id="7" name="Shape 4"/>
          <p:cNvSpPr/>
          <p:nvPr/>
        </p:nvSpPr>
        <p:spPr>
          <a:xfrm>
            <a:off x="4800600" y="1097280"/>
            <a:ext cx="3886200" cy="1280160"/>
          </a:xfrm>
          <a:prstGeom prst="rect">
            <a:avLst/>
          </a:prstGeom>
          <a:solidFill>
            <a:srgbClr val="E8E6DC"/>
          </a:solidFill>
          <a:ln/>
          <a:effectLst>
            <a:outerShdw sx="100000" sy="100000" kx="0" ky="0" algn="bl" rotWithShape="0" blurRad="76200" dist="25400" dir="8100000">
              <a:srgbClr val="000000">
                <a:alpha val="15000"/>
              </a:srgbClr>
            </a:outerShdw>
          </a:effectLst>
        </p:spPr>
      </p:sp>
      <p:pic>
        <p:nvPicPr>
          <p:cNvPr id="8" name="Image 1" descr="preencoded.png">    </p:cNvPr>
          <p:cNvPicPr>
            <a:picLocks noChangeAspect="1"/>
          </p:cNvPicPr>
          <p:nvPr/>
        </p:nvPicPr>
        <p:blipFill>
          <a:blip r:embed="rId2"/>
          <a:stretch>
            <a:fillRect/>
          </a:stretch>
        </p:blipFill>
        <p:spPr>
          <a:xfrm>
            <a:off x="5074920" y="1417320"/>
            <a:ext cx="640080" cy="640080"/>
          </a:xfrm>
          <a:prstGeom prst="rect">
            <a:avLst/>
          </a:prstGeom>
        </p:spPr>
      </p:pic>
      <p:sp>
        <p:nvSpPr>
          <p:cNvPr id="9" name="Text 5"/>
          <p:cNvSpPr/>
          <p:nvPr/>
        </p:nvSpPr>
        <p:spPr>
          <a:xfrm>
            <a:off x="5897880" y="1280160"/>
            <a:ext cx="2560320" cy="365760"/>
          </a:xfrm>
          <a:prstGeom prst="rect">
            <a:avLst/>
          </a:prstGeom>
          <a:noFill/>
          <a:ln/>
        </p:spPr>
        <p:txBody>
          <a:bodyPr wrap="square" rtlCol="0" anchor="ctr"/>
          <a:lstStyle/>
          <a:p>
            <a:pPr indent="0" marL="0">
              <a:buNone/>
            </a:pPr>
            <a:r>
              <a:rPr lang="en-US" sz="1600" b="1" dirty="0">
                <a:solidFill>
                  <a:srgbClr val="141413"/>
                </a:solidFill>
                <a:latin typeface="Poppins" pitchFamily="34" charset="0"/>
                <a:ea typeface="Poppins" pitchFamily="34" charset="-122"/>
                <a:cs typeface="Poppins" pitchFamily="34" charset="-120"/>
              </a:rPr>
              <a:t>Test Thoroughly</a:t>
            </a:r>
            <a:endParaRPr lang="en-US" sz="1600" dirty="0"/>
          </a:p>
        </p:txBody>
      </p:sp>
      <p:sp>
        <p:nvSpPr>
          <p:cNvPr id="10" name="Text 6"/>
          <p:cNvSpPr/>
          <p:nvPr/>
        </p:nvSpPr>
        <p:spPr>
          <a:xfrm>
            <a:off x="5897880" y="1691640"/>
            <a:ext cx="2560320" cy="548640"/>
          </a:xfrm>
          <a:prstGeom prst="rect">
            <a:avLst/>
          </a:prstGeom>
          <a:noFill/>
          <a:ln/>
        </p:spPr>
        <p:txBody>
          <a:bodyPr wrap="square" rtlCol="0" anchor="t"/>
          <a:lstStyle/>
          <a:p>
            <a:pPr indent="0" marL="0">
              <a:buNone/>
            </a:pPr>
            <a:r>
              <a:rPr lang="en-US" sz="1200" dirty="0">
                <a:solidFill>
                  <a:srgbClr val="141413"/>
                </a:solidFill>
                <a:latin typeface="Lora" pitchFamily="34" charset="0"/>
                <a:ea typeface="Lora" pitchFamily="34" charset="-122"/>
                <a:cs typeface="Lora" pitchFamily="34" charset="-120"/>
              </a:rPr>
              <a:t>Use --plugin-dir flag for local testing before distribution</a:t>
            </a:r>
            <a:endParaRPr lang="en-US" sz="1200" dirty="0"/>
          </a:p>
        </p:txBody>
      </p:sp>
      <p:sp>
        <p:nvSpPr>
          <p:cNvPr id="11" name="Shape 7"/>
          <p:cNvSpPr/>
          <p:nvPr/>
        </p:nvSpPr>
        <p:spPr>
          <a:xfrm>
            <a:off x="457200" y="2560320"/>
            <a:ext cx="3886200" cy="1280160"/>
          </a:xfrm>
          <a:prstGeom prst="rect">
            <a:avLst/>
          </a:prstGeom>
          <a:solidFill>
            <a:srgbClr val="E8E6DC"/>
          </a:solidFill>
          <a:ln/>
          <a:effectLst>
            <a:outerShdw sx="100000" sy="100000" kx="0" ky="0" algn="bl" rotWithShape="0" blurRad="76200" dist="25400" dir="8100000">
              <a:srgbClr val="000000">
                <a:alpha val="15000"/>
              </a:srgbClr>
            </a:outerShdw>
          </a:effectLst>
        </p:spPr>
      </p:sp>
      <p:pic>
        <p:nvPicPr>
          <p:cNvPr id="12" name="Image 2" descr="preencoded.png">    </p:cNvPr>
          <p:cNvPicPr>
            <a:picLocks noChangeAspect="1"/>
          </p:cNvPicPr>
          <p:nvPr/>
        </p:nvPicPr>
        <p:blipFill>
          <a:blip r:embed="rId3"/>
          <a:stretch>
            <a:fillRect/>
          </a:stretch>
        </p:blipFill>
        <p:spPr>
          <a:xfrm>
            <a:off x="731520" y="2880360"/>
            <a:ext cx="640080" cy="640080"/>
          </a:xfrm>
          <a:prstGeom prst="rect">
            <a:avLst/>
          </a:prstGeom>
        </p:spPr>
      </p:pic>
      <p:sp>
        <p:nvSpPr>
          <p:cNvPr id="13" name="Text 8"/>
          <p:cNvSpPr/>
          <p:nvPr/>
        </p:nvSpPr>
        <p:spPr>
          <a:xfrm>
            <a:off x="1554480" y="2743200"/>
            <a:ext cx="2560320" cy="365760"/>
          </a:xfrm>
          <a:prstGeom prst="rect">
            <a:avLst/>
          </a:prstGeom>
          <a:noFill/>
          <a:ln/>
        </p:spPr>
        <p:txBody>
          <a:bodyPr wrap="square" rtlCol="0" anchor="ctr"/>
          <a:lstStyle/>
          <a:p>
            <a:pPr indent="0" marL="0">
              <a:buNone/>
            </a:pPr>
            <a:r>
              <a:rPr lang="en-US" sz="1600" b="1" dirty="0">
                <a:solidFill>
                  <a:srgbClr val="141413"/>
                </a:solidFill>
                <a:latin typeface="Poppins" pitchFamily="34" charset="0"/>
                <a:ea typeface="Poppins" pitchFamily="34" charset="-122"/>
                <a:cs typeface="Poppins" pitchFamily="34" charset="-120"/>
              </a:rPr>
              <a:t>Version Properly</a:t>
            </a:r>
            <a:endParaRPr lang="en-US" sz="1600" dirty="0"/>
          </a:p>
        </p:txBody>
      </p:sp>
      <p:sp>
        <p:nvSpPr>
          <p:cNvPr id="14" name="Text 9"/>
          <p:cNvSpPr/>
          <p:nvPr/>
        </p:nvSpPr>
        <p:spPr>
          <a:xfrm>
            <a:off x="1554480" y="3154680"/>
            <a:ext cx="2560320" cy="548640"/>
          </a:xfrm>
          <a:prstGeom prst="rect">
            <a:avLst/>
          </a:prstGeom>
          <a:noFill/>
          <a:ln/>
        </p:spPr>
        <p:txBody>
          <a:bodyPr wrap="square" rtlCol="0" anchor="t"/>
          <a:lstStyle/>
          <a:p>
            <a:pPr indent="0" marL="0">
              <a:buNone/>
            </a:pPr>
            <a:r>
              <a:rPr lang="en-US" sz="1200" dirty="0">
                <a:solidFill>
                  <a:srgbClr val="141413"/>
                </a:solidFill>
                <a:latin typeface="Lora" pitchFamily="34" charset="0"/>
                <a:ea typeface="Lora" pitchFamily="34" charset="-122"/>
                <a:cs typeface="Lora" pitchFamily="34" charset="-120"/>
              </a:rPr>
              <a:t>Follow semantic versioning (1.0.0) for update tracking</a:t>
            </a:r>
            <a:endParaRPr lang="en-US" sz="1200" dirty="0"/>
          </a:p>
        </p:txBody>
      </p:sp>
      <p:sp>
        <p:nvSpPr>
          <p:cNvPr id="15" name="Shape 10"/>
          <p:cNvSpPr/>
          <p:nvPr/>
        </p:nvSpPr>
        <p:spPr>
          <a:xfrm>
            <a:off x="4800600" y="2560320"/>
            <a:ext cx="3886200" cy="1280160"/>
          </a:xfrm>
          <a:prstGeom prst="rect">
            <a:avLst/>
          </a:prstGeom>
          <a:solidFill>
            <a:srgbClr val="E8E6DC"/>
          </a:solidFill>
          <a:ln/>
          <a:effectLst>
            <a:outerShdw sx="100000" sy="100000" kx="0" ky="0" algn="bl" rotWithShape="0" blurRad="76200" dist="25400" dir="8100000">
              <a:srgbClr val="000000">
                <a:alpha val="15000"/>
              </a:srgbClr>
            </a:outerShdw>
          </a:effectLst>
        </p:spPr>
      </p:sp>
      <p:pic>
        <p:nvPicPr>
          <p:cNvPr id="16" name="Image 3" descr="preencoded.png">    </p:cNvPr>
          <p:cNvPicPr>
            <a:picLocks noChangeAspect="1"/>
          </p:cNvPicPr>
          <p:nvPr/>
        </p:nvPicPr>
        <p:blipFill>
          <a:blip r:embed="rId4"/>
          <a:stretch>
            <a:fillRect/>
          </a:stretch>
        </p:blipFill>
        <p:spPr>
          <a:xfrm>
            <a:off x="5074920" y="2880360"/>
            <a:ext cx="640080" cy="640080"/>
          </a:xfrm>
          <a:prstGeom prst="rect">
            <a:avLst/>
          </a:prstGeom>
        </p:spPr>
      </p:pic>
      <p:sp>
        <p:nvSpPr>
          <p:cNvPr id="17" name="Text 11"/>
          <p:cNvSpPr/>
          <p:nvPr/>
        </p:nvSpPr>
        <p:spPr>
          <a:xfrm>
            <a:off x="5897880" y="2743200"/>
            <a:ext cx="2560320" cy="365760"/>
          </a:xfrm>
          <a:prstGeom prst="rect">
            <a:avLst/>
          </a:prstGeom>
          <a:noFill/>
          <a:ln/>
        </p:spPr>
        <p:txBody>
          <a:bodyPr wrap="square" rtlCol="0" anchor="ctr"/>
          <a:lstStyle/>
          <a:p>
            <a:pPr indent="0" marL="0">
              <a:buNone/>
            </a:pPr>
            <a:r>
              <a:rPr lang="en-US" sz="1600" b="1" dirty="0">
                <a:solidFill>
                  <a:srgbClr val="141413"/>
                </a:solidFill>
                <a:latin typeface="Poppins" pitchFamily="34" charset="0"/>
                <a:ea typeface="Poppins" pitchFamily="34" charset="-122"/>
                <a:cs typeface="Poppins" pitchFamily="34" charset="-120"/>
              </a:rPr>
              <a:t>Document Well</a:t>
            </a:r>
            <a:endParaRPr lang="en-US" sz="1600" dirty="0"/>
          </a:p>
        </p:txBody>
      </p:sp>
      <p:sp>
        <p:nvSpPr>
          <p:cNvPr id="18" name="Text 12"/>
          <p:cNvSpPr/>
          <p:nvPr/>
        </p:nvSpPr>
        <p:spPr>
          <a:xfrm>
            <a:off x="5897880" y="3154680"/>
            <a:ext cx="2560320" cy="548640"/>
          </a:xfrm>
          <a:prstGeom prst="rect">
            <a:avLst/>
          </a:prstGeom>
          <a:noFill/>
          <a:ln/>
        </p:spPr>
        <p:txBody>
          <a:bodyPr wrap="square" rtlCol="0" anchor="t"/>
          <a:lstStyle/>
          <a:p>
            <a:pPr indent="0" marL="0">
              <a:buNone/>
            </a:pPr>
            <a:r>
              <a:rPr lang="en-US" sz="1200" dirty="0">
                <a:solidFill>
                  <a:srgbClr val="141413"/>
                </a:solidFill>
                <a:latin typeface="Lora" pitchFamily="34" charset="0"/>
                <a:ea typeface="Lora" pitchFamily="34" charset="-122"/>
                <a:cs typeface="Lora" pitchFamily="34" charset="-120"/>
              </a:rPr>
              <a:t>Include README with installation steps and usage examples</a:t>
            </a:r>
            <a:endParaRPr lang="en-US" sz="1200" dirty="0"/>
          </a:p>
        </p:txBody>
      </p:sp>
      <p:sp>
        <p:nvSpPr>
          <p:cNvPr id="19" name="Shape 13"/>
          <p:cNvSpPr/>
          <p:nvPr/>
        </p:nvSpPr>
        <p:spPr>
          <a:xfrm>
            <a:off x="457200" y="4023360"/>
            <a:ext cx="3886200" cy="1280160"/>
          </a:xfrm>
          <a:prstGeom prst="rect">
            <a:avLst/>
          </a:prstGeom>
          <a:solidFill>
            <a:srgbClr val="E8E6DC"/>
          </a:solidFill>
          <a:ln/>
          <a:effectLst>
            <a:outerShdw sx="100000" sy="100000" kx="0" ky="0" algn="bl" rotWithShape="0" blurRad="76200" dist="25400" dir="8100000">
              <a:srgbClr val="000000">
                <a:alpha val="15000"/>
              </a:srgbClr>
            </a:outerShdw>
          </a:effectLst>
        </p:spPr>
      </p:sp>
      <p:pic>
        <p:nvPicPr>
          <p:cNvPr id="20" name="Image 4" descr="preencoded.png">    </p:cNvPr>
          <p:cNvPicPr>
            <a:picLocks noChangeAspect="1"/>
          </p:cNvPicPr>
          <p:nvPr/>
        </p:nvPicPr>
        <p:blipFill>
          <a:blip r:embed="rId5"/>
          <a:stretch>
            <a:fillRect/>
          </a:stretch>
        </p:blipFill>
        <p:spPr>
          <a:xfrm>
            <a:off x="731520" y="4343400"/>
            <a:ext cx="640080" cy="640080"/>
          </a:xfrm>
          <a:prstGeom prst="rect">
            <a:avLst/>
          </a:prstGeom>
        </p:spPr>
      </p:pic>
      <p:sp>
        <p:nvSpPr>
          <p:cNvPr id="21" name="Text 14"/>
          <p:cNvSpPr/>
          <p:nvPr/>
        </p:nvSpPr>
        <p:spPr>
          <a:xfrm>
            <a:off x="1554480" y="4206240"/>
            <a:ext cx="2560320" cy="365760"/>
          </a:xfrm>
          <a:prstGeom prst="rect">
            <a:avLst/>
          </a:prstGeom>
          <a:noFill/>
          <a:ln/>
        </p:spPr>
        <p:txBody>
          <a:bodyPr wrap="square" rtlCol="0" anchor="ctr"/>
          <a:lstStyle/>
          <a:p>
            <a:pPr indent="0" marL="0">
              <a:buNone/>
            </a:pPr>
            <a:r>
              <a:rPr lang="en-US" sz="1600" b="1" dirty="0">
                <a:solidFill>
                  <a:srgbClr val="141413"/>
                </a:solidFill>
                <a:latin typeface="Poppins" pitchFamily="34" charset="0"/>
                <a:ea typeface="Poppins" pitchFamily="34" charset="-122"/>
                <a:cs typeface="Poppins" pitchFamily="34" charset="-120"/>
              </a:rPr>
              <a:t>Respect Security</a:t>
            </a:r>
            <a:endParaRPr lang="en-US" sz="1600" dirty="0"/>
          </a:p>
        </p:txBody>
      </p:sp>
      <p:sp>
        <p:nvSpPr>
          <p:cNvPr id="22" name="Text 15"/>
          <p:cNvSpPr/>
          <p:nvPr/>
        </p:nvSpPr>
        <p:spPr>
          <a:xfrm>
            <a:off x="1554480" y="4617720"/>
            <a:ext cx="2560320" cy="548640"/>
          </a:xfrm>
          <a:prstGeom prst="rect">
            <a:avLst/>
          </a:prstGeom>
          <a:noFill/>
          <a:ln/>
        </p:spPr>
        <p:txBody>
          <a:bodyPr wrap="square" rtlCol="0" anchor="t"/>
          <a:lstStyle/>
          <a:p>
            <a:pPr indent="0" marL="0">
              <a:buNone/>
            </a:pPr>
            <a:r>
              <a:rPr lang="en-US" sz="1200" dirty="0">
                <a:solidFill>
                  <a:srgbClr val="141413"/>
                </a:solidFill>
                <a:latin typeface="Lora" pitchFamily="34" charset="0"/>
                <a:ea typeface="Lora" pitchFamily="34" charset="-122"/>
                <a:cs typeface="Lora" pitchFamily="34" charset="-120"/>
              </a:rPr>
              <a:t>Be transparent about what your plugin does and accesses</a:t>
            </a:r>
            <a:endParaRPr lang="en-US" sz="1200" dirty="0"/>
          </a:p>
        </p:txBody>
      </p:sp>
      <p:sp>
        <p:nvSpPr>
          <p:cNvPr id="23" name="Shape 16"/>
          <p:cNvSpPr/>
          <p:nvPr/>
        </p:nvSpPr>
        <p:spPr>
          <a:xfrm>
            <a:off x="4800600" y="4023360"/>
            <a:ext cx="3886200" cy="1280160"/>
          </a:xfrm>
          <a:prstGeom prst="rect">
            <a:avLst/>
          </a:prstGeom>
          <a:solidFill>
            <a:srgbClr val="E8E6DC"/>
          </a:solidFill>
          <a:ln/>
          <a:effectLst>
            <a:outerShdw sx="100000" sy="100000" kx="0" ky="0" algn="bl" rotWithShape="0" blurRad="76200" dist="25400" dir="8100000">
              <a:srgbClr val="000000">
                <a:alpha val="15000"/>
              </a:srgbClr>
            </a:outerShdw>
          </a:effectLst>
        </p:spPr>
      </p:sp>
      <p:pic>
        <p:nvPicPr>
          <p:cNvPr id="24" name="Image 5" descr="preencoded.png">    </p:cNvPr>
          <p:cNvPicPr>
            <a:picLocks noChangeAspect="1"/>
          </p:cNvPicPr>
          <p:nvPr/>
        </p:nvPicPr>
        <p:blipFill>
          <a:blip r:embed="rId6"/>
          <a:stretch>
            <a:fillRect/>
          </a:stretch>
        </p:blipFill>
        <p:spPr>
          <a:xfrm>
            <a:off x="5074920" y="4343400"/>
            <a:ext cx="640080" cy="640080"/>
          </a:xfrm>
          <a:prstGeom prst="rect">
            <a:avLst/>
          </a:prstGeom>
        </p:spPr>
      </p:pic>
      <p:sp>
        <p:nvSpPr>
          <p:cNvPr id="25" name="Text 17"/>
          <p:cNvSpPr/>
          <p:nvPr/>
        </p:nvSpPr>
        <p:spPr>
          <a:xfrm>
            <a:off x="5897880" y="4206240"/>
            <a:ext cx="2560320" cy="365760"/>
          </a:xfrm>
          <a:prstGeom prst="rect">
            <a:avLst/>
          </a:prstGeom>
          <a:noFill/>
          <a:ln/>
        </p:spPr>
        <p:txBody>
          <a:bodyPr wrap="square" rtlCol="0" anchor="ctr"/>
          <a:lstStyle/>
          <a:p>
            <a:pPr indent="0" marL="0">
              <a:buNone/>
            </a:pPr>
            <a:r>
              <a:rPr lang="en-US" sz="1600" b="1" dirty="0">
                <a:solidFill>
                  <a:srgbClr val="141413"/>
                </a:solidFill>
                <a:latin typeface="Poppins" pitchFamily="34" charset="0"/>
                <a:ea typeface="Poppins" pitchFamily="34" charset="-122"/>
                <a:cs typeface="Poppins" pitchFamily="34" charset="-120"/>
              </a:rPr>
              <a:t>Share Widely</a:t>
            </a:r>
            <a:endParaRPr lang="en-US" sz="1600" dirty="0"/>
          </a:p>
        </p:txBody>
      </p:sp>
      <p:sp>
        <p:nvSpPr>
          <p:cNvPr id="26" name="Text 18"/>
          <p:cNvSpPr/>
          <p:nvPr/>
        </p:nvSpPr>
        <p:spPr>
          <a:xfrm>
            <a:off x="5897880" y="4617720"/>
            <a:ext cx="2560320" cy="548640"/>
          </a:xfrm>
          <a:prstGeom prst="rect">
            <a:avLst/>
          </a:prstGeom>
          <a:noFill/>
          <a:ln/>
        </p:spPr>
        <p:txBody>
          <a:bodyPr wrap="square" rtlCol="0" anchor="t"/>
          <a:lstStyle/>
          <a:p>
            <a:pPr indent="0" marL="0">
              <a:buNone/>
            </a:pPr>
            <a:r>
              <a:rPr lang="en-US" sz="1200" dirty="0">
                <a:solidFill>
                  <a:srgbClr val="141413"/>
                </a:solidFill>
                <a:latin typeface="Lora" pitchFamily="34" charset="0"/>
                <a:ea typeface="Lora" pitchFamily="34" charset="-122"/>
                <a:cs typeface="Lora" pitchFamily="34" charset="-120"/>
              </a:rPr>
              <a:t>Distribute through marketplaces for easy team installation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Troubleshooting Common Issues</a:t>
            </a:r>
            <a:endParaRPr lang="en-US" sz="3200" dirty="0"/>
          </a:p>
        </p:txBody>
      </p:sp>
      <p:sp>
        <p:nvSpPr>
          <p:cNvPr id="3" name="Shape 1"/>
          <p:cNvSpPr/>
          <p:nvPr/>
        </p:nvSpPr>
        <p:spPr>
          <a:xfrm>
            <a:off x="457200" y="1188720"/>
            <a:ext cx="8229600" cy="77724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4" name="Text 2"/>
          <p:cNvSpPr/>
          <p:nvPr/>
        </p:nvSpPr>
        <p:spPr>
          <a:xfrm>
            <a:off x="640080" y="1325880"/>
            <a:ext cx="54864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5" name="Text 3"/>
          <p:cNvSpPr/>
          <p:nvPr/>
        </p:nvSpPr>
        <p:spPr>
          <a:xfrm>
            <a:off x="1371600" y="1325880"/>
            <a:ext cx="3200400" cy="502920"/>
          </a:xfrm>
          <a:prstGeom prst="rect">
            <a:avLst/>
          </a:prstGeom>
          <a:noFill/>
          <a:ln/>
        </p:spPr>
        <p:txBody>
          <a:bodyPr wrap="square" rtlCol="0" anchor="ctr"/>
          <a:lstStyle/>
          <a:p>
            <a:pPr indent="0" marL="0">
              <a:buNone/>
            </a:pPr>
            <a:r>
              <a:rPr lang="en-US" sz="1500" b="1" dirty="0">
                <a:solidFill>
                  <a:srgbClr val="141413"/>
                </a:solidFill>
                <a:latin typeface="Poppins" pitchFamily="34" charset="0"/>
                <a:ea typeface="Poppins" pitchFamily="34" charset="-122"/>
                <a:cs typeface="Poppins" pitchFamily="34" charset="-120"/>
              </a:rPr>
              <a:t>Plugin not loading</a:t>
            </a:r>
            <a:endParaRPr lang="en-US" sz="1500" dirty="0"/>
          </a:p>
        </p:txBody>
      </p:sp>
      <p:sp>
        <p:nvSpPr>
          <p:cNvPr id="6" name="Text 4"/>
          <p:cNvSpPr/>
          <p:nvPr/>
        </p:nvSpPr>
        <p:spPr>
          <a:xfrm>
            <a:off x="4663440" y="1325880"/>
            <a:ext cx="274320" cy="502920"/>
          </a:xfrm>
          <a:prstGeom prst="rect">
            <a:avLst/>
          </a:prstGeom>
          <a:noFill/>
          <a:ln/>
        </p:spPr>
        <p:txBody>
          <a:bodyPr wrap="square" rtlCol="0" anchor="ctr"/>
          <a:lstStyle/>
          <a:p>
            <a:pPr algn="ctr" indent="0" marL="0">
              <a:buNone/>
            </a:pPr>
            <a:r>
              <a:rPr lang="en-US" sz="2000" dirty="0">
                <a:solidFill>
                  <a:srgbClr val="D97757"/>
                </a:solidFill>
              </a:rPr>
              <a:t>→</a:t>
            </a:r>
            <a:endParaRPr lang="en-US" sz="2000" dirty="0"/>
          </a:p>
        </p:txBody>
      </p:sp>
      <p:sp>
        <p:nvSpPr>
          <p:cNvPr id="7" name="Text 5"/>
          <p:cNvSpPr/>
          <p:nvPr/>
        </p:nvSpPr>
        <p:spPr>
          <a:xfrm>
            <a:off x="5029200" y="1325880"/>
            <a:ext cx="3474720" cy="50292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Check directory structure - only plugin.json goes in .claude-plugin/</a:t>
            </a:r>
            <a:endParaRPr lang="en-US" sz="1300" dirty="0"/>
          </a:p>
        </p:txBody>
      </p:sp>
      <p:sp>
        <p:nvSpPr>
          <p:cNvPr id="8" name="Shape 6"/>
          <p:cNvSpPr/>
          <p:nvPr/>
        </p:nvSpPr>
        <p:spPr>
          <a:xfrm>
            <a:off x="457200" y="2103120"/>
            <a:ext cx="8229600" cy="77724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9" name="Text 7"/>
          <p:cNvSpPr/>
          <p:nvPr/>
        </p:nvSpPr>
        <p:spPr>
          <a:xfrm>
            <a:off x="640080" y="2240280"/>
            <a:ext cx="54864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1371600" y="2240280"/>
            <a:ext cx="3200400" cy="502920"/>
          </a:xfrm>
          <a:prstGeom prst="rect">
            <a:avLst/>
          </a:prstGeom>
          <a:noFill/>
          <a:ln/>
        </p:spPr>
        <p:txBody>
          <a:bodyPr wrap="square" rtlCol="0" anchor="ctr"/>
          <a:lstStyle/>
          <a:p>
            <a:pPr indent="0" marL="0">
              <a:buNone/>
            </a:pPr>
            <a:r>
              <a:rPr lang="en-US" sz="1500" b="1" dirty="0">
                <a:solidFill>
                  <a:srgbClr val="141413"/>
                </a:solidFill>
                <a:latin typeface="Poppins" pitchFamily="34" charset="0"/>
                <a:ea typeface="Poppins" pitchFamily="34" charset="-122"/>
                <a:cs typeface="Poppins" pitchFamily="34" charset="-120"/>
              </a:rPr>
              <a:t>Commands not appearing</a:t>
            </a:r>
            <a:endParaRPr lang="en-US" sz="1500" dirty="0"/>
          </a:p>
        </p:txBody>
      </p:sp>
      <p:sp>
        <p:nvSpPr>
          <p:cNvPr id="11" name="Text 9"/>
          <p:cNvSpPr/>
          <p:nvPr/>
        </p:nvSpPr>
        <p:spPr>
          <a:xfrm>
            <a:off x="4663440" y="2240280"/>
            <a:ext cx="274320" cy="502920"/>
          </a:xfrm>
          <a:prstGeom prst="rect">
            <a:avLst/>
          </a:prstGeom>
          <a:noFill/>
          <a:ln/>
        </p:spPr>
        <p:txBody>
          <a:bodyPr wrap="square" rtlCol="0" anchor="ctr"/>
          <a:lstStyle/>
          <a:p>
            <a:pPr algn="ctr" indent="0" marL="0">
              <a:buNone/>
            </a:pPr>
            <a:r>
              <a:rPr lang="en-US" sz="2000" dirty="0">
                <a:solidFill>
                  <a:srgbClr val="D97757"/>
                </a:solidFill>
              </a:rPr>
              <a:t>→</a:t>
            </a:r>
            <a:endParaRPr lang="en-US" sz="2000" dirty="0"/>
          </a:p>
        </p:txBody>
      </p:sp>
      <p:sp>
        <p:nvSpPr>
          <p:cNvPr id="12" name="Text 10"/>
          <p:cNvSpPr/>
          <p:nvPr/>
        </p:nvSpPr>
        <p:spPr>
          <a:xfrm>
            <a:off x="5029200" y="2240280"/>
            <a:ext cx="3474720" cy="50292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Verify commands/ is at plugin root, restart Claude Code to reload</a:t>
            </a:r>
            <a:endParaRPr lang="en-US" sz="1300" dirty="0"/>
          </a:p>
        </p:txBody>
      </p:sp>
      <p:sp>
        <p:nvSpPr>
          <p:cNvPr id="13" name="Shape 11"/>
          <p:cNvSpPr/>
          <p:nvPr/>
        </p:nvSpPr>
        <p:spPr>
          <a:xfrm>
            <a:off x="457200" y="3017520"/>
            <a:ext cx="8229600" cy="77724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14" name="Text 12"/>
          <p:cNvSpPr/>
          <p:nvPr/>
        </p:nvSpPr>
        <p:spPr>
          <a:xfrm>
            <a:off x="640080" y="3154680"/>
            <a:ext cx="54864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5" name="Text 13"/>
          <p:cNvSpPr/>
          <p:nvPr/>
        </p:nvSpPr>
        <p:spPr>
          <a:xfrm>
            <a:off x="1371600" y="3154680"/>
            <a:ext cx="3200400" cy="502920"/>
          </a:xfrm>
          <a:prstGeom prst="rect">
            <a:avLst/>
          </a:prstGeom>
          <a:noFill/>
          <a:ln/>
        </p:spPr>
        <p:txBody>
          <a:bodyPr wrap="square" rtlCol="0" anchor="ctr"/>
          <a:lstStyle/>
          <a:p>
            <a:pPr indent="0" marL="0">
              <a:buNone/>
            </a:pPr>
            <a:r>
              <a:rPr lang="en-US" sz="1500" b="1" dirty="0">
                <a:solidFill>
                  <a:srgbClr val="141413"/>
                </a:solidFill>
                <a:latin typeface="Poppins" pitchFamily="34" charset="0"/>
                <a:ea typeface="Poppins" pitchFamily="34" charset="-122"/>
                <a:cs typeface="Poppins" pitchFamily="34" charset="-120"/>
              </a:rPr>
              <a:t>Hooks not triggering</a:t>
            </a:r>
            <a:endParaRPr lang="en-US" sz="1500" dirty="0"/>
          </a:p>
        </p:txBody>
      </p:sp>
      <p:sp>
        <p:nvSpPr>
          <p:cNvPr id="16" name="Text 14"/>
          <p:cNvSpPr/>
          <p:nvPr/>
        </p:nvSpPr>
        <p:spPr>
          <a:xfrm>
            <a:off x="4663440" y="3154680"/>
            <a:ext cx="274320" cy="502920"/>
          </a:xfrm>
          <a:prstGeom prst="rect">
            <a:avLst/>
          </a:prstGeom>
          <a:noFill/>
          <a:ln/>
        </p:spPr>
        <p:txBody>
          <a:bodyPr wrap="square" rtlCol="0" anchor="ctr"/>
          <a:lstStyle/>
          <a:p>
            <a:pPr algn="ctr" indent="0" marL="0">
              <a:buNone/>
            </a:pPr>
            <a:r>
              <a:rPr lang="en-US" sz="2000" dirty="0">
                <a:solidFill>
                  <a:srgbClr val="D97757"/>
                </a:solidFill>
              </a:rPr>
              <a:t>→</a:t>
            </a:r>
            <a:endParaRPr lang="en-US" sz="2000" dirty="0"/>
          </a:p>
        </p:txBody>
      </p:sp>
      <p:sp>
        <p:nvSpPr>
          <p:cNvPr id="17" name="Text 15"/>
          <p:cNvSpPr/>
          <p:nvPr/>
        </p:nvSpPr>
        <p:spPr>
          <a:xfrm>
            <a:off x="5029200" y="3154680"/>
            <a:ext cx="3474720" cy="50292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Confirm hooks.json format and matcher patterns are correct</a:t>
            </a:r>
            <a:endParaRPr lang="en-US" sz="1300" dirty="0"/>
          </a:p>
        </p:txBody>
      </p:sp>
      <p:sp>
        <p:nvSpPr>
          <p:cNvPr id="18" name="Shape 16"/>
          <p:cNvSpPr/>
          <p:nvPr/>
        </p:nvSpPr>
        <p:spPr>
          <a:xfrm>
            <a:off x="457200" y="3931920"/>
            <a:ext cx="8229600" cy="777240"/>
          </a:xfrm>
          <a:prstGeom prst="rect">
            <a:avLst/>
          </a:prstGeom>
          <a:solidFill>
            <a:srgbClr val="E8E6DC"/>
          </a:solidFill>
          <a:ln/>
          <a:effectLst>
            <a:outerShdw sx="100000" sy="100000" kx="0" ky="0" algn="bl" rotWithShape="0" blurRad="76200" dist="25400" dir="8100000">
              <a:srgbClr val="000000">
                <a:alpha val="15000"/>
              </a:srgbClr>
            </a:outerShdw>
          </a:effectLst>
        </p:spPr>
      </p:sp>
      <p:sp>
        <p:nvSpPr>
          <p:cNvPr id="19" name="Text 17"/>
          <p:cNvSpPr/>
          <p:nvPr/>
        </p:nvSpPr>
        <p:spPr>
          <a:xfrm>
            <a:off x="640080" y="4069080"/>
            <a:ext cx="54864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0" name="Text 18"/>
          <p:cNvSpPr/>
          <p:nvPr/>
        </p:nvSpPr>
        <p:spPr>
          <a:xfrm>
            <a:off x="1371600" y="4069080"/>
            <a:ext cx="3200400" cy="502920"/>
          </a:xfrm>
          <a:prstGeom prst="rect">
            <a:avLst/>
          </a:prstGeom>
          <a:noFill/>
          <a:ln/>
        </p:spPr>
        <p:txBody>
          <a:bodyPr wrap="square" rtlCol="0" anchor="ctr"/>
          <a:lstStyle/>
          <a:p>
            <a:pPr indent="0" marL="0">
              <a:buNone/>
            </a:pPr>
            <a:r>
              <a:rPr lang="en-US" sz="1500" b="1" dirty="0">
                <a:solidFill>
                  <a:srgbClr val="141413"/>
                </a:solidFill>
                <a:latin typeface="Poppins" pitchFamily="34" charset="0"/>
                <a:ea typeface="Poppins" pitchFamily="34" charset="-122"/>
                <a:cs typeface="Poppins" pitchFamily="34" charset="-120"/>
              </a:rPr>
              <a:t>Namespace conflicts</a:t>
            </a:r>
            <a:endParaRPr lang="en-US" sz="1500" dirty="0"/>
          </a:p>
        </p:txBody>
      </p:sp>
      <p:sp>
        <p:nvSpPr>
          <p:cNvPr id="21" name="Text 19"/>
          <p:cNvSpPr/>
          <p:nvPr/>
        </p:nvSpPr>
        <p:spPr>
          <a:xfrm>
            <a:off x="4663440" y="4069080"/>
            <a:ext cx="274320" cy="502920"/>
          </a:xfrm>
          <a:prstGeom prst="rect">
            <a:avLst/>
          </a:prstGeom>
          <a:noFill/>
          <a:ln/>
        </p:spPr>
        <p:txBody>
          <a:bodyPr wrap="square" rtlCol="0" anchor="ctr"/>
          <a:lstStyle/>
          <a:p>
            <a:pPr algn="ctr" indent="0" marL="0">
              <a:buNone/>
            </a:pPr>
            <a:r>
              <a:rPr lang="en-US" sz="2000" dirty="0">
                <a:solidFill>
                  <a:srgbClr val="D97757"/>
                </a:solidFill>
              </a:rPr>
              <a:t>→</a:t>
            </a:r>
            <a:endParaRPr lang="en-US" sz="2000" dirty="0"/>
          </a:p>
        </p:txBody>
      </p:sp>
      <p:sp>
        <p:nvSpPr>
          <p:cNvPr id="22" name="Text 20"/>
          <p:cNvSpPr/>
          <p:nvPr/>
        </p:nvSpPr>
        <p:spPr>
          <a:xfrm>
            <a:off x="5029200" y="4069080"/>
            <a:ext cx="3474720" cy="50292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Each plugin needs a unique name field in plugin.json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200" b="1" dirty="0">
                <a:solidFill>
                  <a:srgbClr val="141413"/>
                </a:solidFill>
                <a:latin typeface="Poppins" pitchFamily="34" charset="0"/>
                <a:ea typeface="Poppins" pitchFamily="34" charset="-122"/>
                <a:cs typeface="Poppins" pitchFamily="34" charset="-120"/>
              </a:rPr>
              <a:t>Resources &amp; Next Steps</a:t>
            </a:r>
            <a:endParaRPr lang="en-US" sz="3200" dirty="0"/>
          </a:p>
        </p:txBody>
      </p:sp>
      <p:sp>
        <p:nvSpPr>
          <p:cNvPr id="3" name="Text 1"/>
          <p:cNvSpPr/>
          <p:nvPr/>
        </p:nvSpPr>
        <p:spPr>
          <a:xfrm>
            <a:off x="457200" y="1097280"/>
            <a:ext cx="8229600" cy="365760"/>
          </a:xfrm>
          <a:prstGeom prst="rect">
            <a:avLst/>
          </a:prstGeom>
          <a:noFill/>
          <a:ln/>
        </p:spPr>
        <p:txBody>
          <a:bodyPr wrap="square" rtlCol="0" anchor="ctr"/>
          <a:lstStyle/>
          <a:p>
            <a:pPr indent="0" marL="0">
              <a:buNone/>
            </a:pPr>
            <a:r>
              <a:rPr lang="en-US" sz="1800" b="1" dirty="0">
                <a:solidFill>
                  <a:srgbClr val="141413"/>
                </a:solidFill>
                <a:latin typeface="Poppins" pitchFamily="34" charset="0"/>
                <a:ea typeface="Poppins" pitchFamily="34" charset="-122"/>
                <a:cs typeface="Poppins" pitchFamily="34" charset="-120"/>
              </a:rPr>
              <a:t>Essential Documentation</a:t>
            </a:r>
            <a:endParaRPr lang="en-US" sz="1800" dirty="0"/>
          </a:p>
        </p:txBody>
      </p:sp>
      <p:sp>
        <p:nvSpPr>
          <p:cNvPr id="4" name="Text 2"/>
          <p:cNvSpPr/>
          <p:nvPr/>
        </p:nvSpPr>
        <p:spPr>
          <a:xfrm>
            <a:off x="457200" y="1645920"/>
            <a:ext cx="3657600" cy="320040"/>
          </a:xfrm>
          <a:prstGeom prst="rect">
            <a:avLst/>
          </a:prstGeom>
          <a:noFill/>
          <a:ln/>
        </p:spPr>
        <p:txBody>
          <a:bodyPr wrap="square" rtlCol="0" anchor="ctr"/>
          <a:lstStyle/>
          <a:p>
            <a:pPr indent="0" marL="0">
              <a:buNone/>
            </a:pPr>
            <a:r>
              <a:rPr lang="en-US" sz="1400" dirty="0">
                <a:solidFill>
                  <a:srgbClr val="141413"/>
                </a:solidFill>
                <a:latin typeface="Lora" pitchFamily="34" charset="0"/>
                <a:ea typeface="Lora" pitchFamily="34" charset="-122"/>
                <a:cs typeface="Lora" pitchFamily="34" charset="-120"/>
              </a:rPr>
              <a:t>Plugin Documentation</a:t>
            </a:r>
            <a:endParaRPr lang="en-US" sz="1400" dirty="0"/>
          </a:p>
        </p:txBody>
      </p:sp>
      <p:sp>
        <p:nvSpPr>
          <p:cNvPr id="5" name="Text 3"/>
          <p:cNvSpPr/>
          <p:nvPr/>
        </p:nvSpPr>
        <p:spPr>
          <a:xfrm>
            <a:off x="4297680" y="1645920"/>
            <a:ext cx="4389120" cy="320040"/>
          </a:xfrm>
          <a:prstGeom prst="rect">
            <a:avLst/>
          </a:prstGeom>
          <a:noFill/>
          <a:ln/>
        </p:spPr>
        <p:txBody>
          <a:bodyPr wrap="square" rtlCol="0" anchor="ctr"/>
          <a:lstStyle/>
          <a:p>
            <a:pPr indent="0" marL="0">
              <a:buNone/>
            </a:pPr>
            <a:r>
              <a:rPr lang="en-US" sz="1200" dirty="0">
                <a:solidFill>
                  <a:srgbClr val="6A9BCC"/>
                </a:solidFill>
                <a:latin typeface="Courier New" pitchFamily="34" charset="0"/>
                <a:ea typeface="Courier New" pitchFamily="34" charset="-122"/>
                <a:cs typeface="Courier New" pitchFamily="34" charset="-120"/>
              </a:rPr>
              <a:t>docs.claude.com/en/plugins</a:t>
            </a:r>
            <a:endParaRPr lang="en-US" sz="1200" dirty="0"/>
          </a:p>
        </p:txBody>
      </p:sp>
      <p:sp>
        <p:nvSpPr>
          <p:cNvPr id="6" name="Text 4"/>
          <p:cNvSpPr/>
          <p:nvPr/>
        </p:nvSpPr>
        <p:spPr>
          <a:xfrm>
            <a:off x="457200" y="2057400"/>
            <a:ext cx="3657600" cy="320040"/>
          </a:xfrm>
          <a:prstGeom prst="rect">
            <a:avLst/>
          </a:prstGeom>
          <a:noFill/>
          <a:ln/>
        </p:spPr>
        <p:txBody>
          <a:bodyPr wrap="square" rtlCol="0" anchor="ctr"/>
          <a:lstStyle/>
          <a:p>
            <a:pPr indent="0" marL="0">
              <a:buNone/>
            </a:pPr>
            <a:r>
              <a:rPr lang="en-US" sz="1400" dirty="0">
                <a:solidFill>
                  <a:srgbClr val="141413"/>
                </a:solidFill>
                <a:latin typeface="Lora" pitchFamily="34" charset="0"/>
                <a:ea typeface="Lora" pitchFamily="34" charset="-122"/>
                <a:cs typeface="Lora" pitchFamily="34" charset="-120"/>
              </a:rPr>
              <a:t>Plugin Reference</a:t>
            </a:r>
            <a:endParaRPr lang="en-US" sz="1400" dirty="0"/>
          </a:p>
        </p:txBody>
      </p:sp>
      <p:sp>
        <p:nvSpPr>
          <p:cNvPr id="7" name="Text 5"/>
          <p:cNvSpPr/>
          <p:nvPr/>
        </p:nvSpPr>
        <p:spPr>
          <a:xfrm>
            <a:off x="4297680" y="2057400"/>
            <a:ext cx="4389120" cy="320040"/>
          </a:xfrm>
          <a:prstGeom prst="rect">
            <a:avLst/>
          </a:prstGeom>
          <a:noFill/>
          <a:ln/>
        </p:spPr>
        <p:txBody>
          <a:bodyPr wrap="square" rtlCol="0" anchor="ctr"/>
          <a:lstStyle/>
          <a:p>
            <a:pPr indent="0" marL="0">
              <a:buNone/>
            </a:pPr>
            <a:r>
              <a:rPr lang="en-US" sz="1200" dirty="0">
                <a:solidFill>
                  <a:srgbClr val="6A9BCC"/>
                </a:solidFill>
                <a:latin typeface="Courier New" pitchFamily="34" charset="0"/>
                <a:ea typeface="Courier New" pitchFamily="34" charset="-122"/>
                <a:cs typeface="Courier New" pitchFamily="34" charset="-120"/>
              </a:rPr>
              <a:t>docs.claude.com/en/plugins-reference</a:t>
            </a:r>
            <a:endParaRPr lang="en-US" sz="1200" dirty="0"/>
          </a:p>
        </p:txBody>
      </p:sp>
      <p:sp>
        <p:nvSpPr>
          <p:cNvPr id="8" name="Text 6"/>
          <p:cNvSpPr/>
          <p:nvPr/>
        </p:nvSpPr>
        <p:spPr>
          <a:xfrm>
            <a:off x="457200" y="2468880"/>
            <a:ext cx="3657600" cy="320040"/>
          </a:xfrm>
          <a:prstGeom prst="rect">
            <a:avLst/>
          </a:prstGeom>
          <a:noFill/>
          <a:ln/>
        </p:spPr>
        <p:txBody>
          <a:bodyPr wrap="square" rtlCol="0" anchor="ctr"/>
          <a:lstStyle/>
          <a:p>
            <a:pPr indent="0" marL="0">
              <a:buNone/>
            </a:pPr>
            <a:r>
              <a:rPr lang="en-US" sz="1400" dirty="0">
                <a:solidFill>
                  <a:srgbClr val="141413"/>
                </a:solidFill>
                <a:latin typeface="Lora" pitchFamily="34" charset="0"/>
                <a:ea typeface="Lora" pitchFamily="34" charset="-122"/>
                <a:cs typeface="Lora" pitchFamily="34" charset="-120"/>
              </a:rPr>
              <a:t>Skills Documentation</a:t>
            </a:r>
            <a:endParaRPr lang="en-US" sz="1400" dirty="0"/>
          </a:p>
        </p:txBody>
      </p:sp>
      <p:sp>
        <p:nvSpPr>
          <p:cNvPr id="9" name="Text 7"/>
          <p:cNvSpPr/>
          <p:nvPr/>
        </p:nvSpPr>
        <p:spPr>
          <a:xfrm>
            <a:off x="4297680" y="2468880"/>
            <a:ext cx="4389120" cy="320040"/>
          </a:xfrm>
          <a:prstGeom prst="rect">
            <a:avLst/>
          </a:prstGeom>
          <a:noFill/>
          <a:ln/>
        </p:spPr>
        <p:txBody>
          <a:bodyPr wrap="square" rtlCol="0" anchor="ctr"/>
          <a:lstStyle/>
          <a:p>
            <a:pPr indent="0" marL="0">
              <a:buNone/>
            </a:pPr>
            <a:r>
              <a:rPr lang="en-US" sz="1200" dirty="0">
                <a:solidFill>
                  <a:srgbClr val="6A9BCC"/>
                </a:solidFill>
                <a:latin typeface="Courier New" pitchFamily="34" charset="0"/>
                <a:ea typeface="Courier New" pitchFamily="34" charset="-122"/>
                <a:cs typeface="Courier New" pitchFamily="34" charset="-120"/>
              </a:rPr>
              <a:t>docs.claude.com/en/skills</a:t>
            </a:r>
            <a:endParaRPr lang="en-US" sz="1200" dirty="0"/>
          </a:p>
        </p:txBody>
      </p:sp>
      <p:sp>
        <p:nvSpPr>
          <p:cNvPr id="10" name="Text 8"/>
          <p:cNvSpPr/>
          <p:nvPr/>
        </p:nvSpPr>
        <p:spPr>
          <a:xfrm>
            <a:off x="457200" y="2880360"/>
            <a:ext cx="3657600" cy="320040"/>
          </a:xfrm>
          <a:prstGeom prst="rect">
            <a:avLst/>
          </a:prstGeom>
          <a:noFill/>
          <a:ln/>
        </p:spPr>
        <p:txBody>
          <a:bodyPr wrap="square" rtlCol="0" anchor="ctr"/>
          <a:lstStyle/>
          <a:p>
            <a:pPr indent="0" marL="0">
              <a:buNone/>
            </a:pPr>
            <a:r>
              <a:rPr lang="en-US" sz="1400" dirty="0">
                <a:solidFill>
                  <a:srgbClr val="141413"/>
                </a:solidFill>
                <a:latin typeface="Lora" pitchFamily="34" charset="0"/>
                <a:ea typeface="Lora" pitchFamily="34" charset="-122"/>
                <a:cs typeface="Lora" pitchFamily="34" charset="-120"/>
              </a:rPr>
              <a:t>MCP Documentation</a:t>
            </a:r>
            <a:endParaRPr lang="en-US" sz="1400" dirty="0"/>
          </a:p>
        </p:txBody>
      </p:sp>
      <p:sp>
        <p:nvSpPr>
          <p:cNvPr id="11" name="Text 9"/>
          <p:cNvSpPr/>
          <p:nvPr/>
        </p:nvSpPr>
        <p:spPr>
          <a:xfrm>
            <a:off x="4297680" y="2880360"/>
            <a:ext cx="4389120" cy="320040"/>
          </a:xfrm>
          <a:prstGeom prst="rect">
            <a:avLst/>
          </a:prstGeom>
          <a:noFill/>
          <a:ln/>
        </p:spPr>
        <p:txBody>
          <a:bodyPr wrap="square" rtlCol="0" anchor="ctr"/>
          <a:lstStyle/>
          <a:p>
            <a:pPr indent="0" marL="0">
              <a:buNone/>
            </a:pPr>
            <a:r>
              <a:rPr lang="en-US" sz="1200" dirty="0">
                <a:solidFill>
                  <a:srgbClr val="6A9BCC"/>
                </a:solidFill>
                <a:latin typeface="Courier New" pitchFamily="34" charset="0"/>
                <a:ea typeface="Courier New" pitchFamily="34" charset="-122"/>
                <a:cs typeface="Courier New" pitchFamily="34" charset="-120"/>
              </a:rPr>
              <a:t>docs.anthropic.com/mcp</a:t>
            </a:r>
            <a:endParaRPr lang="en-US" sz="1200" dirty="0"/>
          </a:p>
        </p:txBody>
      </p:sp>
      <p:sp>
        <p:nvSpPr>
          <p:cNvPr id="12" name="Text 10"/>
          <p:cNvSpPr/>
          <p:nvPr/>
        </p:nvSpPr>
        <p:spPr>
          <a:xfrm>
            <a:off x="457200" y="3383280"/>
            <a:ext cx="8229600" cy="365760"/>
          </a:xfrm>
          <a:prstGeom prst="rect">
            <a:avLst/>
          </a:prstGeom>
          <a:noFill/>
          <a:ln/>
        </p:spPr>
        <p:txBody>
          <a:bodyPr wrap="square" rtlCol="0" anchor="ctr"/>
          <a:lstStyle/>
          <a:p>
            <a:pPr indent="0" marL="0">
              <a:buNone/>
            </a:pPr>
            <a:r>
              <a:rPr lang="en-US" sz="1800" b="1" dirty="0">
                <a:solidFill>
                  <a:srgbClr val="141413"/>
                </a:solidFill>
                <a:latin typeface="Poppins" pitchFamily="34" charset="0"/>
                <a:ea typeface="Poppins" pitchFamily="34" charset="-122"/>
                <a:cs typeface="Poppins" pitchFamily="34" charset="-120"/>
              </a:rPr>
              <a:t>Your Plugin Journey</a:t>
            </a:r>
            <a:endParaRPr lang="en-US" sz="1800" dirty="0"/>
          </a:p>
        </p:txBody>
      </p:sp>
      <p:sp>
        <p:nvSpPr>
          <p:cNvPr id="13" name="Shape 11"/>
          <p:cNvSpPr/>
          <p:nvPr/>
        </p:nvSpPr>
        <p:spPr>
          <a:xfrm>
            <a:off x="457200" y="3931920"/>
            <a:ext cx="228600" cy="228600"/>
          </a:xfrm>
          <a:prstGeom prst="rect">
            <a:avLst/>
          </a:prstGeom>
          <a:solidFill>
            <a:srgbClr val="D97757"/>
          </a:solidFill>
          <a:ln/>
        </p:spPr>
      </p:sp>
      <p:sp>
        <p:nvSpPr>
          <p:cNvPr id="14" name="Text 12"/>
          <p:cNvSpPr/>
          <p:nvPr/>
        </p:nvSpPr>
        <p:spPr>
          <a:xfrm>
            <a:off x="822960" y="3931920"/>
            <a:ext cx="7863840" cy="22860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Explore the official plugin marketplace</a:t>
            </a:r>
            <a:endParaRPr lang="en-US" sz="1300" dirty="0"/>
          </a:p>
        </p:txBody>
      </p:sp>
      <p:sp>
        <p:nvSpPr>
          <p:cNvPr id="15" name="Shape 13"/>
          <p:cNvSpPr/>
          <p:nvPr/>
        </p:nvSpPr>
        <p:spPr>
          <a:xfrm>
            <a:off x="457200" y="4251960"/>
            <a:ext cx="228600" cy="228600"/>
          </a:xfrm>
          <a:prstGeom prst="rect">
            <a:avLst/>
          </a:prstGeom>
          <a:solidFill>
            <a:srgbClr val="D97757"/>
          </a:solidFill>
          <a:ln/>
        </p:spPr>
      </p:sp>
      <p:sp>
        <p:nvSpPr>
          <p:cNvPr id="16" name="Text 14"/>
          <p:cNvSpPr/>
          <p:nvPr/>
        </p:nvSpPr>
        <p:spPr>
          <a:xfrm>
            <a:off x="822960" y="4251960"/>
            <a:ext cx="7863840" cy="22860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Create custom plugins for your team's workflows</a:t>
            </a:r>
            <a:endParaRPr lang="en-US" sz="1300" dirty="0"/>
          </a:p>
        </p:txBody>
      </p:sp>
      <p:sp>
        <p:nvSpPr>
          <p:cNvPr id="17" name="Shape 15"/>
          <p:cNvSpPr/>
          <p:nvPr/>
        </p:nvSpPr>
        <p:spPr>
          <a:xfrm>
            <a:off x="457200" y="4572000"/>
            <a:ext cx="228600" cy="228600"/>
          </a:xfrm>
          <a:prstGeom prst="rect">
            <a:avLst/>
          </a:prstGeom>
          <a:solidFill>
            <a:srgbClr val="D97757"/>
          </a:solidFill>
          <a:ln/>
        </p:spPr>
      </p:sp>
      <p:sp>
        <p:nvSpPr>
          <p:cNvPr id="18" name="Text 16"/>
          <p:cNvSpPr/>
          <p:nvPr/>
        </p:nvSpPr>
        <p:spPr>
          <a:xfrm>
            <a:off x="822960" y="4572000"/>
            <a:ext cx="7863840" cy="22860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Contribute to the Claude Code plugin ecosystem</a:t>
            </a:r>
            <a:endParaRPr lang="en-US" sz="1300" dirty="0"/>
          </a:p>
        </p:txBody>
      </p:sp>
      <p:sp>
        <p:nvSpPr>
          <p:cNvPr id="19" name="Shape 17"/>
          <p:cNvSpPr/>
          <p:nvPr/>
        </p:nvSpPr>
        <p:spPr>
          <a:xfrm>
            <a:off x="457200" y="4892040"/>
            <a:ext cx="228600" cy="228600"/>
          </a:xfrm>
          <a:prstGeom prst="rect">
            <a:avLst/>
          </a:prstGeom>
          <a:solidFill>
            <a:srgbClr val="D97757"/>
          </a:solidFill>
          <a:ln/>
        </p:spPr>
      </p:sp>
      <p:sp>
        <p:nvSpPr>
          <p:cNvPr id="20" name="Text 18"/>
          <p:cNvSpPr/>
          <p:nvPr/>
        </p:nvSpPr>
        <p:spPr>
          <a:xfrm>
            <a:off x="822960" y="4892040"/>
            <a:ext cx="7863840" cy="228600"/>
          </a:xfrm>
          <a:prstGeom prst="rect">
            <a:avLst/>
          </a:prstGeom>
          <a:noFill/>
          <a:ln/>
        </p:spPr>
        <p:txBody>
          <a:bodyPr wrap="square" rtlCol="0" anchor="ctr"/>
          <a:lstStyle/>
          <a:p>
            <a:pPr indent="0" marL="0">
              <a:buNone/>
            </a:pPr>
            <a:r>
              <a:rPr lang="en-US" sz="1300" dirty="0">
                <a:solidFill>
                  <a:srgbClr val="141413"/>
                </a:solidFill>
                <a:latin typeface="Lora" pitchFamily="34" charset="0"/>
                <a:ea typeface="Lora" pitchFamily="34" charset="-122"/>
                <a:cs typeface="Lora" pitchFamily="34" charset="-120"/>
              </a:rPr>
              <a:t>Set up your own plugin marketplace for distribution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ctr" indent="0" marL="0">
              <a:buNone/>
            </a:pPr>
            <a:r>
              <a:rPr lang="en-US" sz="4400" b="1" dirty="0">
                <a:solidFill>
                  <a:srgbClr val="FAF9F5"/>
                </a:solidFill>
                <a:latin typeface="Poppins" pitchFamily="34" charset="0"/>
                <a:ea typeface="Poppins" pitchFamily="34" charset="-122"/>
                <a:cs typeface="Poppins" pitchFamily="34" charset="-120"/>
              </a:rPr>
              <a:t>You're Ready to Build</a:t>
            </a:r>
            <a:endParaRPr lang="en-US" sz="4400" dirty="0"/>
          </a:p>
        </p:txBody>
      </p:sp>
      <p:sp>
        <p:nvSpPr>
          <p:cNvPr id="3" name="Text 1"/>
          <p:cNvSpPr/>
          <p:nvPr/>
        </p:nvSpPr>
        <p:spPr>
          <a:xfrm>
            <a:off x="457200" y="2651760"/>
            <a:ext cx="8229600" cy="457200"/>
          </a:xfrm>
          <a:prstGeom prst="rect">
            <a:avLst/>
          </a:prstGeom>
          <a:noFill/>
          <a:ln/>
        </p:spPr>
        <p:txBody>
          <a:bodyPr wrap="square" rtlCol="0" anchor="ctr"/>
          <a:lstStyle/>
          <a:p>
            <a:pPr algn="ctr" indent="0" marL="0">
              <a:buNone/>
            </a:pPr>
            <a:r>
              <a:rPr lang="en-US" sz="2000" dirty="0">
                <a:solidFill>
                  <a:srgbClr val="B0AEA5"/>
                </a:solidFill>
                <a:latin typeface="Lora" pitchFamily="34" charset="0"/>
                <a:ea typeface="Lora" pitchFamily="34" charset="-122"/>
                <a:cs typeface="Lora" pitchFamily="34" charset="-120"/>
              </a:rPr>
              <a:t>Master the Claude Code Plugin Ecosystem</a:t>
            </a:r>
            <a:endParaRPr lang="en-US" sz="2000" dirty="0"/>
          </a:p>
        </p:txBody>
      </p:sp>
      <p:pic>
        <p:nvPicPr>
          <p:cNvPr id="4" name="Image 0" descr="preencoded.png">    </p:cNvPr>
          <p:cNvPicPr>
            <a:picLocks noChangeAspect="1"/>
          </p:cNvPicPr>
          <p:nvPr/>
        </p:nvPicPr>
        <p:blipFill>
          <a:blip r:embed="rId1"/>
          <a:stretch>
            <a:fillRect/>
          </a:stretch>
        </p:blipFill>
        <p:spPr>
          <a:xfrm>
            <a:off x="4114800" y="3383280"/>
            <a:ext cx="914400" cy="914400"/>
          </a:xfrm>
          <a:prstGeom prst="rect">
            <a:avLst/>
          </a:prstGeom>
        </p:spPr>
      </p:pic>
      <p:sp>
        <p:nvSpPr>
          <p:cNvPr id="5" name="Text 2"/>
          <p:cNvSpPr/>
          <p:nvPr/>
        </p:nvSpPr>
        <p:spPr>
          <a:xfrm>
            <a:off x="457200" y="4663440"/>
            <a:ext cx="8229600" cy="274320"/>
          </a:xfrm>
          <a:prstGeom prst="rect">
            <a:avLst/>
          </a:prstGeom>
          <a:noFill/>
          <a:ln/>
        </p:spPr>
        <p:txBody>
          <a:bodyPr wrap="square" rtlCol="0" anchor="ctr"/>
          <a:lstStyle/>
          <a:p>
            <a:pPr algn="ctr" indent="0" marL="0">
              <a:buNone/>
            </a:pPr>
            <a:r>
              <a:rPr lang="en-US" sz="1300" dirty="0">
                <a:solidFill>
                  <a:srgbClr val="B0AEA5"/>
                </a:solidFill>
                <a:latin typeface="Lora" pitchFamily="34" charset="0"/>
                <a:ea typeface="Lora" pitchFamily="34" charset="-122"/>
                <a:cs typeface="Lora" pitchFamily="34" charset="-120"/>
              </a:rPr>
              <a:t>Questions? Visit docs.claude.com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Plugins Training</dc:title>
  <dc:subject>Technical Enablement</dc:subject>
  <dc:creator>Anthropic</dc:creator>
  <cp:lastModifiedBy>Anthropic</cp:lastModifiedBy>
  <cp:revision>1</cp:revision>
  <dcterms:created xsi:type="dcterms:W3CDTF">2026-02-08T04:32:14Z</dcterms:created>
  <dcterms:modified xsi:type="dcterms:W3CDTF">2026-02-08T04:32:14Z</dcterms:modified>
</cp:coreProperties>
</file>