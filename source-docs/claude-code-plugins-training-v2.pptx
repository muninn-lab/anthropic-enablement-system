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315"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10" r:id="rId51"/>
    <p:sldId id="305" r:id="rId52"/>
    <p:sldId id="306" r:id="rId53"/>
    <p:sldId id="307" r:id="rId54"/>
    <p:sldId id="308" r:id="rId55"/>
    <p:sldId id="309" r:id="rId56"/>
    <p:sldId id="311" r:id="rId57"/>
    <p:sldId id="312" r:id="rId58"/>
    <p:sldId id="313" r:id="rId59"/>
    <p:sldId id="314" r:id="rId6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9BCC"/>
    <a:srgbClr val="D97757"/>
    <a:srgbClr val="788C5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659"/>
  </p:normalViewPr>
  <p:slideViewPr>
    <p:cSldViewPr snapToGrid="0" snapToObjects="1">
      <p:cViewPr varScale="1">
        <p:scale>
          <a:sx n="195" d="100"/>
          <a:sy n="195" d="100"/>
        </p:scale>
        <p:origin x="10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9877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Mastering Claude Code Plugins training. This instructor-led course is for technical developers new to Claude Code but familiar with CLI tools. The course runs 6-8 hours and covers the complete plugin lifecycle: discovering, installing, creating, and converting. Structure: Discover &amp; Install (Modules 1-5), Create &amp; Test (6-7), Convert &amp; Share (8-9).</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Version 1.0.33 is critical—it introduced the /plugin command. Pause here for everyone to verify with 'claude --version'. Direct anyone on older versions to docs.claude.com/en/troubleshooting. Other prerequisites: CLI familiarity (cd, mkdir, npm, git) and understanding JSON/directory structures for creating plugin manifests.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progressive sections. Discover &amp; Install: fundamentals, marketplaces, and installation scopes with labs. Create &amp; Test: build custom plugins from scratch. Convert &amp; Share: migrate existing .claude/ configs to shareable plugins. Each section includes conceptual modules and hands-on labs.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module lays critical foundation. Key takeaway: plugins are packages that bundle related functionality for sharing and reuse. Understanding this distinction helps with architectural decisions later when creating plugins. Participants familiar with VS Code extensions or npm will recognize patterns.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shows WHY plugins exist. The git workflow example resonates—developers do this manually daily. Plugins bundle related automation (skill, hook, command) into one shareable unit that saves 15 minutes per commit while maintaining consistency across the team.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Understanding when to use each approach is critical. Plugins: share with teams (consistency, version-controlled updates). Standalone: personal workflows and quick iteration (no packaging overhead). Best practice: start standalone for experiments, convert to plugin when ready to share.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Plugin namespacing prevents conflicts. Without it, if two plugins both provide /review, Claude Code wouldn't know which to use. Namespacing ensures coexistence: /plugin-a:review and /plugin-b:review work independently. The namespace comes from the 'name' field in plugin.json.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4DF3D-785D-887B-184D-3DCBDB2DC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3C919-42CE-7B8E-7EE2-28C86E05BFF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58A0F10-C5D3-0CF3-23B2-29C4EB36CDB3}"/>
              </a:ext>
            </a:extLst>
          </p:cNvPr>
          <p:cNvSpPr>
            <a:spLocks noGrp="1"/>
          </p:cNvSpPr>
          <p:nvPr>
            <p:ph type="body" sz="quarter" idx="3"/>
          </p:nvPr>
        </p:nvSpPr>
        <p:spPr/>
        <p:txBody>
          <a:bodyPr/>
          <a:lstStyle/>
          <a:p>
            <a:r>
              <a:t>Knowledge check with 2 questions. Correct answers highlighted in green. Pause for participants to respond before revealing. Use this to gauge understanding before moving forward. Common confusion: thinking plugins are just for features vs understanding they're for sharing/distribution.</a:t>
            </a:r>
          </a:p>
        </p:txBody>
      </p:sp>
      <p:sp>
        <p:nvSpPr>
          <p:cNvPr id="4" name="Slide Number Placeholder 3">
            <a:extLst>
              <a:ext uri="{FF2B5EF4-FFF2-40B4-BE49-F238E27FC236}">
                <a16:creationId xmlns:a16="http://schemas.microsoft.com/office/drawing/2014/main" id="{36D8B19A-AEAF-9ABD-25DE-3BA7591D907F}"/>
              </a:ext>
            </a:extLst>
          </p:cNvPr>
          <p:cNvSpPr>
            <a:spLocks noGrp="1"/>
          </p:cNvSpPr>
          <p:nvPr>
            <p:ph type="sldNum" sz="quarter" idx="5"/>
          </p:nvPr>
        </p:nvSpPr>
        <p:spPr/>
      </p:sp>
    </p:spTree>
    <p:extLst>
      <p:ext uri="{BB962C8B-B14F-4D97-AF65-F5344CB8AC3E}">
        <p14:creationId xmlns:p14="http://schemas.microsoft.com/office/powerpoint/2010/main" val="2381089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key points before moving to next module. Emphasize: plugins are packaged extensions, namespacing prevents conflicts, use plugins when sharing. If anyone seems unclear on fundamentals, address now before building on this foundation in Module 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2 builds on plugin fundamentals by explaining how to discover them. Marketplaces are catalogs for centralized discovery. Understanding the four-tab interface is essential for all future work. Security evaluation comes before every installation.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Marketplaces are catalogs providing centralized discovery and version tracking. Two-step process: add marketplace (registers catalog), install individual plugins (choose what you want). Think app store analogy: adding store lets you browse, you choose which apps to download.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/plugin command opens four-tab interface. Discover: browse available plugins. Installed: manage your plugins. Marketplaces: add/remove/update marketplaces. Errors: troubleshooting (critical when things don't work). Navigate with Tab/Shift+Tab.</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Anthropic does not control what's in plugins. Always check plugin homepage before installing to understand functionality. Official marketplace is curated by Anthropic. Community marketplaces vary—evaluate each plugin individually. Trust is key for security.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Knowledge check. Pause for responses. Common mistake: thinking /plugins (plural) instead of /plugin (singular). Also reinforce that Discover tab shows available (not installed) plugins—Installed tab shows what you've already added.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reinforces key concepts. Marketplaces provide discovery infrastructure. Four-tab interface is your plugin control center. Security evaluation before installation is non-negotiable. These concepts prepare for the hands-on lab next.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hands-on lab. Participants will actually add a marketplace and browse plugins. This bridges theory to practice. Objectives: add demo marketplace, navigate tabs, browse plugins. Expected outcome: comfort with plugin manager interface, understanding marketplace vs plugin installation.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step slowly. Let participants execute commands in real-time. Common issue: typing marketplace name wrong. Watch for Tab navigation confusion—some may try arrow keys. After adding marketplace, verify it appears in Marketplaces tab before moving to Discover.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 understanding after lab. Common confusion: expecting plugins to install automatically after adding marketplace. Reinforce: adding marketplace makes plugins browsable, installation is separate step. If anyone had errors, troubleshoot now before Module 4.</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summary. Reinforce: /plugin marketplace add registers catalog. Four tabs have distinct purposes. Adding marketplace ≠ installing plugins. This foundation is essential for Module 4 where we actually install.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4 covers installation—the action participants are ready for after Module 3 lab. Three scopes are crucial to understand. Each scope serves different purposes. Choosing wrong scope causes team friction later. Use cases make this concrete.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scopes serve different purposes. User: personal tools across all projects (your code formatter). Project: team-shared functionality (company API integration). Local: testing only (not shared). Common mistake: using user scope for team plugins—causes configuration drift.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installation methods: CLI for quick installs (defaults to user scope), interactive UI for choosing scope explicitly. CLI with --scope flag for specific targeting. Interactive UI recommended for scope selection—you see all options clearly before deciding.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Managing plugins: disable (temporary, good for troubleshooting conflicts), enable (reactivate), uninstall (permanent removal). Disabling is powerful for debugging—turn off plugins one by one to isolate issues without losing configuration.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Knowledge check on scopes—this is commonly confused. Emphasize: CLI defaults to user, project scope perfect for team API integration, local scope for testing before wider rollout. Scope choice impacts entire team's experience.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Scope concept is critical so repeat: user (you everywhere), project (team here), local (you here only). Installation methods give flexibility. Management commands let you troubleshoot. These tools enable effective plugin usage across your workflow.</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hands-on lab. Participants install actual plugin and test functionality. This demonstrates full cycle: add marketplace (done in Module 3), install plugin, use plugin commands. Objectives: install commit-commands, test it, verify in manager.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Execute installation together. After installing, immediately verify in Installed tab. Then test with /commit-commands:commit to see real behavior. Common issue: forgetting namespace—typing /commit instead of /commit-commands:commit. Reinforce namespacing importance.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 understanding. Key point: namespaced commands prevent conflicts. After this lab, participants should be comfortable discovering, installing, and using plugins. If issues occurred, address before moving to plugin creation in Module 6.</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summary reinforces complete workflow: marketplace enables discovery, installation makes plugins available, namespaced commands prevent conflicts. Participants now understand plugin consumption. Next: shift to creation.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6 shifts from consuming to creating. Structure and manifest are foundation. Testing workflow with --plugin-dir enables rapid iteration. Common mistakes will be called out explicitly—directory structure errors break everything.</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Common mistake is putting commands/, agents/, skills/ inside .claude-plugin/. Only plugin.json goes inside .claude-plugin/. Everything else at plugin root. This mistake breaks plugin loading and is most common error we see from new plugin developers.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required fields: name (plugin identifier, becomes namespace), description (what it does), version (semantic versioning). Optional fields help with discovery and attribution. Version format: 1.0.0 for initial, increment based on semantic versioning rules.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commands/ for user-invoked skills (manual execution like /my-skill), skills/ for agent skills (Claude auto-invokes based on context). Both use SKILL.md format with frontmatter. After adding skills, restart Claude Code to load them.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--plugin-dir flag is essential for development. Loads plugins directly without installing. Make changes, restart with flag, test immediately. No install/uninstall cycle. Dramatically speeds iteration. Can load multiple plugins for testing interactions.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Knowledge check on structure and testing. Common confusion: where directories go (root vs inside .claude-plugin/), what flag to use for testing (--plugin-dir). These fundamentals must be solid before the lab.</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structure matters (directories at root), manifest defines identity (name, description, version), commands vs skills serve different purposes, --plugin-dir enables rapid testing. Next lab applies all this hands-on.</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hands-on lab. Participants build first plugin from scratch. This consolidates Module 6 concepts into working artifact. Walk through: create structure, write manifest, add skill, test locally. Expected outcome: working plugin and confidence in creation workflow.</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Execute each step together. Let participants type commands themselves. After creating structure and manifest, verify plugin.json syntax before proceeding—JSON errors cause loading failures. When testing with --plugin-dir, check /help to verify command appears correctly.</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 understanding of creation workflow. Common confusion: skill directory vs file naming (directory name becomes skill name). If anyone's plugin didn't load, check structure first (directories at root?), then manifest syntax (valid JSON?).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summary: creation workflow is iterative (create, test, refine). Skills follow directory/SKILL.md pattern. --plugin-dir critical for development. Namespaced commands ensure no conflicts. Participants now can create basic plugins—Module 8 adds conversion skills.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8 addresses real-world scenario: you have great .claude/ configs, team wants them. When to convert: teammates asking for configs, manually copying between projects, configurations stable and tested. Conversion enables sharing with version control.</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Triggers for conversion: team requests your config, you're copying files manually between projects, configs are stable/tested and ready to share. Real scenario: developer's powerful linter shared via Slack snippets. Solution: convert to plugin, publish to marketplace, team installs with one command.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Migration workflow: create structure, copy files, migrate hooks from settings.json to hooks/hooks.json (format unchanged, just location), test with --plugin-dir, remove original .claude/ files to avoid duplicates. Key: hook format stays identical.</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Knowledge check on conversion process. Common confusion: hook format changes (it doesn't—just moves locations). Also reinforce why to remove original files (prevent duplicates and confusion about which version is active).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convert when ready to share beyond personal use. Migration preserves functionality while enabling distribution. Hooks move location but format unchanged. Clean up originals after successful migration. This enables team standardization.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Fourth hands-on lab. Participants convert actual configurations to plugins. Most complex lab—involves multiple steps and format changes. Walk through systematically. Expected outcome: working converted plugin with hooks functioning correctly.</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Execute hook migration carefully. Show how to copy hooks object from settings.json into hooks/hooks.json. Emphasize format is identical—just location changes. Test thoroughly after migration to ensure hooks still trigger. Common issue: JSON syntax errors when copying.</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 understanding of full conversion workflow. Common confusion: thinking hook format needs to change (it doesn't). If anyone's hooks don't trigger after migration, check: hooks/hooks.json exists, JSON syntax valid, matcher patterns correct.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summary: migration enables sharing while preserving functionality. Hook format unchanged. Test with --plugin-dir before distributing. Remove originals after success. Converted plugins immediately shareable via marketplaces.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Best practices with WHY explanations. Start standalone: faster iteration without packaging. Semantic versioning: users track changes reliably. README: others understand usage without guessing. --plugin-dir testing: immediate feedback. Keep directories at root: prevents structure mistakes.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Distribution best practices. Document dependencies clearly. Test with multiple team members for environment issues. Version semantically (1.0.0, 1.1.0, 2.0.0). Add license for usage rights. Clear names (not generic like 'utils'). Concise descriptions. Link to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Common issues have predictable solutions. Plugin not loading: check structure (directories at root?). Command not appearing: restart Claude Code, verify manifest. Hooks not triggering: check hooks.json format, matcher patterns. Version conflicts: check Errors tab. Always check Errors tab first.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Debugging workflow: check Errors tab first, verify structure, test with --plugin-dir to isolate issues, disable other plugins to rule out conflicts. When reporting issues: include structure, error messages, Claude Code version. Systematic approach solves most problems quickly.</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Resources for continued learning. Official documentation for reference. Next steps: explore official marketplace, create custom plugin, convert existing configs, set up team marketplace. The ecosystem grows with your contributions. Start building!</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Anthropic eats own dog food. Internal teams use plugins daily: plugin-dev toolkit streamlines development, PR review agents enforce standards, feature-dev templates, hookify adds conventions automatically. This validates that plugins scale to professional use.</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scenario: 20+ configs shared via Slack. Migration: audit configs, group into logical plugins (dev-toolkit, code-quality, deploy-tools), create internal marketplace, team installs. Result: single source of truth, version updates, new devs onboard in 1 command.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Enterprise with 500+ developers. Challenge: standardized tools needed. Solution: internal marketplace with security, API, documentation, and workflow plugins. Used managed settings for pre-configuration, strictKnownMarketplaces for approved-only. Central team maintains with SLAs. Key: treated plugins as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participating. You now understand plugin ecosystem deeply: discovering, installing, creating, converting. You can evaluate plugins for security, choose appropriate scopes, build custom functionality, and migrate existing workflows. Questions? Feedback? Let's discuss!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01676F58-949D-9CA4-ACDA-4F9F95FC498C}"/>
              </a:ext>
            </a:extLst>
          </p:cNvPr>
          <p:cNvSpPr txBox="1"/>
          <p:nvPr userDrawn="1">
            <p:extLst>
              <p:ext uri="{1162E1C5-73C7-4A58-AE30-91384D911F3F}">
                <p184:classification xmlns:p184="http://schemas.microsoft.com/office/powerpoint/2018/4/main" val="ftr"/>
              </p:ext>
            </p:extLst>
          </p:nvPr>
        </p:nvSpPr>
        <p:spPr>
          <a:xfrm>
            <a:off x="8266113" y="4958080"/>
            <a:ext cx="83502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p:cNvGrpSpPr/>
        <p:nvPr/>
      </p:nvGrpSpPr>
      <p:grpSpPr>
        <a:xfrm>
          <a:off x="0" y="0"/>
          <a:ext cx="0" cy="0"/>
          <a:chOff x="0" y="0"/>
          <a:chExt cx="0" cy="0"/>
        </a:xfrm>
      </p:grpSpPr>
      <p:sp>
        <p:nvSpPr>
          <p:cNvPr id="2" name="TextBox 1"/>
          <p:cNvSpPr txBox="1"/>
          <p:nvPr/>
        </p:nvSpPr>
        <p:spPr>
          <a:xfrm>
            <a:off x="457200" y="1447138"/>
            <a:ext cx="8229600" cy="914400"/>
          </a:xfrm>
          <a:prstGeom prst="rect">
            <a:avLst/>
          </a:prstGeom>
          <a:noFill/>
        </p:spPr>
        <p:txBody>
          <a:bodyPr wrap="none">
            <a:spAutoFit/>
          </a:bodyPr>
          <a:lstStyle/>
          <a:p>
            <a:pPr algn="ctr">
              <a:defRPr sz="4800" b="1">
                <a:solidFill>
                  <a:srgbClr val="FFFFFF"/>
                </a:solidFill>
              </a:defRPr>
            </a:pPr>
            <a:r>
              <a:t>Mastering Claude Code Plugins</a:t>
            </a:r>
          </a:p>
        </p:txBody>
      </p:sp>
      <p:sp>
        <p:nvSpPr>
          <p:cNvPr id="3" name="TextBox 2"/>
          <p:cNvSpPr txBox="1"/>
          <p:nvPr/>
        </p:nvSpPr>
        <p:spPr>
          <a:xfrm>
            <a:off x="457200" y="2452978"/>
            <a:ext cx="8229600" cy="457200"/>
          </a:xfrm>
          <a:prstGeom prst="rect">
            <a:avLst/>
          </a:prstGeom>
          <a:noFill/>
        </p:spPr>
        <p:txBody>
          <a:bodyPr wrap="none">
            <a:spAutoFit/>
          </a:bodyPr>
          <a:lstStyle/>
          <a:p>
            <a:pPr algn="ctr">
              <a:defRPr sz="2800">
                <a:solidFill>
                  <a:srgbClr val="D97757"/>
                </a:solidFill>
              </a:defRPr>
            </a:pPr>
            <a:r>
              <a:t>From Discovery to Distribution</a:t>
            </a:r>
          </a:p>
        </p:txBody>
      </p:sp>
      <p:sp>
        <p:nvSpPr>
          <p:cNvPr id="5" name="TextBox 4"/>
          <p:cNvSpPr txBox="1"/>
          <p:nvPr/>
        </p:nvSpPr>
        <p:spPr>
          <a:xfrm>
            <a:off x="457200" y="4572000"/>
            <a:ext cx="8229600" cy="274320"/>
          </a:xfrm>
          <a:prstGeom prst="rect">
            <a:avLst/>
          </a:prstGeom>
          <a:noFill/>
        </p:spPr>
        <p:txBody>
          <a:bodyPr wrap="none">
            <a:spAutoFit/>
          </a:bodyPr>
          <a:lstStyle/>
          <a:p>
            <a:pPr algn="ctr">
              <a:defRPr sz="1400">
                <a:solidFill>
                  <a:srgbClr val="E8E8E8"/>
                </a:solidFill>
              </a:defRPr>
            </a:pPr>
            <a:r>
              <a:t>Technical Enablement | Anthropic</a:t>
            </a:r>
          </a:p>
        </p:txBody>
      </p:sp>
      <p:pic>
        <p:nvPicPr>
          <p:cNvPr id="6" name="Image 0" descr="preencoded.png">
            <a:extLst>
              <a:ext uri="{FF2B5EF4-FFF2-40B4-BE49-F238E27FC236}">
                <a16:creationId xmlns:a16="http://schemas.microsoft.com/office/drawing/2014/main" id="{6C5E0EFD-4CC4-A1FE-64B1-080E93385A55}"/>
              </a:ext>
            </a:extLst>
          </p:cNvPr>
          <p:cNvPicPr>
            <a:picLocks noChangeAspect="1"/>
          </p:cNvPicPr>
          <p:nvPr/>
        </p:nvPicPr>
        <p:blipFill>
          <a:blip r:embed="rId3"/>
          <a:stretch>
            <a:fillRect/>
          </a:stretch>
        </p:blipFill>
        <p:spPr>
          <a:xfrm>
            <a:off x="4114800" y="3275938"/>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600" b="1">
                <a:solidFill>
                  <a:srgbClr val="141413"/>
                </a:solidFill>
              </a:defRPr>
            </a:pPr>
            <a:r>
              <a:t>Prerequisites Check</a:t>
            </a:r>
          </a:p>
        </p:txBody>
      </p:sp>
      <p:sp>
        <p:nvSpPr>
          <p:cNvPr id="3" name="TextBox 2"/>
          <p:cNvSpPr txBox="1"/>
          <p:nvPr/>
        </p:nvSpPr>
        <p:spPr>
          <a:xfrm>
            <a:off x="457200" y="1005840"/>
            <a:ext cx="8229600" cy="365760"/>
          </a:xfrm>
          <a:prstGeom prst="rect">
            <a:avLst/>
          </a:prstGeom>
          <a:noFill/>
        </p:spPr>
        <p:txBody>
          <a:bodyPr wrap="none">
            <a:spAutoFit/>
          </a:bodyPr>
          <a:lstStyle/>
          <a:p>
            <a:pPr>
              <a:defRPr sz="2000">
                <a:solidFill>
                  <a:srgbClr val="36454F"/>
                </a:solidFill>
              </a:defRPr>
            </a:pPr>
            <a:r>
              <a:t>Before We Begin</a:t>
            </a:r>
          </a:p>
        </p:txBody>
      </p:sp>
      <p:sp>
        <p:nvSpPr>
          <p:cNvPr id="4" name="TextBox 3"/>
          <p:cNvSpPr txBox="1"/>
          <p:nvPr/>
        </p:nvSpPr>
        <p:spPr>
          <a:xfrm>
            <a:off x="532737" y="1828800"/>
            <a:ext cx="4572000" cy="365760"/>
          </a:xfrm>
          <a:prstGeom prst="rect">
            <a:avLst/>
          </a:prstGeom>
          <a:noFill/>
        </p:spPr>
        <p:txBody>
          <a:bodyPr wrap="none">
            <a:spAutoFit/>
          </a:bodyPr>
          <a:lstStyle/>
          <a:p>
            <a:pPr>
              <a:defRPr sz="1600" b="1">
                <a:solidFill>
                  <a:srgbClr val="141413"/>
                </a:solidFill>
              </a:defRPr>
            </a:pPr>
            <a:r>
              <a:t>✓ Claude Code installed and authenticated</a:t>
            </a:r>
          </a:p>
        </p:txBody>
      </p:sp>
      <p:sp>
        <p:nvSpPr>
          <p:cNvPr id="5" name="Rectangle 4"/>
          <p:cNvSpPr/>
          <p:nvPr/>
        </p:nvSpPr>
        <p:spPr>
          <a:xfrm>
            <a:off x="5196177" y="1828800"/>
            <a:ext cx="2743200" cy="36576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latin typeface="Consolas"/>
              </a:defRPr>
            </a:pPr>
            <a:r>
              <a:t>claude --version</a:t>
            </a:r>
          </a:p>
        </p:txBody>
      </p:sp>
      <p:sp>
        <p:nvSpPr>
          <p:cNvPr id="6" name="TextBox 5"/>
          <p:cNvSpPr txBox="1"/>
          <p:nvPr/>
        </p:nvSpPr>
        <p:spPr>
          <a:xfrm>
            <a:off x="532737" y="2423160"/>
            <a:ext cx="4572000" cy="365760"/>
          </a:xfrm>
          <a:prstGeom prst="rect">
            <a:avLst/>
          </a:prstGeom>
          <a:noFill/>
        </p:spPr>
        <p:txBody>
          <a:bodyPr wrap="none">
            <a:spAutoFit/>
          </a:bodyPr>
          <a:lstStyle/>
          <a:p>
            <a:pPr>
              <a:defRPr sz="1600" b="1">
                <a:solidFill>
                  <a:srgbClr val="141413"/>
                </a:solidFill>
              </a:defRPr>
            </a:pPr>
            <a:r>
              <a:t>✓ Version 1.0.33 or later required</a:t>
            </a:r>
          </a:p>
        </p:txBody>
      </p:sp>
      <p:sp>
        <p:nvSpPr>
          <p:cNvPr id="7" name="Rectangle 6"/>
          <p:cNvSpPr/>
          <p:nvPr/>
        </p:nvSpPr>
        <p:spPr>
          <a:xfrm>
            <a:off x="5196177" y="2423160"/>
            <a:ext cx="2743200" cy="36576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latin typeface="Consolas"/>
              </a:defRPr>
            </a:pPr>
            <a:r>
              <a:t>Should show 1.0.33+</a:t>
            </a:r>
          </a:p>
        </p:txBody>
      </p:sp>
      <p:sp>
        <p:nvSpPr>
          <p:cNvPr id="8" name="TextBox 7"/>
          <p:cNvSpPr txBox="1"/>
          <p:nvPr/>
        </p:nvSpPr>
        <p:spPr>
          <a:xfrm>
            <a:off x="532737" y="3017520"/>
            <a:ext cx="4572000" cy="365760"/>
          </a:xfrm>
          <a:prstGeom prst="rect">
            <a:avLst/>
          </a:prstGeom>
          <a:noFill/>
        </p:spPr>
        <p:txBody>
          <a:bodyPr wrap="none">
            <a:spAutoFit/>
          </a:bodyPr>
          <a:lstStyle/>
          <a:p>
            <a:pPr>
              <a:defRPr sz="1600" b="1">
                <a:solidFill>
                  <a:srgbClr val="141413"/>
                </a:solidFill>
              </a:defRPr>
            </a:pPr>
            <a:r>
              <a:t>✓ Basic CLI familiarity</a:t>
            </a:r>
          </a:p>
        </p:txBody>
      </p:sp>
      <p:sp>
        <p:nvSpPr>
          <p:cNvPr id="9" name="Rectangle 8"/>
          <p:cNvSpPr/>
          <p:nvPr/>
        </p:nvSpPr>
        <p:spPr>
          <a:xfrm>
            <a:off x="5196177" y="3017520"/>
            <a:ext cx="2743200" cy="36576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latin typeface="Consolas"/>
              </a:defRPr>
            </a:pPr>
            <a:r>
              <a:t>cd, mkdir, npm, git</a:t>
            </a:r>
          </a:p>
        </p:txBody>
      </p:sp>
      <p:sp>
        <p:nvSpPr>
          <p:cNvPr id="10" name="TextBox 9"/>
          <p:cNvSpPr txBox="1"/>
          <p:nvPr/>
        </p:nvSpPr>
        <p:spPr>
          <a:xfrm>
            <a:off x="532737" y="3611880"/>
            <a:ext cx="4572000" cy="365760"/>
          </a:xfrm>
          <a:prstGeom prst="rect">
            <a:avLst/>
          </a:prstGeom>
          <a:noFill/>
        </p:spPr>
        <p:txBody>
          <a:bodyPr wrap="none">
            <a:spAutoFit/>
          </a:bodyPr>
          <a:lstStyle/>
          <a:p>
            <a:pPr>
              <a:defRPr sz="1600" b="1">
                <a:solidFill>
                  <a:srgbClr val="141413"/>
                </a:solidFill>
              </a:defRPr>
            </a:pPr>
            <a:r>
              <a:t>✓ JSON and directory structure knowledge</a:t>
            </a:r>
          </a:p>
        </p:txBody>
      </p:sp>
      <p:sp>
        <p:nvSpPr>
          <p:cNvPr id="11" name="Rounded Rectangle 10"/>
          <p:cNvSpPr/>
          <p:nvPr/>
        </p:nvSpPr>
        <p:spPr>
          <a:xfrm>
            <a:off x="731520" y="4297680"/>
            <a:ext cx="7680960" cy="489005"/>
          </a:xfrm>
          <a:prstGeom prst="roundRect">
            <a:avLst/>
          </a:prstGeom>
          <a:solidFill>
            <a:srgbClr val="D97757"/>
          </a:solidFill>
          <a:ln w="254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a:solidFill>
                  <a:schemeClr val="bg1"/>
                </a:solidFill>
              </a:rPr>
              <a:t>Let's verify: Run 'claude --version' in your terminal. If you see version 1.0.33 or higher, you're ready!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600" b="1">
                <a:solidFill>
                  <a:srgbClr val="141413"/>
                </a:solidFill>
              </a:defRPr>
            </a:pPr>
            <a:r>
              <a:t>Course Overview</a:t>
            </a:r>
          </a:p>
        </p:txBody>
      </p:sp>
      <p:sp>
        <p:nvSpPr>
          <p:cNvPr id="3" name="Rectangle 2"/>
          <p:cNvSpPr/>
          <p:nvPr/>
        </p:nvSpPr>
        <p:spPr>
          <a:xfrm>
            <a:off x="731520" y="1645920"/>
            <a:ext cx="237744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645920" y="1920240"/>
            <a:ext cx="548640" cy="548640"/>
          </a:xfrm>
          <a:prstGeom prst="ellipse">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651760"/>
            <a:ext cx="2011680" cy="365760"/>
          </a:xfrm>
          <a:prstGeom prst="rect">
            <a:avLst/>
          </a:prstGeom>
          <a:noFill/>
        </p:spPr>
        <p:txBody>
          <a:bodyPr wrap="none">
            <a:spAutoFit/>
          </a:bodyPr>
          <a:lstStyle/>
          <a:p>
            <a:pPr algn="ctr">
              <a:defRPr sz="1800" b="1">
                <a:solidFill>
                  <a:srgbClr val="141413"/>
                </a:solidFill>
              </a:defRPr>
            </a:pPr>
            <a:r>
              <a:t>Discover &amp; Install</a:t>
            </a:r>
          </a:p>
        </p:txBody>
      </p:sp>
      <p:sp>
        <p:nvSpPr>
          <p:cNvPr id="6" name="TextBox 5"/>
          <p:cNvSpPr txBox="1"/>
          <p:nvPr/>
        </p:nvSpPr>
        <p:spPr>
          <a:xfrm>
            <a:off x="1375059" y="3108960"/>
            <a:ext cx="1090362" cy="307777"/>
          </a:xfrm>
          <a:prstGeom prst="rect">
            <a:avLst/>
          </a:prstGeom>
          <a:noFill/>
        </p:spPr>
        <p:txBody>
          <a:bodyPr wrap="none">
            <a:spAutoFit/>
          </a:bodyPr>
          <a:lstStyle/>
          <a:p>
            <a:pPr algn="ctr">
              <a:defRPr sz="1400" i="1">
                <a:solidFill>
                  <a:srgbClr val="D97757"/>
                </a:solidFill>
              </a:defRPr>
            </a:pPr>
            <a:r>
              <a:rPr dirty="0"/>
              <a:t>Modules 1-5</a:t>
            </a:r>
          </a:p>
        </p:txBody>
      </p:sp>
      <p:sp>
        <p:nvSpPr>
          <p:cNvPr id="7" name="TextBox 6"/>
          <p:cNvSpPr txBox="1"/>
          <p:nvPr/>
        </p:nvSpPr>
        <p:spPr>
          <a:xfrm>
            <a:off x="914400" y="3474720"/>
            <a:ext cx="2011680" cy="822960"/>
          </a:xfrm>
          <a:prstGeom prst="rect">
            <a:avLst/>
          </a:prstGeom>
          <a:noFill/>
        </p:spPr>
        <p:txBody>
          <a:bodyPr wrap="square">
            <a:spAutoFit/>
          </a:bodyPr>
          <a:lstStyle/>
          <a:p>
            <a:pPr algn="ctr">
              <a:defRPr sz="1200">
                <a:solidFill>
                  <a:srgbClr val="36454F"/>
                </a:solidFill>
              </a:defRPr>
            </a:pPr>
            <a:r>
              <a:t>Understanding plugins, navigating marketplaces, and managing installations</a:t>
            </a:r>
          </a:p>
        </p:txBody>
      </p:sp>
      <p:sp>
        <p:nvSpPr>
          <p:cNvPr id="8" name="Rectangle 7"/>
          <p:cNvSpPr/>
          <p:nvPr/>
        </p:nvSpPr>
        <p:spPr>
          <a:xfrm>
            <a:off x="3474720" y="1645920"/>
            <a:ext cx="237744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389120" y="1920240"/>
            <a:ext cx="548640" cy="548640"/>
          </a:xfrm>
          <a:prstGeom prst="ellipse">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0" y="2651760"/>
            <a:ext cx="2011680" cy="365760"/>
          </a:xfrm>
          <a:prstGeom prst="rect">
            <a:avLst/>
          </a:prstGeom>
          <a:noFill/>
        </p:spPr>
        <p:txBody>
          <a:bodyPr wrap="none">
            <a:spAutoFit/>
          </a:bodyPr>
          <a:lstStyle/>
          <a:p>
            <a:pPr algn="ctr">
              <a:defRPr sz="1800" b="1">
                <a:solidFill>
                  <a:srgbClr val="141413"/>
                </a:solidFill>
              </a:defRPr>
            </a:pPr>
            <a:r>
              <a:t>Create &amp; Test</a:t>
            </a:r>
          </a:p>
        </p:txBody>
      </p:sp>
      <p:sp>
        <p:nvSpPr>
          <p:cNvPr id="11" name="TextBox 10"/>
          <p:cNvSpPr txBox="1"/>
          <p:nvPr/>
        </p:nvSpPr>
        <p:spPr>
          <a:xfrm>
            <a:off x="4118259" y="3108960"/>
            <a:ext cx="1090362" cy="307777"/>
          </a:xfrm>
          <a:prstGeom prst="rect">
            <a:avLst/>
          </a:prstGeom>
          <a:noFill/>
        </p:spPr>
        <p:txBody>
          <a:bodyPr wrap="none">
            <a:spAutoFit/>
          </a:bodyPr>
          <a:lstStyle/>
          <a:p>
            <a:pPr algn="ctr">
              <a:defRPr sz="1400" i="1">
                <a:solidFill>
                  <a:srgbClr val="D97757"/>
                </a:solidFill>
              </a:defRPr>
            </a:pPr>
            <a:r>
              <a:t>Modules 6-7</a:t>
            </a:r>
          </a:p>
        </p:txBody>
      </p:sp>
      <p:sp>
        <p:nvSpPr>
          <p:cNvPr id="12" name="TextBox 11"/>
          <p:cNvSpPr txBox="1"/>
          <p:nvPr/>
        </p:nvSpPr>
        <p:spPr>
          <a:xfrm>
            <a:off x="3657600" y="3474720"/>
            <a:ext cx="2011680" cy="822960"/>
          </a:xfrm>
          <a:prstGeom prst="rect">
            <a:avLst/>
          </a:prstGeom>
          <a:noFill/>
        </p:spPr>
        <p:txBody>
          <a:bodyPr wrap="square">
            <a:spAutoFit/>
          </a:bodyPr>
          <a:lstStyle/>
          <a:p>
            <a:pPr algn="ctr">
              <a:defRPr sz="1200">
                <a:solidFill>
                  <a:srgbClr val="36454F"/>
                </a:solidFill>
              </a:defRPr>
            </a:pPr>
            <a:r>
              <a:t>Building custom plugins with skills, agents, and hooks from scratch</a:t>
            </a:r>
          </a:p>
        </p:txBody>
      </p:sp>
      <p:sp>
        <p:nvSpPr>
          <p:cNvPr id="13" name="Rectangle 12"/>
          <p:cNvSpPr/>
          <p:nvPr/>
        </p:nvSpPr>
        <p:spPr>
          <a:xfrm>
            <a:off x="6217920" y="1645920"/>
            <a:ext cx="237744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132320" y="1920240"/>
            <a:ext cx="548640" cy="548640"/>
          </a:xfrm>
          <a:prstGeom prst="ellipse">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2651760"/>
            <a:ext cx="2011680" cy="365760"/>
          </a:xfrm>
          <a:prstGeom prst="rect">
            <a:avLst/>
          </a:prstGeom>
          <a:noFill/>
        </p:spPr>
        <p:txBody>
          <a:bodyPr wrap="none">
            <a:spAutoFit/>
          </a:bodyPr>
          <a:lstStyle/>
          <a:p>
            <a:pPr algn="ctr">
              <a:defRPr sz="1800" b="1">
                <a:solidFill>
                  <a:srgbClr val="141413"/>
                </a:solidFill>
              </a:defRPr>
            </a:pPr>
            <a:r>
              <a:t>Convert &amp; Share</a:t>
            </a:r>
          </a:p>
        </p:txBody>
      </p:sp>
      <p:sp>
        <p:nvSpPr>
          <p:cNvPr id="16" name="TextBox 15"/>
          <p:cNvSpPr txBox="1"/>
          <p:nvPr/>
        </p:nvSpPr>
        <p:spPr>
          <a:xfrm>
            <a:off x="6861459" y="3108960"/>
            <a:ext cx="1090362" cy="307777"/>
          </a:xfrm>
          <a:prstGeom prst="rect">
            <a:avLst/>
          </a:prstGeom>
          <a:noFill/>
        </p:spPr>
        <p:txBody>
          <a:bodyPr wrap="none">
            <a:spAutoFit/>
          </a:bodyPr>
          <a:lstStyle/>
          <a:p>
            <a:pPr algn="ctr">
              <a:defRPr sz="1400" i="1">
                <a:solidFill>
                  <a:srgbClr val="D97757"/>
                </a:solidFill>
              </a:defRPr>
            </a:pPr>
            <a:r>
              <a:t>Modules 8-9</a:t>
            </a:r>
          </a:p>
        </p:txBody>
      </p:sp>
      <p:sp>
        <p:nvSpPr>
          <p:cNvPr id="17" name="TextBox 16"/>
          <p:cNvSpPr txBox="1"/>
          <p:nvPr/>
        </p:nvSpPr>
        <p:spPr>
          <a:xfrm>
            <a:off x="6400800" y="3474720"/>
            <a:ext cx="2011680" cy="822960"/>
          </a:xfrm>
          <a:prstGeom prst="rect">
            <a:avLst/>
          </a:prstGeom>
          <a:noFill/>
        </p:spPr>
        <p:txBody>
          <a:bodyPr wrap="square">
            <a:spAutoFit/>
          </a:bodyPr>
          <a:lstStyle/>
          <a:p>
            <a:pPr algn="ctr">
              <a:defRPr sz="1200">
                <a:solidFill>
                  <a:srgbClr val="36454F"/>
                </a:solidFill>
              </a:defRPr>
            </a:pPr>
            <a:r>
              <a:t>Migrating standalone configs to plugins and distributing via marketplaces</a:t>
            </a:r>
          </a:p>
        </p:txBody>
      </p:sp>
      <p:pic>
        <p:nvPicPr>
          <p:cNvPr id="19" name="Graphic 18" descr="Treasure Map outline">
            <a:extLst>
              <a:ext uri="{FF2B5EF4-FFF2-40B4-BE49-F238E27FC236}">
                <a16:creationId xmlns:a16="http://schemas.microsoft.com/office/drawing/2014/main" id="{A7830983-891E-EF23-4273-567EDDAA53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1315" y="2005635"/>
            <a:ext cx="377851" cy="377851"/>
          </a:xfrm>
          <a:prstGeom prst="rect">
            <a:avLst/>
          </a:prstGeom>
        </p:spPr>
      </p:pic>
      <p:pic>
        <p:nvPicPr>
          <p:cNvPr id="21" name="Graphic 20" descr="Tools outline">
            <a:extLst>
              <a:ext uri="{FF2B5EF4-FFF2-40B4-BE49-F238E27FC236}">
                <a16:creationId xmlns:a16="http://schemas.microsoft.com/office/drawing/2014/main" id="{B81F19FC-C97C-3152-DD5C-CFADE2765C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5137" y="2059755"/>
            <a:ext cx="274320" cy="274320"/>
          </a:xfrm>
          <a:prstGeom prst="rect">
            <a:avLst/>
          </a:prstGeom>
        </p:spPr>
      </p:pic>
      <p:pic>
        <p:nvPicPr>
          <p:cNvPr id="23" name="Graphic 22" descr="Network outline">
            <a:extLst>
              <a:ext uri="{FF2B5EF4-FFF2-40B4-BE49-F238E27FC236}">
                <a16:creationId xmlns:a16="http://schemas.microsoft.com/office/drawing/2014/main" id="{532E0660-014A-9937-2FB6-7F6F6E7C7A9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33622" y="2017108"/>
            <a:ext cx="355180" cy="3551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7757"/>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016E639-C50F-B2B0-76D2-4229E26652BA}"/>
              </a:ext>
            </a:extLst>
          </p:cNvPr>
          <p:cNvSpPr txBox="1"/>
          <p:nvPr/>
        </p:nvSpPr>
        <p:spPr>
          <a:xfrm>
            <a:off x="609600" y="655320"/>
            <a:ext cx="7972054"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1</a:t>
            </a:r>
            <a:r>
              <a:rPr dirty="0">
                <a:solidFill>
                  <a:schemeClr val="bg1"/>
                </a:solidFill>
              </a:rPr>
              <a:t>: </a:t>
            </a:r>
            <a:r>
              <a:rPr lang="en-US" dirty="0">
                <a:solidFill>
                  <a:schemeClr val="bg1"/>
                </a:solidFill>
              </a:rPr>
              <a:t>What Plugins Are and How They Work</a:t>
            </a:r>
          </a:p>
        </p:txBody>
      </p:sp>
      <p:sp>
        <p:nvSpPr>
          <p:cNvPr id="8" name="TextBox 7">
            <a:extLst>
              <a:ext uri="{FF2B5EF4-FFF2-40B4-BE49-F238E27FC236}">
                <a16:creationId xmlns:a16="http://schemas.microsoft.com/office/drawing/2014/main" id="{A8C7377B-617C-9F02-3035-AD25A165F847}"/>
              </a:ext>
            </a:extLst>
          </p:cNvPr>
          <p:cNvSpPr txBox="1"/>
          <p:nvPr/>
        </p:nvSpPr>
        <p:spPr>
          <a:xfrm>
            <a:off x="609600" y="1203960"/>
            <a:ext cx="2230804" cy="400110"/>
          </a:xfrm>
          <a:prstGeom prst="rect">
            <a:avLst/>
          </a:prstGeom>
          <a:noFill/>
        </p:spPr>
        <p:txBody>
          <a:bodyPr wrap="none">
            <a:spAutoFit/>
          </a:bodyPr>
          <a:lstStyle/>
          <a:p>
            <a:pPr>
              <a:defRPr sz="2000">
                <a:solidFill>
                  <a:srgbClr val="36454F"/>
                </a:solidFill>
              </a:defRPr>
            </a:pPr>
            <a:r>
              <a:rPr>
                <a:solidFill>
                  <a:schemeClr val="bg1"/>
                </a:solidFill>
              </a:rPr>
              <a:t>Learning Objectives</a:t>
            </a:r>
          </a:p>
        </p:txBody>
      </p:sp>
      <p:sp>
        <p:nvSpPr>
          <p:cNvPr id="9" name="TextBox 8">
            <a:extLst>
              <a:ext uri="{FF2B5EF4-FFF2-40B4-BE49-F238E27FC236}">
                <a16:creationId xmlns:a16="http://schemas.microsoft.com/office/drawing/2014/main" id="{DD49C64A-D34C-238C-78B8-C6EE52DC7493}"/>
              </a:ext>
            </a:extLst>
          </p:cNvPr>
          <p:cNvSpPr txBox="1"/>
          <p:nvPr/>
        </p:nvSpPr>
        <p:spPr>
          <a:xfrm>
            <a:off x="609600" y="1798320"/>
            <a:ext cx="7640938" cy="1308050"/>
          </a:xfrm>
          <a:prstGeom prst="rect">
            <a:avLst/>
          </a:prstGeom>
          <a:noFill/>
        </p:spPr>
        <p:txBody>
          <a:bodyPr wrap="none">
            <a:spAutoFit/>
          </a:bodyPr>
          <a:lstStyle/>
          <a:p>
            <a:pPr>
              <a:spcBef>
                <a:spcPts val="600"/>
              </a:spcBef>
              <a:defRPr sz="1600">
                <a:solidFill>
                  <a:srgbClr val="141413"/>
                </a:solidFill>
              </a:defRPr>
            </a:pPr>
            <a:r>
              <a:rPr lang="en-US" dirty="0">
                <a:solidFill>
                  <a:schemeClr val="bg1"/>
                </a:solidFill>
              </a:rPr>
              <a:t>• Define what Claude Code plugins are and explain their purpose</a:t>
            </a:r>
          </a:p>
          <a:p>
            <a:pPr>
              <a:spcBef>
                <a:spcPts val="600"/>
              </a:spcBef>
              <a:defRPr sz="1600">
                <a:solidFill>
                  <a:srgbClr val="141413"/>
                </a:solidFill>
              </a:defRPr>
            </a:pPr>
            <a:r>
              <a:rPr lang="en-US" dirty="0">
                <a:solidFill>
                  <a:schemeClr val="bg1"/>
                </a:solidFill>
              </a:rPr>
              <a:t>• Compare plugins versus standalone configurations and determine appropriate use cases</a:t>
            </a:r>
          </a:p>
          <a:p>
            <a:pPr>
              <a:spcBef>
                <a:spcPts val="600"/>
              </a:spcBef>
              <a:defRPr sz="1600">
                <a:solidFill>
                  <a:srgbClr val="141413"/>
                </a:solidFill>
              </a:defRPr>
            </a:pPr>
            <a:r>
              <a:rPr lang="en-US" dirty="0">
                <a:solidFill>
                  <a:schemeClr val="bg1"/>
                </a:solidFill>
              </a:rPr>
              <a:t>• Explain how plugin </a:t>
            </a:r>
            <a:r>
              <a:rPr lang="en-US" dirty="0" err="1">
                <a:solidFill>
                  <a:schemeClr val="bg1"/>
                </a:solidFill>
              </a:rPr>
              <a:t>namespacing</a:t>
            </a:r>
            <a:r>
              <a:rPr lang="en-US" dirty="0">
                <a:solidFill>
                  <a:schemeClr val="bg1"/>
                </a:solidFill>
              </a:rPr>
              <a:t> prevents conflicts between extensions</a:t>
            </a:r>
          </a:p>
          <a:p>
            <a:pPr>
              <a:spcBef>
                <a:spcPts val="600"/>
              </a:spcBef>
              <a:defRPr sz="1600">
                <a:solidFill>
                  <a:srgbClr val="141413"/>
                </a:solidFill>
              </a:defRPr>
            </a:pPr>
            <a:r>
              <a:rPr lang="en-US" dirty="0">
                <a:solidFill>
                  <a:schemeClr val="bg1"/>
                </a:solidFill>
              </a:rPr>
              <a:t>• Identify the types of functionality plugins can add (skills, agents, hooks, MCP servers)</a:t>
            </a:r>
          </a:p>
        </p:txBody>
      </p:sp>
      <p:sp>
        <p:nvSpPr>
          <p:cNvPr id="10" name="Rounded Rectangle 9">
            <a:extLst>
              <a:ext uri="{FF2B5EF4-FFF2-40B4-BE49-F238E27FC236}">
                <a16:creationId xmlns:a16="http://schemas.microsoft.com/office/drawing/2014/main" id="{C35D3F67-B98D-6CA7-D2A6-9EDB6EB7FB1F}"/>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45</a:t>
            </a:r>
            <a:r>
              <a:rPr dirty="0">
                <a:solidFill>
                  <a:schemeClr val="tx1"/>
                </a:solidFill>
              </a:rPr>
              <a:t> minutes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Plugin Fundamentals</a:t>
            </a:r>
          </a:p>
        </p:txBody>
      </p:sp>
      <p:sp>
        <p:nvSpPr>
          <p:cNvPr id="3" name="TextBox 2"/>
          <p:cNvSpPr txBox="1"/>
          <p:nvPr/>
        </p:nvSpPr>
        <p:spPr>
          <a:xfrm>
            <a:off x="731520" y="1188720"/>
            <a:ext cx="3657600" cy="365760"/>
          </a:xfrm>
          <a:prstGeom prst="rect">
            <a:avLst/>
          </a:prstGeom>
          <a:noFill/>
        </p:spPr>
        <p:txBody>
          <a:bodyPr wrap="none">
            <a:spAutoFit/>
          </a:bodyPr>
          <a:lstStyle/>
          <a:p>
            <a:pPr>
              <a:defRPr sz="2000" b="1">
                <a:solidFill>
                  <a:srgbClr val="141413"/>
                </a:solidFill>
              </a:defRPr>
            </a:pPr>
            <a:r>
              <a:t>What are plugins?</a:t>
            </a:r>
          </a:p>
        </p:txBody>
      </p:sp>
      <p:sp>
        <p:nvSpPr>
          <p:cNvPr id="4" name="TextBox 3"/>
          <p:cNvSpPr txBox="1"/>
          <p:nvPr/>
        </p:nvSpPr>
        <p:spPr>
          <a:xfrm>
            <a:off x="731520" y="1645920"/>
            <a:ext cx="3429000" cy="1169551"/>
          </a:xfrm>
          <a:prstGeom prst="rect">
            <a:avLst/>
          </a:prstGeom>
          <a:noFill/>
        </p:spPr>
        <p:txBody>
          <a:bodyPr wrap="square">
            <a:spAutoFit/>
          </a:bodyPr>
          <a:lstStyle/>
          <a:p>
            <a:pPr>
              <a:defRPr sz="1400">
                <a:solidFill>
                  <a:srgbClr val="141413"/>
                </a:solidFill>
              </a:defRPr>
            </a:pPr>
            <a:r>
              <a:rPr dirty="0"/>
              <a:t>• Packaged extensions for Claude Code</a:t>
            </a:r>
          </a:p>
          <a:p>
            <a:pPr>
              <a:defRPr sz="1400">
                <a:solidFill>
                  <a:srgbClr val="141413"/>
                </a:solidFill>
              </a:defRPr>
            </a:pPr>
            <a:r>
              <a:rPr dirty="0"/>
              <a:t>• Can include: skills, agents, hooks, MCP servers, LSP servers</a:t>
            </a:r>
          </a:p>
          <a:p>
            <a:pPr>
              <a:defRPr sz="1400">
                <a:solidFill>
                  <a:srgbClr val="141413"/>
                </a:solidFill>
              </a:defRPr>
            </a:pPr>
            <a:r>
              <a:rPr dirty="0"/>
              <a:t>• Shareable across teams and projects</a:t>
            </a:r>
          </a:p>
          <a:p>
            <a:pPr>
              <a:defRPr sz="1400">
                <a:solidFill>
                  <a:srgbClr val="141413"/>
                </a:solidFill>
              </a:defRPr>
            </a:pPr>
            <a:r>
              <a:rPr dirty="0"/>
              <a:t>• Versioned for easy updates</a:t>
            </a:r>
          </a:p>
        </p:txBody>
      </p:sp>
      <p:sp>
        <p:nvSpPr>
          <p:cNvPr id="5" name="Rectangle 4"/>
          <p:cNvSpPr/>
          <p:nvPr/>
        </p:nvSpPr>
        <p:spPr>
          <a:xfrm>
            <a:off x="4754880" y="1188720"/>
            <a:ext cx="3931920" cy="3200400"/>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937760" y="1371600"/>
            <a:ext cx="3566160" cy="2539157"/>
          </a:xfrm>
          <a:prstGeom prst="rect">
            <a:avLst/>
          </a:prstGeom>
          <a:noFill/>
        </p:spPr>
        <p:txBody>
          <a:bodyPr wrap="square">
            <a:spAutoFit/>
          </a:bodyPr>
          <a:lstStyle/>
          <a:p>
            <a:pPr>
              <a:defRPr sz="1800" b="1">
                <a:solidFill>
                  <a:srgbClr val="141413"/>
                </a:solidFill>
              </a:defRPr>
            </a:pPr>
            <a:r>
              <a:rPr dirty="0">
                <a:solidFill>
                  <a:schemeClr val="bg1"/>
                </a:solidFill>
              </a:rPr>
              <a:t>Real-World Use Case</a:t>
            </a:r>
          </a:p>
          <a:p>
            <a:pPr>
              <a:spcBef>
                <a:spcPts val="600"/>
              </a:spcBef>
              <a:defRPr sz="1600" b="1">
                <a:solidFill>
                  <a:srgbClr val="6A9BCC"/>
                </a:solidFill>
              </a:defRPr>
            </a:pPr>
            <a:r>
              <a:rPr dirty="0">
                <a:solidFill>
                  <a:schemeClr val="bg1"/>
                </a:solidFill>
              </a:rPr>
              <a:t>Git Workflow Automation</a:t>
            </a:r>
          </a:p>
          <a:p>
            <a:pPr>
              <a:spcBef>
                <a:spcPts val="600"/>
              </a:spcBef>
              <a:defRPr sz="1200">
                <a:solidFill>
                  <a:srgbClr val="141413"/>
                </a:solidFill>
              </a:defRPr>
            </a:pPr>
            <a:r>
              <a:rPr dirty="0">
                <a:solidFill>
                  <a:schemeClr val="bg1"/>
                </a:solidFill>
              </a:rPr>
              <a:t>The Problem: Development team manually writing commit messages, running linters, updating changelogs</a:t>
            </a:r>
          </a:p>
          <a:p>
            <a:pPr>
              <a:spcBef>
                <a:spcPts val="600"/>
              </a:spcBef>
              <a:defRPr sz="1200" b="1">
                <a:solidFill>
                  <a:srgbClr val="141413"/>
                </a:solidFill>
              </a:defRPr>
            </a:pPr>
            <a:r>
              <a:rPr dirty="0">
                <a:solidFill>
                  <a:schemeClr val="bg1"/>
                </a:solidFill>
              </a:rPr>
              <a:t>The Solution: Custom plugin with:</a:t>
            </a:r>
          </a:p>
          <a:p>
            <a:pPr>
              <a:defRPr sz="1100">
                <a:solidFill>
                  <a:srgbClr val="141413"/>
                </a:solidFill>
              </a:defRPr>
            </a:pPr>
            <a:r>
              <a:rPr dirty="0">
                <a:solidFill>
                  <a:schemeClr val="bg1"/>
                </a:solidFill>
              </a:rPr>
              <a:t>• Skill: Auto-generate commit messages</a:t>
            </a:r>
          </a:p>
          <a:p>
            <a:pPr>
              <a:defRPr sz="1100">
                <a:solidFill>
                  <a:srgbClr val="141413"/>
                </a:solidFill>
              </a:defRPr>
            </a:pPr>
            <a:r>
              <a:rPr dirty="0">
                <a:solidFill>
                  <a:schemeClr val="bg1"/>
                </a:solidFill>
              </a:rPr>
              <a:t>• Hook: Run linter after every file edit</a:t>
            </a:r>
          </a:p>
          <a:p>
            <a:pPr>
              <a:defRPr sz="1100">
                <a:solidFill>
                  <a:srgbClr val="141413"/>
                </a:solidFill>
              </a:defRPr>
            </a:pPr>
            <a:r>
              <a:rPr dirty="0">
                <a:solidFill>
                  <a:schemeClr val="bg1"/>
                </a:solidFill>
              </a:rPr>
              <a:t>• Command: Update </a:t>
            </a:r>
            <a:r>
              <a:rPr dirty="0" err="1">
                <a:solidFill>
                  <a:schemeClr val="bg1"/>
                </a:solidFill>
              </a:rPr>
              <a:t>CHANGELOG.md</a:t>
            </a:r>
            <a:endParaRPr dirty="0">
              <a:solidFill>
                <a:schemeClr val="bg1"/>
              </a:solidFill>
            </a:endParaRPr>
          </a:p>
          <a:p>
            <a:pPr>
              <a:spcBef>
                <a:spcPts val="600"/>
              </a:spcBef>
              <a:defRPr sz="1200" b="1">
                <a:solidFill>
                  <a:srgbClr val="141413"/>
                </a:solidFill>
              </a:defRPr>
            </a:pPr>
            <a:r>
              <a:rPr dirty="0">
                <a:solidFill>
                  <a:schemeClr val="bg1"/>
                </a:solidFill>
              </a:rPr>
              <a:t>The Result: Team saves 15 minutes per commit, maintains consistency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Plugins vs Standalone Configurations</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When to Use Each Approach</a:t>
            </a:r>
          </a:p>
        </p:txBody>
      </p:sp>
      <p:sp>
        <p:nvSpPr>
          <p:cNvPr id="4" name="TextBox 3"/>
          <p:cNvSpPr txBox="1"/>
          <p:nvPr/>
        </p:nvSpPr>
        <p:spPr>
          <a:xfrm>
            <a:off x="731520" y="1645920"/>
            <a:ext cx="7680960" cy="365760"/>
          </a:xfrm>
          <a:prstGeom prst="rect">
            <a:avLst/>
          </a:prstGeom>
          <a:noFill/>
        </p:spPr>
        <p:txBody>
          <a:bodyPr wrap="none">
            <a:spAutoFit/>
          </a:bodyPr>
          <a:lstStyle/>
          <a:p>
            <a:pPr>
              <a:defRPr sz="1200">
                <a:solidFill>
                  <a:srgbClr val="36454F"/>
                </a:solidFill>
              </a:defRPr>
            </a:pPr>
            <a:r>
              <a:t>Comparison table showing key differences and WHY each matters</a:t>
            </a:r>
          </a:p>
        </p:txBody>
      </p:sp>
      <p:sp>
        <p:nvSpPr>
          <p:cNvPr id="5" name="TextBox 4"/>
          <p:cNvSpPr txBox="1"/>
          <p:nvPr/>
        </p:nvSpPr>
        <p:spPr>
          <a:xfrm>
            <a:off x="731520" y="2103120"/>
            <a:ext cx="7680960" cy="1828800"/>
          </a:xfrm>
          <a:prstGeom prst="rect">
            <a:avLst/>
          </a:prstGeom>
          <a:noFill/>
        </p:spPr>
        <p:txBody>
          <a:bodyPr wrap="none">
            <a:spAutoFit/>
          </a:bodyPr>
          <a:lstStyle/>
          <a:p>
            <a:pPr>
              <a:defRPr sz="1400">
                <a:solidFill>
                  <a:srgbClr val="141413"/>
                </a:solidFill>
              </a:defRPr>
            </a:pPr>
            <a:r>
              <a:t>• Plugins: Share with team (WHY: ensures consistency, version-controlled updates)</a:t>
            </a:r>
          </a:p>
          <a:p>
            <a:pPr>
              <a:defRPr sz="1400">
                <a:solidFill>
                  <a:srgbClr val="141413"/>
                </a:solidFill>
              </a:defRPr>
            </a:pPr>
            <a:r>
              <a:t>• Plugins: Namespaced commands (WHY: prevents conflicts between different plugins)</a:t>
            </a:r>
          </a:p>
          <a:p>
            <a:pPr>
              <a:defRPr sz="1400">
                <a:solidFill>
                  <a:srgbClr val="141413"/>
                </a:solidFill>
              </a:defRPr>
            </a:pPr>
            <a:r>
              <a:t>• Standalone: Quick iteration (WHY: no packaging overhead, direct file editing)</a:t>
            </a:r>
          </a:p>
          <a:p>
            <a:pPr>
              <a:defRPr sz="1400">
                <a:solidFill>
                  <a:srgbClr val="141413"/>
                </a:solidFill>
              </a:defRPr>
            </a:pPr>
            <a:r>
              <a:t>• Standalone: Short names (WHY: faster to type, better for personal workflows)</a:t>
            </a:r>
          </a:p>
        </p:txBody>
      </p:sp>
      <p:sp>
        <p:nvSpPr>
          <p:cNvPr id="6" name="Rounded Rectangle 5"/>
          <p:cNvSpPr/>
          <p:nvPr/>
        </p:nvSpPr>
        <p:spPr>
          <a:xfrm>
            <a:off x="914400" y="4114800"/>
            <a:ext cx="7315200" cy="498764"/>
          </a:xfrm>
          <a:prstGeom prst="roundRect">
            <a:avLst/>
          </a:prstGeom>
          <a:solidFill>
            <a:schemeClr val="bg1"/>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1413"/>
                </a:solidFill>
              </a:defRPr>
            </a:pPr>
            <a:r>
              <a:rPr lang="en-US" dirty="0"/>
              <a:t>💡 </a:t>
            </a:r>
            <a:r>
              <a:rPr dirty="0"/>
              <a:t>Best Practice: Start with standalone for experiments, convert to plugin when ready to share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Plugin Namespacing</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Why Namespacing Exists</a:t>
            </a:r>
          </a:p>
        </p:txBody>
      </p:sp>
      <p:sp>
        <p:nvSpPr>
          <p:cNvPr id="4" name="TextBox 3"/>
          <p:cNvSpPr txBox="1"/>
          <p:nvPr/>
        </p:nvSpPr>
        <p:spPr>
          <a:xfrm>
            <a:off x="731520" y="1645920"/>
            <a:ext cx="7680960" cy="1097280"/>
          </a:xfrm>
          <a:prstGeom prst="rect">
            <a:avLst/>
          </a:prstGeom>
          <a:noFill/>
        </p:spPr>
        <p:txBody>
          <a:bodyPr wrap="square">
            <a:spAutoFit/>
          </a:bodyPr>
          <a:lstStyle/>
          <a:p>
            <a:pPr>
              <a:defRPr sz="1600">
                <a:solidFill>
                  <a:srgbClr val="141413"/>
                </a:solidFill>
              </a:defRPr>
            </a:pPr>
            <a:r>
              <a:t>Plugin skills are always namespaced to prevent conflicts. Without namespacing, if two plugins both provide a /review command, Claude Code wouldn't know which one to use.</a:t>
            </a:r>
          </a:p>
        </p:txBody>
      </p:sp>
      <p:sp>
        <p:nvSpPr>
          <p:cNvPr id="5" name="TextBox 4"/>
          <p:cNvSpPr txBox="1"/>
          <p:nvPr/>
        </p:nvSpPr>
        <p:spPr>
          <a:xfrm>
            <a:off x="731520" y="2743200"/>
            <a:ext cx="7680960" cy="365760"/>
          </a:xfrm>
          <a:prstGeom prst="rect">
            <a:avLst/>
          </a:prstGeom>
          <a:noFill/>
        </p:spPr>
        <p:txBody>
          <a:bodyPr wrap="none">
            <a:spAutoFit/>
          </a:bodyPr>
          <a:lstStyle/>
          <a:p>
            <a:pPr>
              <a:defRPr sz="2000" b="1">
                <a:solidFill>
                  <a:srgbClr val="141413"/>
                </a:solidFill>
              </a:defRPr>
            </a:pPr>
            <a:r>
              <a:t>How It Works</a:t>
            </a:r>
          </a:p>
        </p:txBody>
      </p:sp>
      <p:sp>
        <p:nvSpPr>
          <p:cNvPr id="6" name="TextBox 5"/>
          <p:cNvSpPr txBox="1"/>
          <p:nvPr/>
        </p:nvSpPr>
        <p:spPr>
          <a:xfrm>
            <a:off x="914400" y="3291840"/>
            <a:ext cx="1371600" cy="274320"/>
          </a:xfrm>
          <a:prstGeom prst="rect">
            <a:avLst/>
          </a:prstGeom>
          <a:noFill/>
        </p:spPr>
        <p:txBody>
          <a:bodyPr wrap="none">
            <a:spAutoFit/>
          </a:bodyPr>
          <a:lstStyle/>
          <a:p>
            <a:pPr>
              <a:defRPr sz="1400" b="1">
                <a:solidFill>
                  <a:srgbClr val="36454F"/>
                </a:solidFill>
              </a:defRPr>
            </a:pPr>
            <a:r>
              <a:t>Standalone:</a:t>
            </a:r>
          </a:p>
        </p:txBody>
      </p:sp>
      <p:sp>
        <p:nvSpPr>
          <p:cNvPr id="7" name="Rectangle 6"/>
          <p:cNvSpPr/>
          <p:nvPr/>
        </p:nvSpPr>
        <p:spPr>
          <a:xfrm>
            <a:off x="2377440" y="3291840"/>
            <a:ext cx="3419856"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latin typeface="Consolas"/>
              </a:defRPr>
            </a:pPr>
            <a:r>
              <a:t>/hello</a:t>
            </a:r>
          </a:p>
        </p:txBody>
      </p:sp>
      <p:sp>
        <p:nvSpPr>
          <p:cNvPr id="8" name="TextBox 7"/>
          <p:cNvSpPr txBox="1"/>
          <p:nvPr/>
        </p:nvSpPr>
        <p:spPr>
          <a:xfrm>
            <a:off x="6053328" y="3291840"/>
            <a:ext cx="2496312" cy="274320"/>
          </a:xfrm>
          <a:prstGeom prst="rect">
            <a:avLst/>
          </a:prstGeom>
          <a:noFill/>
        </p:spPr>
        <p:txBody>
          <a:bodyPr wrap="square">
            <a:spAutoFit/>
          </a:bodyPr>
          <a:lstStyle/>
          <a:p>
            <a:pPr>
              <a:defRPr sz="1200" i="1">
                <a:solidFill>
                  <a:srgbClr val="36454F"/>
                </a:solidFill>
              </a:defRPr>
            </a:pPr>
            <a:r>
              <a:rPr dirty="0"/>
              <a:t>Short, direct command</a:t>
            </a:r>
          </a:p>
        </p:txBody>
      </p:sp>
      <p:sp>
        <p:nvSpPr>
          <p:cNvPr id="9" name="TextBox 8"/>
          <p:cNvSpPr txBox="1"/>
          <p:nvPr/>
        </p:nvSpPr>
        <p:spPr>
          <a:xfrm>
            <a:off x="914400" y="3703320"/>
            <a:ext cx="1371600" cy="274320"/>
          </a:xfrm>
          <a:prstGeom prst="rect">
            <a:avLst/>
          </a:prstGeom>
          <a:noFill/>
        </p:spPr>
        <p:txBody>
          <a:bodyPr wrap="none">
            <a:spAutoFit/>
          </a:bodyPr>
          <a:lstStyle/>
          <a:p>
            <a:pPr>
              <a:defRPr sz="1400" b="1">
                <a:solidFill>
                  <a:srgbClr val="36454F"/>
                </a:solidFill>
              </a:defRPr>
            </a:pPr>
            <a:r>
              <a:t>Plugin:</a:t>
            </a:r>
          </a:p>
        </p:txBody>
      </p:sp>
      <p:sp>
        <p:nvSpPr>
          <p:cNvPr id="10" name="Rectangle 9"/>
          <p:cNvSpPr/>
          <p:nvPr/>
        </p:nvSpPr>
        <p:spPr>
          <a:xfrm>
            <a:off x="2377440" y="3703320"/>
            <a:ext cx="3419856"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latin typeface="Consolas"/>
              </a:defRPr>
            </a:pPr>
            <a:r>
              <a:t>/my-plugin:hello</a:t>
            </a:r>
          </a:p>
        </p:txBody>
      </p:sp>
      <p:sp>
        <p:nvSpPr>
          <p:cNvPr id="11" name="TextBox 10"/>
          <p:cNvSpPr txBox="1"/>
          <p:nvPr/>
        </p:nvSpPr>
        <p:spPr>
          <a:xfrm>
            <a:off x="6053328" y="3703320"/>
            <a:ext cx="2496312" cy="274320"/>
          </a:xfrm>
          <a:prstGeom prst="rect">
            <a:avLst/>
          </a:prstGeom>
          <a:noFill/>
        </p:spPr>
        <p:txBody>
          <a:bodyPr wrap="square">
            <a:spAutoFit/>
          </a:bodyPr>
          <a:lstStyle/>
          <a:p>
            <a:pPr>
              <a:defRPr sz="1200" i="1">
                <a:solidFill>
                  <a:srgbClr val="36454F"/>
                </a:solidFill>
              </a:defRPr>
            </a:pPr>
            <a:r>
              <a:t>Namespaced with plugin name</a:t>
            </a:r>
          </a:p>
        </p:txBody>
      </p:sp>
      <p:sp>
        <p:nvSpPr>
          <p:cNvPr id="12" name="TextBox 11"/>
          <p:cNvSpPr txBox="1"/>
          <p:nvPr/>
        </p:nvSpPr>
        <p:spPr>
          <a:xfrm>
            <a:off x="914400" y="4114800"/>
            <a:ext cx="1371600" cy="274320"/>
          </a:xfrm>
          <a:prstGeom prst="rect">
            <a:avLst/>
          </a:prstGeom>
          <a:noFill/>
        </p:spPr>
        <p:txBody>
          <a:bodyPr wrap="none">
            <a:spAutoFit/>
          </a:bodyPr>
          <a:lstStyle/>
          <a:p>
            <a:pPr>
              <a:defRPr sz="1400" b="1">
                <a:solidFill>
                  <a:srgbClr val="36454F"/>
                </a:solidFill>
              </a:defRPr>
            </a:pPr>
            <a:r>
              <a:t>Multiple:</a:t>
            </a:r>
          </a:p>
        </p:txBody>
      </p:sp>
      <p:sp>
        <p:nvSpPr>
          <p:cNvPr id="13" name="Rectangle 12"/>
          <p:cNvSpPr/>
          <p:nvPr/>
        </p:nvSpPr>
        <p:spPr>
          <a:xfrm>
            <a:off x="2377440" y="4114800"/>
            <a:ext cx="3419856"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latin typeface="Consolas"/>
              </a:defRPr>
            </a:pPr>
            <a:r>
              <a:t>/plugin-a:review vs /plugin-b:review</a:t>
            </a:r>
          </a:p>
        </p:txBody>
      </p:sp>
      <p:sp>
        <p:nvSpPr>
          <p:cNvPr id="14" name="TextBox 13"/>
          <p:cNvSpPr txBox="1"/>
          <p:nvPr/>
        </p:nvSpPr>
        <p:spPr>
          <a:xfrm>
            <a:off x="6053328" y="4114800"/>
            <a:ext cx="2496312" cy="274320"/>
          </a:xfrm>
          <a:prstGeom prst="rect">
            <a:avLst/>
          </a:prstGeom>
          <a:noFill/>
        </p:spPr>
        <p:txBody>
          <a:bodyPr wrap="square">
            <a:spAutoFit/>
          </a:bodyPr>
          <a:lstStyle/>
          <a:p>
            <a:pPr>
              <a:defRPr sz="1200" i="1">
                <a:solidFill>
                  <a:srgbClr val="36454F"/>
                </a:solidFill>
              </a:defRPr>
            </a:pPr>
            <a:r>
              <a:t>No conflicts!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311E4-124D-E819-327E-E8390FD0FF3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4F4C77-F33E-FD63-92C0-EE39850906E2}"/>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ACE4FC-97A3-FCD7-E9C7-9803D460B122}"/>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1:</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18" name="Graphic 17" descr="Brain with solid fill">
            <a:extLst>
              <a:ext uri="{FF2B5EF4-FFF2-40B4-BE49-F238E27FC236}">
                <a16:creationId xmlns:a16="http://schemas.microsoft.com/office/drawing/2014/main" id="{91E67596-BD4A-E774-F38E-76A5D88008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19" name="TextBox 18">
            <a:extLst>
              <a:ext uri="{FF2B5EF4-FFF2-40B4-BE49-F238E27FC236}">
                <a16:creationId xmlns:a16="http://schemas.microsoft.com/office/drawing/2014/main" id="{0ED2E858-3A5B-7546-2F1A-21D7AF3A4509}"/>
              </a:ext>
            </a:extLst>
          </p:cNvPr>
          <p:cNvSpPr txBox="1"/>
          <p:nvPr/>
        </p:nvSpPr>
        <p:spPr>
          <a:xfrm>
            <a:off x="3129308" y="834391"/>
            <a:ext cx="5460960" cy="523220"/>
          </a:xfrm>
          <a:prstGeom prst="rect">
            <a:avLst/>
          </a:prstGeom>
          <a:noFill/>
        </p:spPr>
        <p:txBody>
          <a:bodyPr wrap="square">
            <a:spAutoFit/>
          </a:bodyPr>
          <a:lstStyle/>
          <a:p>
            <a:pPr>
              <a:defRPr sz="1400" b="1">
                <a:solidFill>
                  <a:srgbClr val="141413"/>
                </a:solidFill>
              </a:defRPr>
            </a:pPr>
            <a:r>
              <a:t>Which scenario is BEST suited for creating a plugin rather than using standalone configuration?</a:t>
            </a:r>
          </a:p>
        </p:txBody>
      </p:sp>
      <p:sp>
        <p:nvSpPr>
          <p:cNvPr id="20" name="TextBox 19">
            <a:extLst>
              <a:ext uri="{FF2B5EF4-FFF2-40B4-BE49-F238E27FC236}">
                <a16:creationId xmlns:a16="http://schemas.microsoft.com/office/drawing/2014/main" id="{E63E6905-79D2-F779-2C37-C0280A5031D0}"/>
              </a:ext>
            </a:extLst>
          </p:cNvPr>
          <p:cNvSpPr txBox="1"/>
          <p:nvPr/>
        </p:nvSpPr>
        <p:spPr>
          <a:xfrm>
            <a:off x="3312187" y="1291591"/>
            <a:ext cx="5326121" cy="261610"/>
          </a:xfrm>
          <a:prstGeom prst="rect">
            <a:avLst/>
          </a:prstGeom>
          <a:noFill/>
        </p:spPr>
        <p:txBody>
          <a:bodyPr wrap="square">
            <a:spAutoFit/>
          </a:bodyPr>
          <a:lstStyle/>
          <a:p>
            <a:pPr>
              <a:defRPr sz="1100" b="0">
                <a:solidFill>
                  <a:srgbClr val="36454F"/>
                </a:solidFill>
              </a:defRPr>
            </a:pPr>
            <a:r>
              <a:rPr dirty="0"/>
              <a:t>A) You're experimenting with a new skill for personal use</a:t>
            </a:r>
          </a:p>
        </p:txBody>
      </p:sp>
      <p:sp>
        <p:nvSpPr>
          <p:cNvPr id="21" name="TextBox 20">
            <a:extLst>
              <a:ext uri="{FF2B5EF4-FFF2-40B4-BE49-F238E27FC236}">
                <a16:creationId xmlns:a16="http://schemas.microsoft.com/office/drawing/2014/main" id="{AF77F066-70DA-76A5-1244-BEA872CA295D}"/>
              </a:ext>
            </a:extLst>
          </p:cNvPr>
          <p:cNvSpPr txBox="1"/>
          <p:nvPr/>
        </p:nvSpPr>
        <p:spPr>
          <a:xfrm>
            <a:off x="3312187" y="1565911"/>
            <a:ext cx="5326121" cy="261610"/>
          </a:xfrm>
          <a:prstGeom prst="rect">
            <a:avLst/>
          </a:prstGeom>
          <a:noFill/>
        </p:spPr>
        <p:txBody>
          <a:bodyPr wrap="square">
            <a:spAutoFit/>
          </a:bodyPr>
          <a:lstStyle/>
          <a:p>
            <a:pPr>
              <a:defRPr sz="1100" b="1">
                <a:solidFill>
                  <a:srgbClr val="788C5D"/>
                </a:solidFill>
              </a:defRPr>
            </a:pPr>
            <a:r>
              <a:rPr lang="en-US" dirty="0"/>
              <a:t>B) You need to share custom functionality with your entire team</a:t>
            </a:r>
          </a:p>
        </p:txBody>
      </p:sp>
      <p:sp>
        <p:nvSpPr>
          <p:cNvPr id="22" name="TextBox 21">
            <a:extLst>
              <a:ext uri="{FF2B5EF4-FFF2-40B4-BE49-F238E27FC236}">
                <a16:creationId xmlns:a16="http://schemas.microsoft.com/office/drawing/2014/main" id="{7F907EB9-A00C-B23D-DF12-D1AD8701E7F6}"/>
              </a:ext>
            </a:extLst>
          </p:cNvPr>
          <p:cNvSpPr txBox="1"/>
          <p:nvPr/>
        </p:nvSpPr>
        <p:spPr>
          <a:xfrm>
            <a:off x="3312187" y="1840230"/>
            <a:ext cx="5326121" cy="261610"/>
          </a:xfrm>
          <a:prstGeom prst="rect">
            <a:avLst/>
          </a:prstGeom>
          <a:noFill/>
        </p:spPr>
        <p:txBody>
          <a:bodyPr wrap="square">
            <a:spAutoFit/>
          </a:bodyPr>
          <a:lstStyle/>
          <a:p>
            <a:pPr>
              <a:defRPr sz="1100" b="0">
                <a:solidFill>
                  <a:srgbClr val="36454F"/>
                </a:solidFill>
              </a:defRPr>
            </a:pPr>
            <a:r>
              <a:rPr dirty="0"/>
              <a:t>C) You want a short skill name like /hello</a:t>
            </a:r>
          </a:p>
        </p:txBody>
      </p:sp>
      <p:sp>
        <p:nvSpPr>
          <p:cNvPr id="23" name="TextBox 22">
            <a:extLst>
              <a:ext uri="{FF2B5EF4-FFF2-40B4-BE49-F238E27FC236}">
                <a16:creationId xmlns:a16="http://schemas.microsoft.com/office/drawing/2014/main" id="{B9604CB2-4E41-549D-5E0C-52859B626460}"/>
              </a:ext>
            </a:extLst>
          </p:cNvPr>
          <p:cNvSpPr txBox="1"/>
          <p:nvPr/>
        </p:nvSpPr>
        <p:spPr>
          <a:xfrm>
            <a:off x="3312187" y="2114550"/>
            <a:ext cx="5326121" cy="261610"/>
          </a:xfrm>
          <a:prstGeom prst="rect">
            <a:avLst/>
          </a:prstGeom>
          <a:noFill/>
        </p:spPr>
        <p:txBody>
          <a:bodyPr wrap="square">
            <a:spAutoFit/>
          </a:bodyPr>
          <a:lstStyle/>
          <a:p>
            <a:pPr>
              <a:defRPr sz="1100" b="0">
                <a:solidFill>
                  <a:srgbClr val="36454F"/>
                </a:solidFill>
              </a:defRPr>
            </a:pPr>
            <a:r>
              <a:t>D) You're customizing Claude Code for a single project</a:t>
            </a:r>
          </a:p>
        </p:txBody>
      </p:sp>
      <p:sp>
        <p:nvSpPr>
          <p:cNvPr id="24" name="TextBox 23">
            <a:extLst>
              <a:ext uri="{FF2B5EF4-FFF2-40B4-BE49-F238E27FC236}">
                <a16:creationId xmlns:a16="http://schemas.microsoft.com/office/drawing/2014/main" id="{5E241B5B-A5E1-6E76-B88E-232D025577BF}"/>
              </a:ext>
            </a:extLst>
          </p:cNvPr>
          <p:cNvSpPr txBox="1"/>
          <p:nvPr/>
        </p:nvSpPr>
        <p:spPr>
          <a:xfrm>
            <a:off x="3129308" y="2571750"/>
            <a:ext cx="5460960" cy="307777"/>
          </a:xfrm>
          <a:prstGeom prst="rect">
            <a:avLst/>
          </a:prstGeom>
          <a:noFill/>
        </p:spPr>
        <p:txBody>
          <a:bodyPr wrap="square">
            <a:spAutoFit/>
          </a:bodyPr>
          <a:lstStyle/>
          <a:p>
            <a:pPr>
              <a:defRPr sz="1400" b="1">
                <a:solidFill>
                  <a:srgbClr val="141413"/>
                </a:solidFill>
              </a:defRPr>
            </a:pPr>
            <a:r>
              <a:t>What is the primary purpose of plugin namespacing?</a:t>
            </a:r>
          </a:p>
        </p:txBody>
      </p:sp>
      <p:sp>
        <p:nvSpPr>
          <p:cNvPr id="25" name="TextBox 24">
            <a:extLst>
              <a:ext uri="{FF2B5EF4-FFF2-40B4-BE49-F238E27FC236}">
                <a16:creationId xmlns:a16="http://schemas.microsoft.com/office/drawing/2014/main" id="{20112888-7D83-9265-FC0B-208CF8F1833D}"/>
              </a:ext>
            </a:extLst>
          </p:cNvPr>
          <p:cNvSpPr txBox="1"/>
          <p:nvPr/>
        </p:nvSpPr>
        <p:spPr>
          <a:xfrm>
            <a:off x="3312187" y="3028950"/>
            <a:ext cx="5326121" cy="261610"/>
          </a:xfrm>
          <a:prstGeom prst="rect">
            <a:avLst/>
          </a:prstGeom>
          <a:noFill/>
        </p:spPr>
        <p:txBody>
          <a:bodyPr wrap="square">
            <a:spAutoFit/>
          </a:bodyPr>
          <a:lstStyle/>
          <a:p>
            <a:pPr>
              <a:defRPr sz="1100" b="0">
                <a:solidFill>
                  <a:srgbClr val="36454F"/>
                </a:solidFill>
              </a:defRPr>
            </a:pPr>
            <a:r>
              <a:t>A) To make commands longer and more descriptive</a:t>
            </a:r>
          </a:p>
        </p:txBody>
      </p:sp>
      <p:sp>
        <p:nvSpPr>
          <p:cNvPr id="26" name="TextBox 25">
            <a:extLst>
              <a:ext uri="{FF2B5EF4-FFF2-40B4-BE49-F238E27FC236}">
                <a16:creationId xmlns:a16="http://schemas.microsoft.com/office/drawing/2014/main" id="{78DFA619-96D8-2AEB-C5F7-703FFF203BFA}"/>
              </a:ext>
            </a:extLst>
          </p:cNvPr>
          <p:cNvSpPr txBox="1"/>
          <p:nvPr/>
        </p:nvSpPr>
        <p:spPr>
          <a:xfrm>
            <a:off x="3312187" y="3303270"/>
            <a:ext cx="5326121" cy="261610"/>
          </a:xfrm>
          <a:prstGeom prst="rect">
            <a:avLst/>
          </a:prstGeom>
          <a:noFill/>
        </p:spPr>
        <p:txBody>
          <a:bodyPr wrap="square">
            <a:spAutoFit/>
          </a:bodyPr>
          <a:lstStyle/>
          <a:p>
            <a:pPr>
              <a:defRPr sz="1100" b="1">
                <a:solidFill>
                  <a:srgbClr val="788C5D"/>
                </a:solidFill>
              </a:defRPr>
            </a:pPr>
            <a:r>
              <a:t>B) To prevent naming conflicts between different plugins</a:t>
            </a:r>
          </a:p>
        </p:txBody>
      </p:sp>
      <p:sp>
        <p:nvSpPr>
          <p:cNvPr id="27" name="TextBox 26">
            <a:extLst>
              <a:ext uri="{FF2B5EF4-FFF2-40B4-BE49-F238E27FC236}">
                <a16:creationId xmlns:a16="http://schemas.microsoft.com/office/drawing/2014/main" id="{13350721-65C4-2667-7EAA-19B0ED913D26}"/>
              </a:ext>
            </a:extLst>
          </p:cNvPr>
          <p:cNvSpPr txBox="1"/>
          <p:nvPr/>
        </p:nvSpPr>
        <p:spPr>
          <a:xfrm>
            <a:off x="3312187" y="3577590"/>
            <a:ext cx="5326121" cy="261610"/>
          </a:xfrm>
          <a:prstGeom prst="rect">
            <a:avLst/>
          </a:prstGeom>
          <a:noFill/>
        </p:spPr>
        <p:txBody>
          <a:bodyPr wrap="square">
            <a:spAutoFit/>
          </a:bodyPr>
          <a:lstStyle/>
          <a:p>
            <a:pPr>
              <a:defRPr sz="1100" b="0">
                <a:solidFill>
                  <a:srgbClr val="36454F"/>
                </a:solidFill>
              </a:defRPr>
            </a:pPr>
            <a:r>
              <a:t>C) To organize files within the plugin directory</a:t>
            </a:r>
          </a:p>
        </p:txBody>
      </p:sp>
      <p:sp>
        <p:nvSpPr>
          <p:cNvPr id="28" name="TextBox 27">
            <a:extLst>
              <a:ext uri="{FF2B5EF4-FFF2-40B4-BE49-F238E27FC236}">
                <a16:creationId xmlns:a16="http://schemas.microsoft.com/office/drawing/2014/main" id="{D54A9E68-A494-6ADF-1A3C-4C26D9230322}"/>
              </a:ext>
            </a:extLst>
          </p:cNvPr>
          <p:cNvSpPr txBox="1"/>
          <p:nvPr/>
        </p:nvSpPr>
        <p:spPr>
          <a:xfrm>
            <a:off x="3312187" y="3851910"/>
            <a:ext cx="5326121" cy="261610"/>
          </a:xfrm>
          <a:prstGeom prst="rect">
            <a:avLst/>
          </a:prstGeom>
          <a:noFill/>
        </p:spPr>
        <p:txBody>
          <a:bodyPr wrap="square">
            <a:spAutoFit/>
          </a:bodyPr>
          <a:lstStyle/>
          <a:p>
            <a:pPr>
              <a:defRPr sz="1100" b="0">
                <a:solidFill>
                  <a:srgbClr val="36454F"/>
                </a:solidFill>
              </a:defRPr>
            </a:pPr>
            <a:r>
              <a:t>D) To distinguish between user and system commands</a:t>
            </a:r>
          </a:p>
        </p:txBody>
      </p:sp>
    </p:spTree>
    <p:extLst>
      <p:ext uri="{BB962C8B-B14F-4D97-AF65-F5344CB8AC3E}">
        <p14:creationId xmlns:p14="http://schemas.microsoft.com/office/powerpoint/2010/main" val="2324569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3" name="TextBox 2"/>
          <p:cNvSpPr txBox="1"/>
          <p:nvPr/>
        </p:nvSpPr>
        <p:spPr>
          <a:xfrm>
            <a:off x="457200" y="502920"/>
            <a:ext cx="7589520" cy="548640"/>
          </a:xfrm>
          <a:prstGeom prst="rect">
            <a:avLst/>
          </a:prstGeom>
          <a:noFill/>
        </p:spPr>
        <p:txBody>
          <a:bodyPr wrap="none">
            <a:spAutoFit/>
          </a:bodyPr>
          <a:lstStyle/>
          <a:p>
            <a:pPr>
              <a:defRPr sz="3200" b="1">
                <a:solidFill>
                  <a:srgbClr val="141413"/>
                </a:solidFill>
              </a:defRPr>
            </a:pPr>
            <a:r>
              <a:rPr dirty="0"/>
              <a:t>Module 1 Summary</a:t>
            </a:r>
          </a:p>
        </p:txBody>
      </p:sp>
      <p:sp>
        <p:nvSpPr>
          <p:cNvPr id="4" name="TextBox 3"/>
          <p:cNvSpPr txBox="1"/>
          <p:nvPr/>
        </p:nvSpPr>
        <p:spPr>
          <a:xfrm>
            <a:off x="457200" y="1051560"/>
            <a:ext cx="7589520" cy="365760"/>
          </a:xfrm>
          <a:prstGeom prst="rect">
            <a:avLst/>
          </a:prstGeom>
          <a:noFill/>
        </p:spPr>
        <p:txBody>
          <a:bodyPr wrap="none">
            <a:spAutoFit/>
          </a:bodyPr>
          <a:lstStyle/>
          <a:p>
            <a:pPr>
              <a:defRPr sz="1800" i="1">
                <a:solidFill>
                  <a:srgbClr val="36454F"/>
                </a:solidFill>
              </a:defRPr>
            </a:pPr>
            <a:r>
              <a:rPr dirty="0"/>
              <a:t>What Plugins Are and How They Work</a:t>
            </a:r>
          </a:p>
        </p:txBody>
      </p:sp>
      <p:sp>
        <p:nvSpPr>
          <p:cNvPr id="5" name="TextBox 4"/>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6" name="TextBox 5"/>
          <p:cNvSpPr txBox="1"/>
          <p:nvPr/>
        </p:nvSpPr>
        <p:spPr>
          <a:xfrm>
            <a:off x="457200" y="2103120"/>
            <a:ext cx="5389418" cy="2369880"/>
          </a:xfrm>
          <a:prstGeom prst="rect">
            <a:avLst/>
          </a:prstGeom>
          <a:noFill/>
        </p:spPr>
        <p:txBody>
          <a:bodyPr wrap="square">
            <a:spAutoFit/>
          </a:bodyPr>
          <a:lstStyle/>
          <a:p>
            <a:pPr>
              <a:spcBef>
                <a:spcPts val="800"/>
              </a:spcBef>
              <a:defRPr sz="1600">
                <a:solidFill>
                  <a:srgbClr val="141413"/>
                </a:solidFill>
              </a:defRPr>
            </a:pPr>
            <a:r>
              <a:rPr dirty="0"/>
              <a:t>• Plugins are packaged extensions that bundle skills, agents, hooks, and MCP servers for sharing</a:t>
            </a:r>
          </a:p>
          <a:p>
            <a:pPr>
              <a:spcBef>
                <a:spcPts val="800"/>
              </a:spcBef>
              <a:defRPr sz="1600">
                <a:solidFill>
                  <a:srgbClr val="141413"/>
                </a:solidFill>
              </a:defRPr>
            </a:pPr>
            <a:r>
              <a:rPr dirty="0"/>
              <a:t>• Use plugins when sharing with teams; use standalone for personal workflows and quick iteration</a:t>
            </a:r>
          </a:p>
          <a:p>
            <a:pPr>
              <a:spcBef>
                <a:spcPts val="800"/>
              </a:spcBef>
              <a:defRPr sz="1600">
                <a:solidFill>
                  <a:srgbClr val="141413"/>
                </a:solidFill>
              </a:defRPr>
            </a:pPr>
            <a:r>
              <a:rPr dirty="0"/>
              <a:t>• Plugin </a:t>
            </a:r>
            <a:r>
              <a:rPr dirty="0" err="1"/>
              <a:t>namespacing</a:t>
            </a:r>
            <a:r>
              <a:rPr dirty="0"/>
              <a:t> (e.g., /</a:t>
            </a:r>
            <a:r>
              <a:rPr dirty="0" err="1"/>
              <a:t>plugin-name:command</a:t>
            </a:r>
            <a:r>
              <a:rPr dirty="0"/>
              <a:t>) prevents conflicts between plugins</a:t>
            </a:r>
          </a:p>
          <a:p>
            <a:pPr>
              <a:spcBef>
                <a:spcPts val="800"/>
              </a:spcBef>
              <a:defRPr sz="1600">
                <a:solidFill>
                  <a:srgbClr val="141413"/>
                </a:solidFill>
              </a:defRPr>
            </a:pPr>
            <a:r>
              <a:rPr dirty="0"/>
              <a:t>• Start with standalone configurations, then convert to plugins when ready to distribute</a:t>
            </a:r>
          </a:p>
        </p:txBody>
      </p:sp>
      <p:sp>
        <p:nvSpPr>
          <p:cNvPr id="7" name="Rectangle 6">
            <a:extLst>
              <a:ext uri="{FF2B5EF4-FFF2-40B4-BE49-F238E27FC236}">
                <a16:creationId xmlns:a16="http://schemas.microsoft.com/office/drawing/2014/main" id="{1394849A-9A0E-41CD-321F-21456F358E98}"/>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Graphic 9" descr="Key with solid fill">
            <a:extLst>
              <a:ext uri="{FF2B5EF4-FFF2-40B4-BE49-F238E27FC236}">
                <a16:creationId xmlns:a16="http://schemas.microsoft.com/office/drawing/2014/main" id="{C8F3A603-CF88-14DF-70CC-00E4A199DE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97757"/>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CC392B81-C660-6B63-24AD-5F1A3DC6A49F}"/>
              </a:ext>
            </a:extLst>
          </p:cNvPr>
          <p:cNvSpPr txBox="1"/>
          <p:nvPr/>
        </p:nvSpPr>
        <p:spPr>
          <a:xfrm>
            <a:off x="609600" y="655320"/>
            <a:ext cx="5140831"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2</a:t>
            </a:r>
            <a:r>
              <a:rPr dirty="0">
                <a:solidFill>
                  <a:schemeClr val="bg1"/>
                </a:solidFill>
              </a:rPr>
              <a:t>: </a:t>
            </a:r>
            <a:r>
              <a:rPr lang="en-US" dirty="0">
                <a:solidFill>
                  <a:schemeClr val="bg1"/>
                </a:solidFill>
              </a:rPr>
              <a:t>Plugin Marketplaces</a:t>
            </a:r>
            <a:endParaRPr dirty="0">
              <a:solidFill>
                <a:schemeClr val="bg1"/>
              </a:solidFill>
            </a:endParaRPr>
          </a:p>
        </p:txBody>
      </p:sp>
      <p:sp>
        <p:nvSpPr>
          <p:cNvPr id="12" name="TextBox 11">
            <a:extLst>
              <a:ext uri="{FF2B5EF4-FFF2-40B4-BE49-F238E27FC236}">
                <a16:creationId xmlns:a16="http://schemas.microsoft.com/office/drawing/2014/main" id="{BF3B5570-54E7-ECC8-47C2-89A117471E6A}"/>
              </a:ext>
            </a:extLst>
          </p:cNvPr>
          <p:cNvSpPr txBox="1"/>
          <p:nvPr/>
        </p:nvSpPr>
        <p:spPr>
          <a:xfrm>
            <a:off x="609600" y="1203960"/>
            <a:ext cx="2230804" cy="400110"/>
          </a:xfrm>
          <a:prstGeom prst="rect">
            <a:avLst/>
          </a:prstGeom>
          <a:noFill/>
        </p:spPr>
        <p:txBody>
          <a:bodyPr wrap="none">
            <a:spAutoFit/>
          </a:bodyPr>
          <a:lstStyle/>
          <a:p>
            <a:pPr>
              <a:defRPr sz="2000">
                <a:solidFill>
                  <a:srgbClr val="36454F"/>
                </a:solidFill>
              </a:defRPr>
            </a:pPr>
            <a:r>
              <a:rPr>
                <a:solidFill>
                  <a:schemeClr val="bg1"/>
                </a:solidFill>
              </a:rPr>
              <a:t>Learning Objectives</a:t>
            </a:r>
          </a:p>
        </p:txBody>
      </p:sp>
      <p:sp>
        <p:nvSpPr>
          <p:cNvPr id="13" name="TextBox 12">
            <a:extLst>
              <a:ext uri="{FF2B5EF4-FFF2-40B4-BE49-F238E27FC236}">
                <a16:creationId xmlns:a16="http://schemas.microsoft.com/office/drawing/2014/main" id="{3F9470F0-C762-28C8-66AF-806351C211BB}"/>
              </a:ext>
            </a:extLst>
          </p:cNvPr>
          <p:cNvSpPr txBox="1"/>
          <p:nvPr/>
        </p:nvSpPr>
        <p:spPr>
          <a:xfrm>
            <a:off x="609600" y="1798320"/>
            <a:ext cx="6457217" cy="1308050"/>
          </a:xfrm>
          <a:prstGeom prst="rect">
            <a:avLst/>
          </a:prstGeom>
          <a:noFill/>
        </p:spPr>
        <p:txBody>
          <a:bodyPr wrap="none">
            <a:spAutoFit/>
          </a:bodyPr>
          <a:lstStyle/>
          <a:p>
            <a:pPr>
              <a:spcBef>
                <a:spcPts val="600"/>
              </a:spcBef>
              <a:defRPr sz="1600">
                <a:solidFill>
                  <a:srgbClr val="141413"/>
                </a:solidFill>
              </a:defRPr>
            </a:pPr>
            <a:r>
              <a:rPr lang="en-US" dirty="0">
                <a:solidFill>
                  <a:schemeClr val="bg1"/>
                </a:solidFill>
              </a:rPr>
              <a:t>• Explain the purpose of plugin marketplaces in the Claude Code ecosystem</a:t>
            </a:r>
          </a:p>
          <a:p>
            <a:pPr>
              <a:spcBef>
                <a:spcPts val="600"/>
              </a:spcBef>
              <a:defRPr sz="1600">
                <a:solidFill>
                  <a:srgbClr val="141413"/>
                </a:solidFill>
              </a:defRPr>
            </a:pPr>
            <a:r>
              <a:rPr lang="en-US" dirty="0">
                <a:solidFill>
                  <a:schemeClr val="bg1"/>
                </a:solidFill>
              </a:rPr>
              <a:t>• Distinguish between official and community/demo marketplaces</a:t>
            </a:r>
          </a:p>
          <a:p>
            <a:pPr>
              <a:spcBef>
                <a:spcPts val="600"/>
              </a:spcBef>
              <a:defRPr sz="1600">
                <a:solidFill>
                  <a:srgbClr val="141413"/>
                </a:solidFill>
              </a:defRPr>
            </a:pPr>
            <a:r>
              <a:rPr lang="en-US" dirty="0">
                <a:solidFill>
                  <a:schemeClr val="bg1"/>
                </a:solidFill>
              </a:rPr>
              <a:t>• Navigate the plugin discovery interface to find relevant plugins</a:t>
            </a:r>
          </a:p>
          <a:p>
            <a:pPr>
              <a:spcBef>
                <a:spcPts val="600"/>
              </a:spcBef>
              <a:defRPr sz="1600">
                <a:solidFill>
                  <a:srgbClr val="141413"/>
                </a:solidFill>
              </a:defRPr>
            </a:pPr>
            <a:r>
              <a:rPr lang="en-US" dirty="0">
                <a:solidFill>
                  <a:schemeClr val="bg1"/>
                </a:solidFill>
              </a:rPr>
              <a:t>• Evaluate plugin security and trustworthiness before installation</a:t>
            </a:r>
          </a:p>
        </p:txBody>
      </p:sp>
      <p:sp>
        <p:nvSpPr>
          <p:cNvPr id="14" name="Rounded Rectangle 13">
            <a:extLst>
              <a:ext uri="{FF2B5EF4-FFF2-40B4-BE49-F238E27FC236}">
                <a16:creationId xmlns:a16="http://schemas.microsoft.com/office/drawing/2014/main" id="{6261B804-5416-11C7-6B5D-725B0DD50203}"/>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30</a:t>
            </a:r>
            <a:r>
              <a:rPr dirty="0">
                <a:solidFill>
                  <a:schemeClr val="tx1"/>
                </a:solidFill>
              </a:rPr>
              <a:t> minutes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What are Plugin Marketplaces?</a:t>
            </a:r>
          </a:p>
        </p:txBody>
      </p:sp>
      <p:sp>
        <p:nvSpPr>
          <p:cNvPr id="3" name="TextBox 2"/>
          <p:cNvSpPr txBox="1"/>
          <p:nvPr/>
        </p:nvSpPr>
        <p:spPr>
          <a:xfrm>
            <a:off x="731520" y="1188720"/>
            <a:ext cx="4408516" cy="400110"/>
          </a:xfrm>
          <a:prstGeom prst="rect">
            <a:avLst/>
          </a:prstGeom>
          <a:noFill/>
        </p:spPr>
        <p:txBody>
          <a:bodyPr wrap="square">
            <a:spAutoFit/>
          </a:bodyPr>
          <a:lstStyle/>
          <a:p>
            <a:pPr>
              <a:defRPr sz="2000" b="1">
                <a:solidFill>
                  <a:srgbClr val="141413"/>
                </a:solidFill>
              </a:defRPr>
            </a:pPr>
            <a:r>
              <a:t>Marketplaces are Catalogs of Plugins</a:t>
            </a:r>
          </a:p>
        </p:txBody>
      </p:sp>
      <p:sp>
        <p:nvSpPr>
          <p:cNvPr id="4" name="TextBox 3"/>
          <p:cNvSpPr txBox="1"/>
          <p:nvPr/>
        </p:nvSpPr>
        <p:spPr>
          <a:xfrm>
            <a:off x="731519" y="1645920"/>
            <a:ext cx="5759335" cy="954107"/>
          </a:xfrm>
          <a:prstGeom prst="rect">
            <a:avLst/>
          </a:prstGeom>
          <a:noFill/>
        </p:spPr>
        <p:txBody>
          <a:bodyPr wrap="square">
            <a:spAutoFit/>
          </a:bodyPr>
          <a:lstStyle/>
          <a:p>
            <a:pPr>
              <a:defRPr sz="1400">
                <a:solidFill>
                  <a:srgbClr val="141413"/>
                </a:solidFill>
              </a:defRPr>
            </a:pPr>
            <a:r>
              <a:rPr dirty="0"/>
              <a:t>• Centralized discovery: Browse available plugins from multiple authors</a:t>
            </a:r>
          </a:p>
          <a:p>
            <a:pPr>
              <a:defRPr sz="1400">
                <a:solidFill>
                  <a:srgbClr val="141413"/>
                </a:solidFill>
              </a:defRPr>
            </a:pPr>
            <a:r>
              <a:rPr dirty="0"/>
              <a:t>• Version tracking: See plugin versions and update history</a:t>
            </a:r>
          </a:p>
          <a:p>
            <a:pPr>
              <a:defRPr sz="1400">
                <a:solidFill>
                  <a:srgbClr val="141413"/>
                </a:solidFill>
              </a:defRPr>
            </a:pPr>
            <a:r>
              <a:rPr dirty="0"/>
              <a:t>• Automatic updates: Get notified when new versions are available</a:t>
            </a:r>
          </a:p>
          <a:p>
            <a:pPr>
              <a:defRPr sz="1400">
                <a:solidFill>
                  <a:srgbClr val="141413"/>
                </a:solidFill>
              </a:defRPr>
            </a:pPr>
            <a:r>
              <a:rPr dirty="0"/>
              <a:t>• Multiple sources: Support for git repositories, local paths, and more</a:t>
            </a:r>
          </a:p>
        </p:txBody>
      </p:sp>
      <p:sp>
        <p:nvSpPr>
          <p:cNvPr id="5" name="TextBox 4"/>
          <p:cNvSpPr txBox="1"/>
          <p:nvPr/>
        </p:nvSpPr>
        <p:spPr>
          <a:xfrm>
            <a:off x="731520" y="2840663"/>
            <a:ext cx="4408516" cy="400110"/>
          </a:xfrm>
          <a:prstGeom prst="rect">
            <a:avLst/>
          </a:prstGeom>
          <a:noFill/>
        </p:spPr>
        <p:txBody>
          <a:bodyPr wrap="square">
            <a:spAutoFit/>
          </a:bodyPr>
          <a:lstStyle/>
          <a:p>
            <a:pPr>
              <a:defRPr sz="2000" b="1">
                <a:solidFill>
                  <a:srgbClr val="141413"/>
                </a:solidFill>
              </a:defRPr>
            </a:pPr>
            <a:r>
              <a:rPr dirty="0"/>
              <a:t>Two-Step Process</a:t>
            </a:r>
          </a:p>
        </p:txBody>
      </p:sp>
      <p:sp>
        <p:nvSpPr>
          <p:cNvPr id="6" name="TextBox 5"/>
          <p:cNvSpPr txBox="1"/>
          <p:nvPr/>
        </p:nvSpPr>
        <p:spPr>
          <a:xfrm>
            <a:off x="731519" y="3297863"/>
            <a:ext cx="5759335" cy="523220"/>
          </a:xfrm>
          <a:prstGeom prst="rect">
            <a:avLst/>
          </a:prstGeom>
          <a:noFill/>
        </p:spPr>
        <p:txBody>
          <a:bodyPr wrap="square">
            <a:spAutoFit/>
          </a:bodyPr>
          <a:lstStyle/>
          <a:p>
            <a:pPr>
              <a:defRPr sz="1400">
                <a:solidFill>
                  <a:srgbClr val="141413"/>
                </a:solidFill>
              </a:defRPr>
            </a:pPr>
            <a:r>
              <a:rPr dirty="0"/>
              <a:t>• Step 1: Add the marketplace (registers the catalog)</a:t>
            </a:r>
          </a:p>
          <a:p>
            <a:pPr>
              <a:defRPr sz="1400">
                <a:solidFill>
                  <a:srgbClr val="141413"/>
                </a:solidFill>
              </a:defRPr>
            </a:pPr>
            <a:r>
              <a:rPr dirty="0"/>
              <a:t>• Step 2: Install individual plugins you want</a:t>
            </a:r>
          </a:p>
        </p:txBody>
      </p:sp>
      <p:sp>
        <p:nvSpPr>
          <p:cNvPr id="9" name="Rectangle 8">
            <a:extLst>
              <a:ext uri="{FF2B5EF4-FFF2-40B4-BE49-F238E27FC236}">
                <a16:creationId xmlns:a16="http://schemas.microsoft.com/office/drawing/2014/main" id="{5FD9A62B-2FEC-3781-8EDA-6BD174808E28}"/>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Think of it like adding an app store: adding the store lets you browse, but you choose which apps to install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The Plugin Manager Interface</a:t>
            </a:r>
          </a:p>
        </p:txBody>
      </p:sp>
      <p:sp>
        <p:nvSpPr>
          <p:cNvPr id="3" name="TextBox 2"/>
          <p:cNvSpPr txBox="1"/>
          <p:nvPr/>
        </p:nvSpPr>
        <p:spPr>
          <a:xfrm>
            <a:off x="731520" y="1097280"/>
            <a:ext cx="7680960" cy="365760"/>
          </a:xfrm>
          <a:prstGeom prst="rect">
            <a:avLst/>
          </a:prstGeom>
          <a:noFill/>
        </p:spPr>
        <p:txBody>
          <a:bodyPr wrap="none">
            <a:spAutoFit/>
          </a:bodyPr>
          <a:lstStyle/>
          <a:p>
            <a:pPr>
              <a:defRPr sz="1800" i="1">
                <a:solidFill>
                  <a:srgbClr val="36454F"/>
                </a:solidFill>
              </a:defRPr>
            </a:pPr>
            <a:r>
              <a:t>Access with: /plugin command</a:t>
            </a:r>
          </a:p>
        </p:txBody>
      </p:sp>
      <p:sp>
        <p:nvSpPr>
          <p:cNvPr id="4" name="Rectangle 3"/>
          <p:cNvSpPr/>
          <p:nvPr/>
        </p:nvSpPr>
        <p:spPr>
          <a:xfrm>
            <a:off x="914400" y="1737360"/>
            <a:ext cx="7315200" cy="64008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828800"/>
            <a:ext cx="1828800" cy="274320"/>
          </a:xfrm>
          <a:prstGeom prst="rect">
            <a:avLst/>
          </a:prstGeom>
          <a:noFill/>
        </p:spPr>
        <p:txBody>
          <a:bodyPr wrap="none">
            <a:spAutoFit/>
          </a:bodyPr>
          <a:lstStyle/>
          <a:p>
            <a:pPr>
              <a:defRPr sz="1600" b="1">
                <a:solidFill>
                  <a:srgbClr val="6A9BCC"/>
                </a:solidFill>
              </a:defRPr>
            </a:pPr>
            <a:r>
              <a:t>Discover</a:t>
            </a:r>
          </a:p>
        </p:txBody>
      </p:sp>
      <p:sp>
        <p:nvSpPr>
          <p:cNvPr id="6" name="TextBox 5"/>
          <p:cNvSpPr txBox="1"/>
          <p:nvPr/>
        </p:nvSpPr>
        <p:spPr>
          <a:xfrm>
            <a:off x="3017520" y="1828800"/>
            <a:ext cx="5029200" cy="457200"/>
          </a:xfrm>
          <a:prstGeom prst="rect">
            <a:avLst/>
          </a:prstGeom>
          <a:noFill/>
        </p:spPr>
        <p:txBody>
          <a:bodyPr wrap="square">
            <a:spAutoFit/>
          </a:bodyPr>
          <a:lstStyle/>
          <a:p>
            <a:pPr>
              <a:defRPr sz="1200">
                <a:solidFill>
                  <a:srgbClr val="141413"/>
                </a:solidFill>
              </a:defRPr>
            </a:pPr>
            <a:r>
              <a:t>Browse available plugins from all your marketplaces</a:t>
            </a:r>
          </a:p>
        </p:txBody>
      </p:sp>
      <p:sp>
        <p:nvSpPr>
          <p:cNvPr id="7" name="Rectangle 6"/>
          <p:cNvSpPr/>
          <p:nvPr/>
        </p:nvSpPr>
        <p:spPr>
          <a:xfrm>
            <a:off x="914400" y="2514600"/>
            <a:ext cx="7315200" cy="64008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606040"/>
            <a:ext cx="1828800" cy="274320"/>
          </a:xfrm>
          <a:prstGeom prst="rect">
            <a:avLst/>
          </a:prstGeom>
          <a:noFill/>
        </p:spPr>
        <p:txBody>
          <a:bodyPr wrap="none">
            <a:spAutoFit/>
          </a:bodyPr>
          <a:lstStyle/>
          <a:p>
            <a:pPr>
              <a:defRPr sz="1600" b="1">
                <a:solidFill>
                  <a:srgbClr val="6A9BCC"/>
                </a:solidFill>
              </a:defRPr>
            </a:pPr>
            <a:r>
              <a:t>Installed</a:t>
            </a:r>
          </a:p>
        </p:txBody>
      </p:sp>
      <p:sp>
        <p:nvSpPr>
          <p:cNvPr id="9" name="TextBox 8"/>
          <p:cNvSpPr txBox="1"/>
          <p:nvPr/>
        </p:nvSpPr>
        <p:spPr>
          <a:xfrm>
            <a:off x="3017520" y="2606040"/>
            <a:ext cx="5029200" cy="457200"/>
          </a:xfrm>
          <a:prstGeom prst="rect">
            <a:avLst/>
          </a:prstGeom>
          <a:noFill/>
        </p:spPr>
        <p:txBody>
          <a:bodyPr wrap="square">
            <a:spAutoFit/>
          </a:bodyPr>
          <a:lstStyle/>
          <a:p>
            <a:pPr>
              <a:defRPr sz="1200">
                <a:solidFill>
                  <a:srgbClr val="141413"/>
                </a:solidFill>
              </a:defRPr>
            </a:pPr>
            <a:r>
              <a:t>View and manage your installed plugins</a:t>
            </a:r>
          </a:p>
        </p:txBody>
      </p:sp>
      <p:sp>
        <p:nvSpPr>
          <p:cNvPr id="10" name="Rectangle 9"/>
          <p:cNvSpPr/>
          <p:nvPr/>
        </p:nvSpPr>
        <p:spPr>
          <a:xfrm>
            <a:off x="914400" y="3291840"/>
            <a:ext cx="7315200" cy="64008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383280"/>
            <a:ext cx="1828800" cy="274320"/>
          </a:xfrm>
          <a:prstGeom prst="rect">
            <a:avLst/>
          </a:prstGeom>
          <a:noFill/>
        </p:spPr>
        <p:txBody>
          <a:bodyPr wrap="none">
            <a:spAutoFit/>
          </a:bodyPr>
          <a:lstStyle/>
          <a:p>
            <a:pPr>
              <a:defRPr sz="1600" b="1">
                <a:solidFill>
                  <a:srgbClr val="6A9BCC"/>
                </a:solidFill>
              </a:defRPr>
            </a:pPr>
            <a:r>
              <a:t>Marketplaces</a:t>
            </a:r>
          </a:p>
        </p:txBody>
      </p:sp>
      <p:sp>
        <p:nvSpPr>
          <p:cNvPr id="12" name="TextBox 11"/>
          <p:cNvSpPr txBox="1"/>
          <p:nvPr/>
        </p:nvSpPr>
        <p:spPr>
          <a:xfrm>
            <a:off x="3017520" y="3383280"/>
            <a:ext cx="5029200" cy="457200"/>
          </a:xfrm>
          <a:prstGeom prst="rect">
            <a:avLst/>
          </a:prstGeom>
          <a:noFill/>
        </p:spPr>
        <p:txBody>
          <a:bodyPr wrap="square">
            <a:spAutoFit/>
          </a:bodyPr>
          <a:lstStyle/>
          <a:p>
            <a:pPr>
              <a:defRPr sz="1200">
                <a:solidFill>
                  <a:srgbClr val="141413"/>
                </a:solidFill>
              </a:defRPr>
            </a:pPr>
            <a:r>
              <a:t>Add, remove, or update your added marketplaces</a:t>
            </a:r>
          </a:p>
        </p:txBody>
      </p:sp>
      <p:sp>
        <p:nvSpPr>
          <p:cNvPr id="13" name="Rectangle 12"/>
          <p:cNvSpPr/>
          <p:nvPr/>
        </p:nvSpPr>
        <p:spPr>
          <a:xfrm>
            <a:off x="914400" y="4069080"/>
            <a:ext cx="7315200" cy="64008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4160520"/>
            <a:ext cx="1828800" cy="274320"/>
          </a:xfrm>
          <a:prstGeom prst="rect">
            <a:avLst/>
          </a:prstGeom>
          <a:noFill/>
        </p:spPr>
        <p:txBody>
          <a:bodyPr wrap="none">
            <a:spAutoFit/>
          </a:bodyPr>
          <a:lstStyle/>
          <a:p>
            <a:pPr>
              <a:defRPr sz="1600" b="1">
                <a:solidFill>
                  <a:srgbClr val="6A9BCC"/>
                </a:solidFill>
              </a:defRPr>
            </a:pPr>
            <a:r>
              <a:t>Errors</a:t>
            </a:r>
          </a:p>
        </p:txBody>
      </p:sp>
      <p:sp>
        <p:nvSpPr>
          <p:cNvPr id="15" name="TextBox 14"/>
          <p:cNvSpPr txBox="1"/>
          <p:nvPr/>
        </p:nvSpPr>
        <p:spPr>
          <a:xfrm>
            <a:off x="3017520" y="4160520"/>
            <a:ext cx="5029200" cy="457200"/>
          </a:xfrm>
          <a:prstGeom prst="rect">
            <a:avLst/>
          </a:prstGeom>
          <a:noFill/>
        </p:spPr>
        <p:txBody>
          <a:bodyPr wrap="square">
            <a:spAutoFit/>
          </a:bodyPr>
          <a:lstStyle/>
          <a:p>
            <a:pPr>
              <a:defRPr sz="1200">
                <a:solidFill>
                  <a:srgbClr val="141413"/>
                </a:solidFill>
              </a:defRPr>
            </a:pPr>
            <a:r>
              <a:t>View any plugin loading errors</a:t>
            </a:r>
          </a:p>
        </p:txBody>
      </p:sp>
      <p:pic>
        <p:nvPicPr>
          <p:cNvPr id="16" name="Image 1" descr="preencoded.png">
            <a:extLst>
              <a:ext uri="{FF2B5EF4-FFF2-40B4-BE49-F238E27FC236}">
                <a16:creationId xmlns:a16="http://schemas.microsoft.com/office/drawing/2014/main" id="{BF891E6A-6046-D1CF-C0F5-6310290473B9}"/>
              </a:ext>
            </a:extLst>
          </p:cNvPr>
          <p:cNvPicPr>
            <a:picLocks noChangeAspect="1"/>
          </p:cNvPicPr>
          <p:nvPr/>
        </p:nvPicPr>
        <p:blipFill>
          <a:blip r:embed="rId3"/>
          <a:stretch>
            <a:fillRect/>
          </a:stretch>
        </p:blipFill>
        <p:spPr>
          <a:xfrm>
            <a:off x="7477298" y="1808018"/>
            <a:ext cx="498764" cy="498764"/>
          </a:xfrm>
          <a:prstGeom prst="rect">
            <a:avLst/>
          </a:prstGeom>
        </p:spPr>
      </p:pic>
      <p:pic>
        <p:nvPicPr>
          <p:cNvPr id="17" name="Image 2" descr="preencoded.png">
            <a:extLst>
              <a:ext uri="{FF2B5EF4-FFF2-40B4-BE49-F238E27FC236}">
                <a16:creationId xmlns:a16="http://schemas.microsoft.com/office/drawing/2014/main" id="{5F230EF6-07CC-7EF3-D6FB-4B66AA207989}"/>
              </a:ext>
            </a:extLst>
          </p:cNvPr>
          <p:cNvPicPr>
            <a:picLocks noChangeAspect="1"/>
          </p:cNvPicPr>
          <p:nvPr/>
        </p:nvPicPr>
        <p:blipFill>
          <a:blip r:embed="rId4"/>
          <a:stretch>
            <a:fillRect/>
          </a:stretch>
        </p:blipFill>
        <p:spPr>
          <a:xfrm>
            <a:off x="7499969" y="2607929"/>
            <a:ext cx="453422" cy="453422"/>
          </a:xfrm>
          <a:prstGeom prst="rect">
            <a:avLst/>
          </a:prstGeom>
          <a:solidFill>
            <a:srgbClr val="FAF9F5"/>
          </a:solidFill>
        </p:spPr>
      </p:pic>
      <p:pic>
        <p:nvPicPr>
          <p:cNvPr id="18" name="Image 3" descr="preencoded.png">
            <a:extLst>
              <a:ext uri="{FF2B5EF4-FFF2-40B4-BE49-F238E27FC236}">
                <a16:creationId xmlns:a16="http://schemas.microsoft.com/office/drawing/2014/main" id="{00A09DCE-E969-3AA6-7232-1F40E964F030}"/>
              </a:ext>
            </a:extLst>
          </p:cNvPr>
          <p:cNvPicPr>
            <a:picLocks noChangeAspect="1"/>
          </p:cNvPicPr>
          <p:nvPr/>
        </p:nvPicPr>
        <p:blipFill>
          <a:blip r:embed="rId5"/>
          <a:stretch>
            <a:fillRect/>
          </a:stretch>
        </p:blipFill>
        <p:spPr>
          <a:xfrm>
            <a:off x="7499969" y="3385169"/>
            <a:ext cx="453422" cy="453422"/>
          </a:xfrm>
          <a:prstGeom prst="rect">
            <a:avLst/>
          </a:prstGeom>
          <a:solidFill>
            <a:srgbClr val="FAF9F5"/>
          </a:solidFill>
        </p:spPr>
      </p:pic>
      <p:pic>
        <p:nvPicPr>
          <p:cNvPr id="19" name="Image 4" descr="preencoded.png">
            <a:extLst>
              <a:ext uri="{FF2B5EF4-FFF2-40B4-BE49-F238E27FC236}">
                <a16:creationId xmlns:a16="http://schemas.microsoft.com/office/drawing/2014/main" id="{327894E3-9D57-8046-D1CE-2FFCFED32067}"/>
              </a:ext>
            </a:extLst>
          </p:cNvPr>
          <p:cNvPicPr>
            <a:picLocks noChangeAspect="1"/>
          </p:cNvPicPr>
          <p:nvPr/>
        </p:nvPicPr>
        <p:blipFill>
          <a:blip r:embed="rId6"/>
          <a:stretch>
            <a:fillRect/>
          </a:stretch>
        </p:blipFill>
        <p:spPr>
          <a:xfrm>
            <a:off x="7499969" y="4162409"/>
            <a:ext cx="453422" cy="453422"/>
          </a:xfrm>
          <a:prstGeom prst="rect">
            <a:avLst/>
          </a:prstGeom>
          <a:solidFill>
            <a:srgbClr val="FAF9F5"/>
          </a:solid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Security and Trust Considerations</a:t>
            </a:r>
          </a:p>
        </p:txBody>
      </p:sp>
      <p:sp>
        <p:nvSpPr>
          <p:cNvPr id="3" name="Rounded Rectangle 2"/>
          <p:cNvSpPr/>
          <p:nvPr/>
        </p:nvSpPr>
        <p:spPr>
          <a:xfrm>
            <a:off x="914400" y="4205547"/>
            <a:ext cx="7315200" cy="480753"/>
          </a:xfrm>
          <a:prstGeom prst="roundRect">
            <a:avLst/>
          </a:prstGeom>
          <a:solidFill>
            <a:srgbClr val="D97757"/>
          </a:solidFill>
          <a:ln w="25400">
            <a:solidFill>
              <a:srgbClr val="D9775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1413"/>
                </a:solidFill>
              </a:defRPr>
            </a:pPr>
            <a:r>
              <a:t>⚠️ Important: Anthropic does not control what MCP servers, files, or software are included in plugins</a:t>
            </a:r>
          </a:p>
        </p:txBody>
      </p:sp>
      <p:sp>
        <p:nvSpPr>
          <p:cNvPr id="4" name="TextBox 3"/>
          <p:cNvSpPr txBox="1"/>
          <p:nvPr/>
        </p:nvSpPr>
        <p:spPr>
          <a:xfrm>
            <a:off x="731520" y="1154083"/>
            <a:ext cx="7680960" cy="365760"/>
          </a:xfrm>
          <a:prstGeom prst="rect">
            <a:avLst/>
          </a:prstGeom>
          <a:noFill/>
        </p:spPr>
        <p:txBody>
          <a:bodyPr wrap="none">
            <a:spAutoFit/>
          </a:bodyPr>
          <a:lstStyle/>
          <a:p>
            <a:pPr>
              <a:defRPr sz="2000" b="1">
                <a:solidFill>
                  <a:srgbClr val="141413"/>
                </a:solidFill>
              </a:defRPr>
            </a:pPr>
            <a:r>
              <a:t>Before Installing Any Plugin</a:t>
            </a:r>
          </a:p>
        </p:txBody>
      </p:sp>
      <p:sp>
        <p:nvSpPr>
          <p:cNvPr id="5" name="TextBox 4"/>
          <p:cNvSpPr txBox="1"/>
          <p:nvPr/>
        </p:nvSpPr>
        <p:spPr>
          <a:xfrm>
            <a:off x="731520" y="1611283"/>
            <a:ext cx="7680960" cy="1828800"/>
          </a:xfrm>
          <a:prstGeom prst="rect">
            <a:avLst/>
          </a:prstGeom>
          <a:noFill/>
        </p:spPr>
        <p:txBody>
          <a:bodyPr wrap="none">
            <a:spAutoFit/>
          </a:bodyPr>
          <a:lstStyle/>
          <a:p>
            <a:pPr>
              <a:defRPr sz="1400">
                <a:solidFill>
                  <a:srgbClr val="141413"/>
                </a:solidFill>
              </a:defRPr>
            </a:pPr>
            <a:r>
              <a:t>• Check the plugin's homepage for information about functionality</a:t>
            </a:r>
          </a:p>
          <a:p>
            <a:pPr>
              <a:defRPr sz="1400">
                <a:solidFill>
                  <a:srgbClr val="141413"/>
                </a:solidFill>
              </a:defRPr>
            </a:pPr>
            <a:r>
              <a:t>• Review the plugin author and source repository if available</a:t>
            </a:r>
          </a:p>
          <a:p>
            <a:pPr>
              <a:defRPr sz="1400">
                <a:solidFill>
                  <a:srgbClr val="141413"/>
                </a:solidFill>
              </a:defRPr>
            </a:pPr>
            <a:r>
              <a:t>• Understand what the plugin does before installing</a:t>
            </a:r>
          </a:p>
          <a:p>
            <a:pPr>
              <a:defRPr sz="1400">
                <a:solidFill>
                  <a:srgbClr val="141413"/>
                </a:solidFill>
              </a:defRPr>
            </a:pPr>
            <a:r>
              <a:t>• Be cautious with plugins from unknown authors</a:t>
            </a:r>
          </a:p>
        </p:txBody>
      </p:sp>
      <p:sp>
        <p:nvSpPr>
          <p:cNvPr id="6" name="TextBox 5"/>
          <p:cNvSpPr txBox="1"/>
          <p:nvPr/>
        </p:nvSpPr>
        <p:spPr>
          <a:xfrm>
            <a:off x="731520" y="2757054"/>
            <a:ext cx="7680960" cy="365760"/>
          </a:xfrm>
          <a:prstGeom prst="rect">
            <a:avLst/>
          </a:prstGeom>
          <a:noFill/>
        </p:spPr>
        <p:txBody>
          <a:bodyPr wrap="none">
            <a:spAutoFit/>
          </a:bodyPr>
          <a:lstStyle/>
          <a:p>
            <a:pPr>
              <a:defRPr sz="2000" b="1">
                <a:solidFill>
                  <a:srgbClr val="141413"/>
                </a:solidFill>
              </a:defRPr>
            </a:pPr>
            <a:r>
              <a:rPr dirty="0"/>
              <a:t>Official vs Community Marketplaces</a:t>
            </a:r>
          </a:p>
        </p:txBody>
      </p:sp>
      <p:sp>
        <p:nvSpPr>
          <p:cNvPr id="7" name="TextBox 6"/>
          <p:cNvSpPr txBox="1"/>
          <p:nvPr/>
        </p:nvSpPr>
        <p:spPr>
          <a:xfrm>
            <a:off x="731520" y="3214254"/>
            <a:ext cx="7680960" cy="1371600"/>
          </a:xfrm>
          <a:prstGeom prst="rect">
            <a:avLst/>
          </a:prstGeom>
          <a:noFill/>
        </p:spPr>
        <p:txBody>
          <a:bodyPr wrap="none">
            <a:spAutoFit/>
          </a:bodyPr>
          <a:lstStyle/>
          <a:p>
            <a:pPr>
              <a:defRPr sz="1400">
                <a:solidFill>
                  <a:srgbClr val="141413"/>
                </a:solidFill>
              </a:defRPr>
            </a:pPr>
            <a:r>
              <a:rPr dirty="0"/>
              <a:t>• Official: </a:t>
            </a:r>
            <a:r>
              <a:rPr dirty="0" err="1"/>
              <a:t>claude</a:t>
            </a:r>
            <a:r>
              <a:rPr dirty="0"/>
              <a:t>-plugins-official (curated by Anthropic)</a:t>
            </a:r>
          </a:p>
          <a:p>
            <a:pPr>
              <a:defRPr sz="1400">
                <a:solidFill>
                  <a:srgbClr val="141413"/>
                </a:solidFill>
              </a:defRPr>
            </a:pPr>
            <a:r>
              <a:rPr dirty="0"/>
              <a:t>• Demo: </a:t>
            </a:r>
            <a:r>
              <a:rPr dirty="0" err="1"/>
              <a:t>anthropics</a:t>
            </a:r>
            <a:r>
              <a:rPr dirty="0"/>
              <a:t>/</a:t>
            </a:r>
            <a:r>
              <a:rPr dirty="0" err="1"/>
              <a:t>claude</a:t>
            </a:r>
            <a:r>
              <a:rPr dirty="0"/>
              <a:t>-code (examples and experimental)</a:t>
            </a:r>
          </a:p>
          <a:p>
            <a:pPr>
              <a:defRPr sz="1400">
                <a:solidFill>
                  <a:srgbClr val="141413"/>
                </a:solidFill>
              </a:defRPr>
            </a:pPr>
            <a:r>
              <a:rPr dirty="0"/>
              <a:t>• Community: third-party marketplaces (trust varies)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135DC11-C704-C125-AB81-D48FD3CE0EA1}"/>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6CA4AD4-397F-0520-CA38-447ADF1C6F35}"/>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a:t>
            </a:r>
            <a:r>
              <a:rPr lang="en-US" dirty="0">
                <a:solidFill>
                  <a:schemeClr val="bg1"/>
                </a:solidFill>
              </a:rPr>
              <a:t>2</a:t>
            </a:r>
            <a:r>
              <a:rPr dirty="0">
                <a:solidFill>
                  <a:schemeClr val="bg1"/>
                </a:solidFill>
              </a:rPr>
              <a:t>:</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31" name="Graphic 30" descr="Brain with solid fill">
            <a:extLst>
              <a:ext uri="{FF2B5EF4-FFF2-40B4-BE49-F238E27FC236}">
                <a16:creationId xmlns:a16="http://schemas.microsoft.com/office/drawing/2014/main" id="{E4B86EB9-5B9C-451E-CAB2-C87B692BAE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42" name="TextBox 41">
            <a:extLst>
              <a:ext uri="{FF2B5EF4-FFF2-40B4-BE49-F238E27FC236}">
                <a16:creationId xmlns:a16="http://schemas.microsoft.com/office/drawing/2014/main" id="{E26CF473-11B9-04A3-D1D4-4918033B0F68}"/>
              </a:ext>
            </a:extLst>
          </p:cNvPr>
          <p:cNvSpPr txBox="1"/>
          <p:nvPr/>
        </p:nvSpPr>
        <p:spPr>
          <a:xfrm>
            <a:off x="3129308" y="834391"/>
            <a:ext cx="5318907" cy="307777"/>
          </a:xfrm>
          <a:prstGeom prst="rect">
            <a:avLst/>
          </a:prstGeom>
          <a:noFill/>
        </p:spPr>
        <p:txBody>
          <a:bodyPr wrap="square">
            <a:spAutoFit/>
          </a:bodyPr>
          <a:lstStyle/>
          <a:p>
            <a:pPr>
              <a:defRPr sz="1400" b="1">
                <a:solidFill>
                  <a:srgbClr val="141413"/>
                </a:solidFill>
              </a:defRPr>
            </a:pPr>
            <a:r>
              <a:rPr dirty="0"/>
              <a:t>What command opens the plugin manager interface in Claude Code?</a:t>
            </a:r>
          </a:p>
        </p:txBody>
      </p:sp>
      <p:sp>
        <p:nvSpPr>
          <p:cNvPr id="43" name="TextBox 42">
            <a:extLst>
              <a:ext uri="{FF2B5EF4-FFF2-40B4-BE49-F238E27FC236}">
                <a16:creationId xmlns:a16="http://schemas.microsoft.com/office/drawing/2014/main" id="{B9C5CAE6-C058-AF2B-D7A5-7DC36B1EAA52}"/>
              </a:ext>
            </a:extLst>
          </p:cNvPr>
          <p:cNvSpPr txBox="1"/>
          <p:nvPr/>
        </p:nvSpPr>
        <p:spPr>
          <a:xfrm>
            <a:off x="3312188" y="1291591"/>
            <a:ext cx="5187576" cy="261610"/>
          </a:xfrm>
          <a:prstGeom prst="rect">
            <a:avLst/>
          </a:prstGeom>
          <a:noFill/>
        </p:spPr>
        <p:txBody>
          <a:bodyPr wrap="square">
            <a:spAutoFit/>
          </a:bodyPr>
          <a:lstStyle/>
          <a:p>
            <a:pPr>
              <a:defRPr sz="1100" b="0">
                <a:solidFill>
                  <a:srgbClr val="36454F"/>
                </a:solidFill>
              </a:defRPr>
            </a:pPr>
            <a:r>
              <a:t>A) /plugins</a:t>
            </a:r>
          </a:p>
        </p:txBody>
      </p:sp>
      <p:sp>
        <p:nvSpPr>
          <p:cNvPr id="44" name="TextBox 43">
            <a:extLst>
              <a:ext uri="{FF2B5EF4-FFF2-40B4-BE49-F238E27FC236}">
                <a16:creationId xmlns:a16="http://schemas.microsoft.com/office/drawing/2014/main" id="{3E8756CE-6B0C-DE35-1984-1425E51C2B0E}"/>
              </a:ext>
            </a:extLst>
          </p:cNvPr>
          <p:cNvSpPr txBox="1"/>
          <p:nvPr/>
        </p:nvSpPr>
        <p:spPr>
          <a:xfrm>
            <a:off x="3312188" y="1565911"/>
            <a:ext cx="5187576" cy="261610"/>
          </a:xfrm>
          <a:prstGeom prst="rect">
            <a:avLst/>
          </a:prstGeom>
          <a:noFill/>
        </p:spPr>
        <p:txBody>
          <a:bodyPr wrap="square">
            <a:spAutoFit/>
          </a:bodyPr>
          <a:lstStyle/>
          <a:p>
            <a:pPr>
              <a:defRPr sz="1100" b="1">
                <a:solidFill>
                  <a:srgbClr val="788C5D"/>
                </a:solidFill>
              </a:defRPr>
            </a:pPr>
            <a:r>
              <a:t>B) /plugin</a:t>
            </a:r>
          </a:p>
        </p:txBody>
      </p:sp>
      <p:sp>
        <p:nvSpPr>
          <p:cNvPr id="45" name="TextBox 44">
            <a:extLst>
              <a:ext uri="{FF2B5EF4-FFF2-40B4-BE49-F238E27FC236}">
                <a16:creationId xmlns:a16="http://schemas.microsoft.com/office/drawing/2014/main" id="{7FFF2BE1-9F6C-E108-C381-D42835878E0A}"/>
              </a:ext>
            </a:extLst>
          </p:cNvPr>
          <p:cNvSpPr txBox="1"/>
          <p:nvPr/>
        </p:nvSpPr>
        <p:spPr>
          <a:xfrm>
            <a:off x="3312188" y="1840230"/>
            <a:ext cx="5187576" cy="261610"/>
          </a:xfrm>
          <a:prstGeom prst="rect">
            <a:avLst/>
          </a:prstGeom>
          <a:noFill/>
        </p:spPr>
        <p:txBody>
          <a:bodyPr wrap="square">
            <a:spAutoFit/>
          </a:bodyPr>
          <a:lstStyle/>
          <a:p>
            <a:pPr>
              <a:defRPr sz="1100" b="0">
                <a:solidFill>
                  <a:srgbClr val="36454F"/>
                </a:solidFill>
              </a:defRPr>
            </a:pPr>
            <a:r>
              <a:t>C) /marketplace</a:t>
            </a:r>
          </a:p>
        </p:txBody>
      </p:sp>
      <p:sp>
        <p:nvSpPr>
          <p:cNvPr id="46" name="TextBox 45">
            <a:extLst>
              <a:ext uri="{FF2B5EF4-FFF2-40B4-BE49-F238E27FC236}">
                <a16:creationId xmlns:a16="http://schemas.microsoft.com/office/drawing/2014/main" id="{5FE30C4A-0AA7-8883-6C63-529E008A6DA3}"/>
              </a:ext>
            </a:extLst>
          </p:cNvPr>
          <p:cNvSpPr txBox="1"/>
          <p:nvPr/>
        </p:nvSpPr>
        <p:spPr>
          <a:xfrm>
            <a:off x="3312188" y="2114550"/>
            <a:ext cx="5187576" cy="261610"/>
          </a:xfrm>
          <a:prstGeom prst="rect">
            <a:avLst/>
          </a:prstGeom>
          <a:noFill/>
        </p:spPr>
        <p:txBody>
          <a:bodyPr wrap="square">
            <a:spAutoFit/>
          </a:bodyPr>
          <a:lstStyle/>
          <a:p>
            <a:pPr>
              <a:defRPr sz="1100" b="0">
                <a:solidFill>
                  <a:srgbClr val="36454F"/>
                </a:solidFill>
              </a:defRPr>
            </a:pPr>
            <a:r>
              <a:t>D) /discover</a:t>
            </a:r>
          </a:p>
        </p:txBody>
      </p:sp>
      <p:sp>
        <p:nvSpPr>
          <p:cNvPr id="47" name="TextBox 46">
            <a:extLst>
              <a:ext uri="{FF2B5EF4-FFF2-40B4-BE49-F238E27FC236}">
                <a16:creationId xmlns:a16="http://schemas.microsoft.com/office/drawing/2014/main" id="{B9D8946E-E931-6B37-0B75-DEC7198B5FEF}"/>
              </a:ext>
            </a:extLst>
          </p:cNvPr>
          <p:cNvSpPr txBox="1"/>
          <p:nvPr/>
        </p:nvSpPr>
        <p:spPr>
          <a:xfrm>
            <a:off x="3129308" y="2571750"/>
            <a:ext cx="5318907" cy="307777"/>
          </a:xfrm>
          <a:prstGeom prst="rect">
            <a:avLst/>
          </a:prstGeom>
          <a:noFill/>
        </p:spPr>
        <p:txBody>
          <a:bodyPr wrap="square">
            <a:spAutoFit/>
          </a:bodyPr>
          <a:lstStyle/>
          <a:p>
            <a:pPr>
              <a:defRPr sz="1400" b="1">
                <a:solidFill>
                  <a:srgbClr val="141413"/>
                </a:solidFill>
              </a:defRPr>
            </a:pPr>
            <a:r>
              <a:t>Which tab shows plugins available for installation?</a:t>
            </a:r>
          </a:p>
        </p:txBody>
      </p:sp>
      <p:sp>
        <p:nvSpPr>
          <p:cNvPr id="48" name="TextBox 47">
            <a:extLst>
              <a:ext uri="{FF2B5EF4-FFF2-40B4-BE49-F238E27FC236}">
                <a16:creationId xmlns:a16="http://schemas.microsoft.com/office/drawing/2014/main" id="{F931A2CB-3FFF-2706-3756-FD5B1A18CD0A}"/>
              </a:ext>
            </a:extLst>
          </p:cNvPr>
          <p:cNvSpPr txBox="1"/>
          <p:nvPr/>
        </p:nvSpPr>
        <p:spPr>
          <a:xfrm>
            <a:off x="3312188" y="3028950"/>
            <a:ext cx="5187576" cy="261610"/>
          </a:xfrm>
          <a:prstGeom prst="rect">
            <a:avLst/>
          </a:prstGeom>
          <a:noFill/>
        </p:spPr>
        <p:txBody>
          <a:bodyPr wrap="square">
            <a:spAutoFit/>
          </a:bodyPr>
          <a:lstStyle/>
          <a:p>
            <a:pPr>
              <a:defRPr sz="1100" b="0">
                <a:solidFill>
                  <a:srgbClr val="36454F"/>
                </a:solidFill>
              </a:defRPr>
            </a:pPr>
            <a:r>
              <a:t>A) Installed</a:t>
            </a:r>
          </a:p>
        </p:txBody>
      </p:sp>
      <p:sp>
        <p:nvSpPr>
          <p:cNvPr id="49" name="TextBox 48">
            <a:extLst>
              <a:ext uri="{FF2B5EF4-FFF2-40B4-BE49-F238E27FC236}">
                <a16:creationId xmlns:a16="http://schemas.microsoft.com/office/drawing/2014/main" id="{6600716D-65F1-2D9C-40D2-6CD43FB0D9B9}"/>
              </a:ext>
            </a:extLst>
          </p:cNvPr>
          <p:cNvSpPr txBox="1"/>
          <p:nvPr/>
        </p:nvSpPr>
        <p:spPr>
          <a:xfrm>
            <a:off x="3312188" y="3303270"/>
            <a:ext cx="5187576" cy="261610"/>
          </a:xfrm>
          <a:prstGeom prst="rect">
            <a:avLst/>
          </a:prstGeom>
          <a:noFill/>
        </p:spPr>
        <p:txBody>
          <a:bodyPr wrap="square">
            <a:spAutoFit/>
          </a:bodyPr>
          <a:lstStyle/>
          <a:p>
            <a:pPr>
              <a:defRPr sz="1100" b="0">
                <a:solidFill>
                  <a:srgbClr val="36454F"/>
                </a:solidFill>
              </a:defRPr>
            </a:pPr>
            <a:r>
              <a:t>B) Marketplaces</a:t>
            </a:r>
          </a:p>
        </p:txBody>
      </p:sp>
      <p:sp>
        <p:nvSpPr>
          <p:cNvPr id="50" name="TextBox 49">
            <a:extLst>
              <a:ext uri="{FF2B5EF4-FFF2-40B4-BE49-F238E27FC236}">
                <a16:creationId xmlns:a16="http://schemas.microsoft.com/office/drawing/2014/main" id="{6EDE63CB-8828-8991-F28C-5124179C6D20}"/>
              </a:ext>
            </a:extLst>
          </p:cNvPr>
          <p:cNvSpPr txBox="1"/>
          <p:nvPr/>
        </p:nvSpPr>
        <p:spPr>
          <a:xfrm>
            <a:off x="3312188" y="3577590"/>
            <a:ext cx="5187576" cy="261610"/>
          </a:xfrm>
          <a:prstGeom prst="rect">
            <a:avLst/>
          </a:prstGeom>
          <a:noFill/>
        </p:spPr>
        <p:txBody>
          <a:bodyPr wrap="square">
            <a:spAutoFit/>
          </a:bodyPr>
          <a:lstStyle/>
          <a:p>
            <a:pPr>
              <a:defRPr sz="1100" b="1">
                <a:solidFill>
                  <a:srgbClr val="788C5D"/>
                </a:solidFill>
              </a:defRPr>
            </a:pPr>
            <a:r>
              <a:t>C) Discover</a:t>
            </a:r>
          </a:p>
        </p:txBody>
      </p:sp>
      <p:sp>
        <p:nvSpPr>
          <p:cNvPr id="51" name="TextBox 50">
            <a:extLst>
              <a:ext uri="{FF2B5EF4-FFF2-40B4-BE49-F238E27FC236}">
                <a16:creationId xmlns:a16="http://schemas.microsoft.com/office/drawing/2014/main" id="{07FA6A23-6986-7254-8704-2C0A1A652BA7}"/>
              </a:ext>
            </a:extLst>
          </p:cNvPr>
          <p:cNvSpPr txBox="1"/>
          <p:nvPr/>
        </p:nvSpPr>
        <p:spPr>
          <a:xfrm>
            <a:off x="3312188" y="3851910"/>
            <a:ext cx="5187576" cy="261610"/>
          </a:xfrm>
          <a:prstGeom prst="rect">
            <a:avLst/>
          </a:prstGeom>
          <a:noFill/>
        </p:spPr>
        <p:txBody>
          <a:bodyPr wrap="square">
            <a:spAutoFit/>
          </a:bodyPr>
          <a:lstStyle/>
          <a:p>
            <a:pPr>
              <a:defRPr sz="1100" b="0">
                <a:solidFill>
                  <a:srgbClr val="36454F"/>
                </a:solidFill>
              </a:defRPr>
            </a:pPr>
            <a:r>
              <a:t>D) Browse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22D7B3B-E4CC-D1B2-E384-8BDBFCEA6C02}"/>
              </a:ext>
            </a:extLst>
          </p:cNvPr>
          <p:cNvSpPr txBox="1"/>
          <p:nvPr/>
        </p:nvSpPr>
        <p:spPr>
          <a:xfrm>
            <a:off x="457200" y="502920"/>
            <a:ext cx="3530325" cy="584775"/>
          </a:xfrm>
          <a:prstGeom prst="rect">
            <a:avLst/>
          </a:prstGeom>
          <a:noFill/>
        </p:spPr>
        <p:txBody>
          <a:bodyPr wrap="none">
            <a:spAutoFit/>
          </a:bodyPr>
          <a:lstStyle/>
          <a:p>
            <a:pPr>
              <a:defRPr sz="3200" b="1">
                <a:solidFill>
                  <a:srgbClr val="141413"/>
                </a:solidFill>
              </a:defRPr>
            </a:pPr>
            <a:r>
              <a:rPr dirty="0"/>
              <a:t>Module </a:t>
            </a:r>
            <a:r>
              <a:rPr lang="en-US" dirty="0"/>
              <a:t>2</a:t>
            </a:r>
            <a:r>
              <a:rPr dirty="0"/>
              <a:t> Summary</a:t>
            </a:r>
          </a:p>
        </p:txBody>
      </p:sp>
      <p:sp>
        <p:nvSpPr>
          <p:cNvPr id="14" name="TextBox 13">
            <a:extLst>
              <a:ext uri="{FF2B5EF4-FFF2-40B4-BE49-F238E27FC236}">
                <a16:creationId xmlns:a16="http://schemas.microsoft.com/office/drawing/2014/main" id="{B7228DC2-8A6E-86F0-0295-98D5B5BCE5C3}"/>
              </a:ext>
            </a:extLst>
          </p:cNvPr>
          <p:cNvSpPr txBox="1"/>
          <p:nvPr/>
        </p:nvSpPr>
        <p:spPr>
          <a:xfrm>
            <a:off x="457200" y="1051560"/>
            <a:ext cx="2080249" cy="369332"/>
          </a:xfrm>
          <a:prstGeom prst="rect">
            <a:avLst/>
          </a:prstGeom>
          <a:noFill/>
        </p:spPr>
        <p:txBody>
          <a:bodyPr wrap="none">
            <a:spAutoFit/>
          </a:bodyPr>
          <a:lstStyle/>
          <a:p>
            <a:pPr>
              <a:defRPr sz="1800" i="1">
                <a:solidFill>
                  <a:srgbClr val="36454F"/>
                </a:solidFill>
              </a:defRPr>
            </a:pPr>
            <a:r>
              <a:rPr lang="en-US" dirty="0"/>
              <a:t>Plugin Marketplaces</a:t>
            </a:r>
            <a:endParaRPr dirty="0"/>
          </a:p>
        </p:txBody>
      </p:sp>
      <p:sp>
        <p:nvSpPr>
          <p:cNvPr id="15" name="TextBox 14">
            <a:extLst>
              <a:ext uri="{FF2B5EF4-FFF2-40B4-BE49-F238E27FC236}">
                <a16:creationId xmlns:a16="http://schemas.microsoft.com/office/drawing/2014/main" id="{85F8662C-C119-FF02-E519-5ADF07831CC6}"/>
              </a:ext>
            </a:extLst>
          </p:cNvPr>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16" name="TextBox 15">
            <a:extLst>
              <a:ext uri="{FF2B5EF4-FFF2-40B4-BE49-F238E27FC236}">
                <a16:creationId xmlns:a16="http://schemas.microsoft.com/office/drawing/2014/main" id="{96B72E01-0687-1F4C-5D6D-D7AB479C3DC5}"/>
              </a:ext>
            </a:extLst>
          </p:cNvPr>
          <p:cNvSpPr txBox="1"/>
          <p:nvPr/>
        </p:nvSpPr>
        <p:spPr>
          <a:xfrm>
            <a:off x="457200" y="2103120"/>
            <a:ext cx="5389418" cy="2369880"/>
          </a:xfrm>
          <a:prstGeom prst="rect">
            <a:avLst/>
          </a:prstGeom>
          <a:noFill/>
        </p:spPr>
        <p:txBody>
          <a:bodyPr wrap="square">
            <a:spAutoFit/>
          </a:bodyPr>
          <a:lstStyle/>
          <a:p>
            <a:pPr>
              <a:spcBef>
                <a:spcPts val="800"/>
              </a:spcBef>
              <a:defRPr sz="1600">
                <a:solidFill>
                  <a:srgbClr val="141413"/>
                </a:solidFill>
              </a:defRPr>
            </a:pPr>
            <a:r>
              <a:rPr lang="en-US" dirty="0"/>
              <a:t>• Marketplaces are catalogs that provide centralized plugin discovery and version tracking</a:t>
            </a:r>
          </a:p>
          <a:p>
            <a:pPr>
              <a:spcBef>
                <a:spcPts val="800"/>
              </a:spcBef>
              <a:defRPr sz="1600">
                <a:solidFill>
                  <a:srgbClr val="141413"/>
                </a:solidFill>
              </a:defRPr>
            </a:pPr>
            <a:r>
              <a:rPr lang="en-US" dirty="0"/>
              <a:t>• The /plugin command opens a four-tab interface: Discover, Installed, Marketplaces, Errors</a:t>
            </a:r>
          </a:p>
          <a:p>
            <a:pPr>
              <a:spcBef>
                <a:spcPts val="800"/>
              </a:spcBef>
              <a:defRPr sz="1600">
                <a:solidFill>
                  <a:srgbClr val="141413"/>
                </a:solidFill>
              </a:defRPr>
            </a:pPr>
            <a:r>
              <a:rPr lang="en-US" dirty="0"/>
              <a:t>• Always check a plugin's homepage and understand its functionality before installing</a:t>
            </a:r>
          </a:p>
          <a:p>
            <a:pPr>
              <a:spcBef>
                <a:spcPts val="800"/>
              </a:spcBef>
              <a:defRPr sz="1600">
                <a:solidFill>
                  <a:srgbClr val="141413"/>
                </a:solidFill>
              </a:defRPr>
            </a:pPr>
            <a:r>
              <a:rPr lang="en-US" dirty="0"/>
              <a:t>• Official marketplace (</a:t>
            </a:r>
            <a:r>
              <a:rPr lang="en-US" dirty="0" err="1"/>
              <a:t>claude</a:t>
            </a:r>
            <a:r>
              <a:rPr lang="en-US" dirty="0"/>
              <a:t>-plugins-official) is curated by Anthropic; community marketplaces vary in trust</a:t>
            </a:r>
          </a:p>
        </p:txBody>
      </p:sp>
      <p:sp>
        <p:nvSpPr>
          <p:cNvPr id="17" name="Rectangle 16">
            <a:extLst>
              <a:ext uri="{FF2B5EF4-FFF2-40B4-BE49-F238E27FC236}">
                <a16:creationId xmlns:a16="http://schemas.microsoft.com/office/drawing/2014/main" id="{1A825205-17C2-14D7-A2FB-EDE00EA4C970}"/>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Graphic 17" descr="Key with solid fill">
            <a:extLst>
              <a:ext uri="{FF2B5EF4-FFF2-40B4-BE49-F238E27FC236}">
                <a16:creationId xmlns:a16="http://schemas.microsoft.com/office/drawing/2014/main" id="{11A69E77-66D1-EF10-E47B-E8B8BDBA57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A9BCC"/>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C2E2521-CA42-4EBB-0534-343FDAB5995B}"/>
              </a:ext>
            </a:extLst>
          </p:cNvPr>
          <p:cNvSpPr txBox="1"/>
          <p:nvPr/>
        </p:nvSpPr>
        <p:spPr>
          <a:xfrm>
            <a:off x="609600" y="655320"/>
            <a:ext cx="7538923"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3</a:t>
            </a:r>
            <a:r>
              <a:rPr dirty="0">
                <a:solidFill>
                  <a:schemeClr val="bg1"/>
                </a:solidFill>
              </a:rPr>
              <a:t>: </a:t>
            </a:r>
            <a:r>
              <a:rPr lang="en-US" dirty="0">
                <a:solidFill>
                  <a:schemeClr val="bg1"/>
                </a:solidFill>
              </a:rPr>
              <a:t>Lab: Adding the Demo Marketplace</a:t>
            </a:r>
          </a:p>
        </p:txBody>
      </p:sp>
      <p:sp>
        <p:nvSpPr>
          <p:cNvPr id="13" name="TextBox 12">
            <a:extLst>
              <a:ext uri="{FF2B5EF4-FFF2-40B4-BE49-F238E27FC236}">
                <a16:creationId xmlns:a16="http://schemas.microsoft.com/office/drawing/2014/main" id="{B913EF05-7E95-EB9E-2E18-FC5DDE79D5EE}"/>
              </a:ext>
            </a:extLst>
          </p:cNvPr>
          <p:cNvSpPr txBox="1"/>
          <p:nvPr/>
        </p:nvSpPr>
        <p:spPr>
          <a:xfrm>
            <a:off x="609600" y="1203960"/>
            <a:ext cx="2120196" cy="400110"/>
          </a:xfrm>
          <a:prstGeom prst="rect">
            <a:avLst/>
          </a:prstGeom>
          <a:noFill/>
        </p:spPr>
        <p:txBody>
          <a:bodyPr wrap="none">
            <a:spAutoFit/>
          </a:bodyPr>
          <a:lstStyle/>
          <a:p>
            <a:pPr>
              <a:defRPr sz="2000">
                <a:solidFill>
                  <a:srgbClr val="36454F"/>
                </a:solidFill>
              </a:defRPr>
            </a:pPr>
            <a:r>
              <a:rPr lang="en-US" dirty="0">
                <a:solidFill>
                  <a:schemeClr val="bg1"/>
                </a:solidFill>
              </a:rPr>
              <a:t>Hands-On Exercise</a:t>
            </a:r>
          </a:p>
        </p:txBody>
      </p:sp>
      <p:sp>
        <p:nvSpPr>
          <p:cNvPr id="14" name="TextBox 13">
            <a:extLst>
              <a:ext uri="{FF2B5EF4-FFF2-40B4-BE49-F238E27FC236}">
                <a16:creationId xmlns:a16="http://schemas.microsoft.com/office/drawing/2014/main" id="{17B9864E-D2E7-A9D1-4874-5EAAD8CD0DA6}"/>
              </a:ext>
            </a:extLst>
          </p:cNvPr>
          <p:cNvSpPr txBox="1"/>
          <p:nvPr/>
        </p:nvSpPr>
        <p:spPr>
          <a:xfrm>
            <a:off x="609600" y="1798320"/>
            <a:ext cx="4125232" cy="1077218"/>
          </a:xfrm>
          <a:prstGeom prst="rect">
            <a:avLst/>
          </a:prstGeom>
          <a:noFill/>
        </p:spPr>
        <p:txBody>
          <a:bodyPr wrap="none">
            <a:spAutoFit/>
          </a:bodyPr>
          <a:lstStyle/>
          <a:p>
            <a:pPr>
              <a:defRPr sz="1600">
                <a:solidFill>
                  <a:srgbClr val="141413"/>
                </a:solidFill>
              </a:defRPr>
            </a:pPr>
            <a:r>
              <a:rPr lang="en-US" dirty="0">
                <a:solidFill>
                  <a:schemeClr val="bg1"/>
                </a:solidFill>
              </a:rPr>
              <a:t>• Add the Anthropic demo marketplace</a:t>
            </a:r>
          </a:p>
          <a:p>
            <a:pPr>
              <a:defRPr sz="1600">
                <a:solidFill>
                  <a:srgbClr val="141413"/>
                </a:solidFill>
              </a:defRPr>
            </a:pPr>
            <a:r>
              <a:rPr lang="en-US" dirty="0">
                <a:solidFill>
                  <a:schemeClr val="bg1"/>
                </a:solidFill>
              </a:rPr>
              <a:t>• Navigate the plugin manager tabs</a:t>
            </a:r>
          </a:p>
          <a:p>
            <a:pPr>
              <a:defRPr sz="1600">
                <a:solidFill>
                  <a:srgbClr val="141413"/>
                </a:solidFill>
              </a:defRPr>
            </a:pPr>
            <a:r>
              <a:rPr lang="en-US" dirty="0">
                <a:solidFill>
                  <a:schemeClr val="bg1"/>
                </a:solidFill>
              </a:rPr>
              <a:t>• Browse available plugins in the Discover tab</a:t>
            </a:r>
          </a:p>
          <a:p>
            <a:pPr>
              <a:defRPr sz="1600">
                <a:solidFill>
                  <a:srgbClr val="141413"/>
                </a:solidFill>
              </a:defRPr>
            </a:pPr>
            <a:r>
              <a:rPr lang="en-US" dirty="0">
                <a:solidFill>
                  <a:schemeClr val="bg1"/>
                </a:solidFill>
              </a:rPr>
              <a:t>• Understand marketplace vs plugin installation</a:t>
            </a:r>
          </a:p>
        </p:txBody>
      </p:sp>
      <p:sp>
        <p:nvSpPr>
          <p:cNvPr id="15" name="Rounded Rectangle 14">
            <a:extLst>
              <a:ext uri="{FF2B5EF4-FFF2-40B4-BE49-F238E27FC236}">
                <a16:creationId xmlns:a16="http://schemas.microsoft.com/office/drawing/2014/main" id="{7C5D292E-4AC4-F8B3-3696-0F8073350F0F}"/>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20</a:t>
            </a:r>
            <a:r>
              <a:rPr dirty="0">
                <a:solidFill>
                  <a:schemeClr val="tx1"/>
                </a:solidFill>
              </a:rPr>
              <a:t> minutes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Lab Steps</a:t>
            </a:r>
          </a:p>
        </p:txBody>
      </p:sp>
      <p:sp>
        <p:nvSpPr>
          <p:cNvPr id="3" name="TextBox 2"/>
          <p:cNvSpPr txBox="1"/>
          <p:nvPr/>
        </p:nvSpPr>
        <p:spPr>
          <a:xfrm>
            <a:off x="509847" y="1188720"/>
            <a:ext cx="3200400" cy="274320"/>
          </a:xfrm>
          <a:prstGeom prst="rect">
            <a:avLst/>
          </a:prstGeom>
          <a:noFill/>
        </p:spPr>
        <p:txBody>
          <a:bodyPr wrap="none">
            <a:spAutoFit/>
          </a:bodyPr>
          <a:lstStyle/>
          <a:p>
            <a:pPr>
              <a:defRPr sz="1400" b="1">
                <a:solidFill>
                  <a:srgbClr val="141413"/>
                </a:solidFill>
              </a:defRPr>
            </a:pPr>
            <a:r>
              <a:t>Step 1: Add the demo marketplace</a:t>
            </a:r>
          </a:p>
        </p:txBody>
      </p:sp>
      <p:sp>
        <p:nvSpPr>
          <p:cNvPr id="4" name="Rectangle 3"/>
          <p:cNvSpPr/>
          <p:nvPr/>
        </p:nvSpPr>
        <p:spPr>
          <a:xfrm>
            <a:off x="4440382" y="1188720"/>
            <a:ext cx="4297680"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latin typeface="Consolas"/>
              </a:defRPr>
            </a:pPr>
            <a:r>
              <a:t>/plugin marketplace add anthropics/claude-code</a:t>
            </a:r>
          </a:p>
        </p:txBody>
      </p:sp>
      <p:sp>
        <p:nvSpPr>
          <p:cNvPr id="5" name="TextBox 4"/>
          <p:cNvSpPr txBox="1"/>
          <p:nvPr/>
        </p:nvSpPr>
        <p:spPr>
          <a:xfrm>
            <a:off x="509847" y="1828800"/>
            <a:ext cx="3200400" cy="274320"/>
          </a:xfrm>
          <a:prstGeom prst="rect">
            <a:avLst/>
          </a:prstGeom>
          <a:noFill/>
        </p:spPr>
        <p:txBody>
          <a:bodyPr wrap="none">
            <a:spAutoFit/>
          </a:bodyPr>
          <a:lstStyle/>
          <a:p>
            <a:pPr>
              <a:defRPr sz="1400" b="1">
                <a:solidFill>
                  <a:srgbClr val="141413"/>
                </a:solidFill>
              </a:defRPr>
            </a:pPr>
            <a:r>
              <a:t>Step 2: Open plugin manager</a:t>
            </a:r>
          </a:p>
        </p:txBody>
      </p:sp>
      <p:sp>
        <p:nvSpPr>
          <p:cNvPr id="6" name="Rectangle 5"/>
          <p:cNvSpPr/>
          <p:nvPr/>
        </p:nvSpPr>
        <p:spPr>
          <a:xfrm>
            <a:off x="4440382" y="1828800"/>
            <a:ext cx="4297680"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FFFFFF"/>
                </a:solidFill>
                <a:latin typeface="Consolas"/>
              </a:defRPr>
            </a:pPr>
            <a:r>
              <a:t>/plugin</a:t>
            </a:r>
          </a:p>
        </p:txBody>
      </p:sp>
      <p:sp>
        <p:nvSpPr>
          <p:cNvPr id="7" name="TextBox 6"/>
          <p:cNvSpPr txBox="1"/>
          <p:nvPr/>
        </p:nvSpPr>
        <p:spPr>
          <a:xfrm>
            <a:off x="509847" y="2468880"/>
            <a:ext cx="3200400" cy="274320"/>
          </a:xfrm>
          <a:prstGeom prst="rect">
            <a:avLst/>
          </a:prstGeom>
          <a:noFill/>
        </p:spPr>
        <p:txBody>
          <a:bodyPr wrap="none">
            <a:spAutoFit/>
          </a:bodyPr>
          <a:lstStyle/>
          <a:p>
            <a:pPr>
              <a:defRPr sz="1400" b="1">
                <a:solidFill>
                  <a:srgbClr val="141413"/>
                </a:solidFill>
              </a:defRPr>
            </a:pPr>
            <a:r>
              <a:t>Step 3: Navigate tabs</a:t>
            </a:r>
          </a:p>
        </p:txBody>
      </p:sp>
      <p:sp>
        <p:nvSpPr>
          <p:cNvPr id="8" name="TextBox 7"/>
          <p:cNvSpPr txBox="1"/>
          <p:nvPr/>
        </p:nvSpPr>
        <p:spPr>
          <a:xfrm>
            <a:off x="4440382" y="2468880"/>
            <a:ext cx="4297680" cy="274320"/>
          </a:xfrm>
          <a:prstGeom prst="rect">
            <a:avLst/>
          </a:prstGeom>
          <a:noFill/>
        </p:spPr>
        <p:txBody>
          <a:bodyPr wrap="none">
            <a:spAutoFit/>
          </a:bodyPr>
          <a:lstStyle/>
          <a:p>
            <a:pPr>
              <a:defRPr sz="1200" i="1">
                <a:solidFill>
                  <a:srgbClr val="36454F"/>
                </a:solidFill>
              </a:defRPr>
            </a:pPr>
            <a:r>
              <a:t>Use Tab and Shift+Tab to move between tabs</a:t>
            </a:r>
          </a:p>
        </p:txBody>
      </p:sp>
      <p:sp>
        <p:nvSpPr>
          <p:cNvPr id="9" name="TextBox 8"/>
          <p:cNvSpPr txBox="1"/>
          <p:nvPr/>
        </p:nvSpPr>
        <p:spPr>
          <a:xfrm>
            <a:off x="509847" y="3108960"/>
            <a:ext cx="3200400" cy="274320"/>
          </a:xfrm>
          <a:prstGeom prst="rect">
            <a:avLst/>
          </a:prstGeom>
          <a:noFill/>
        </p:spPr>
        <p:txBody>
          <a:bodyPr wrap="none">
            <a:spAutoFit/>
          </a:bodyPr>
          <a:lstStyle/>
          <a:p>
            <a:pPr>
              <a:defRPr sz="1400" b="1">
                <a:solidFill>
                  <a:srgbClr val="141413"/>
                </a:solidFill>
              </a:defRPr>
            </a:pPr>
            <a:r>
              <a:t>Step 4: Explore Discover tab</a:t>
            </a:r>
          </a:p>
        </p:txBody>
      </p:sp>
      <p:sp>
        <p:nvSpPr>
          <p:cNvPr id="10" name="TextBox 9"/>
          <p:cNvSpPr txBox="1"/>
          <p:nvPr/>
        </p:nvSpPr>
        <p:spPr>
          <a:xfrm>
            <a:off x="4440382" y="3108960"/>
            <a:ext cx="4297680" cy="274320"/>
          </a:xfrm>
          <a:prstGeom prst="rect">
            <a:avLst/>
          </a:prstGeom>
          <a:noFill/>
        </p:spPr>
        <p:txBody>
          <a:bodyPr wrap="none">
            <a:spAutoFit/>
          </a:bodyPr>
          <a:lstStyle/>
          <a:p>
            <a:pPr>
              <a:defRPr sz="1200" i="1">
                <a:solidFill>
                  <a:srgbClr val="36454F"/>
                </a:solidFill>
              </a:defRPr>
            </a:pPr>
            <a:r>
              <a:t>Browse available plugins and view details</a:t>
            </a:r>
          </a:p>
        </p:txBody>
      </p:sp>
      <p:sp>
        <p:nvSpPr>
          <p:cNvPr id="11" name="TextBox 10"/>
          <p:cNvSpPr txBox="1"/>
          <p:nvPr/>
        </p:nvSpPr>
        <p:spPr>
          <a:xfrm>
            <a:off x="509847" y="3749040"/>
            <a:ext cx="3200400" cy="274320"/>
          </a:xfrm>
          <a:prstGeom prst="rect">
            <a:avLst/>
          </a:prstGeom>
          <a:noFill/>
        </p:spPr>
        <p:txBody>
          <a:bodyPr wrap="none">
            <a:spAutoFit/>
          </a:bodyPr>
          <a:lstStyle/>
          <a:p>
            <a:pPr>
              <a:defRPr sz="1400" b="1">
                <a:solidFill>
                  <a:srgbClr val="141413"/>
                </a:solidFill>
              </a:defRPr>
            </a:pPr>
            <a:r>
              <a:rPr dirty="0"/>
              <a:t>Step 5: View marketplace in Marketplaces tab</a:t>
            </a:r>
          </a:p>
        </p:txBody>
      </p:sp>
      <p:sp>
        <p:nvSpPr>
          <p:cNvPr id="12" name="TextBox 11"/>
          <p:cNvSpPr txBox="1"/>
          <p:nvPr/>
        </p:nvSpPr>
        <p:spPr>
          <a:xfrm>
            <a:off x="4440382" y="3749040"/>
            <a:ext cx="4297680" cy="274320"/>
          </a:xfrm>
          <a:prstGeom prst="rect">
            <a:avLst/>
          </a:prstGeom>
          <a:noFill/>
        </p:spPr>
        <p:txBody>
          <a:bodyPr wrap="none">
            <a:spAutoFit/>
          </a:bodyPr>
          <a:lstStyle/>
          <a:p>
            <a:pPr>
              <a:defRPr sz="1200" i="1">
                <a:solidFill>
                  <a:srgbClr val="36454F"/>
                </a:solidFill>
              </a:defRPr>
            </a:pPr>
            <a:r>
              <a:rPr dirty="0"/>
              <a:t>Confirm marketplace was added successfully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DF12483-3466-19A2-2631-CE12350052C4}"/>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E8EB309-5A3A-0471-CD0F-EBB9411C3481}"/>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a:t>
            </a:r>
            <a:r>
              <a:rPr lang="en-US" dirty="0">
                <a:solidFill>
                  <a:schemeClr val="bg1"/>
                </a:solidFill>
              </a:rPr>
              <a:t>3</a:t>
            </a:r>
            <a:r>
              <a:rPr dirty="0">
                <a:solidFill>
                  <a:schemeClr val="bg1"/>
                </a:solidFill>
              </a:rPr>
              <a:t>:</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12" name="Graphic 11" descr="Brain with solid fill">
            <a:extLst>
              <a:ext uri="{FF2B5EF4-FFF2-40B4-BE49-F238E27FC236}">
                <a16:creationId xmlns:a16="http://schemas.microsoft.com/office/drawing/2014/main" id="{EB0F8EA0-26FF-11E7-5A6D-CB50655455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13" name="TextBox 12">
            <a:extLst>
              <a:ext uri="{FF2B5EF4-FFF2-40B4-BE49-F238E27FC236}">
                <a16:creationId xmlns:a16="http://schemas.microsoft.com/office/drawing/2014/main" id="{4DB3E504-27FD-AE8D-0761-287AD63DA5B0}"/>
              </a:ext>
            </a:extLst>
          </p:cNvPr>
          <p:cNvSpPr txBox="1"/>
          <p:nvPr/>
        </p:nvSpPr>
        <p:spPr>
          <a:xfrm>
            <a:off x="3129308" y="834391"/>
            <a:ext cx="5318907" cy="307777"/>
          </a:xfrm>
          <a:prstGeom prst="rect">
            <a:avLst/>
          </a:prstGeom>
          <a:noFill/>
        </p:spPr>
        <p:txBody>
          <a:bodyPr wrap="square">
            <a:spAutoFit/>
          </a:bodyPr>
          <a:lstStyle/>
          <a:p>
            <a:pPr>
              <a:defRPr sz="1400" b="1">
                <a:solidFill>
                  <a:srgbClr val="141413"/>
                </a:solidFill>
              </a:defRPr>
            </a:pPr>
            <a:r>
              <a:rPr lang="en-US" dirty="0"/>
              <a:t>What command adds the Anthropic demo marketplace?</a:t>
            </a:r>
          </a:p>
        </p:txBody>
      </p:sp>
      <p:sp>
        <p:nvSpPr>
          <p:cNvPr id="23" name="TextBox 22">
            <a:extLst>
              <a:ext uri="{FF2B5EF4-FFF2-40B4-BE49-F238E27FC236}">
                <a16:creationId xmlns:a16="http://schemas.microsoft.com/office/drawing/2014/main" id="{7AC00AAD-834F-C83F-F85C-D6A69A87D19D}"/>
              </a:ext>
            </a:extLst>
          </p:cNvPr>
          <p:cNvSpPr txBox="1"/>
          <p:nvPr/>
        </p:nvSpPr>
        <p:spPr>
          <a:xfrm>
            <a:off x="3312188" y="1291590"/>
            <a:ext cx="5136027" cy="261610"/>
          </a:xfrm>
          <a:prstGeom prst="rect">
            <a:avLst/>
          </a:prstGeom>
          <a:noFill/>
        </p:spPr>
        <p:txBody>
          <a:bodyPr wrap="square">
            <a:spAutoFit/>
          </a:bodyPr>
          <a:lstStyle/>
          <a:p>
            <a:pPr>
              <a:defRPr sz="1100" b="0">
                <a:solidFill>
                  <a:srgbClr val="36454F"/>
                </a:solidFill>
              </a:defRPr>
            </a:pPr>
            <a:r>
              <a:t>A) /plugin add anthropics/claude-code</a:t>
            </a:r>
          </a:p>
        </p:txBody>
      </p:sp>
      <p:sp>
        <p:nvSpPr>
          <p:cNvPr id="24" name="TextBox 23">
            <a:extLst>
              <a:ext uri="{FF2B5EF4-FFF2-40B4-BE49-F238E27FC236}">
                <a16:creationId xmlns:a16="http://schemas.microsoft.com/office/drawing/2014/main" id="{1786DF57-3CB4-9BEC-15AF-474532565C8C}"/>
              </a:ext>
            </a:extLst>
          </p:cNvPr>
          <p:cNvSpPr txBox="1"/>
          <p:nvPr/>
        </p:nvSpPr>
        <p:spPr>
          <a:xfrm>
            <a:off x="3312188" y="1565910"/>
            <a:ext cx="5136027" cy="261610"/>
          </a:xfrm>
          <a:prstGeom prst="rect">
            <a:avLst/>
          </a:prstGeom>
          <a:noFill/>
        </p:spPr>
        <p:txBody>
          <a:bodyPr wrap="square">
            <a:spAutoFit/>
          </a:bodyPr>
          <a:lstStyle/>
          <a:p>
            <a:pPr>
              <a:defRPr sz="1100" b="0">
                <a:solidFill>
                  <a:srgbClr val="36454F"/>
                </a:solidFill>
              </a:defRPr>
            </a:pPr>
            <a:r>
              <a:rPr dirty="0"/>
              <a:t>B) /marketplace add </a:t>
            </a:r>
            <a:r>
              <a:rPr dirty="0" err="1"/>
              <a:t>anthropics</a:t>
            </a:r>
            <a:r>
              <a:rPr dirty="0"/>
              <a:t>/</a:t>
            </a:r>
            <a:r>
              <a:rPr dirty="0" err="1"/>
              <a:t>claude</a:t>
            </a:r>
            <a:r>
              <a:rPr dirty="0"/>
              <a:t>-code</a:t>
            </a:r>
          </a:p>
        </p:txBody>
      </p:sp>
      <p:sp>
        <p:nvSpPr>
          <p:cNvPr id="25" name="TextBox 24">
            <a:extLst>
              <a:ext uri="{FF2B5EF4-FFF2-40B4-BE49-F238E27FC236}">
                <a16:creationId xmlns:a16="http://schemas.microsoft.com/office/drawing/2014/main" id="{8EF0375C-62A1-0278-3D8F-0E6263B04483}"/>
              </a:ext>
            </a:extLst>
          </p:cNvPr>
          <p:cNvSpPr txBox="1"/>
          <p:nvPr/>
        </p:nvSpPr>
        <p:spPr>
          <a:xfrm>
            <a:off x="3312188" y="1840229"/>
            <a:ext cx="5136027" cy="261610"/>
          </a:xfrm>
          <a:prstGeom prst="rect">
            <a:avLst/>
          </a:prstGeom>
          <a:noFill/>
        </p:spPr>
        <p:txBody>
          <a:bodyPr wrap="square">
            <a:spAutoFit/>
          </a:bodyPr>
          <a:lstStyle/>
          <a:p>
            <a:pPr>
              <a:defRPr sz="1100" b="1">
                <a:solidFill>
                  <a:srgbClr val="788C5D"/>
                </a:solidFill>
              </a:defRPr>
            </a:pPr>
            <a:r>
              <a:t>C) /plugin marketplace add anthropics/claude-code</a:t>
            </a:r>
          </a:p>
        </p:txBody>
      </p:sp>
      <p:sp>
        <p:nvSpPr>
          <p:cNvPr id="26" name="TextBox 25">
            <a:extLst>
              <a:ext uri="{FF2B5EF4-FFF2-40B4-BE49-F238E27FC236}">
                <a16:creationId xmlns:a16="http://schemas.microsoft.com/office/drawing/2014/main" id="{8DA06087-95D7-CE4C-6661-83FA98C8AFB9}"/>
              </a:ext>
            </a:extLst>
          </p:cNvPr>
          <p:cNvSpPr txBox="1"/>
          <p:nvPr/>
        </p:nvSpPr>
        <p:spPr>
          <a:xfrm>
            <a:off x="3312188" y="2114549"/>
            <a:ext cx="5136027" cy="261610"/>
          </a:xfrm>
          <a:prstGeom prst="rect">
            <a:avLst/>
          </a:prstGeom>
          <a:noFill/>
        </p:spPr>
        <p:txBody>
          <a:bodyPr wrap="square">
            <a:spAutoFit/>
          </a:bodyPr>
          <a:lstStyle/>
          <a:p>
            <a:pPr>
              <a:defRPr sz="1100" b="0">
                <a:solidFill>
                  <a:srgbClr val="36454F"/>
                </a:solidFill>
              </a:defRPr>
            </a:pPr>
            <a:r>
              <a:t>D) /plugin install marketplace anthropics/claude-code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E9AAE77-6EB9-AE4D-2EF9-F8E4EE5598F7}"/>
              </a:ext>
            </a:extLst>
          </p:cNvPr>
          <p:cNvSpPr txBox="1"/>
          <p:nvPr/>
        </p:nvSpPr>
        <p:spPr>
          <a:xfrm>
            <a:off x="457200" y="502920"/>
            <a:ext cx="3530325" cy="584775"/>
          </a:xfrm>
          <a:prstGeom prst="rect">
            <a:avLst/>
          </a:prstGeom>
          <a:noFill/>
        </p:spPr>
        <p:txBody>
          <a:bodyPr wrap="none">
            <a:spAutoFit/>
          </a:bodyPr>
          <a:lstStyle/>
          <a:p>
            <a:pPr>
              <a:defRPr sz="3200" b="1">
                <a:solidFill>
                  <a:srgbClr val="141413"/>
                </a:solidFill>
              </a:defRPr>
            </a:pPr>
            <a:r>
              <a:rPr dirty="0"/>
              <a:t>Module </a:t>
            </a:r>
            <a:r>
              <a:rPr lang="en-US" dirty="0"/>
              <a:t>3</a:t>
            </a:r>
            <a:r>
              <a:rPr dirty="0"/>
              <a:t> Summary</a:t>
            </a:r>
          </a:p>
        </p:txBody>
      </p:sp>
      <p:sp>
        <p:nvSpPr>
          <p:cNvPr id="8" name="TextBox 7">
            <a:extLst>
              <a:ext uri="{FF2B5EF4-FFF2-40B4-BE49-F238E27FC236}">
                <a16:creationId xmlns:a16="http://schemas.microsoft.com/office/drawing/2014/main" id="{85284FE2-A162-C15D-97C9-E2C54CA7B6F1}"/>
              </a:ext>
            </a:extLst>
          </p:cNvPr>
          <p:cNvSpPr txBox="1"/>
          <p:nvPr/>
        </p:nvSpPr>
        <p:spPr>
          <a:xfrm>
            <a:off x="457200" y="1051560"/>
            <a:ext cx="3128613" cy="369332"/>
          </a:xfrm>
          <a:prstGeom prst="rect">
            <a:avLst/>
          </a:prstGeom>
          <a:noFill/>
        </p:spPr>
        <p:txBody>
          <a:bodyPr wrap="none">
            <a:spAutoFit/>
          </a:bodyPr>
          <a:lstStyle/>
          <a:p>
            <a:pPr>
              <a:defRPr sz="1800" i="1">
                <a:solidFill>
                  <a:srgbClr val="36454F"/>
                </a:solidFill>
              </a:defRPr>
            </a:pPr>
            <a:r>
              <a:rPr lang="en-US" dirty="0"/>
              <a:t>Lab: Adding Demo Marketplace</a:t>
            </a:r>
          </a:p>
        </p:txBody>
      </p:sp>
      <p:sp>
        <p:nvSpPr>
          <p:cNvPr id="9" name="TextBox 8">
            <a:extLst>
              <a:ext uri="{FF2B5EF4-FFF2-40B4-BE49-F238E27FC236}">
                <a16:creationId xmlns:a16="http://schemas.microsoft.com/office/drawing/2014/main" id="{E53FEE86-7F1C-F9BF-75BA-9F61D1EE1938}"/>
              </a:ext>
            </a:extLst>
          </p:cNvPr>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10" name="TextBox 9">
            <a:extLst>
              <a:ext uri="{FF2B5EF4-FFF2-40B4-BE49-F238E27FC236}">
                <a16:creationId xmlns:a16="http://schemas.microsoft.com/office/drawing/2014/main" id="{D65F558B-4CF2-BDEE-E995-B6ED98C83573}"/>
              </a:ext>
            </a:extLst>
          </p:cNvPr>
          <p:cNvSpPr txBox="1"/>
          <p:nvPr/>
        </p:nvSpPr>
        <p:spPr>
          <a:xfrm>
            <a:off x="457200" y="2103120"/>
            <a:ext cx="5389418" cy="1631216"/>
          </a:xfrm>
          <a:prstGeom prst="rect">
            <a:avLst/>
          </a:prstGeom>
          <a:noFill/>
        </p:spPr>
        <p:txBody>
          <a:bodyPr wrap="square">
            <a:spAutoFit/>
          </a:bodyPr>
          <a:lstStyle/>
          <a:p>
            <a:pPr>
              <a:spcBef>
                <a:spcPts val="800"/>
              </a:spcBef>
              <a:defRPr sz="1600">
                <a:solidFill>
                  <a:srgbClr val="141413"/>
                </a:solidFill>
              </a:defRPr>
            </a:pPr>
            <a:r>
              <a:rPr lang="en-US" dirty="0"/>
              <a:t>• Use /plugin marketplace add &lt;repo&gt; to add a marketplace</a:t>
            </a:r>
          </a:p>
          <a:p>
            <a:pPr>
              <a:spcBef>
                <a:spcPts val="800"/>
              </a:spcBef>
              <a:defRPr sz="1600">
                <a:solidFill>
                  <a:srgbClr val="141413"/>
                </a:solidFill>
              </a:defRPr>
            </a:pPr>
            <a:r>
              <a:rPr lang="en-US" dirty="0"/>
              <a:t>• The /plugin command opens the manager with four tabs</a:t>
            </a:r>
          </a:p>
          <a:p>
            <a:pPr>
              <a:spcBef>
                <a:spcPts val="800"/>
              </a:spcBef>
              <a:defRPr sz="1600">
                <a:solidFill>
                  <a:srgbClr val="141413"/>
                </a:solidFill>
              </a:defRPr>
            </a:pPr>
            <a:r>
              <a:rPr lang="en-US" dirty="0"/>
              <a:t>• Discover tab shows all plugins from your added marketplaces</a:t>
            </a:r>
          </a:p>
          <a:p>
            <a:pPr>
              <a:spcBef>
                <a:spcPts val="800"/>
              </a:spcBef>
              <a:defRPr sz="1600">
                <a:solidFill>
                  <a:srgbClr val="141413"/>
                </a:solidFill>
              </a:defRPr>
            </a:pPr>
            <a:r>
              <a:rPr lang="en-US" dirty="0"/>
              <a:t>• Adding a marketplace doesn't install plugins—it just makes them browsable</a:t>
            </a:r>
          </a:p>
        </p:txBody>
      </p:sp>
      <p:sp>
        <p:nvSpPr>
          <p:cNvPr id="11" name="Rectangle 10">
            <a:extLst>
              <a:ext uri="{FF2B5EF4-FFF2-40B4-BE49-F238E27FC236}">
                <a16:creationId xmlns:a16="http://schemas.microsoft.com/office/drawing/2014/main" id="{FD537DCE-5E49-52DB-22AD-F978FA08ADE0}"/>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Graphic 11" descr="Key with solid fill">
            <a:extLst>
              <a:ext uri="{FF2B5EF4-FFF2-40B4-BE49-F238E27FC236}">
                <a16:creationId xmlns:a16="http://schemas.microsoft.com/office/drawing/2014/main" id="{D39AB204-F6A4-8914-56C1-D5D2CD22F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97757"/>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AE3BCAE-A570-CEFD-889A-D3364D4244E6}"/>
              </a:ext>
            </a:extLst>
          </p:cNvPr>
          <p:cNvSpPr txBox="1"/>
          <p:nvPr/>
        </p:nvSpPr>
        <p:spPr>
          <a:xfrm>
            <a:off x="609600" y="655320"/>
            <a:ext cx="6950942"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4</a:t>
            </a:r>
            <a:r>
              <a:rPr dirty="0">
                <a:solidFill>
                  <a:schemeClr val="bg1"/>
                </a:solidFill>
              </a:rPr>
              <a:t>: </a:t>
            </a:r>
            <a:r>
              <a:rPr lang="en-US" dirty="0">
                <a:solidFill>
                  <a:schemeClr val="bg1"/>
                </a:solidFill>
              </a:rPr>
              <a:t>Installing and Managing Plugins</a:t>
            </a:r>
          </a:p>
        </p:txBody>
      </p:sp>
      <p:sp>
        <p:nvSpPr>
          <p:cNvPr id="8" name="TextBox 7">
            <a:extLst>
              <a:ext uri="{FF2B5EF4-FFF2-40B4-BE49-F238E27FC236}">
                <a16:creationId xmlns:a16="http://schemas.microsoft.com/office/drawing/2014/main" id="{51ADF6BB-3E12-C3B2-FD5F-439F69BC2FD3}"/>
              </a:ext>
            </a:extLst>
          </p:cNvPr>
          <p:cNvSpPr txBox="1"/>
          <p:nvPr/>
        </p:nvSpPr>
        <p:spPr>
          <a:xfrm>
            <a:off x="609600" y="1203960"/>
            <a:ext cx="2230804" cy="400110"/>
          </a:xfrm>
          <a:prstGeom prst="rect">
            <a:avLst/>
          </a:prstGeom>
          <a:noFill/>
        </p:spPr>
        <p:txBody>
          <a:bodyPr wrap="none">
            <a:spAutoFit/>
          </a:bodyPr>
          <a:lstStyle/>
          <a:p>
            <a:pPr>
              <a:defRPr sz="2000">
                <a:solidFill>
                  <a:srgbClr val="36454F"/>
                </a:solidFill>
              </a:defRPr>
            </a:pPr>
            <a:r>
              <a:rPr>
                <a:solidFill>
                  <a:schemeClr val="bg1"/>
                </a:solidFill>
              </a:rPr>
              <a:t>Learning Objectives</a:t>
            </a:r>
          </a:p>
        </p:txBody>
      </p:sp>
      <p:sp>
        <p:nvSpPr>
          <p:cNvPr id="9" name="TextBox 8">
            <a:extLst>
              <a:ext uri="{FF2B5EF4-FFF2-40B4-BE49-F238E27FC236}">
                <a16:creationId xmlns:a16="http://schemas.microsoft.com/office/drawing/2014/main" id="{3DE4902F-376F-2873-6641-43AB14C81DF9}"/>
              </a:ext>
            </a:extLst>
          </p:cNvPr>
          <p:cNvSpPr txBox="1"/>
          <p:nvPr/>
        </p:nvSpPr>
        <p:spPr>
          <a:xfrm>
            <a:off x="609600" y="1798320"/>
            <a:ext cx="5524782" cy="1308050"/>
          </a:xfrm>
          <a:prstGeom prst="rect">
            <a:avLst/>
          </a:prstGeom>
          <a:noFill/>
        </p:spPr>
        <p:txBody>
          <a:bodyPr wrap="none">
            <a:spAutoFit/>
          </a:bodyPr>
          <a:lstStyle/>
          <a:p>
            <a:pPr>
              <a:spcBef>
                <a:spcPts val="600"/>
              </a:spcBef>
              <a:defRPr sz="1600">
                <a:solidFill>
                  <a:srgbClr val="141413"/>
                </a:solidFill>
              </a:defRPr>
            </a:pPr>
            <a:r>
              <a:rPr lang="en-US" dirty="0">
                <a:solidFill>
                  <a:schemeClr val="bg1"/>
                </a:solidFill>
              </a:rPr>
              <a:t>• Install plugins using both CLI commands and the interactive UI</a:t>
            </a:r>
          </a:p>
          <a:p>
            <a:pPr>
              <a:spcBef>
                <a:spcPts val="600"/>
              </a:spcBef>
              <a:defRPr sz="1600">
                <a:solidFill>
                  <a:srgbClr val="141413"/>
                </a:solidFill>
              </a:defRPr>
            </a:pPr>
            <a:r>
              <a:rPr lang="en-US" dirty="0">
                <a:solidFill>
                  <a:schemeClr val="bg1"/>
                </a:solidFill>
              </a:rPr>
              <a:t>• Distinguish between user, project, and local installation scopes</a:t>
            </a:r>
          </a:p>
          <a:p>
            <a:pPr>
              <a:spcBef>
                <a:spcPts val="600"/>
              </a:spcBef>
              <a:defRPr sz="1600">
                <a:solidFill>
                  <a:srgbClr val="141413"/>
                </a:solidFill>
              </a:defRPr>
            </a:pPr>
            <a:r>
              <a:rPr lang="en-US" dirty="0">
                <a:solidFill>
                  <a:schemeClr val="bg1"/>
                </a:solidFill>
              </a:rPr>
              <a:t>• Enable, disable, and uninstall plugins appropriately</a:t>
            </a:r>
          </a:p>
          <a:p>
            <a:pPr>
              <a:spcBef>
                <a:spcPts val="600"/>
              </a:spcBef>
              <a:defRPr sz="1600">
                <a:solidFill>
                  <a:srgbClr val="141413"/>
                </a:solidFill>
              </a:defRPr>
            </a:pPr>
            <a:r>
              <a:rPr lang="en-US" dirty="0">
                <a:solidFill>
                  <a:schemeClr val="bg1"/>
                </a:solidFill>
              </a:rPr>
              <a:t>• Troubleshoot common installation issues</a:t>
            </a:r>
          </a:p>
        </p:txBody>
      </p:sp>
      <p:sp>
        <p:nvSpPr>
          <p:cNvPr id="10" name="Rounded Rectangle 9">
            <a:extLst>
              <a:ext uri="{FF2B5EF4-FFF2-40B4-BE49-F238E27FC236}">
                <a16:creationId xmlns:a16="http://schemas.microsoft.com/office/drawing/2014/main" id="{B49C3913-AF76-8635-3D3E-9A7BCD1128FF}"/>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45</a:t>
            </a:r>
            <a:r>
              <a:rPr dirty="0">
                <a:solidFill>
                  <a:schemeClr val="tx1"/>
                </a:solidFill>
              </a:rPr>
              <a:t> minutes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Installation Scopes</a:t>
            </a:r>
          </a:p>
        </p:txBody>
      </p:sp>
      <p:sp>
        <p:nvSpPr>
          <p:cNvPr id="3" name="Rectangle 2"/>
          <p:cNvSpPr/>
          <p:nvPr/>
        </p:nvSpPr>
        <p:spPr>
          <a:xfrm>
            <a:off x="731520" y="1280160"/>
            <a:ext cx="7680960" cy="73152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2286000" cy="274320"/>
          </a:xfrm>
          <a:prstGeom prst="rect">
            <a:avLst/>
          </a:prstGeom>
          <a:noFill/>
        </p:spPr>
        <p:txBody>
          <a:bodyPr wrap="none">
            <a:spAutoFit/>
          </a:bodyPr>
          <a:lstStyle/>
          <a:p>
            <a:pPr>
              <a:defRPr sz="1600" b="1">
                <a:solidFill>
                  <a:srgbClr val="141413"/>
                </a:solidFill>
              </a:defRPr>
            </a:pPr>
            <a:r>
              <a:t>User Scope (Default)</a:t>
            </a:r>
          </a:p>
        </p:txBody>
      </p:sp>
      <p:sp>
        <p:nvSpPr>
          <p:cNvPr id="5" name="TextBox 4"/>
          <p:cNvSpPr txBox="1"/>
          <p:nvPr/>
        </p:nvSpPr>
        <p:spPr>
          <a:xfrm>
            <a:off x="914400" y="1645919"/>
            <a:ext cx="4114800" cy="274320"/>
          </a:xfrm>
          <a:prstGeom prst="rect">
            <a:avLst/>
          </a:prstGeom>
          <a:noFill/>
        </p:spPr>
        <p:txBody>
          <a:bodyPr wrap="none">
            <a:spAutoFit/>
          </a:bodyPr>
          <a:lstStyle/>
          <a:p>
            <a:pPr>
              <a:defRPr sz="1200">
                <a:solidFill>
                  <a:srgbClr val="141413"/>
                </a:solidFill>
              </a:defRPr>
            </a:pPr>
            <a:r>
              <a:t>Install for yourself across ALL projects</a:t>
            </a:r>
          </a:p>
        </p:txBody>
      </p:sp>
      <p:sp>
        <p:nvSpPr>
          <p:cNvPr id="6" name="TextBox 5"/>
          <p:cNvSpPr txBox="1"/>
          <p:nvPr/>
        </p:nvSpPr>
        <p:spPr>
          <a:xfrm>
            <a:off x="5120640" y="1508760"/>
            <a:ext cx="3108960" cy="274320"/>
          </a:xfrm>
          <a:prstGeom prst="rect">
            <a:avLst/>
          </a:prstGeom>
          <a:noFill/>
        </p:spPr>
        <p:txBody>
          <a:bodyPr wrap="none">
            <a:spAutoFit/>
          </a:bodyPr>
          <a:lstStyle/>
          <a:p>
            <a:pPr>
              <a:defRPr sz="1000">
                <a:solidFill>
                  <a:srgbClr val="36454F"/>
                </a:solidFill>
                <a:latin typeface="Consolas"/>
              </a:defRPr>
            </a:pPr>
            <a:r>
              <a:t>~/.claude/plugins/</a:t>
            </a:r>
          </a:p>
        </p:txBody>
      </p:sp>
      <p:sp>
        <p:nvSpPr>
          <p:cNvPr id="7" name="Rectangle 6"/>
          <p:cNvSpPr/>
          <p:nvPr/>
        </p:nvSpPr>
        <p:spPr>
          <a:xfrm>
            <a:off x="731520" y="2194560"/>
            <a:ext cx="7680960" cy="73152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286000"/>
            <a:ext cx="2286000" cy="274320"/>
          </a:xfrm>
          <a:prstGeom prst="rect">
            <a:avLst/>
          </a:prstGeom>
          <a:noFill/>
        </p:spPr>
        <p:txBody>
          <a:bodyPr wrap="none">
            <a:spAutoFit/>
          </a:bodyPr>
          <a:lstStyle/>
          <a:p>
            <a:pPr>
              <a:defRPr sz="1600" b="1">
                <a:solidFill>
                  <a:srgbClr val="141413"/>
                </a:solidFill>
              </a:defRPr>
            </a:pPr>
            <a:r>
              <a:t>Project Scope (Team Sharing)</a:t>
            </a:r>
          </a:p>
        </p:txBody>
      </p:sp>
      <p:sp>
        <p:nvSpPr>
          <p:cNvPr id="9" name="TextBox 8"/>
          <p:cNvSpPr txBox="1"/>
          <p:nvPr/>
        </p:nvSpPr>
        <p:spPr>
          <a:xfrm>
            <a:off x="914400" y="2560320"/>
            <a:ext cx="4114800" cy="274320"/>
          </a:xfrm>
          <a:prstGeom prst="rect">
            <a:avLst/>
          </a:prstGeom>
          <a:noFill/>
        </p:spPr>
        <p:txBody>
          <a:bodyPr wrap="none">
            <a:spAutoFit/>
          </a:bodyPr>
          <a:lstStyle/>
          <a:p>
            <a:pPr>
              <a:defRPr sz="1200">
                <a:solidFill>
                  <a:srgbClr val="141413"/>
                </a:solidFill>
              </a:defRPr>
            </a:pPr>
            <a:r>
              <a:t>Install for all team members on THIS repo</a:t>
            </a:r>
          </a:p>
        </p:txBody>
      </p:sp>
      <p:sp>
        <p:nvSpPr>
          <p:cNvPr id="10" name="TextBox 9"/>
          <p:cNvSpPr txBox="1"/>
          <p:nvPr/>
        </p:nvSpPr>
        <p:spPr>
          <a:xfrm>
            <a:off x="5120640" y="2423160"/>
            <a:ext cx="3108960" cy="274320"/>
          </a:xfrm>
          <a:prstGeom prst="rect">
            <a:avLst/>
          </a:prstGeom>
          <a:noFill/>
        </p:spPr>
        <p:txBody>
          <a:bodyPr wrap="none">
            <a:spAutoFit/>
          </a:bodyPr>
          <a:lstStyle/>
          <a:p>
            <a:pPr>
              <a:defRPr sz="1000">
                <a:solidFill>
                  <a:srgbClr val="36454F"/>
                </a:solidFill>
                <a:latin typeface="Consolas"/>
              </a:defRPr>
            </a:pPr>
            <a:r>
              <a:t>.claude/settings.json</a:t>
            </a:r>
          </a:p>
        </p:txBody>
      </p:sp>
      <p:sp>
        <p:nvSpPr>
          <p:cNvPr id="11" name="Rectangle 10"/>
          <p:cNvSpPr/>
          <p:nvPr/>
        </p:nvSpPr>
        <p:spPr>
          <a:xfrm>
            <a:off x="731520" y="3108960"/>
            <a:ext cx="7680960" cy="73152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200400"/>
            <a:ext cx="2286000" cy="274320"/>
          </a:xfrm>
          <a:prstGeom prst="rect">
            <a:avLst/>
          </a:prstGeom>
          <a:noFill/>
        </p:spPr>
        <p:txBody>
          <a:bodyPr wrap="none">
            <a:spAutoFit/>
          </a:bodyPr>
          <a:lstStyle/>
          <a:p>
            <a:pPr>
              <a:defRPr sz="1600" b="1">
                <a:solidFill>
                  <a:srgbClr val="141413"/>
                </a:solidFill>
              </a:defRPr>
            </a:pPr>
            <a:r>
              <a:t>Local Scope (Testing)</a:t>
            </a:r>
          </a:p>
        </p:txBody>
      </p:sp>
      <p:sp>
        <p:nvSpPr>
          <p:cNvPr id="13" name="TextBox 12"/>
          <p:cNvSpPr txBox="1"/>
          <p:nvPr/>
        </p:nvSpPr>
        <p:spPr>
          <a:xfrm>
            <a:off x="914400" y="3474720"/>
            <a:ext cx="4114800" cy="274320"/>
          </a:xfrm>
          <a:prstGeom prst="rect">
            <a:avLst/>
          </a:prstGeom>
          <a:noFill/>
        </p:spPr>
        <p:txBody>
          <a:bodyPr wrap="none">
            <a:spAutoFit/>
          </a:bodyPr>
          <a:lstStyle/>
          <a:p>
            <a:pPr>
              <a:defRPr sz="1200">
                <a:solidFill>
                  <a:srgbClr val="141413"/>
                </a:solidFill>
              </a:defRPr>
            </a:pPr>
            <a:r>
              <a:t>Install for yourself on THIS repo only</a:t>
            </a:r>
          </a:p>
        </p:txBody>
      </p:sp>
      <p:sp>
        <p:nvSpPr>
          <p:cNvPr id="14" name="TextBox 13"/>
          <p:cNvSpPr txBox="1"/>
          <p:nvPr/>
        </p:nvSpPr>
        <p:spPr>
          <a:xfrm>
            <a:off x="5120640" y="3337560"/>
            <a:ext cx="3108960" cy="274320"/>
          </a:xfrm>
          <a:prstGeom prst="rect">
            <a:avLst/>
          </a:prstGeom>
          <a:noFill/>
        </p:spPr>
        <p:txBody>
          <a:bodyPr wrap="none">
            <a:spAutoFit/>
          </a:bodyPr>
          <a:lstStyle/>
          <a:p>
            <a:pPr>
              <a:defRPr sz="1000">
                <a:solidFill>
                  <a:srgbClr val="36454F"/>
                </a:solidFill>
                <a:latin typeface="Consolas"/>
              </a:defRPr>
            </a:pPr>
            <a:r>
              <a:t>.claude/settings.local.json</a:t>
            </a:r>
          </a:p>
        </p:txBody>
      </p:sp>
      <p:sp>
        <p:nvSpPr>
          <p:cNvPr id="15" name="Rounded Rectangle 14"/>
          <p:cNvSpPr/>
          <p:nvPr/>
        </p:nvSpPr>
        <p:spPr>
          <a:xfrm>
            <a:off x="731520" y="4114800"/>
            <a:ext cx="7680960" cy="630382"/>
          </a:xfrm>
          <a:prstGeom prst="roundRect">
            <a:avLst/>
          </a:prstGeom>
          <a:solidFill>
            <a:schemeClr val="bg1"/>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1413"/>
                </a:solidFill>
              </a:defRPr>
            </a:pPr>
            <a:r>
              <a:rPr lang="en-US" dirty="0"/>
              <a:t>💡 </a:t>
            </a:r>
            <a:r>
              <a:rPr dirty="0"/>
              <a:t>Use Case: Plugin connects to company API → Use Project scope so entire team has it. Personal code formatter → Use User scope for all your work.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Installing Plugins</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Two Ways to Install</a:t>
            </a:r>
          </a:p>
        </p:txBody>
      </p:sp>
      <p:sp>
        <p:nvSpPr>
          <p:cNvPr id="4" name="TextBox 3"/>
          <p:cNvSpPr txBox="1"/>
          <p:nvPr/>
        </p:nvSpPr>
        <p:spPr>
          <a:xfrm>
            <a:off x="731520" y="1645920"/>
            <a:ext cx="5877098" cy="523220"/>
          </a:xfrm>
          <a:prstGeom prst="rect">
            <a:avLst/>
          </a:prstGeom>
          <a:noFill/>
        </p:spPr>
        <p:txBody>
          <a:bodyPr wrap="square">
            <a:spAutoFit/>
          </a:bodyPr>
          <a:lstStyle/>
          <a:p>
            <a:pPr>
              <a:defRPr sz="1400">
                <a:solidFill>
                  <a:srgbClr val="141413"/>
                </a:solidFill>
              </a:defRPr>
            </a:pPr>
            <a:r>
              <a:rPr dirty="0"/>
              <a:t>• CLI: /plugin install </a:t>
            </a:r>
            <a:r>
              <a:rPr dirty="0" err="1"/>
              <a:t>plugin-name@marketplace-name</a:t>
            </a:r>
            <a:r>
              <a:rPr dirty="0"/>
              <a:t> (defaults to user scope)</a:t>
            </a:r>
          </a:p>
          <a:p>
            <a:pPr>
              <a:defRPr sz="1400">
                <a:solidFill>
                  <a:srgbClr val="141413"/>
                </a:solidFill>
              </a:defRPr>
            </a:pPr>
            <a:r>
              <a:rPr dirty="0"/>
              <a:t>• Interactive UI: /plugin → Discover tab → Select plugin → Choose scope</a:t>
            </a:r>
          </a:p>
        </p:txBody>
      </p:sp>
      <p:sp>
        <p:nvSpPr>
          <p:cNvPr id="5" name="Rectangle 4"/>
          <p:cNvSpPr/>
          <p:nvPr/>
        </p:nvSpPr>
        <p:spPr>
          <a:xfrm>
            <a:off x="914400" y="2299854"/>
            <a:ext cx="5569527" cy="54864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Consolas"/>
              </a:defRPr>
            </a:pPr>
            <a:r>
              <a:t>/plugin install commit-commands@anthropics-claude-code</a:t>
            </a:r>
          </a:p>
        </p:txBody>
      </p:sp>
      <p:sp>
        <p:nvSpPr>
          <p:cNvPr id="6" name="TextBox 5"/>
          <p:cNvSpPr txBox="1"/>
          <p:nvPr/>
        </p:nvSpPr>
        <p:spPr>
          <a:xfrm>
            <a:off x="731520" y="3031374"/>
            <a:ext cx="7680960" cy="365760"/>
          </a:xfrm>
          <a:prstGeom prst="rect">
            <a:avLst/>
          </a:prstGeom>
          <a:noFill/>
        </p:spPr>
        <p:txBody>
          <a:bodyPr wrap="none">
            <a:spAutoFit/>
          </a:bodyPr>
          <a:lstStyle/>
          <a:p>
            <a:pPr>
              <a:defRPr sz="2000" b="1">
                <a:solidFill>
                  <a:srgbClr val="141413"/>
                </a:solidFill>
              </a:defRPr>
            </a:pPr>
            <a:r>
              <a:t>Specify Scope in CLI</a:t>
            </a:r>
          </a:p>
        </p:txBody>
      </p:sp>
      <p:sp>
        <p:nvSpPr>
          <p:cNvPr id="7" name="Rectangle 6"/>
          <p:cNvSpPr/>
          <p:nvPr/>
        </p:nvSpPr>
        <p:spPr>
          <a:xfrm>
            <a:off x="914400" y="3488574"/>
            <a:ext cx="5569527" cy="54864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Consolas"/>
              </a:defRPr>
            </a:pPr>
            <a:r>
              <a:t>claude plugin install formatter@your-org --scope project</a:t>
            </a:r>
          </a:p>
        </p:txBody>
      </p:sp>
      <p:sp>
        <p:nvSpPr>
          <p:cNvPr id="9" name="Rectangle 8">
            <a:extLst>
              <a:ext uri="{FF2B5EF4-FFF2-40B4-BE49-F238E27FC236}">
                <a16:creationId xmlns:a16="http://schemas.microsoft.com/office/drawing/2014/main" id="{829FF0D3-8426-0C97-AFBE-42798DA8FA8B}"/>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Interactive UI recommended for choosing scope—you can see all options clearly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Managing Plugins</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View Installed Plugins</a:t>
            </a:r>
          </a:p>
        </p:txBody>
      </p:sp>
      <p:sp>
        <p:nvSpPr>
          <p:cNvPr id="4" name="TextBox 3"/>
          <p:cNvSpPr txBox="1"/>
          <p:nvPr/>
        </p:nvSpPr>
        <p:spPr>
          <a:xfrm>
            <a:off x="731520" y="1645920"/>
            <a:ext cx="7680960" cy="914400"/>
          </a:xfrm>
          <a:prstGeom prst="rect">
            <a:avLst/>
          </a:prstGeom>
          <a:noFill/>
        </p:spPr>
        <p:txBody>
          <a:bodyPr wrap="none">
            <a:spAutoFit/>
          </a:bodyPr>
          <a:lstStyle/>
          <a:p>
            <a:pPr>
              <a:defRPr sz="1400">
                <a:solidFill>
                  <a:srgbClr val="141413"/>
                </a:solidFill>
              </a:defRPr>
            </a:pPr>
            <a:r>
              <a:t>• /plugin command → Installed tab</a:t>
            </a:r>
          </a:p>
          <a:p>
            <a:pPr>
              <a:defRPr sz="1400">
                <a:solidFill>
                  <a:srgbClr val="141413"/>
                </a:solidFill>
              </a:defRPr>
            </a:pPr>
            <a:r>
              <a:t>• Plugins grouped by scope (User, Project, Local, Managed)</a:t>
            </a:r>
          </a:p>
        </p:txBody>
      </p:sp>
      <p:sp>
        <p:nvSpPr>
          <p:cNvPr id="5" name="TextBox 4"/>
          <p:cNvSpPr txBox="1"/>
          <p:nvPr/>
        </p:nvSpPr>
        <p:spPr>
          <a:xfrm>
            <a:off x="731520" y="2459182"/>
            <a:ext cx="7680960" cy="365760"/>
          </a:xfrm>
          <a:prstGeom prst="rect">
            <a:avLst/>
          </a:prstGeom>
          <a:noFill/>
        </p:spPr>
        <p:txBody>
          <a:bodyPr wrap="none">
            <a:spAutoFit/>
          </a:bodyPr>
          <a:lstStyle/>
          <a:p>
            <a:pPr>
              <a:defRPr sz="2000" b="1">
                <a:solidFill>
                  <a:srgbClr val="141413"/>
                </a:solidFill>
              </a:defRPr>
            </a:pPr>
            <a:r>
              <a:rPr dirty="0"/>
              <a:t>Common Management Tasks</a:t>
            </a:r>
          </a:p>
        </p:txBody>
      </p:sp>
      <p:sp>
        <p:nvSpPr>
          <p:cNvPr id="6" name="TextBox 5"/>
          <p:cNvSpPr txBox="1"/>
          <p:nvPr/>
        </p:nvSpPr>
        <p:spPr>
          <a:xfrm>
            <a:off x="731520" y="2916382"/>
            <a:ext cx="7680960" cy="1371600"/>
          </a:xfrm>
          <a:prstGeom prst="rect">
            <a:avLst/>
          </a:prstGeom>
          <a:noFill/>
        </p:spPr>
        <p:txBody>
          <a:bodyPr wrap="none">
            <a:spAutoFit/>
          </a:bodyPr>
          <a:lstStyle/>
          <a:p>
            <a:pPr>
              <a:defRPr sz="1400">
                <a:solidFill>
                  <a:srgbClr val="141413"/>
                </a:solidFill>
              </a:defRPr>
            </a:pPr>
            <a:r>
              <a:t>• Disable: /plugin disable plugin-name@marketplace (temporary)</a:t>
            </a:r>
          </a:p>
          <a:p>
            <a:pPr>
              <a:defRPr sz="1400">
                <a:solidFill>
                  <a:srgbClr val="141413"/>
                </a:solidFill>
              </a:defRPr>
            </a:pPr>
            <a:r>
              <a:t>• Enable: /plugin enable plugin-name@marketplace (re-activate)</a:t>
            </a:r>
          </a:p>
          <a:p>
            <a:pPr>
              <a:defRPr sz="1400">
                <a:solidFill>
                  <a:srgbClr val="141413"/>
                </a:solidFill>
              </a:defRPr>
            </a:pPr>
            <a:r>
              <a:t>• Uninstall: /plugin uninstall plugin-name@marketplace (permanent removal)</a:t>
            </a:r>
          </a:p>
        </p:txBody>
      </p:sp>
      <p:sp>
        <p:nvSpPr>
          <p:cNvPr id="8" name="Rectangle 7">
            <a:extLst>
              <a:ext uri="{FF2B5EF4-FFF2-40B4-BE49-F238E27FC236}">
                <a16:creationId xmlns:a16="http://schemas.microsoft.com/office/drawing/2014/main" id="{7D2C544C-F757-07F7-4321-18B5DFFCBCFF}"/>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Disabling is useful for troubleshooting conflicts without losing configuration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34FA4A7-BF74-3B10-8D43-BD78A30F7C98}"/>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4413706-B21E-E0B9-BB3D-E59C5F28E293}"/>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a:t>
            </a:r>
            <a:r>
              <a:rPr lang="en-US" dirty="0">
                <a:solidFill>
                  <a:schemeClr val="bg1"/>
                </a:solidFill>
              </a:rPr>
              <a:t>4</a:t>
            </a:r>
            <a:r>
              <a:rPr dirty="0">
                <a:solidFill>
                  <a:schemeClr val="bg1"/>
                </a:solidFill>
              </a:rPr>
              <a:t>:</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18" name="Graphic 17" descr="Brain with solid fill">
            <a:extLst>
              <a:ext uri="{FF2B5EF4-FFF2-40B4-BE49-F238E27FC236}">
                <a16:creationId xmlns:a16="http://schemas.microsoft.com/office/drawing/2014/main" id="{1746B07C-9A08-7C67-DC30-AED4507F35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19" name="TextBox 18">
            <a:extLst>
              <a:ext uri="{FF2B5EF4-FFF2-40B4-BE49-F238E27FC236}">
                <a16:creationId xmlns:a16="http://schemas.microsoft.com/office/drawing/2014/main" id="{9479DF61-D85D-9F43-7CCA-833BCE9A4597}"/>
              </a:ext>
            </a:extLst>
          </p:cNvPr>
          <p:cNvSpPr txBox="1"/>
          <p:nvPr/>
        </p:nvSpPr>
        <p:spPr>
          <a:xfrm>
            <a:off x="3129308" y="834391"/>
            <a:ext cx="5318907" cy="523220"/>
          </a:xfrm>
          <a:prstGeom prst="rect">
            <a:avLst/>
          </a:prstGeom>
          <a:noFill/>
        </p:spPr>
        <p:txBody>
          <a:bodyPr wrap="square">
            <a:spAutoFit/>
          </a:bodyPr>
          <a:lstStyle/>
          <a:p>
            <a:pPr>
              <a:defRPr sz="1400" b="1">
                <a:solidFill>
                  <a:srgbClr val="141413"/>
                </a:solidFill>
              </a:defRPr>
            </a:pPr>
            <a:r>
              <a:rPr lang="en-US" dirty="0"/>
              <a:t>When installing via CLI without --scope flag, which scope is used by default?</a:t>
            </a:r>
          </a:p>
        </p:txBody>
      </p:sp>
      <p:sp>
        <p:nvSpPr>
          <p:cNvPr id="24" name="TextBox 23">
            <a:extLst>
              <a:ext uri="{FF2B5EF4-FFF2-40B4-BE49-F238E27FC236}">
                <a16:creationId xmlns:a16="http://schemas.microsoft.com/office/drawing/2014/main" id="{73388CE8-D107-026A-C0E7-E210DCDA03BF}"/>
              </a:ext>
            </a:extLst>
          </p:cNvPr>
          <p:cNvSpPr txBox="1"/>
          <p:nvPr/>
        </p:nvSpPr>
        <p:spPr>
          <a:xfrm>
            <a:off x="3129308" y="2571750"/>
            <a:ext cx="5318907" cy="523220"/>
          </a:xfrm>
          <a:prstGeom prst="rect">
            <a:avLst/>
          </a:prstGeom>
          <a:noFill/>
        </p:spPr>
        <p:txBody>
          <a:bodyPr wrap="square">
            <a:spAutoFit/>
          </a:bodyPr>
          <a:lstStyle/>
          <a:p>
            <a:pPr>
              <a:defRPr sz="1400" b="1">
                <a:solidFill>
                  <a:srgbClr val="141413"/>
                </a:solidFill>
              </a:defRPr>
            </a:pPr>
            <a:r>
              <a:rPr lang="en-US" dirty="0"/>
              <a:t>Which scope should you use for a plugin that connects to your company's internal API?</a:t>
            </a:r>
          </a:p>
        </p:txBody>
      </p:sp>
      <p:sp>
        <p:nvSpPr>
          <p:cNvPr id="29" name="TextBox 28">
            <a:extLst>
              <a:ext uri="{FF2B5EF4-FFF2-40B4-BE49-F238E27FC236}">
                <a16:creationId xmlns:a16="http://schemas.microsoft.com/office/drawing/2014/main" id="{5F9360C4-8ECB-895A-34DB-2D925C6D2FBC}"/>
              </a:ext>
            </a:extLst>
          </p:cNvPr>
          <p:cNvSpPr txBox="1"/>
          <p:nvPr/>
        </p:nvSpPr>
        <p:spPr>
          <a:xfrm>
            <a:off x="3312188" y="1292458"/>
            <a:ext cx="5136027" cy="261610"/>
          </a:xfrm>
          <a:prstGeom prst="rect">
            <a:avLst/>
          </a:prstGeom>
          <a:noFill/>
        </p:spPr>
        <p:txBody>
          <a:bodyPr wrap="square">
            <a:spAutoFit/>
          </a:bodyPr>
          <a:lstStyle/>
          <a:p>
            <a:pPr>
              <a:defRPr sz="1100" b="0">
                <a:solidFill>
                  <a:srgbClr val="36454F"/>
                </a:solidFill>
              </a:defRPr>
            </a:pPr>
            <a:r>
              <a:rPr dirty="0"/>
              <a:t>A) Project</a:t>
            </a:r>
          </a:p>
        </p:txBody>
      </p:sp>
      <p:sp>
        <p:nvSpPr>
          <p:cNvPr id="30" name="TextBox 29">
            <a:extLst>
              <a:ext uri="{FF2B5EF4-FFF2-40B4-BE49-F238E27FC236}">
                <a16:creationId xmlns:a16="http://schemas.microsoft.com/office/drawing/2014/main" id="{91DDE81B-B23A-2954-950D-5A0521508182}"/>
              </a:ext>
            </a:extLst>
          </p:cNvPr>
          <p:cNvSpPr txBox="1"/>
          <p:nvPr/>
        </p:nvSpPr>
        <p:spPr>
          <a:xfrm>
            <a:off x="3312188" y="1566778"/>
            <a:ext cx="5136027" cy="261610"/>
          </a:xfrm>
          <a:prstGeom prst="rect">
            <a:avLst/>
          </a:prstGeom>
          <a:noFill/>
        </p:spPr>
        <p:txBody>
          <a:bodyPr wrap="square">
            <a:spAutoFit/>
          </a:bodyPr>
          <a:lstStyle/>
          <a:p>
            <a:pPr>
              <a:defRPr sz="1100" b="1">
                <a:solidFill>
                  <a:srgbClr val="788C5D"/>
                </a:solidFill>
              </a:defRPr>
            </a:pPr>
            <a:r>
              <a:t>B) User</a:t>
            </a:r>
          </a:p>
        </p:txBody>
      </p:sp>
      <p:sp>
        <p:nvSpPr>
          <p:cNvPr id="31" name="TextBox 30">
            <a:extLst>
              <a:ext uri="{FF2B5EF4-FFF2-40B4-BE49-F238E27FC236}">
                <a16:creationId xmlns:a16="http://schemas.microsoft.com/office/drawing/2014/main" id="{48B28B54-0974-F1DB-45D8-ACC70495ECF6}"/>
              </a:ext>
            </a:extLst>
          </p:cNvPr>
          <p:cNvSpPr txBox="1"/>
          <p:nvPr/>
        </p:nvSpPr>
        <p:spPr>
          <a:xfrm>
            <a:off x="3312188" y="1841097"/>
            <a:ext cx="5136027" cy="261610"/>
          </a:xfrm>
          <a:prstGeom prst="rect">
            <a:avLst/>
          </a:prstGeom>
          <a:noFill/>
        </p:spPr>
        <p:txBody>
          <a:bodyPr wrap="square">
            <a:spAutoFit/>
          </a:bodyPr>
          <a:lstStyle/>
          <a:p>
            <a:pPr>
              <a:defRPr sz="1100" b="0">
                <a:solidFill>
                  <a:srgbClr val="36454F"/>
                </a:solidFill>
              </a:defRPr>
            </a:pPr>
            <a:r>
              <a:t>C) Local</a:t>
            </a:r>
          </a:p>
        </p:txBody>
      </p:sp>
      <p:sp>
        <p:nvSpPr>
          <p:cNvPr id="32" name="TextBox 31">
            <a:extLst>
              <a:ext uri="{FF2B5EF4-FFF2-40B4-BE49-F238E27FC236}">
                <a16:creationId xmlns:a16="http://schemas.microsoft.com/office/drawing/2014/main" id="{F0C70648-E3AD-1668-F307-98CFEA68C7F1}"/>
              </a:ext>
            </a:extLst>
          </p:cNvPr>
          <p:cNvSpPr txBox="1"/>
          <p:nvPr/>
        </p:nvSpPr>
        <p:spPr>
          <a:xfrm>
            <a:off x="3312188" y="2115417"/>
            <a:ext cx="5136027" cy="261610"/>
          </a:xfrm>
          <a:prstGeom prst="rect">
            <a:avLst/>
          </a:prstGeom>
          <a:noFill/>
        </p:spPr>
        <p:txBody>
          <a:bodyPr wrap="square">
            <a:spAutoFit/>
          </a:bodyPr>
          <a:lstStyle/>
          <a:p>
            <a:pPr>
              <a:defRPr sz="1100" b="0">
                <a:solidFill>
                  <a:srgbClr val="36454F"/>
                </a:solidFill>
              </a:defRPr>
            </a:pPr>
            <a:r>
              <a:t>D) Managed</a:t>
            </a:r>
          </a:p>
        </p:txBody>
      </p:sp>
      <p:sp>
        <p:nvSpPr>
          <p:cNvPr id="33" name="TextBox 32">
            <a:extLst>
              <a:ext uri="{FF2B5EF4-FFF2-40B4-BE49-F238E27FC236}">
                <a16:creationId xmlns:a16="http://schemas.microsoft.com/office/drawing/2014/main" id="{AE420717-F3F6-5E9B-2D83-89961236425D}"/>
              </a:ext>
            </a:extLst>
          </p:cNvPr>
          <p:cNvSpPr txBox="1"/>
          <p:nvPr/>
        </p:nvSpPr>
        <p:spPr>
          <a:xfrm>
            <a:off x="3312188" y="3028950"/>
            <a:ext cx="5136027" cy="261610"/>
          </a:xfrm>
          <a:prstGeom prst="rect">
            <a:avLst/>
          </a:prstGeom>
          <a:noFill/>
        </p:spPr>
        <p:txBody>
          <a:bodyPr wrap="square">
            <a:spAutoFit/>
          </a:bodyPr>
          <a:lstStyle/>
          <a:p>
            <a:pPr>
              <a:defRPr sz="1100" b="0">
                <a:solidFill>
                  <a:srgbClr val="36454F"/>
                </a:solidFill>
              </a:defRPr>
            </a:pPr>
            <a:r>
              <a:t>A) User (everyone installs individually)</a:t>
            </a:r>
          </a:p>
        </p:txBody>
      </p:sp>
      <p:sp>
        <p:nvSpPr>
          <p:cNvPr id="34" name="TextBox 33">
            <a:extLst>
              <a:ext uri="{FF2B5EF4-FFF2-40B4-BE49-F238E27FC236}">
                <a16:creationId xmlns:a16="http://schemas.microsoft.com/office/drawing/2014/main" id="{E0939584-E025-BFA7-485B-0671B7666CA1}"/>
              </a:ext>
            </a:extLst>
          </p:cNvPr>
          <p:cNvSpPr txBox="1"/>
          <p:nvPr/>
        </p:nvSpPr>
        <p:spPr>
          <a:xfrm>
            <a:off x="3312188" y="3303270"/>
            <a:ext cx="5136027" cy="261610"/>
          </a:xfrm>
          <a:prstGeom prst="rect">
            <a:avLst/>
          </a:prstGeom>
          <a:noFill/>
        </p:spPr>
        <p:txBody>
          <a:bodyPr wrap="square">
            <a:spAutoFit/>
          </a:bodyPr>
          <a:lstStyle/>
          <a:p>
            <a:pPr>
              <a:defRPr sz="1100" b="1">
                <a:solidFill>
                  <a:srgbClr val="788C5D"/>
                </a:solidFill>
              </a:defRPr>
            </a:pPr>
            <a:r>
              <a:t>B) Project (shared with team)</a:t>
            </a:r>
          </a:p>
        </p:txBody>
      </p:sp>
      <p:sp>
        <p:nvSpPr>
          <p:cNvPr id="35" name="TextBox 34">
            <a:extLst>
              <a:ext uri="{FF2B5EF4-FFF2-40B4-BE49-F238E27FC236}">
                <a16:creationId xmlns:a16="http://schemas.microsoft.com/office/drawing/2014/main" id="{9C72E0A0-6B88-2092-8EC2-6F536AF4B386}"/>
              </a:ext>
            </a:extLst>
          </p:cNvPr>
          <p:cNvSpPr txBox="1"/>
          <p:nvPr/>
        </p:nvSpPr>
        <p:spPr>
          <a:xfrm>
            <a:off x="3312188" y="3577590"/>
            <a:ext cx="5136027" cy="261610"/>
          </a:xfrm>
          <a:prstGeom prst="rect">
            <a:avLst/>
          </a:prstGeom>
          <a:noFill/>
        </p:spPr>
        <p:txBody>
          <a:bodyPr wrap="square">
            <a:spAutoFit/>
          </a:bodyPr>
          <a:lstStyle/>
          <a:p>
            <a:pPr>
              <a:defRPr sz="1100" b="0">
                <a:solidFill>
                  <a:srgbClr val="36454F"/>
                </a:solidFill>
              </a:defRPr>
            </a:pPr>
            <a:r>
              <a:t>C) Local (isolated testing)</a:t>
            </a:r>
          </a:p>
        </p:txBody>
      </p:sp>
      <p:sp>
        <p:nvSpPr>
          <p:cNvPr id="36" name="TextBox 35">
            <a:extLst>
              <a:ext uri="{FF2B5EF4-FFF2-40B4-BE49-F238E27FC236}">
                <a16:creationId xmlns:a16="http://schemas.microsoft.com/office/drawing/2014/main" id="{C6383A30-1159-A727-C3A2-2AED1B419A57}"/>
              </a:ext>
            </a:extLst>
          </p:cNvPr>
          <p:cNvSpPr txBox="1"/>
          <p:nvPr/>
        </p:nvSpPr>
        <p:spPr>
          <a:xfrm>
            <a:off x="3312188" y="3851910"/>
            <a:ext cx="5136027" cy="261610"/>
          </a:xfrm>
          <a:prstGeom prst="rect">
            <a:avLst/>
          </a:prstGeom>
          <a:noFill/>
        </p:spPr>
        <p:txBody>
          <a:bodyPr wrap="square">
            <a:spAutoFit/>
          </a:bodyPr>
          <a:lstStyle/>
          <a:p>
            <a:pPr>
              <a:defRPr sz="1100" b="0">
                <a:solidFill>
                  <a:srgbClr val="36454F"/>
                </a:solidFill>
              </a:defRPr>
            </a:pPr>
            <a:r>
              <a:t>D) Managed (admin-controlled)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D8D3204-DA5C-3E2C-068A-467818501D15}"/>
              </a:ext>
            </a:extLst>
          </p:cNvPr>
          <p:cNvSpPr txBox="1"/>
          <p:nvPr/>
        </p:nvSpPr>
        <p:spPr>
          <a:xfrm>
            <a:off x="457200" y="502920"/>
            <a:ext cx="3530325" cy="584775"/>
          </a:xfrm>
          <a:prstGeom prst="rect">
            <a:avLst/>
          </a:prstGeom>
          <a:noFill/>
        </p:spPr>
        <p:txBody>
          <a:bodyPr wrap="none">
            <a:spAutoFit/>
          </a:bodyPr>
          <a:lstStyle/>
          <a:p>
            <a:pPr>
              <a:defRPr sz="3200" b="1">
                <a:solidFill>
                  <a:srgbClr val="141413"/>
                </a:solidFill>
              </a:defRPr>
            </a:pPr>
            <a:r>
              <a:rPr dirty="0"/>
              <a:t>Module </a:t>
            </a:r>
            <a:r>
              <a:rPr lang="en-US" dirty="0"/>
              <a:t>4</a:t>
            </a:r>
            <a:r>
              <a:rPr dirty="0"/>
              <a:t> Summary</a:t>
            </a:r>
          </a:p>
        </p:txBody>
      </p:sp>
      <p:sp>
        <p:nvSpPr>
          <p:cNvPr id="8" name="TextBox 7">
            <a:extLst>
              <a:ext uri="{FF2B5EF4-FFF2-40B4-BE49-F238E27FC236}">
                <a16:creationId xmlns:a16="http://schemas.microsoft.com/office/drawing/2014/main" id="{ECA20C57-0FE5-EB56-624C-999E3991779D}"/>
              </a:ext>
            </a:extLst>
          </p:cNvPr>
          <p:cNvSpPr txBox="1"/>
          <p:nvPr/>
        </p:nvSpPr>
        <p:spPr>
          <a:xfrm>
            <a:off x="457200" y="1051560"/>
            <a:ext cx="3182987" cy="369332"/>
          </a:xfrm>
          <a:prstGeom prst="rect">
            <a:avLst/>
          </a:prstGeom>
          <a:noFill/>
        </p:spPr>
        <p:txBody>
          <a:bodyPr wrap="none">
            <a:spAutoFit/>
          </a:bodyPr>
          <a:lstStyle/>
          <a:p>
            <a:pPr>
              <a:defRPr sz="1800" i="1">
                <a:solidFill>
                  <a:srgbClr val="36454F"/>
                </a:solidFill>
              </a:defRPr>
            </a:pPr>
            <a:r>
              <a:rPr lang="en-US" dirty="0"/>
              <a:t>Installing and Managing Plugins</a:t>
            </a:r>
            <a:endParaRPr dirty="0"/>
          </a:p>
        </p:txBody>
      </p:sp>
      <p:sp>
        <p:nvSpPr>
          <p:cNvPr id="9" name="TextBox 8">
            <a:extLst>
              <a:ext uri="{FF2B5EF4-FFF2-40B4-BE49-F238E27FC236}">
                <a16:creationId xmlns:a16="http://schemas.microsoft.com/office/drawing/2014/main" id="{81D811C5-EB99-06BC-F69A-67538E4C7718}"/>
              </a:ext>
            </a:extLst>
          </p:cNvPr>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10" name="TextBox 9">
            <a:extLst>
              <a:ext uri="{FF2B5EF4-FFF2-40B4-BE49-F238E27FC236}">
                <a16:creationId xmlns:a16="http://schemas.microsoft.com/office/drawing/2014/main" id="{6B551B31-919E-E538-668B-2E7083A54F5C}"/>
              </a:ext>
            </a:extLst>
          </p:cNvPr>
          <p:cNvSpPr txBox="1"/>
          <p:nvPr/>
        </p:nvSpPr>
        <p:spPr>
          <a:xfrm>
            <a:off x="457200" y="2103120"/>
            <a:ext cx="5389418" cy="2369880"/>
          </a:xfrm>
          <a:prstGeom prst="rect">
            <a:avLst/>
          </a:prstGeom>
          <a:noFill/>
        </p:spPr>
        <p:txBody>
          <a:bodyPr wrap="square">
            <a:spAutoFit/>
          </a:bodyPr>
          <a:lstStyle/>
          <a:p>
            <a:pPr>
              <a:spcBef>
                <a:spcPts val="800"/>
              </a:spcBef>
              <a:defRPr sz="1600">
                <a:solidFill>
                  <a:srgbClr val="141413"/>
                </a:solidFill>
              </a:defRPr>
            </a:pPr>
            <a:r>
              <a:rPr lang="en-US" dirty="0"/>
              <a:t>• Three scopes: User (all projects), Project (team shared), Local (this repo only)</a:t>
            </a:r>
          </a:p>
          <a:p>
            <a:pPr>
              <a:spcBef>
                <a:spcPts val="800"/>
              </a:spcBef>
              <a:defRPr sz="1600">
                <a:solidFill>
                  <a:srgbClr val="141413"/>
                </a:solidFill>
              </a:defRPr>
            </a:pPr>
            <a:r>
              <a:rPr lang="en-US" dirty="0"/>
              <a:t>• Install via CLI (/plugin install) or Interactive UI for scope selection</a:t>
            </a:r>
          </a:p>
          <a:p>
            <a:pPr>
              <a:spcBef>
                <a:spcPts val="800"/>
              </a:spcBef>
              <a:defRPr sz="1600">
                <a:solidFill>
                  <a:srgbClr val="141413"/>
                </a:solidFill>
              </a:defRPr>
            </a:pPr>
            <a:r>
              <a:rPr lang="en-US" dirty="0"/>
              <a:t>• Disable plugins temporarily for troubleshooting; uninstall to remove permanently</a:t>
            </a:r>
          </a:p>
          <a:p>
            <a:pPr>
              <a:spcBef>
                <a:spcPts val="800"/>
              </a:spcBef>
              <a:defRPr sz="1600">
                <a:solidFill>
                  <a:srgbClr val="141413"/>
                </a:solidFill>
              </a:defRPr>
            </a:pPr>
            <a:r>
              <a:rPr lang="en-US" dirty="0"/>
              <a:t>• Project scope is ideal for team-shared functionality like API integrations</a:t>
            </a:r>
          </a:p>
        </p:txBody>
      </p:sp>
      <p:sp>
        <p:nvSpPr>
          <p:cNvPr id="11" name="Rectangle 10">
            <a:extLst>
              <a:ext uri="{FF2B5EF4-FFF2-40B4-BE49-F238E27FC236}">
                <a16:creationId xmlns:a16="http://schemas.microsoft.com/office/drawing/2014/main" id="{281D5660-AC66-E5FD-2EF4-D6C768F821B6}"/>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Graphic 11" descr="Key with solid fill">
            <a:extLst>
              <a:ext uri="{FF2B5EF4-FFF2-40B4-BE49-F238E27FC236}">
                <a16:creationId xmlns:a16="http://schemas.microsoft.com/office/drawing/2014/main" id="{24E0D5C8-7FFA-B168-5590-60483F39EF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6A9BCC"/>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77F9173-243C-7526-8518-F1A997AF98F7}"/>
              </a:ext>
            </a:extLst>
          </p:cNvPr>
          <p:cNvSpPr txBox="1"/>
          <p:nvPr/>
        </p:nvSpPr>
        <p:spPr>
          <a:xfrm>
            <a:off x="609600" y="655320"/>
            <a:ext cx="6179897"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5</a:t>
            </a:r>
            <a:r>
              <a:rPr dirty="0">
                <a:solidFill>
                  <a:schemeClr val="bg1"/>
                </a:solidFill>
              </a:rPr>
              <a:t>: </a:t>
            </a:r>
            <a:r>
              <a:rPr lang="en-US" dirty="0">
                <a:solidFill>
                  <a:schemeClr val="bg1"/>
                </a:solidFill>
              </a:rPr>
              <a:t>Lab: Adding a Demo Plugin</a:t>
            </a:r>
          </a:p>
        </p:txBody>
      </p:sp>
      <p:sp>
        <p:nvSpPr>
          <p:cNvPr id="8" name="TextBox 7">
            <a:extLst>
              <a:ext uri="{FF2B5EF4-FFF2-40B4-BE49-F238E27FC236}">
                <a16:creationId xmlns:a16="http://schemas.microsoft.com/office/drawing/2014/main" id="{2F9A55E4-B5C4-22FE-5930-FA525D7A7D34}"/>
              </a:ext>
            </a:extLst>
          </p:cNvPr>
          <p:cNvSpPr txBox="1"/>
          <p:nvPr/>
        </p:nvSpPr>
        <p:spPr>
          <a:xfrm>
            <a:off x="609600" y="1203960"/>
            <a:ext cx="2120196" cy="400110"/>
          </a:xfrm>
          <a:prstGeom prst="rect">
            <a:avLst/>
          </a:prstGeom>
          <a:noFill/>
        </p:spPr>
        <p:txBody>
          <a:bodyPr wrap="none">
            <a:spAutoFit/>
          </a:bodyPr>
          <a:lstStyle/>
          <a:p>
            <a:pPr>
              <a:defRPr sz="2000">
                <a:solidFill>
                  <a:srgbClr val="36454F"/>
                </a:solidFill>
              </a:defRPr>
            </a:pPr>
            <a:r>
              <a:rPr lang="en-US" dirty="0">
                <a:solidFill>
                  <a:schemeClr val="bg1"/>
                </a:solidFill>
              </a:rPr>
              <a:t>Hands-On Exercise</a:t>
            </a:r>
          </a:p>
        </p:txBody>
      </p:sp>
      <p:sp>
        <p:nvSpPr>
          <p:cNvPr id="9" name="TextBox 8">
            <a:extLst>
              <a:ext uri="{FF2B5EF4-FFF2-40B4-BE49-F238E27FC236}">
                <a16:creationId xmlns:a16="http://schemas.microsoft.com/office/drawing/2014/main" id="{C68F1FDD-385F-7D50-98A2-C0EE2D5BE73F}"/>
              </a:ext>
            </a:extLst>
          </p:cNvPr>
          <p:cNvSpPr txBox="1"/>
          <p:nvPr/>
        </p:nvSpPr>
        <p:spPr>
          <a:xfrm>
            <a:off x="609600" y="1798320"/>
            <a:ext cx="3911840" cy="1077218"/>
          </a:xfrm>
          <a:prstGeom prst="rect">
            <a:avLst/>
          </a:prstGeom>
          <a:noFill/>
        </p:spPr>
        <p:txBody>
          <a:bodyPr wrap="none">
            <a:spAutoFit/>
          </a:bodyPr>
          <a:lstStyle/>
          <a:p>
            <a:pPr>
              <a:defRPr sz="1600">
                <a:solidFill>
                  <a:srgbClr val="141413"/>
                </a:solidFill>
              </a:defRPr>
            </a:pPr>
            <a:r>
              <a:rPr lang="en-US" dirty="0">
                <a:solidFill>
                  <a:schemeClr val="bg1"/>
                </a:solidFill>
              </a:rPr>
              <a:t>• Install a plugin from the demo marketplace</a:t>
            </a:r>
          </a:p>
          <a:p>
            <a:pPr>
              <a:defRPr sz="1600">
                <a:solidFill>
                  <a:srgbClr val="141413"/>
                </a:solidFill>
              </a:defRPr>
            </a:pPr>
            <a:r>
              <a:rPr lang="en-US" dirty="0">
                <a:solidFill>
                  <a:schemeClr val="bg1"/>
                </a:solidFill>
              </a:rPr>
              <a:t>• Choose an appropriate installation scope</a:t>
            </a:r>
          </a:p>
          <a:p>
            <a:pPr>
              <a:defRPr sz="1600">
                <a:solidFill>
                  <a:srgbClr val="141413"/>
                </a:solidFill>
              </a:defRPr>
            </a:pPr>
            <a:r>
              <a:rPr lang="en-US" dirty="0">
                <a:solidFill>
                  <a:schemeClr val="bg1"/>
                </a:solidFill>
              </a:rPr>
              <a:t>• Test the plugin's functionality</a:t>
            </a:r>
          </a:p>
          <a:p>
            <a:pPr>
              <a:defRPr sz="1600">
                <a:solidFill>
                  <a:srgbClr val="141413"/>
                </a:solidFill>
              </a:defRPr>
            </a:pPr>
            <a:r>
              <a:rPr lang="en-US" dirty="0">
                <a:solidFill>
                  <a:schemeClr val="bg1"/>
                </a:solidFill>
              </a:rPr>
              <a:t>• View installed plugin in the manager</a:t>
            </a:r>
          </a:p>
        </p:txBody>
      </p:sp>
      <p:sp>
        <p:nvSpPr>
          <p:cNvPr id="10" name="Rounded Rectangle 9">
            <a:extLst>
              <a:ext uri="{FF2B5EF4-FFF2-40B4-BE49-F238E27FC236}">
                <a16:creationId xmlns:a16="http://schemas.microsoft.com/office/drawing/2014/main" id="{8BF1F94D-3CE8-E4F2-E079-DB50B5929E34}"/>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20</a:t>
            </a:r>
            <a:r>
              <a:rPr dirty="0">
                <a:solidFill>
                  <a:schemeClr val="tx1"/>
                </a:solidFill>
              </a:rPr>
              <a:t> minutes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Lab Steps</a:t>
            </a:r>
          </a:p>
        </p:txBody>
      </p:sp>
      <p:sp>
        <p:nvSpPr>
          <p:cNvPr id="3" name="TextBox 2"/>
          <p:cNvSpPr txBox="1"/>
          <p:nvPr/>
        </p:nvSpPr>
        <p:spPr>
          <a:xfrm>
            <a:off x="731520" y="1188720"/>
            <a:ext cx="7680960" cy="457200"/>
          </a:xfrm>
          <a:prstGeom prst="rect">
            <a:avLst/>
          </a:prstGeom>
          <a:noFill/>
        </p:spPr>
        <p:txBody>
          <a:bodyPr wrap="none">
            <a:spAutoFit/>
          </a:bodyPr>
          <a:lstStyle/>
          <a:p>
            <a:pPr>
              <a:defRPr sz="1400" b="1">
                <a:solidFill>
                  <a:srgbClr val="141413"/>
                </a:solidFill>
              </a:defRPr>
            </a:pPr>
            <a:r>
              <a:t>Step 1: Choose a plugin</a:t>
            </a:r>
          </a:p>
          <a:p>
            <a:pPr>
              <a:defRPr sz="1200" i="1">
                <a:solidFill>
                  <a:srgbClr val="36454F"/>
                </a:solidFill>
              </a:defRPr>
            </a:pPr>
            <a:r>
              <a:t>Browse Discover tab, select 'commit-commands'</a:t>
            </a:r>
          </a:p>
        </p:txBody>
      </p:sp>
      <p:sp>
        <p:nvSpPr>
          <p:cNvPr id="4" name="TextBox 3"/>
          <p:cNvSpPr txBox="1"/>
          <p:nvPr/>
        </p:nvSpPr>
        <p:spPr>
          <a:xfrm>
            <a:off x="731520" y="1828800"/>
            <a:ext cx="7680960" cy="457200"/>
          </a:xfrm>
          <a:prstGeom prst="rect">
            <a:avLst/>
          </a:prstGeom>
          <a:noFill/>
        </p:spPr>
        <p:txBody>
          <a:bodyPr wrap="none">
            <a:spAutoFit/>
          </a:bodyPr>
          <a:lstStyle/>
          <a:p>
            <a:pPr>
              <a:defRPr sz="1400" b="1">
                <a:solidFill>
                  <a:srgbClr val="141413"/>
                </a:solidFill>
              </a:defRPr>
            </a:pPr>
            <a:r>
              <a:t>Step 2: Install to user scope</a:t>
            </a:r>
          </a:p>
          <a:p>
            <a:pPr>
              <a:defRPr sz="1200" i="1">
                <a:solidFill>
                  <a:srgbClr val="36454F"/>
                </a:solidFill>
              </a:defRPr>
            </a:pPr>
            <a:r>
              <a:t>/plugin install commit-commands@anthropics-claude-code</a:t>
            </a:r>
          </a:p>
        </p:txBody>
      </p:sp>
      <p:sp>
        <p:nvSpPr>
          <p:cNvPr id="5" name="TextBox 4"/>
          <p:cNvSpPr txBox="1"/>
          <p:nvPr/>
        </p:nvSpPr>
        <p:spPr>
          <a:xfrm>
            <a:off x="731520" y="2468880"/>
            <a:ext cx="7680960" cy="457200"/>
          </a:xfrm>
          <a:prstGeom prst="rect">
            <a:avLst/>
          </a:prstGeom>
          <a:noFill/>
        </p:spPr>
        <p:txBody>
          <a:bodyPr wrap="none">
            <a:spAutoFit/>
          </a:bodyPr>
          <a:lstStyle/>
          <a:p>
            <a:pPr>
              <a:defRPr sz="1400" b="1">
                <a:solidFill>
                  <a:srgbClr val="141413"/>
                </a:solidFill>
              </a:defRPr>
            </a:pPr>
            <a:r>
              <a:t>Step 3: Verify installation</a:t>
            </a:r>
          </a:p>
          <a:p>
            <a:pPr>
              <a:defRPr sz="1200" i="1">
                <a:solidFill>
                  <a:srgbClr val="36454F"/>
                </a:solidFill>
              </a:defRPr>
            </a:pPr>
            <a:r>
              <a:t>/plugin → Installed tab → Look for commit-commands</a:t>
            </a:r>
          </a:p>
        </p:txBody>
      </p:sp>
      <p:sp>
        <p:nvSpPr>
          <p:cNvPr id="6" name="TextBox 5"/>
          <p:cNvSpPr txBox="1"/>
          <p:nvPr/>
        </p:nvSpPr>
        <p:spPr>
          <a:xfrm>
            <a:off x="731520" y="3108960"/>
            <a:ext cx="7680960" cy="457200"/>
          </a:xfrm>
          <a:prstGeom prst="rect">
            <a:avLst/>
          </a:prstGeom>
          <a:noFill/>
        </p:spPr>
        <p:txBody>
          <a:bodyPr wrap="none">
            <a:spAutoFit/>
          </a:bodyPr>
          <a:lstStyle/>
          <a:p>
            <a:pPr>
              <a:defRPr sz="1400" b="1">
                <a:solidFill>
                  <a:srgbClr val="141413"/>
                </a:solidFill>
              </a:defRPr>
            </a:pPr>
            <a:r>
              <a:t>Step 4: Test the plugin</a:t>
            </a:r>
          </a:p>
          <a:p>
            <a:pPr>
              <a:defRPr sz="1200" i="1">
                <a:solidFill>
                  <a:srgbClr val="36454F"/>
                </a:solidFill>
              </a:defRPr>
            </a:pPr>
            <a:r>
              <a:t>Make a code change, run /commit-commands:commit</a:t>
            </a:r>
          </a:p>
        </p:txBody>
      </p:sp>
      <p:sp>
        <p:nvSpPr>
          <p:cNvPr id="7" name="TextBox 6"/>
          <p:cNvSpPr txBox="1"/>
          <p:nvPr/>
        </p:nvSpPr>
        <p:spPr>
          <a:xfrm>
            <a:off x="731520" y="3749040"/>
            <a:ext cx="7680960" cy="457200"/>
          </a:xfrm>
          <a:prstGeom prst="rect">
            <a:avLst/>
          </a:prstGeom>
          <a:noFill/>
        </p:spPr>
        <p:txBody>
          <a:bodyPr wrap="none">
            <a:spAutoFit/>
          </a:bodyPr>
          <a:lstStyle/>
          <a:p>
            <a:pPr>
              <a:defRPr sz="1400" b="1">
                <a:solidFill>
                  <a:srgbClr val="141413"/>
                </a:solidFill>
              </a:defRPr>
            </a:pPr>
            <a:r>
              <a:t>Step 5: Observe behavior</a:t>
            </a:r>
          </a:p>
          <a:p>
            <a:pPr>
              <a:defRPr sz="1200" i="1">
                <a:solidFill>
                  <a:srgbClr val="36454F"/>
                </a:solidFill>
              </a:defRPr>
            </a:pPr>
            <a:r>
              <a:t>Plugin stages changes, generates commit message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E27578-897B-CEE2-34F1-4390A6F398C7}"/>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68B5640-9802-8D32-D4C5-33C28076492F}"/>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a:t>
            </a:r>
            <a:r>
              <a:rPr lang="en-US" dirty="0">
                <a:solidFill>
                  <a:schemeClr val="bg1"/>
                </a:solidFill>
              </a:rPr>
              <a:t>5</a:t>
            </a:r>
            <a:r>
              <a:rPr dirty="0">
                <a:solidFill>
                  <a:schemeClr val="bg1"/>
                </a:solidFill>
              </a:rPr>
              <a:t>:</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12" name="Graphic 11" descr="Brain with solid fill">
            <a:extLst>
              <a:ext uri="{FF2B5EF4-FFF2-40B4-BE49-F238E27FC236}">
                <a16:creationId xmlns:a16="http://schemas.microsoft.com/office/drawing/2014/main" id="{3DEABF2C-B3B5-632F-224A-A454019368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13" name="TextBox 12">
            <a:extLst>
              <a:ext uri="{FF2B5EF4-FFF2-40B4-BE49-F238E27FC236}">
                <a16:creationId xmlns:a16="http://schemas.microsoft.com/office/drawing/2014/main" id="{A12B3E11-C840-38E1-D11C-A5E98D2C77C8}"/>
              </a:ext>
            </a:extLst>
          </p:cNvPr>
          <p:cNvSpPr txBox="1"/>
          <p:nvPr/>
        </p:nvSpPr>
        <p:spPr>
          <a:xfrm>
            <a:off x="3129308" y="834391"/>
            <a:ext cx="5318907" cy="307777"/>
          </a:xfrm>
          <a:prstGeom prst="rect">
            <a:avLst/>
          </a:prstGeom>
          <a:noFill/>
        </p:spPr>
        <p:txBody>
          <a:bodyPr wrap="square">
            <a:spAutoFit/>
          </a:bodyPr>
          <a:lstStyle/>
          <a:p>
            <a:pPr>
              <a:defRPr sz="1400" b="1">
                <a:solidFill>
                  <a:srgbClr val="141413"/>
                </a:solidFill>
              </a:defRPr>
            </a:pPr>
            <a:r>
              <a:rPr lang="en-US" dirty="0"/>
              <a:t>After installing a plugin, how do you invoke its commands?</a:t>
            </a:r>
          </a:p>
        </p:txBody>
      </p:sp>
      <p:sp>
        <p:nvSpPr>
          <p:cNvPr id="18" name="TextBox 17">
            <a:extLst>
              <a:ext uri="{FF2B5EF4-FFF2-40B4-BE49-F238E27FC236}">
                <a16:creationId xmlns:a16="http://schemas.microsoft.com/office/drawing/2014/main" id="{D3EF374C-8CFC-1D87-7898-274179450A76}"/>
              </a:ext>
            </a:extLst>
          </p:cNvPr>
          <p:cNvSpPr txBox="1"/>
          <p:nvPr/>
        </p:nvSpPr>
        <p:spPr>
          <a:xfrm>
            <a:off x="3312188" y="1291590"/>
            <a:ext cx="5136027" cy="261610"/>
          </a:xfrm>
          <a:prstGeom prst="rect">
            <a:avLst/>
          </a:prstGeom>
          <a:noFill/>
        </p:spPr>
        <p:txBody>
          <a:bodyPr wrap="square">
            <a:spAutoFit/>
          </a:bodyPr>
          <a:lstStyle/>
          <a:p>
            <a:pPr>
              <a:defRPr sz="1100" b="0">
                <a:solidFill>
                  <a:srgbClr val="36454F"/>
                </a:solidFill>
              </a:defRPr>
            </a:pPr>
            <a:r>
              <a:rPr dirty="0"/>
              <a:t>A) /command-name (direct)</a:t>
            </a:r>
          </a:p>
        </p:txBody>
      </p:sp>
      <p:sp>
        <p:nvSpPr>
          <p:cNvPr id="19" name="TextBox 18">
            <a:extLst>
              <a:ext uri="{FF2B5EF4-FFF2-40B4-BE49-F238E27FC236}">
                <a16:creationId xmlns:a16="http://schemas.microsoft.com/office/drawing/2014/main" id="{18BEE6C8-4C87-9467-DE84-A438730E64A1}"/>
              </a:ext>
            </a:extLst>
          </p:cNvPr>
          <p:cNvSpPr txBox="1"/>
          <p:nvPr/>
        </p:nvSpPr>
        <p:spPr>
          <a:xfrm>
            <a:off x="3312188" y="1565910"/>
            <a:ext cx="5136027" cy="261610"/>
          </a:xfrm>
          <a:prstGeom prst="rect">
            <a:avLst/>
          </a:prstGeom>
          <a:noFill/>
        </p:spPr>
        <p:txBody>
          <a:bodyPr wrap="square">
            <a:spAutoFit/>
          </a:bodyPr>
          <a:lstStyle/>
          <a:p>
            <a:pPr>
              <a:defRPr sz="1100" b="1">
                <a:solidFill>
                  <a:srgbClr val="788C5D"/>
                </a:solidFill>
              </a:defRPr>
            </a:pPr>
            <a:r>
              <a:t>B) /plugin-name:command-name (namespaced)</a:t>
            </a:r>
          </a:p>
        </p:txBody>
      </p:sp>
      <p:sp>
        <p:nvSpPr>
          <p:cNvPr id="20" name="TextBox 19">
            <a:extLst>
              <a:ext uri="{FF2B5EF4-FFF2-40B4-BE49-F238E27FC236}">
                <a16:creationId xmlns:a16="http://schemas.microsoft.com/office/drawing/2014/main" id="{A002710A-DBC1-1458-CEA0-86D2F5B7BD55}"/>
              </a:ext>
            </a:extLst>
          </p:cNvPr>
          <p:cNvSpPr txBox="1"/>
          <p:nvPr/>
        </p:nvSpPr>
        <p:spPr>
          <a:xfrm>
            <a:off x="3312188" y="1840229"/>
            <a:ext cx="5136027" cy="261610"/>
          </a:xfrm>
          <a:prstGeom prst="rect">
            <a:avLst/>
          </a:prstGeom>
          <a:noFill/>
        </p:spPr>
        <p:txBody>
          <a:bodyPr wrap="square">
            <a:spAutoFit/>
          </a:bodyPr>
          <a:lstStyle/>
          <a:p>
            <a:pPr>
              <a:defRPr sz="1100" b="0">
                <a:solidFill>
                  <a:srgbClr val="36454F"/>
                </a:solidFill>
              </a:defRPr>
            </a:pPr>
            <a:r>
              <a:t>C) /run plugin command-name</a:t>
            </a:r>
          </a:p>
        </p:txBody>
      </p:sp>
      <p:sp>
        <p:nvSpPr>
          <p:cNvPr id="21" name="TextBox 20">
            <a:extLst>
              <a:ext uri="{FF2B5EF4-FFF2-40B4-BE49-F238E27FC236}">
                <a16:creationId xmlns:a16="http://schemas.microsoft.com/office/drawing/2014/main" id="{D30191FC-1220-E800-4BB2-9DC9990111D7}"/>
              </a:ext>
            </a:extLst>
          </p:cNvPr>
          <p:cNvSpPr txBox="1"/>
          <p:nvPr/>
        </p:nvSpPr>
        <p:spPr>
          <a:xfrm>
            <a:off x="3312188" y="2114549"/>
            <a:ext cx="5136027" cy="261610"/>
          </a:xfrm>
          <a:prstGeom prst="rect">
            <a:avLst/>
          </a:prstGeom>
          <a:noFill/>
        </p:spPr>
        <p:txBody>
          <a:bodyPr wrap="square">
            <a:spAutoFit/>
          </a:bodyPr>
          <a:lstStyle/>
          <a:p>
            <a:pPr>
              <a:defRPr sz="1100" b="0">
                <a:solidFill>
                  <a:srgbClr val="36454F"/>
                </a:solidFill>
              </a:defRPr>
            </a:pPr>
            <a:r>
              <a:t>D) /execute command from plugin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03EAC50-0842-3A88-C40B-809C8CE31618}"/>
              </a:ext>
            </a:extLst>
          </p:cNvPr>
          <p:cNvSpPr txBox="1"/>
          <p:nvPr/>
        </p:nvSpPr>
        <p:spPr>
          <a:xfrm>
            <a:off x="457200" y="502920"/>
            <a:ext cx="3530325" cy="584775"/>
          </a:xfrm>
          <a:prstGeom prst="rect">
            <a:avLst/>
          </a:prstGeom>
          <a:noFill/>
        </p:spPr>
        <p:txBody>
          <a:bodyPr wrap="none">
            <a:spAutoFit/>
          </a:bodyPr>
          <a:lstStyle/>
          <a:p>
            <a:pPr>
              <a:defRPr sz="3200" b="1">
                <a:solidFill>
                  <a:srgbClr val="141413"/>
                </a:solidFill>
              </a:defRPr>
            </a:pPr>
            <a:r>
              <a:rPr dirty="0"/>
              <a:t>Module </a:t>
            </a:r>
            <a:r>
              <a:rPr lang="en-US" dirty="0"/>
              <a:t>5</a:t>
            </a:r>
            <a:r>
              <a:rPr dirty="0"/>
              <a:t> Summary</a:t>
            </a:r>
          </a:p>
        </p:txBody>
      </p:sp>
      <p:sp>
        <p:nvSpPr>
          <p:cNvPr id="10" name="TextBox 9">
            <a:extLst>
              <a:ext uri="{FF2B5EF4-FFF2-40B4-BE49-F238E27FC236}">
                <a16:creationId xmlns:a16="http://schemas.microsoft.com/office/drawing/2014/main" id="{39325269-5A76-EA16-0200-443875AF588E}"/>
              </a:ext>
            </a:extLst>
          </p:cNvPr>
          <p:cNvSpPr txBox="1"/>
          <p:nvPr/>
        </p:nvSpPr>
        <p:spPr>
          <a:xfrm>
            <a:off x="457200" y="1051560"/>
            <a:ext cx="2536272" cy="369332"/>
          </a:xfrm>
          <a:prstGeom prst="rect">
            <a:avLst/>
          </a:prstGeom>
          <a:noFill/>
        </p:spPr>
        <p:txBody>
          <a:bodyPr wrap="none">
            <a:spAutoFit/>
          </a:bodyPr>
          <a:lstStyle/>
          <a:p>
            <a:pPr>
              <a:defRPr sz="1800" i="1">
                <a:solidFill>
                  <a:srgbClr val="36454F"/>
                </a:solidFill>
              </a:defRPr>
            </a:pPr>
            <a:r>
              <a:rPr lang="en-US" dirty="0"/>
              <a:t>Lab: Adding Demo Plugin</a:t>
            </a:r>
          </a:p>
        </p:txBody>
      </p:sp>
      <p:sp>
        <p:nvSpPr>
          <p:cNvPr id="11" name="TextBox 10">
            <a:extLst>
              <a:ext uri="{FF2B5EF4-FFF2-40B4-BE49-F238E27FC236}">
                <a16:creationId xmlns:a16="http://schemas.microsoft.com/office/drawing/2014/main" id="{F3CE8697-F720-91F4-DA60-B53A1DED75B3}"/>
              </a:ext>
            </a:extLst>
          </p:cNvPr>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12" name="TextBox 11">
            <a:extLst>
              <a:ext uri="{FF2B5EF4-FFF2-40B4-BE49-F238E27FC236}">
                <a16:creationId xmlns:a16="http://schemas.microsoft.com/office/drawing/2014/main" id="{7E875F11-59A0-310A-913C-FA6F884EA416}"/>
              </a:ext>
            </a:extLst>
          </p:cNvPr>
          <p:cNvSpPr txBox="1"/>
          <p:nvPr/>
        </p:nvSpPr>
        <p:spPr>
          <a:xfrm>
            <a:off x="457200" y="2103120"/>
            <a:ext cx="5389418" cy="1877437"/>
          </a:xfrm>
          <a:prstGeom prst="rect">
            <a:avLst/>
          </a:prstGeom>
          <a:noFill/>
        </p:spPr>
        <p:txBody>
          <a:bodyPr wrap="square">
            <a:spAutoFit/>
          </a:bodyPr>
          <a:lstStyle/>
          <a:p>
            <a:pPr>
              <a:spcBef>
                <a:spcPts val="800"/>
              </a:spcBef>
              <a:defRPr sz="1600">
                <a:solidFill>
                  <a:srgbClr val="141413"/>
                </a:solidFill>
              </a:defRPr>
            </a:pPr>
            <a:r>
              <a:rPr lang="en-US" dirty="0"/>
              <a:t>• Plugins are installed per scope and immediately available after installation</a:t>
            </a:r>
          </a:p>
          <a:p>
            <a:pPr>
              <a:spcBef>
                <a:spcPts val="800"/>
              </a:spcBef>
              <a:defRPr sz="1600">
                <a:solidFill>
                  <a:srgbClr val="141413"/>
                </a:solidFill>
              </a:defRPr>
            </a:pPr>
            <a:r>
              <a:rPr lang="en-US" dirty="0"/>
              <a:t>• </a:t>
            </a:r>
            <a:r>
              <a:rPr lang="en-US" dirty="0" err="1"/>
              <a:t>Namespaced</a:t>
            </a:r>
            <a:r>
              <a:rPr lang="en-US" dirty="0"/>
              <a:t> commands prevent conflicts: /</a:t>
            </a:r>
            <a:r>
              <a:rPr lang="en-US" dirty="0" err="1"/>
              <a:t>plugin-name:command</a:t>
            </a:r>
            <a:endParaRPr lang="en-US" dirty="0"/>
          </a:p>
          <a:p>
            <a:pPr>
              <a:spcBef>
                <a:spcPts val="800"/>
              </a:spcBef>
              <a:defRPr sz="1600">
                <a:solidFill>
                  <a:srgbClr val="141413"/>
                </a:solidFill>
              </a:defRPr>
            </a:pPr>
            <a:r>
              <a:rPr lang="en-US" dirty="0"/>
              <a:t>• Use /plugin → Installed tab to verify successful installation</a:t>
            </a:r>
          </a:p>
          <a:p>
            <a:pPr>
              <a:spcBef>
                <a:spcPts val="800"/>
              </a:spcBef>
              <a:defRPr sz="1600">
                <a:solidFill>
                  <a:srgbClr val="141413"/>
                </a:solidFill>
              </a:defRPr>
            </a:pPr>
            <a:r>
              <a:rPr lang="en-US" dirty="0"/>
              <a:t>• Test plugins with real workflows to understand their behavior</a:t>
            </a:r>
          </a:p>
        </p:txBody>
      </p:sp>
      <p:sp>
        <p:nvSpPr>
          <p:cNvPr id="13" name="Rectangle 12">
            <a:extLst>
              <a:ext uri="{FF2B5EF4-FFF2-40B4-BE49-F238E27FC236}">
                <a16:creationId xmlns:a16="http://schemas.microsoft.com/office/drawing/2014/main" id="{5A7ED78C-062E-1B91-703A-C0E79CF755F0}"/>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Graphic 13" descr="Key with solid fill">
            <a:extLst>
              <a:ext uri="{FF2B5EF4-FFF2-40B4-BE49-F238E27FC236}">
                <a16:creationId xmlns:a16="http://schemas.microsoft.com/office/drawing/2014/main" id="{A9FF5DFE-4403-D19E-46A3-7D556232D0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D97757"/>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F7865E-C237-B5ED-80A0-6E5C752CAF46}"/>
              </a:ext>
            </a:extLst>
          </p:cNvPr>
          <p:cNvSpPr txBox="1"/>
          <p:nvPr/>
        </p:nvSpPr>
        <p:spPr>
          <a:xfrm>
            <a:off x="609600" y="655320"/>
            <a:ext cx="4467890"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6</a:t>
            </a:r>
            <a:r>
              <a:rPr dirty="0">
                <a:solidFill>
                  <a:schemeClr val="bg1"/>
                </a:solidFill>
              </a:rPr>
              <a:t>: </a:t>
            </a:r>
            <a:r>
              <a:rPr lang="en-US" dirty="0">
                <a:solidFill>
                  <a:schemeClr val="bg1"/>
                </a:solidFill>
              </a:rPr>
              <a:t>Creating Plugins</a:t>
            </a:r>
          </a:p>
        </p:txBody>
      </p:sp>
      <p:sp>
        <p:nvSpPr>
          <p:cNvPr id="8" name="TextBox 7">
            <a:extLst>
              <a:ext uri="{FF2B5EF4-FFF2-40B4-BE49-F238E27FC236}">
                <a16:creationId xmlns:a16="http://schemas.microsoft.com/office/drawing/2014/main" id="{7A3B23E0-3A73-687B-9572-0440DF89E45C}"/>
              </a:ext>
            </a:extLst>
          </p:cNvPr>
          <p:cNvSpPr txBox="1"/>
          <p:nvPr/>
        </p:nvSpPr>
        <p:spPr>
          <a:xfrm>
            <a:off x="609600" y="1203960"/>
            <a:ext cx="2230804" cy="400110"/>
          </a:xfrm>
          <a:prstGeom prst="rect">
            <a:avLst/>
          </a:prstGeom>
          <a:noFill/>
        </p:spPr>
        <p:txBody>
          <a:bodyPr wrap="none">
            <a:spAutoFit/>
          </a:bodyPr>
          <a:lstStyle/>
          <a:p>
            <a:pPr>
              <a:defRPr sz="2000">
                <a:solidFill>
                  <a:srgbClr val="36454F"/>
                </a:solidFill>
              </a:defRPr>
            </a:pPr>
            <a:r>
              <a:rPr>
                <a:solidFill>
                  <a:schemeClr val="bg1"/>
                </a:solidFill>
              </a:rPr>
              <a:t>Learning Objectives</a:t>
            </a:r>
          </a:p>
        </p:txBody>
      </p:sp>
      <p:sp>
        <p:nvSpPr>
          <p:cNvPr id="9" name="TextBox 8">
            <a:extLst>
              <a:ext uri="{FF2B5EF4-FFF2-40B4-BE49-F238E27FC236}">
                <a16:creationId xmlns:a16="http://schemas.microsoft.com/office/drawing/2014/main" id="{E5255A82-14E8-05D8-7000-3F660185348E}"/>
              </a:ext>
            </a:extLst>
          </p:cNvPr>
          <p:cNvSpPr txBox="1"/>
          <p:nvPr/>
        </p:nvSpPr>
        <p:spPr>
          <a:xfrm>
            <a:off x="609600" y="1798320"/>
            <a:ext cx="5653471" cy="1631216"/>
          </a:xfrm>
          <a:prstGeom prst="rect">
            <a:avLst/>
          </a:prstGeom>
          <a:noFill/>
        </p:spPr>
        <p:txBody>
          <a:bodyPr wrap="none">
            <a:spAutoFit/>
          </a:bodyPr>
          <a:lstStyle/>
          <a:p>
            <a:pPr>
              <a:spcBef>
                <a:spcPts val="600"/>
              </a:spcBef>
              <a:defRPr sz="1600">
                <a:solidFill>
                  <a:srgbClr val="141413"/>
                </a:solidFill>
              </a:defRPr>
            </a:pPr>
            <a:r>
              <a:rPr lang="en-US" dirty="0">
                <a:solidFill>
                  <a:schemeClr val="bg1"/>
                </a:solidFill>
              </a:rPr>
              <a:t>• Understand plugin directory structure and organization patterns</a:t>
            </a:r>
          </a:p>
          <a:p>
            <a:pPr>
              <a:spcBef>
                <a:spcPts val="600"/>
              </a:spcBef>
              <a:defRPr sz="1600">
                <a:solidFill>
                  <a:srgbClr val="141413"/>
                </a:solidFill>
              </a:defRPr>
            </a:pPr>
            <a:r>
              <a:rPr lang="en-US" dirty="0">
                <a:solidFill>
                  <a:schemeClr val="bg1"/>
                </a:solidFill>
              </a:rPr>
              <a:t>• Create plugin manifests with required and optional fields</a:t>
            </a:r>
          </a:p>
          <a:p>
            <a:pPr>
              <a:spcBef>
                <a:spcPts val="600"/>
              </a:spcBef>
              <a:defRPr sz="1600">
                <a:solidFill>
                  <a:srgbClr val="141413"/>
                </a:solidFill>
              </a:defRPr>
            </a:pPr>
            <a:r>
              <a:rPr lang="en-US" dirty="0">
                <a:solidFill>
                  <a:schemeClr val="bg1"/>
                </a:solidFill>
              </a:rPr>
              <a:t>• Add skills, agents, and hooks to plugins</a:t>
            </a:r>
          </a:p>
          <a:p>
            <a:pPr>
              <a:spcBef>
                <a:spcPts val="600"/>
              </a:spcBef>
              <a:defRPr sz="1600">
                <a:solidFill>
                  <a:srgbClr val="141413"/>
                </a:solidFill>
              </a:defRPr>
            </a:pPr>
            <a:r>
              <a:rPr lang="en-US" dirty="0">
                <a:solidFill>
                  <a:schemeClr val="bg1"/>
                </a:solidFill>
              </a:rPr>
              <a:t>• Test plugins locally using the --plugin-</a:t>
            </a:r>
            <a:r>
              <a:rPr lang="en-US" dirty="0" err="1">
                <a:solidFill>
                  <a:schemeClr val="bg1"/>
                </a:solidFill>
              </a:rPr>
              <a:t>dir</a:t>
            </a:r>
            <a:r>
              <a:rPr lang="en-US" dirty="0">
                <a:solidFill>
                  <a:schemeClr val="bg1"/>
                </a:solidFill>
              </a:rPr>
              <a:t> flag</a:t>
            </a:r>
          </a:p>
          <a:p>
            <a:pPr>
              <a:spcBef>
                <a:spcPts val="600"/>
              </a:spcBef>
              <a:defRPr sz="1600">
                <a:solidFill>
                  <a:srgbClr val="141413"/>
                </a:solidFill>
              </a:defRPr>
            </a:pPr>
            <a:r>
              <a:rPr lang="en-US" dirty="0">
                <a:solidFill>
                  <a:schemeClr val="bg1"/>
                </a:solidFill>
              </a:rPr>
              <a:t>• Debug common plugin development issues</a:t>
            </a:r>
          </a:p>
        </p:txBody>
      </p:sp>
      <p:sp>
        <p:nvSpPr>
          <p:cNvPr id="10" name="Rounded Rectangle 9">
            <a:extLst>
              <a:ext uri="{FF2B5EF4-FFF2-40B4-BE49-F238E27FC236}">
                <a16:creationId xmlns:a16="http://schemas.microsoft.com/office/drawing/2014/main" id="{244A7D12-EB63-0329-D98A-45EEA0ADA90B}"/>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60</a:t>
            </a:r>
            <a:r>
              <a:rPr dirty="0">
                <a:solidFill>
                  <a:schemeClr val="tx1"/>
                </a:solidFill>
              </a:rPr>
              <a:t> minutes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Plugin Directory Structure</a:t>
            </a:r>
          </a:p>
        </p:txBody>
      </p:sp>
      <p:sp>
        <p:nvSpPr>
          <p:cNvPr id="3" name="Rounded Rectangle 2"/>
          <p:cNvSpPr/>
          <p:nvPr/>
        </p:nvSpPr>
        <p:spPr>
          <a:xfrm>
            <a:off x="731520" y="4229100"/>
            <a:ext cx="7680960" cy="548640"/>
          </a:xfrm>
          <a:prstGeom prst="roundRect">
            <a:avLst/>
          </a:prstGeom>
          <a:solidFill>
            <a:srgbClr val="D97757"/>
          </a:solidFill>
          <a:ln w="25400">
            <a:solidFill>
              <a:srgbClr val="D9775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41413"/>
                </a:solidFill>
              </a:defRPr>
            </a:pPr>
            <a:r>
              <a:rPr dirty="0">
                <a:solidFill>
                  <a:schemeClr val="bg1"/>
                </a:solidFill>
              </a:rPr>
              <a:t>⚠️ Common Mistake: Don't put commands/, agents/, skills/, or hooks/ inside .</a:t>
            </a:r>
            <a:r>
              <a:rPr dirty="0" err="1">
                <a:solidFill>
                  <a:schemeClr val="bg1"/>
                </a:solidFill>
              </a:rPr>
              <a:t>claude</a:t>
            </a:r>
            <a:r>
              <a:rPr dirty="0">
                <a:solidFill>
                  <a:schemeClr val="bg1"/>
                </a:solidFill>
              </a:rPr>
              <a:t>-plugin/ directory!</a:t>
            </a:r>
          </a:p>
        </p:txBody>
      </p:sp>
      <p:sp>
        <p:nvSpPr>
          <p:cNvPr id="4" name="TextBox 3"/>
          <p:cNvSpPr txBox="1"/>
          <p:nvPr/>
        </p:nvSpPr>
        <p:spPr>
          <a:xfrm>
            <a:off x="914400" y="1360170"/>
            <a:ext cx="3657600" cy="365760"/>
          </a:xfrm>
          <a:prstGeom prst="rect">
            <a:avLst/>
          </a:prstGeom>
          <a:noFill/>
        </p:spPr>
        <p:txBody>
          <a:bodyPr wrap="none">
            <a:spAutoFit/>
          </a:bodyPr>
          <a:lstStyle/>
          <a:p>
            <a:pPr>
              <a:defRPr sz="1800" b="1">
                <a:solidFill>
                  <a:srgbClr val="788C5D"/>
                </a:solidFill>
              </a:defRPr>
            </a:pPr>
            <a:r>
              <a:rPr dirty="0"/>
              <a:t>Correct Structure:</a:t>
            </a:r>
          </a:p>
        </p:txBody>
      </p:sp>
      <p:sp>
        <p:nvSpPr>
          <p:cNvPr id="5" name="TextBox 4"/>
          <p:cNvSpPr txBox="1"/>
          <p:nvPr/>
        </p:nvSpPr>
        <p:spPr>
          <a:xfrm>
            <a:off x="1097280" y="1817370"/>
            <a:ext cx="3291840" cy="228600"/>
          </a:xfrm>
          <a:prstGeom prst="rect">
            <a:avLst/>
          </a:prstGeom>
          <a:noFill/>
        </p:spPr>
        <p:txBody>
          <a:bodyPr wrap="none">
            <a:spAutoFit/>
          </a:bodyPr>
          <a:lstStyle/>
          <a:p>
            <a:pPr>
              <a:defRPr sz="1100">
                <a:solidFill>
                  <a:srgbClr val="141413"/>
                </a:solidFill>
                <a:latin typeface="Consolas"/>
              </a:defRPr>
            </a:pPr>
            <a:r>
              <a:t>my-plugin/</a:t>
            </a:r>
          </a:p>
        </p:txBody>
      </p:sp>
      <p:sp>
        <p:nvSpPr>
          <p:cNvPr id="6" name="TextBox 5"/>
          <p:cNvSpPr txBox="1"/>
          <p:nvPr/>
        </p:nvSpPr>
        <p:spPr>
          <a:xfrm>
            <a:off x="1097280" y="2045970"/>
            <a:ext cx="3291840" cy="228600"/>
          </a:xfrm>
          <a:prstGeom prst="rect">
            <a:avLst/>
          </a:prstGeom>
          <a:noFill/>
        </p:spPr>
        <p:txBody>
          <a:bodyPr wrap="none">
            <a:spAutoFit/>
          </a:bodyPr>
          <a:lstStyle/>
          <a:p>
            <a:pPr>
              <a:defRPr sz="1100">
                <a:solidFill>
                  <a:srgbClr val="141413"/>
                </a:solidFill>
                <a:latin typeface="Consolas"/>
              </a:defRPr>
            </a:pPr>
            <a:r>
              <a:t>  ├── .claude-plugin/</a:t>
            </a:r>
          </a:p>
        </p:txBody>
      </p:sp>
      <p:sp>
        <p:nvSpPr>
          <p:cNvPr id="7" name="TextBox 6"/>
          <p:cNvSpPr txBox="1"/>
          <p:nvPr/>
        </p:nvSpPr>
        <p:spPr>
          <a:xfrm>
            <a:off x="1097280" y="2274570"/>
            <a:ext cx="3291840" cy="228600"/>
          </a:xfrm>
          <a:prstGeom prst="rect">
            <a:avLst/>
          </a:prstGeom>
          <a:noFill/>
        </p:spPr>
        <p:txBody>
          <a:bodyPr wrap="none">
            <a:spAutoFit/>
          </a:bodyPr>
          <a:lstStyle/>
          <a:p>
            <a:pPr>
              <a:defRPr sz="1100">
                <a:solidFill>
                  <a:srgbClr val="141413"/>
                </a:solidFill>
                <a:latin typeface="Consolas"/>
              </a:defRPr>
            </a:pPr>
            <a:r>
              <a:t>  │   └── plugin.json</a:t>
            </a:r>
          </a:p>
        </p:txBody>
      </p:sp>
      <p:sp>
        <p:nvSpPr>
          <p:cNvPr id="8" name="TextBox 7"/>
          <p:cNvSpPr txBox="1"/>
          <p:nvPr/>
        </p:nvSpPr>
        <p:spPr>
          <a:xfrm>
            <a:off x="1097280" y="2503170"/>
            <a:ext cx="3291840" cy="228600"/>
          </a:xfrm>
          <a:prstGeom prst="rect">
            <a:avLst/>
          </a:prstGeom>
          <a:noFill/>
        </p:spPr>
        <p:txBody>
          <a:bodyPr wrap="none">
            <a:spAutoFit/>
          </a:bodyPr>
          <a:lstStyle/>
          <a:p>
            <a:pPr>
              <a:defRPr sz="1100">
                <a:solidFill>
                  <a:srgbClr val="141413"/>
                </a:solidFill>
                <a:latin typeface="Consolas"/>
              </a:defRPr>
            </a:pPr>
            <a:r>
              <a:t>  ├── commands/</a:t>
            </a:r>
          </a:p>
        </p:txBody>
      </p:sp>
      <p:sp>
        <p:nvSpPr>
          <p:cNvPr id="9" name="TextBox 8"/>
          <p:cNvSpPr txBox="1"/>
          <p:nvPr/>
        </p:nvSpPr>
        <p:spPr>
          <a:xfrm>
            <a:off x="1097280" y="2731770"/>
            <a:ext cx="3291840" cy="228600"/>
          </a:xfrm>
          <a:prstGeom prst="rect">
            <a:avLst/>
          </a:prstGeom>
          <a:noFill/>
        </p:spPr>
        <p:txBody>
          <a:bodyPr wrap="none">
            <a:spAutoFit/>
          </a:bodyPr>
          <a:lstStyle/>
          <a:p>
            <a:pPr>
              <a:defRPr sz="1100">
                <a:solidFill>
                  <a:srgbClr val="141413"/>
                </a:solidFill>
                <a:latin typeface="Consolas"/>
              </a:defRPr>
            </a:pPr>
            <a:r>
              <a:t>  ├── agents/</a:t>
            </a:r>
          </a:p>
        </p:txBody>
      </p:sp>
      <p:sp>
        <p:nvSpPr>
          <p:cNvPr id="10" name="TextBox 9"/>
          <p:cNvSpPr txBox="1"/>
          <p:nvPr/>
        </p:nvSpPr>
        <p:spPr>
          <a:xfrm>
            <a:off x="1097280" y="2960370"/>
            <a:ext cx="3291840" cy="228600"/>
          </a:xfrm>
          <a:prstGeom prst="rect">
            <a:avLst/>
          </a:prstGeom>
          <a:noFill/>
        </p:spPr>
        <p:txBody>
          <a:bodyPr wrap="none">
            <a:spAutoFit/>
          </a:bodyPr>
          <a:lstStyle/>
          <a:p>
            <a:pPr>
              <a:defRPr sz="1100">
                <a:solidFill>
                  <a:srgbClr val="141413"/>
                </a:solidFill>
                <a:latin typeface="Consolas"/>
              </a:defRPr>
            </a:pPr>
            <a:r>
              <a:t>  ├── skills/</a:t>
            </a:r>
          </a:p>
        </p:txBody>
      </p:sp>
      <p:sp>
        <p:nvSpPr>
          <p:cNvPr id="11" name="TextBox 10"/>
          <p:cNvSpPr txBox="1"/>
          <p:nvPr/>
        </p:nvSpPr>
        <p:spPr>
          <a:xfrm>
            <a:off x="1097280" y="3188970"/>
            <a:ext cx="3291840" cy="228600"/>
          </a:xfrm>
          <a:prstGeom prst="rect">
            <a:avLst/>
          </a:prstGeom>
          <a:noFill/>
        </p:spPr>
        <p:txBody>
          <a:bodyPr wrap="none">
            <a:spAutoFit/>
          </a:bodyPr>
          <a:lstStyle/>
          <a:p>
            <a:pPr>
              <a:defRPr sz="1100">
                <a:solidFill>
                  <a:srgbClr val="141413"/>
                </a:solidFill>
                <a:latin typeface="Consolas"/>
              </a:defRPr>
            </a:pPr>
            <a:r>
              <a:t>  ├── hooks/</a:t>
            </a:r>
          </a:p>
        </p:txBody>
      </p:sp>
      <p:sp>
        <p:nvSpPr>
          <p:cNvPr id="12" name="TextBox 11"/>
          <p:cNvSpPr txBox="1"/>
          <p:nvPr/>
        </p:nvSpPr>
        <p:spPr>
          <a:xfrm>
            <a:off x="1097280" y="3417570"/>
            <a:ext cx="3291840" cy="228600"/>
          </a:xfrm>
          <a:prstGeom prst="rect">
            <a:avLst/>
          </a:prstGeom>
          <a:noFill/>
        </p:spPr>
        <p:txBody>
          <a:bodyPr wrap="none">
            <a:spAutoFit/>
          </a:bodyPr>
          <a:lstStyle/>
          <a:p>
            <a:pPr>
              <a:defRPr sz="1100">
                <a:solidFill>
                  <a:srgbClr val="141413"/>
                </a:solidFill>
                <a:latin typeface="Consolas"/>
              </a:defRPr>
            </a:pPr>
            <a:r>
              <a:t>  ├── .mcp.json</a:t>
            </a:r>
          </a:p>
        </p:txBody>
      </p:sp>
      <p:sp>
        <p:nvSpPr>
          <p:cNvPr id="13" name="TextBox 12"/>
          <p:cNvSpPr txBox="1"/>
          <p:nvPr/>
        </p:nvSpPr>
        <p:spPr>
          <a:xfrm>
            <a:off x="1097280" y="3646170"/>
            <a:ext cx="3291840" cy="228600"/>
          </a:xfrm>
          <a:prstGeom prst="rect">
            <a:avLst/>
          </a:prstGeom>
          <a:noFill/>
        </p:spPr>
        <p:txBody>
          <a:bodyPr wrap="none">
            <a:spAutoFit/>
          </a:bodyPr>
          <a:lstStyle/>
          <a:p>
            <a:pPr>
              <a:defRPr sz="1100">
                <a:solidFill>
                  <a:srgbClr val="141413"/>
                </a:solidFill>
                <a:latin typeface="Consolas"/>
              </a:defRPr>
            </a:pPr>
            <a:r>
              <a:t>  └── .lsp.json</a:t>
            </a:r>
          </a:p>
        </p:txBody>
      </p:sp>
      <p:sp>
        <p:nvSpPr>
          <p:cNvPr id="14" name="TextBox 13"/>
          <p:cNvSpPr txBox="1"/>
          <p:nvPr/>
        </p:nvSpPr>
        <p:spPr>
          <a:xfrm>
            <a:off x="4754880" y="1360170"/>
            <a:ext cx="3657600" cy="365760"/>
          </a:xfrm>
          <a:prstGeom prst="rect">
            <a:avLst/>
          </a:prstGeom>
          <a:noFill/>
        </p:spPr>
        <p:txBody>
          <a:bodyPr wrap="none">
            <a:spAutoFit/>
          </a:bodyPr>
          <a:lstStyle/>
          <a:p>
            <a:pPr>
              <a:defRPr sz="1800" b="1">
                <a:solidFill>
                  <a:srgbClr val="141413"/>
                </a:solidFill>
              </a:defRPr>
            </a:pPr>
            <a:r>
              <a:t>Directory Purposes:</a:t>
            </a:r>
          </a:p>
        </p:txBody>
      </p:sp>
      <p:sp>
        <p:nvSpPr>
          <p:cNvPr id="15" name="TextBox 14"/>
          <p:cNvSpPr txBox="1"/>
          <p:nvPr/>
        </p:nvSpPr>
        <p:spPr>
          <a:xfrm>
            <a:off x="4937760" y="1817370"/>
            <a:ext cx="1645920" cy="228600"/>
          </a:xfrm>
          <a:prstGeom prst="rect">
            <a:avLst/>
          </a:prstGeom>
          <a:noFill/>
        </p:spPr>
        <p:txBody>
          <a:bodyPr wrap="none">
            <a:spAutoFit/>
          </a:bodyPr>
          <a:lstStyle/>
          <a:p>
            <a:pPr>
              <a:defRPr sz="1100" b="1">
                <a:solidFill>
                  <a:srgbClr val="6A9BCC"/>
                </a:solidFill>
                <a:latin typeface="Consolas"/>
              </a:defRPr>
            </a:pPr>
            <a:r>
              <a:t>.claude-plugin/</a:t>
            </a:r>
          </a:p>
        </p:txBody>
      </p:sp>
      <p:sp>
        <p:nvSpPr>
          <p:cNvPr id="16" name="TextBox 15"/>
          <p:cNvSpPr txBox="1"/>
          <p:nvPr/>
        </p:nvSpPr>
        <p:spPr>
          <a:xfrm>
            <a:off x="6675120" y="1817370"/>
            <a:ext cx="1920240" cy="228600"/>
          </a:xfrm>
          <a:prstGeom prst="rect">
            <a:avLst/>
          </a:prstGeom>
          <a:noFill/>
        </p:spPr>
        <p:txBody>
          <a:bodyPr wrap="none">
            <a:spAutoFit/>
          </a:bodyPr>
          <a:lstStyle/>
          <a:p>
            <a:pPr>
              <a:defRPr sz="1000">
                <a:solidFill>
                  <a:srgbClr val="36454F"/>
                </a:solidFill>
              </a:defRPr>
            </a:pPr>
            <a:r>
              <a:t>Manifest only</a:t>
            </a:r>
          </a:p>
        </p:txBody>
      </p:sp>
      <p:sp>
        <p:nvSpPr>
          <p:cNvPr id="17" name="TextBox 16"/>
          <p:cNvSpPr txBox="1"/>
          <p:nvPr/>
        </p:nvSpPr>
        <p:spPr>
          <a:xfrm>
            <a:off x="4937760" y="2045970"/>
            <a:ext cx="1645920" cy="228600"/>
          </a:xfrm>
          <a:prstGeom prst="rect">
            <a:avLst/>
          </a:prstGeom>
          <a:noFill/>
        </p:spPr>
        <p:txBody>
          <a:bodyPr wrap="none">
            <a:spAutoFit/>
          </a:bodyPr>
          <a:lstStyle/>
          <a:p>
            <a:pPr>
              <a:defRPr sz="1100" b="1">
                <a:solidFill>
                  <a:srgbClr val="6A9BCC"/>
                </a:solidFill>
                <a:latin typeface="Consolas"/>
              </a:defRPr>
            </a:pPr>
            <a:r>
              <a:t>commands/</a:t>
            </a:r>
          </a:p>
        </p:txBody>
      </p:sp>
      <p:sp>
        <p:nvSpPr>
          <p:cNvPr id="18" name="TextBox 17"/>
          <p:cNvSpPr txBox="1"/>
          <p:nvPr/>
        </p:nvSpPr>
        <p:spPr>
          <a:xfrm>
            <a:off x="6675120" y="2045970"/>
            <a:ext cx="1920240" cy="228600"/>
          </a:xfrm>
          <a:prstGeom prst="rect">
            <a:avLst/>
          </a:prstGeom>
          <a:noFill/>
        </p:spPr>
        <p:txBody>
          <a:bodyPr wrap="none">
            <a:spAutoFit/>
          </a:bodyPr>
          <a:lstStyle/>
          <a:p>
            <a:pPr>
              <a:defRPr sz="1000">
                <a:solidFill>
                  <a:srgbClr val="36454F"/>
                </a:solidFill>
              </a:defRPr>
            </a:pPr>
            <a:r>
              <a:t>User-invoked skills</a:t>
            </a:r>
          </a:p>
        </p:txBody>
      </p:sp>
      <p:sp>
        <p:nvSpPr>
          <p:cNvPr id="19" name="TextBox 18"/>
          <p:cNvSpPr txBox="1"/>
          <p:nvPr/>
        </p:nvSpPr>
        <p:spPr>
          <a:xfrm>
            <a:off x="4937760" y="2274570"/>
            <a:ext cx="1645920" cy="228600"/>
          </a:xfrm>
          <a:prstGeom prst="rect">
            <a:avLst/>
          </a:prstGeom>
          <a:noFill/>
        </p:spPr>
        <p:txBody>
          <a:bodyPr wrap="none">
            <a:spAutoFit/>
          </a:bodyPr>
          <a:lstStyle/>
          <a:p>
            <a:pPr>
              <a:defRPr sz="1100" b="1">
                <a:solidFill>
                  <a:srgbClr val="6A9BCC"/>
                </a:solidFill>
                <a:latin typeface="Consolas"/>
              </a:defRPr>
            </a:pPr>
            <a:r>
              <a:t>agents/</a:t>
            </a:r>
          </a:p>
        </p:txBody>
      </p:sp>
      <p:sp>
        <p:nvSpPr>
          <p:cNvPr id="20" name="TextBox 19"/>
          <p:cNvSpPr txBox="1"/>
          <p:nvPr/>
        </p:nvSpPr>
        <p:spPr>
          <a:xfrm>
            <a:off x="6675120" y="2274570"/>
            <a:ext cx="1920240" cy="228600"/>
          </a:xfrm>
          <a:prstGeom prst="rect">
            <a:avLst/>
          </a:prstGeom>
          <a:noFill/>
        </p:spPr>
        <p:txBody>
          <a:bodyPr wrap="none">
            <a:spAutoFit/>
          </a:bodyPr>
          <a:lstStyle/>
          <a:p>
            <a:pPr>
              <a:defRPr sz="1000">
                <a:solidFill>
                  <a:srgbClr val="36454F"/>
                </a:solidFill>
              </a:defRPr>
            </a:pPr>
            <a:r>
              <a:t>Custom agents</a:t>
            </a:r>
          </a:p>
        </p:txBody>
      </p:sp>
      <p:sp>
        <p:nvSpPr>
          <p:cNvPr id="21" name="TextBox 20"/>
          <p:cNvSpPr txBox="1"/>
          <p:nvPr/>
        </p:nvSpPr>
        <p:spPr>
          <a:xfrm>
            <a:off x="4937760" y="2503170"/>
            <a:ext cx="1645920" cy="228600"/>
          </a:xfrm>
          <a:prstGeom prst="rect">
            <a:avLst/>
          </a:prstGeom>
          <a:noFill/>
        </p:spPr>
        <p:txBody>
          <a:bodyPr wrap="none">
            <a:spAutoFit/>
          </a:bodyPr>
          <a:lstStyle/>
          <a:p>
            <a:pPr>
              <a:defRPr sz="1100" b="1">
                <a:solidFill>
                  <a:srgbClr val="6A9BCC"/>
                </a:solidFill>
                <a:latin typeface="Consolas"/>
              </a:defRPr>
            </a:pPr>
            <a:r>
              <a:t>skills/</a:t>
            </a:r>
          </a:p>
        </p:txBody>
      </p:sp>
      <p:sp>
        <p:nvSpPr>
          <p:cNvPr id="22" name="TextBox 21"/>
          <p:cNvSpPr txBox="1"/>
          <p:nvPr/>
        </p:nvSpPr>
        <p:spPr>
          <a:xfrm>
            <a:off x="6675120" y="2503170"/>
            <a:ext cx="1920240" cy="228600"/>
          </a:xfrm>
          <a:prstGeom prst="rect">
            <a:avLst/>
          </a:prstGeom>
          <a:noFill/>
        </p:spPr>
        <p:txBody>
          <a:bodyPr wrap="none">
            <a:spAutoFit/>
          </a:bodyPr>
          <a:lstStyle/>
          <a:p>
            <a:pPr>
              <a:defRPr sz="1000">
                <a:solidFill>
                  <a:srgbClr val="36454F"/>
                </a:solidFill>
              </a:defRPr>
            </a:pPr>
            <a:r>
              <a:t>Auto-invoked skills</a:t>
            </a:r>
          </a:p>
        </p:txBody>
      </p:sp>
      <p:sp>
        <p:nvSpPr>
          <p:cNvPr id="23" name="TextBox 22"/>
          <p:cNvSpPr txBox="1"/>
          <p:nvPr/>
        </p:nvSpPr>
        <p:spPr>
          <a:xfrm>
            <a:off x="4937760" y="2731770"/>
            <a:ext cx="1645920" cy="228600"/>
          </a:xfrm>
          <a:prstGeom prst="rect">
            <a:avLst/>
          </a:prstGeom>
          <a:noFill/>
        </p:spPr>
        <p:txBody>
          <a:bodyPr wrap="none">
            <a:spAutoFit/>
          </a:bodyPr>
          <a:lstStyle/>
          <a:p>
            <a:pPr>
              <a:defRPr sz="1100" b="1">
                <a:solidFill>
                  <a:srgbClr val="6A9BCC"/>
                </a:solidFill>
                <a:latin typeface="Consolas"/>
              </a:defRPr>
            </a:pPr>
            <a:r>
              <a:t>hooks/</a:t>
            </a:r>
          </a:p>
        </p:txBody>
      </p:sp>
      <p:sp>
        <p:nvSpPr>
          <p:cNvPr id="24" name="TextBox 23"/>
          <p:cNvSpPr txBox="1"/>
          <p:nvPr/>
        </p:nvSpPr>
        <p:spPr>
          <a:xfrm>
            <a:off x="6675120" y="2731770"/>
            <a:ext cx="1920240" cy="228600"/>
          </a:xfrm>
          <a:prstGeom prst="rect">
            <a:avLst/>
          </a:prstGeom>
          <a:noFill/>
        </p:spPr>
        <p:txBody>
          <a:bodyPr wrap="none">
            <a:spAutoFit/>
          </a:bodyPr>
          <a:lstStyle/>
          <a:p>
            <a:pPr>
              <a:defRPr sz="1000">
                <a:solidFill>
                  <a:srgbClr val="36454F"/>
                </a:solidFill>
              </a:defRPr>
            </a:pPr>
            <a:r>
              <a:t>Event handlers</a:t>
            </a:r>
          </a:p>
        </p:txBody>
      </p:sp>
      <p:sp>
        <p:nvSpPr>
          <p:cNvPr id="25" name="TextBox 24"/>
          <p:cNvSpPr txBox="1"/>
          <p:nvPr/>
        </p:nvSpPr>
        <p:spPr>
          <a:xfrm>
            <a:off x="4937760" y="2960370"/>
            <a:ext cx="1645920" cy="228600"/>
          </a:xfrm>
          <a:prstGeom prst="rect">
            <a:avLst/>
          </a:prstGeom>
          <a:noFill/>
        </p:spPr>
        <p:txBody>
          <a:bodyPr wrap="none">
            <a:spAutoFit/>
          </a:bodyPr>
          <a:lstStyle/>
          <a:p>
            <a:pPr>
              <a:defRPr sz="1100" b="1">
                <a:solidFill>
                  <a:srgbClr val="6A9BCC"/>
                </a:solidFill>
                <a:latin typeface="Consolas"/>
              </a:defRPr>
            </a:pPr>
            <a:r>
              <a:t>.mcp.json</a:t>
            </a:r>
          </a:p>
        </p:txBody>
      </p:sp>
      <p:sp>
        <p:nvSpPr>
          <p:cNvPr id="26" name="TextBox 25"/>
          <p:cNvSpPr txBox="1"/>
          <p:nvPr/>
        </p:nvSpPr>
        <p:spPr>
          <a:xfrm>
            <a:off x="6675120" y="2960370"/>
            <a:ext cx="1920240" cy="228600"/>
          </a:xfrm>
          <a:prstGeom prst="rect">
            <a:avLst/>
          </a:prstGeom>
          <a:noFill/>
        </p:spPr>
        <p:txBody>
          <a:bodyPr wrap="none">
            <a:spAutoFit/>
          </a:bodyPr>
          <a:lstStyle/>
          <a:p>
            <a:pPr>
              <a:defRPr sz="1000">
                <a:solidFill>
                  <a:srgbClr val="36454F"/>
                </a:solidFill>
              </a:defRPr>
            </a:pPr>
            <a:r>
              <a:t>MCP servers</a:t>
            </a:r>
          </a:p>
        </p:txBody>
      </p:sp>
      <p:sp>
        <p:nvSpPr>
          <p:cNvPr id="27" name="TextBox 26"/>
          <p:cNvSpPr txBox="1"/>
          <p:nvPr/>
        </p:nvSpPr>
        <p:spPr>
          <a:xfrm>
            <a:off x="4937760" y="3188970"/>
            <a:ext cx="1645920" cy="228600"/>
          </a:xfrm>
          <a:prstGeom prst="rect">
            <a:avLst/>
          </a:prstGeom>
          <a:noFill/>
        </p:spPr>
        <p:txBody>
          <a:bodyPr wrap="none">
            <a:spAutoFit/>
          </a:bodyPr>
          <a:lstStyle/>
          <a:p>
            <a:pPr>
              <a:defRPr sz="1100" b="1">
                <a:solidFill>
                  <a:srgbClr val="6A9BCC"/>
                </a:solidFill>
                <a:latin typeface="Consolas"/>
              </a:defRPr>
            </a:pPr>
            <a:r>
              <a:t>.lsp.json</a:t>
            </a:r>
          </a:p>
        </p:txBody>
      </p:sp>
      <p:sp>
        <p:nvSpPr>
          <p:cNvPr id="28" name="TextBox 27"/>
          <p:cNvSpPr txBox="1"/>
          <p:nvPr/>
        </p:nvSpPr>
        <p:spPr>
          <a:xfrm>
            <a:off x="6675120" y="3188970"/>
            <a:ext cx="1920240" cy="228600"/>
          </a:xfrm>
          <a:prstGeom prst="rect">
            <a:avLst/>
          </a:prstGeom>
          <a:noFill/>
        </p:spPr>
        <p:txBody>
          <a:bodyPr wrap="none">
            <a:spAutoFit/>
          </a:bodyPr>
          <a:lstStyle/>
          <a:p>
            <a:pPr>
              <a:defRPr sz="1000">
                <a:solidFill>
                  <a:srgbClr val="36454F"/>
                </a:solidFill>
              </a:defRPr>
            </a:pPr>
            <a:r>
              <a:t>LSP servers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Creating the Plugin Manifest</a:t>
            </a:r>
          </a:p>
        </p:txBody>
      </p:sp>
      <p:sp>
        <p:nvSpPr>
          <p:cNvPr id="3" name="TextBox 2"/>
          <p:cNvSpPr txBox="1"/>
          <p:nvPr/>
        </p:nvSpPr>
        <p:spPr>
          <a:xfrm>
            <a:off x="548641" y="1277389"/>
            <a:ext cx="3840480" cy="365760"/>
          </a:xfrm>
          <a:prstGeom prst="rect">
            <a:avLst/>
          </a:prstGeom>
          <a:noFill/>
        </p:spPr>
        <p:txBody>
          <a:bodyPr wrap="none">
            <a:spAutoFit/>
          </a:bodyPr>
          <a:lstStyle/>
          <a:p>
            <a:pPr>
              <a:defRPr sz="1800" b="1">
                <a:solidFill>
                  <a:srgbClr val="141413"/>
                </a:solidFill>
              </a:defRPr>
            </a:pPr>
            <a:r>
              <a:rPr dirty="0" err="1"/>
              <a:t>plugin.json</a:t>
            </a:r>
            <a:r>
              <a:rPr dirty="0"/>
              <a:t> Location:</a:t>
            </a:r>
          </a:p>
        </p:txBody>
      </p:sp>
      <p:sp>
        <p:nvSpPr>
          <p:cNvPr id="4" name="Rectangle 3"/>
          <p:cNvSpPr/>
          <p:nvPr/>
        </p:nvSpPr>
        <p:spPr>
          <a:xfrm>
            <a:off x="548641" y="1734589"/>
            <a:ext cx="3840480" cy="2560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000">
                <a:solidFill>
                  <a:srgbClr val="FFFFFF"/>
                </a:solidFill>
                <a:latin typeface="Consolas"/>
              </a:defRPr>
            </a:pPr>
            <a:r>
              <a:rPr sz="700" dirty="0"/>
              <a:t>{</a:t>
            </a:r>
          </a:p>
          <a:p>
            <a:r>
              <a:rPr sz="1200" dirty="0"/>
              <a:t>  "name": "my-plugin",</a:t>
            </a:r>
          </a:p>
          <a:p>
            <a:r>
              <a:rPr sz="1200" dirty="0"/>
              <a:t>  "description": "Plugin description",</a:t>
            </a:r>
          </a:p>
          <a:p>
            <a:r>
              <a:rPr sz="1200" dirty="0"/>
              <a:t>  "version": "1.0.0",</a:t>
            </a:r>
          </a:p>
          <a:p>
            <a:r>
              <a:rPr sz="1200" dirty="0"/>
              <a:t>  "author": {</a:t>
            </a:r>
          </a:p>
          <a:p>
            <a:r>
              <a:rPr sz="1200" dirty="0"/>
              <a:t>    "name": "Your Name",</a:t>
            </a:r>
          </a:p>
          <a:p>
            <a:r>
              <a:rPr sz="1200" dirty="0"/>
              <a:t>    "email": "</a:t>
            </a:r>
            <a:r>
              <a:rPr sz="1200" dirty="0" err="1"/>
              <a:t>you@example.com</a:t>
            </a:r>
            <a:r>
              <a:rPr sz="1200" dirty="0"/>
              <a:t>"</a:t>
            </a:r>
          </a:p>
          <a:p>
            <a:r>
              <a:rPr sz="1200" dirty="0"/>
              <a:t>  },</a:t>
            </a:r>
          </a:p>
          <a:p>
            <a:r>
              <a:rPr sz="1200" dirty="0"/>
              <a:t>  "homepage": "https://...",</a:t>
            </a:r>
          </a:p>
          <a:p>
            <a:r>
              <a:rPr sz="1200" dirty="0"/>
              <a:t>  "repository": "https://...",</a:t>
            </a:r>
          </a:p>
          <a:p>
            <a:r>
              <a:rPr sz="1200" dirty="0"/>
              <a:t>  "license": "MIT",</a:t>
            </a:r>
          </a:p>
          <a:p>
            <a:r>
              <a:rPr sz="1200" dirty="0"/>
              <a:t>  "keywords": ["tag1", "tag2"]</a:t>
            </a:r>
          </a:p>
          <a:p>
            <a:r>
              <a:rPr sz="1200" dirty="0"/>
              <a:t>}</a:t>
            </a:r>
          </a:p>
        </p:txBody>
      </p:sp>
      <p:sp>
        <p:nvSpPr>
          <p:cNvPr id="5" name="TextBox 4"/>
          <p:cNvSpPr txBox="1"/>
          <p:nvPr/>
        </p:nvSpPr>
        <p:spPr>
          <a:xfrm>
            <a:off x="4754880" y="1277389"/>
            <a:ext cx="3657600" cy="365760"/>
          </a:xfrm>
          <a:prstGeom prst="rect">
            <a:avLst/>
          </a:prstGeom>
          <a:noFill/>
        </p:spPr>
        <p:txBody>
          <a:bodyPr wrap="none">
            <a:spAutoFit/>
          </a:bodyPr>
          <a:lstStyle/>
          <a:p>
            <a:pPr>
              <a:defRPr sz="1800" b="1">
                <a:solidFill>
                  <a:srgbClr val="141413"/>
                </a:solidFill>
              </a:defRPr>
            </a:pPr>
            <a:r>
              <a:t>Required vs Optional Fields:</a:t>
            </a:r>
          </a:p>
        </p:txBody>
      </p:sp>
      <p:sp>
        <p:nvSpPr>
          <p:cNvPr id="6" name="TextBox 5"/>
          <p:cNvSpPr txBox="1"/>
          <p:nvPr/>
        </p:nvSpPr>
        <p:spPr>
          <a:xfrm>
            <a:off x="4937760" y="1734589"/>
            <a:ext cx="1097280" cy="274320"/>
          </a:xfrm>
          <a:prstGeom prst="rect">
            <a:avLst/>
          </a:prstGeom>
          <a:noFill/>
        </p:spPr>
        <p:txBody>
          <a:bodyPr wrap="none">
            <a:spAutoFit/>
          </a:bodyPr>
          <a:lstStyle/>
          <a:p>
            <a:pPr>
              <a:defRPr sz="1100" b="1">
                <a:solidFill>
                  <a:srgbClr val="6A9BCC"/>
                </a:solidFill>
                <a:latin typeface="Consolas"/>
              </a:defRPr>
            </a:pPr>
            <a:r>
              <a:t>name</a:t>
            </a:r>
          </a:p>
        </p:txBody>
      </p:sp>
      <p:sp>
        <p:nvSpPr>
          <p:cNvPr id="7" name="Rounded Rectangle 6"/>
          <p:cNvSpPr/>
          <p:nvPr/>
        </p:nvSpPr>
        <p:spPr>
          <a:xfrm>
            <a:off x="6126480" y="1734589"/>
            <a:ext cx="731520" cy="228600"/>
          </a:xfrm>
          <a:prstGeom prst="roundRect">
            <a:avLst/>
          </a:prstGeom>
          <a:solidFill>
            <a:srgbClr val="788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Required</a:t>
            </a:r>
          </a:p>
        </p:txBody>
      </p:sp>
      <p:sp>
        <p:nvSpPr>
          <p:cNvPr id="8" name="TextBox 7"/>
          <p:cNvSpPr txBox="1"/>
          <p:nvPr/>
        </p:nvSpPr>
        <p:spPr>
          <a:xfrm>
            <a:off x="6949440" y="1734589"/>
            <a:ext cx="1737360" cy="230832"/>
          </a:xfrm>
          <a:prstGeom prst="rect">
            <a:avLst/>
          </a:prstGeom>
          <a:noFill/>
        </p:spPr>
        <p:txBody>
          <a:bodyPr wrap="square">
            <a:spAutoFit/>
          </a:bodyPr>
          <a:lstStyle/>
          <a:p>
            <a:pPr>
              <a:defRPr sz="900">
                <a:solidFill>
                  <a:srgbClr val="36454F"/>
                </a:solidFill>
              </a:defRPr>
            </a:pPr>
            <a:r>
              <a:rPr dirty="0"/>
              <a:t>Plugin identifier (kebab-case)</a:t>
            </a:r>
          </a:p>
        </p:txBody>
      </p:sp>
      <p:sp>
        <p:nvSpPr>
          <p:cNvPr id="9" name="TextBox 8"/>
          <p:cNvSpPr txBox="1"/>
          <p:nvPr/>
        </p:nvSpPr>
        <p:spPr>
          <a:xfrm>
            <a:off x="4937760" y="2054628"/>
            <a:ext cx="1097280" cy="274320"/>
          </a:xfrm>
          <a:prstGeom prst="rect">
            <a:avLst/>
          </a:prstGeom>
          <a:noFill/>
        </p:spPr>
        <p:txBody>
          <a:bodyPr wrap="none">
            <a:spAutoFit/>
          </a:bodyPr>
          <a:lstStyle/>
          <a:p>
            <a:pPr>
              <a:defRPr sz="1100" b="1">
                <a:solidFill>
                  <a:srgbClr val="6A9BCC"/>
                </a:solidFill>
                <a:latin typeface="Consolas"/>
              </a:defRPr>
            </a:pPr>
            <a:r>
              <a:t>description</a:t>
            </a:r>
          </a:p>
        </p:txBody>
      </p:sp>
      <p:sp>
        <p:nvSpPr>
          <p:cNvPr id="10" name="Rounded Rectangle 9"/>
          <p:cNvSpPr/>
          <p:nvPr/>
        </p:nvSpPr>
        <p:spPr>
          <a:xfrm>
            <a:off x="6126480" y="2054628"/>
            <a:ext cx="731520" cy="228600"/>
          </a:xfrm>
          <a:prstGeom prst="roundRect">
            <a:avLst/>
          </a:prstGeom>
          <a:solidFill>
            <a:srgbClr val="788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Required</a:t>
            </a:r>
          </a:p>
        </p:txBody>
      </p:sp>
      <p:sp>
        <p:nvSpPr>
          <p:cNvPr id="11" name="TextBox 10"/>
          <p:cNvSpPr txBox="1"/>
          <p:nvPr/>
        </p:nvSpPr>
        <p:spPr>
          <a:xfrm>
            <a:off x="6949440" y="2054628"/>
            <a:ext cx="1463040" cy="274320"/>
          </a:xfrm>
          <a:prstGeom prst="rect">
            <a:avLst/>
          </a:prstGeom>
          <a:noFill/>
        </p:spPr>
        <p:txBody>
          <a:bodyPr wrap="square">
            <a:spAutoFit/>
          </a:bodyPr>
          <a:lstStyle/>
          <a:p>
            <a:pPr>
              <a:defRPr sz="900">
                <a:solidFill>
                  <a:srgbClr val="36454F"/>
                </a:solidFill>
              </a:defRPr>
            </a:pPr>
            <a:r>
              <a:t>Brief plugin description</a:t>
            </a:r>
          </a:p>
        </p:txBody>
      </p:sp>
      <p:sp>
        <p:nvSpPr>
          <p:cNvPr id="12" name="TextBox 11"/>
          <p:cNvSpPr txBox="1"/>
          <p:nvPr/>
        </p:nvSpPr>
        <p:spPr>
          <a:xfrm>
            <a:off x="4937760" y="2374669"/>
            <a:ext cx="1097280" cy="274320"/>
          </a:xfrm>
          <a:prstGeom prst="rect">
            <a:avLst/>
          </a:prstGeom>
          <a:noFill/>
        </p:spPr>
        <p:txBody>
          <a:bodyPr wrap="none">
            <a:spAutoFit/>
          </a:bodyPr>
          <a:lstStyle/>
          <a:p>
            <a:pPr>
              <a:defRPr sz="1100" b="1">
                <a:solidFill>
                  <a:srgbClr val="6A9BCC"/>
                </a:solidFill>
                <a:latin typeface="Consolas"/>
              </a:defRPr>
            </a:pPr>
            <a:r>
              <a:t>version</a:t>
            </a:r>
          </a:p>
        </p:txBody>
      </p:sp>
      <p:sp>
        <p:nvSpPr>
          <p:cNvPr id="13" name="Rounded Rectangle 12"/>
          <p:cNvSpPr/>
          <p:nvPr/>
        </p:nvSpPr>
        <p:spPr>
          <a:xfrm>
            <a:off x="6126480" y="2374669"/>
            <a:ext cx="731520" cy="228600"/>
          </a:xfrm>
          <a:prstGeom prst="roundRect">
            <a:avLst/>
          </a:prstGeom>
          <a:solidFill>
            <a:srgbClr val="788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Required</a:t>
            </a:r>
          </a:p>
        </p:txBody>
      </p:sp>
      <p:sp>
        <p:nvSpPr>
          <p:cNvPr id="14" name="TextBox 13"/>
          <p:cNvSpPr txBox="1"/>
          <p:nvPr/>
        </p:nvSpPr>
        <p:spPr>
          <a:xfrm>
            <a:off x="6949440" y="2374669"/>
            <a:ext cx="1463040" cy="274320"/>
          </a:xfrm>
          <a:prstGeom prst="rect">
            <a:avLst/>
          </a:prstGeom>
          <a:noFill/>
        </p:spPr>
        <p:txBody>
          <a:bodyPr wrap="square">
            <a:spAutoFit/>
          </a:bodyPr>
          <a:lstStyle/>
          <a:p>
            <a:pPr>
              <a:defRPr sz="900">
                <a:solidFill>
                  <a:srgbClr val="36454F"/>
                </a:solidFill>
              </a:defRPr>
            </a:pPr>
            <a:r>
              <a:t>Semantic version (1.0.0)</a:t>
            </a:r>
          </a:p>
        </p:txBody>
      </p:sp>
      <p:sp>
        <p:nvSpPr>
          <p:cNvPr id="15" name="TextBox 14"/>
          <p:cNvSpPr txBox="1"/>
          <p:nvPr/>
        </p:nvSpPr>
        <p:spPr>
          <a:xfrm>
            <a:off x="4937760" y="2694709"/>
            <a:ext cx="1097280" cy="274320"/>
          </a:xfrm>
          <a:prstGeom prst="rect">
            <a:avLst/>
          </a:prstGeom>
          <a:noFill/>
        </p:spPr>
        <p:txBody>
          <a:bodyPr wrap="none">
            <a:spAutoFit/>
          </a:bodyPr>
          <a:lstStyle/>
          <a:p>
            <a:pPr>
              <a:defRPr sz="1100" b="1">
                <a:solidFill>
                  <a:srgbClr val="6A9BCC"/>
                </a:solidFill>
                <a:latin typeface="Consolas"/>
              </a:defRPr>
            </a:pPr>
            <a:r>
              <a:t>author</a:t>
            </a:r>
          </a:p>
        </p:txBody>
      </p:sp>
      <p:sp>
        <p:nvSpPr>
          <p:cNvPr id="16" name="Rounded Rectangle 15"/>
          <p:cNvSpPr/>
          <p:nvPr/>
        </p:nvSpPr>
        <p:spPr>
          <a:xfrm>
            <a:off x="6126480" y="2694709"/>
            <a:ext cx="731520" cy="228600"/>
          </a:xfrm>
          <a:prstGeom prst="round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41413"/>
                </a:solidFill>
              </a:defRPr>
            </a:pPr>
            <a:r>
              <a:t>Optional</a:t>
            </a:r>
          </a:p>
        </p:txBody>
      </p:sp>
      <p:sp>
        <p:nvSpPr>
          <p:cNvPr id="17" name="TextBox 16"/>
          <p:cNvSpPr txBox="1"/>
          <p:nvPr/>
        </p:nvSpPr>
        <p:spPr>
          <a:xfrm>
            <a:off x="6949440" y="2694709"/>
            <a:ext cx="1463040" cy="274320"/>
          </a:xfrm>
          <a:prstGeom prst="rect">
            <a:avLst/>
          </a:prstGeom>
          <a:noFill/>
        </p:spPr>
        <p:txBody>
          <a:bodyPr wrap="square">
            <a:spAutoFit/>
          </a:bodyPr>
          <a:lstStyle/>
          <a:p>
            <a:pPr>
              <a:defRPr sz="900">
                <a:solidFill>
                  <a:srgbClr val="36454F"/>
                </a:solidFill>
              </a:defRPr>
            </a:pPr>
            <a:r>
              <a:t>Attribution information</a:t>
            </a:r>
          </a:p>
        </p:txBody>
      </p:sp>
      <p:sp>
        <p:nvSpPr>
          <p:cNvPr id="18" name="TextBox 17"/>
          <p:cNvSpPr txBox="1"/>
          <p:nvPr/>
        </p:nvSpPr>
        <p:spPr>
          <a:xfrm>
            <a:off x="4937760" y="3014749"/>
            <a:ext cx="1097280" cy="274320"/>
          </a:xfrm>
          <a:prstGeom prst="rect">
            <a:avLst/>
          </a:prstGeom>
          <a:noFill/>
        </p:spPr>
        <p:txBody>
          <a:bodyPr wrap="none">
            <a:spAutoFit/>
          </a:bodyPr>
          <a:lstStyle/>
          <a:p>
            <a:pPr>
              <a:defRPr sz="1100" b="1">
                <a:solidFill>
                  <a:srgbClr val="6A9BCC"/>
                </a:solidFill>
                <a:latin typeface="Consolas"/>
              </a:defRPr>
            </a:pPr>
            <a:r>
              <a:t>homepage</a:t>
            </a:r>
          </a:p>
        </p:txBody>
      </p:sp>
      <p:sp>
        <p:nvSpPr>
          <p:cNvPr id="19" name="Rounded Rectangle 18"/>
          <p:cNvSpPr/>
          <p:nvPr/>
        </p:nvSpPr>
        <p:spPr>
          <a:xfrm>
            <a:off x="6126480" y="3014749"/>
            <a:ext cx="731520" cy="228600"/>
          </a:xfrm>
          <a:prstGeom prst="round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41413"/>
                </a:solidFill>
              </a:defRPr>
            </a:pPr>
            <a:r>
              <a:t>Optional</a:t>
            </a:r>
          </a:p>
        </p:txBody>
      </p:sp>
      <p:sp>
        <p:nvSpPr>
          <p:cNvPr id="20" name="TextBox 19"/>
          <p:cNvSpPr txBox="1"/>
          <p:nvPr/>
        </p:nvSpPr>
        <p:spPr>
          <a:xfrm>
            <a:off x="6949440" y="3014749"/>
            <a:ext cx="1463040" cy="274320"/>
          </a:xfrm>
          <a:prstGeom prst="rect">
            <a:avLst/>
          </a:prstGeom>
          <a:noFill/>
        </p:spPr>
        <p:txBody>
          <a:bodyPr wrap="square">
            <a:spAutoFit/>
          </a:bodyPr>
          <a:lstStyle/>
          <a:p>
            <a:pPr>
              <a:defRPr sz="900">
                <a:solidFill>
                  <a:srgbClr val="36454F"/>
                </a:solidFill>
              </a:defRPr>
            </a:pPr>
            <a:r>
              <a:t>Documentation URL</a:t>
            </a:r>
          </a:p>
        </p:txBody>
      </p:sp>
      <p:sp>
        <p:nvSpPr>
          <p:cNvPr id="21" name="TextBox 20"/>
          <p:cNvSpPr txBox="1"/>
          <p:nvPr/>
        </p:nvSpPr>
        <p:spPr>
          <a:xfrm>
            <a:off x="4937760" y="3334789"/>
            <a:ext cx="1097280" cy="274320"/>
          </a:xfrm>
          <a:prstGeom prst="rect">
            <a:avLst/>
          </a:prstGeom>
          <a:noFill/>
        </p:spPr>
        <p:txBody>
          <a:bodyPr wrap="none">
            <a:spAutoFit/>
          </a:bodyPr>
          <a:lstStyle/>
          <a:p>
            <a:pPr>
              <a:defRPr sz="1100" b="1">
                <a:solidFill>
                  <a:srgbClr val="6A9BCC"/>
                </a:solidFill>
                <a:latin typeface="Consolas"/>
              </a:defRPr>
            </a:pPr>
            <a:r>
              <a:t>repository</a:t>
            </a:r>
          </a:p>
        </p:txBody>
      </p:sp>
      <p:sp>
        <p:nvSpPr>
          <p:cNvPr id="22" name="Rounded Rectangle 21"/>
          <p:cNvSpPr/>
          <p:nvPr/>
        </p:nvSpPr>
        <p:spPr>
          <a:xfrm>
            <a:off x="6126480" y="3334789"/>
            <a:ext cx="731520" cy="228600"/>
          </a:xfrm>
          <a:prstGeom prst="round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41413"/>
                </a:solidFill>
              </a:defRPr>
            </a:pPr>
            <a:r>
              <a:t>Optional</a:t>
            </a:r>
          </a:p>
        </p:txBody>
      </p:sp>
      <p:sp>
        <p:nvSpPr>
          <p:cNvPr id="23" name="TextBox 22"/>
          <p:cNvSpPr txBox="1"/>
          <p:nvPr/>
        </p:nvSpPr>
        <p:spPr>
          <a:xfrm>
            <a:off x="6949440" y="3334789"/>
            <a:ext cx="1463040" cy="274320"/>
          </a:xfrm>
          <a:prstGeom prst="rect">
            <a:avLst/>
          </a:prstGeom>
          <a:noFill/>
        </p:spPr>
        <p:txBody>
          <a:bodyPr wrap="square">
            <a:spAutoFit/>
          </a:bodyPr>
          <a:lstStyle/>
          <a:p>
            <a:pPr>
              <a:defRPr sz="900">
                <a:solidFill>
                  <a:srgbClr val="36454F"/>
                </a:solidFill>
              </a:defRPr>
            </a:pPr>
            <a:r>
              <a:t>Source code location</a:t>
            </a:r>
          </a:p>
        </p:txBody>
      </p:sp>
      <p:sp>
        <p:nvSpPr>
          <p:cNvPr id="24" name="TextBox 23"/>
          <p:cNvSpPr txBox="1"/>
          <p:nvPr/>
        </p:nvSpPr>
        <p:spPr>
          <a:xfrm>
            <a:off x="4937760" y="3654829"/>
            <a:ext cx="1097280" cy="274320"/>
          </a:xfrm>
          <a:prstGeom prst="rect">
            <a:avLst/>
          </a:prstGeom>
          <a:noFill/>
        </p:spPr>
        <p:txBody>
          <a:bodyPr wrap="none">
            <a:spAutoFit/>
          </a:bodyPr>
          <a:lstStyle/>
          <a:p>
            <a:pPr>
              <a:defRPr sz="1100" b="1">
                <a:solidFill>
                  <a:srgbClr val="6A9BCC"/>
                </a:solidFill>
                <a:latin typeface="Consolas"/>
              </a:defRPr>
            </a:pPr>
            <a:r>
              <a:t>license</a:t>
            </a:r>
          </a:p>
        </p:txBody>
      </p:sp>
      <p:sp>
        <p:nvSpPr>
          <p:cNvPr id="25" name="Rounded Rectangle 24"/>
          <p:cNvSpPr/>
          <p:nvPr/>
        </p:nvSpPr>
        <p:spPr>
          <a:xfrm>
            <a:off x="6126480" y="3654829"/>
            <a:ext cx="731520" cy="228600"/>
          </a:xfrm>
          <a:prstGeom prst="round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41413"/>
                </a:solidFill>
              </a:defRPr>
            </a:pPr>
            <a:r>
              <a:t>Optional</a:t>
            </a:r>
          </a:p>
        </p:txBody>
      </p:sp>
      <p:sp>
        <p:nvSpPr>
          <p:cNvPr id="26" name="TextBox 25"/>
          <p:cNvSpPr txBox="1"/>
          <p:nvPr/>
        </p:nvSpPr>
        <p:spPr>
          <a:xfrm>
            <a:off x="6949440" y="3654829"/>
            <a:ext cx="1463040" cy="274320"/>
          </a:xfrm>
          <a:prstGeom prst="rect">
            <a:avLst/>
          </a:prstGeom>
          <a:noFill/>
        </p:spPr>
        <p:txBody>
          <a:bodyPr wrap="square">
            <a:spAutoFit/>
          </a:bodyPr>
          <a:lstStyle/>
          <a:p>
            <a:pPr>
              <a:defRPr sz="900">
                <a:solidFill>
                  <a:srgbClr val="36454F"/>
                </a:solidFill>
              </a:defRPr>
            </a:pPr>
            <a:r>
              <a:t>SPDX identifier</a:t>
            </a:r>
          </a:p>
        </p:txBody>
      </p:sp>
      <p:sp>
        <p:nvSpPr>
          <p:cNvPr id="27" name="TextBox 26"/>
          <p:cNvSpPr txBox="1"/>
          <p:nvPr/>
        </p:nvSpPr>
        <p:spPr>
          <a:xfrm>
            <a:off x="4937760" y="3974869"/>
            <a:ext cx="1097280" cy="274320"/>
          </a:xfrm>
          <a:prstGeom prst="rect">
            <a:avLst/>
          </a:prstGeom>
          <a:noFill/>
        </p:spPr>
        <p:txBody>
          <a:bodyPr wrap="none">
            <a:spAutoFit/>
          </a:bodyPr>
          <a:lstStyle/>
          <a:p>
            <a:pPr>
              <a:defRPr sz="1100" b="1">
                <a:solidFill>
                  <a:srgbClr val="6A9BCC"/>
                </a:solidFill>
                <a:latin typeface="Consolas"/>
              </a:defRPr>
            </a:pPr>
            <a:r>
              <a:t>keywords</a:t>
            </a:r>
          </a:p>
        </p:txBody>
      </p:sp>
      <p:sp>
        <p:nvSpPr>
          <p:cNvPr id="28" name="Rounded Rectangle 27"/>
          <p:cNvSpPr/>
          <p:nvPr/>
        </p:nvSpPr>
        <p:spPr>
          <a:xfrm>
            <a:off x="6126480" y="3974869"/>
            <a:ext cx="731520" cy="228600"/>
          </a:xfrm>
          <a:prstGeom prst="round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41413"/>
                </a:solidFill>
              </a:defRPr>
            </a:pPr>
            <a:r>
              <a:t>Optional</a:t>
            </a:r>
          </a:p>
        </p:txBody>
      </p:sp>
      <p:sp>
        <p:nvSpPr>
          <p:cNvPr id="29" name="TextBox 28"/>
          <p:cNvSpPr txBox="1"/>
          <p:nvPr/>
        </p:nvSpPr>
        <p:spPr>
          <a:xfrm>
            <a:off x="6949440" y="3974869"/>
            <a:ext cx="1463040" cy="274320"/>
          </a:xfrm>
          <a:prstGeom prst="rect">
            <a:avLst/>
          </a:prstGeom>
          <a:noFill/>
        </p:spPr>
        <p:txBody>
          <a:bodyPr wrap="square">
            <a:spAutoFit/>
          </a:bodyPr>
          <a:lstStyle/>
          <a:p>
            <a:pPr>
              <a:defRPr sz="900">
                <a:solidFill>
                  <a:srgbClr val="36454F"/>
                </a:solidFill>
              </a:defRPr>
            </a:pPr>
            <a:r>
              <a:t>Discovery tags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Adding Skills to Plugins</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Skills vs Commands in Plugins</a:t>
            </a:r>
          </a:p>
        </p:txBody>
      </p:sp>
      <p:sp>
        <p:nvSpPr>
          <p:cNvPr id="4" name="TextBox 3"/>
          <p:cNvSpPr txBox="1"/>
          <p:nvPr/>
        </p:nvSpPr>
        <p:spPr>
          <a:xfrm>
            <a:off x="731520" y="1645920"/>
            <a:ext cx="7680960" cy="1371600"/>
          </a:xfrm>
          <a:prstGeom prst="rect">
            <a:avLst/>
          </a:prstGeom>
          <a:noFill/>
        </p:spPr>
        <p:txBody>
          <a:bodyPr wrap="none">
            <a:spAutoFit/>
          </a:bodyPr>
          <a:lstStyle/>
          <a:p>
            <a:pPr>
              <a:defRPr sz="1400">
                <a:solidFill>
                  <a:srgbClr val="141413"/>
                </a:solidFill>
              </a:defRPr>
            </a:pPr>
            <a:r>
              <a:t>• commands/: User-invoked skills (manual execution)</a:t>
            </a:r>
          </a:p>
          <a:p>
            <a:pPr>
              <a:defRPr sz="1400">
                <a:solidFill>
                  <a:srgbClr val="141413"/>
                </a:solidFill>
              </a:defRPr>
            </a:pPr>
            <a:r>
              <a:t>• skills/: Agent skills (Claude auto-invokes based on context)</a:t>
            </a:r>
          </a:p>
          <a:p>
            <a:pPr>
              <a:defRPr sz="1400">
                <a:solidFill>
                  <a:srgbClr val="141413"/>
                </a:solidFill>
              </a:defRPr>
            </a:pPr>
            <a:r>
              <a:t>• Both use same SKILL.md format with frontmatter</a:t>
            </a:r>
          </a:p>
        </p:txBody>
      </p:sp>
      <p:sp>
        <p:nvSpPr>
          <p:cNvPr id="5" name="TextBox 4"/>
          <p:cNvSpPr txBox="1"/>
          <p:nvPr/>
        </p:nvSpPr>
        <p:spPr>
          <a:xfrm>
            <a:off x="731520" y="2514600"/>
            <a:ext cx="7680960" cy="365760"/>
          </a:xfrm>
          <a:prstGeom prst="rect">
            <a:avLst/>
          </a:prstGeom>
          <a:noFill/>
        </p:spPr>
        <p:txBody>
          <a:bodyPr wrap="none">
            <a:spAutoFit/>
          </a:bodyPr>
          <a:lstStyle/>
          <a:p>
            <a:pPr>
              <a:defRPr sz="2000" b="1">
                <a:solidFill>
                  <a:srgbClr val="141413"/>
                </a:solidFill>
              </a:defRPr>
            </a:pPr>
            <a:r>
              <a:rPr dirty="0"/>
              <a:t>Skill Directory Structure</a:t>
            </a:r>
          </a:p>
        </p:txBody>
      </p:sp>
      <p:sp>
        <p:nvSpPr>
          <p:cNvPr id="6" name="Rectangle 5"/>
          <p:cNvSpPr/>
          <p:nvPr/>
        </p:nvSpPr>
        <p:spPr>
          <a:xfrm>
            <a:off x="914400" y="2971800"/>
            <a:ext cx="7315200" cy="54864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Consolas"/>
              </a:defRPr>
            </a:pPr>
            <a:r>
              <a:t>skills/code-review/SKILL.md  # Skill name = directory name</a:t>
            </a:r>
          </a:p>
        </p:txBody>
      </p:sp>
      <p:sp>
        <p:nvSpPr>
          <p:cNvPr id="7" name="TextBox 6"/>
          <p:cNvSpPr txBox="1"/>
          <p:nvPr/>
        </p:nvSpPr>
        <p:spPr>
          <a:xfrm>
            <a:off x="731520" y="3703320"/>
            <a:ext cx="7680960" cy="365760"/>
          </a:xfrm>
          <a:prstGeom prst="rect">
            <a:avLst/>
          </a:prstGeom>
          <a:noFill/>
        </p:spPr>
        <p:txBody>
          <a:bodyPr wrap="none">
            <a:spAutoFit/>
          </a:bodyPr>
          <a:lstStyle/>
          <a:p>
            <a:pPr>
              <a:defRPr sz="2000" b="1">
                <a:solidFill>
                  <a:srgbClr val="141413"/>
                </a:solidFill>
              </a:defRPr>
            </a:pPr>
            <a:r>
              <a:t>SKILL.md Frontmatter</a:t>
            </a:r>
          </a:p>
        </p:txBody>
      </p:sp>
      <p:sp>
        <p:nvSpPr>
          <p:cNvPr id="8" name="TextBox 7"/>
          <p:cNvSpPr txBox="1"/>
          <p:nvPr/>
        </p:nvSpPr>
        <p:spPr>
          <a:xfrm>
            <a:off x="731520" y="4160520"/>
            <a:ext cx="7680960" cy="1371600"/>
          </a:xfrm>
          <a:prstGeom prst="rect">
            <a:avLst/>
          </a:prstGeom>
          <a:noFill/>
        </p:spPr>
        <p:txBody>
          <a:bodyPr wrap="none">
            <a:spAutoFit/>
          </a:bodyPr>
          <a:lstStyle/>
          <a:p>
            <a:pPr>
              <a:defRPr sz="1400">
                <a:solidFill>
                  <a:srgbClr val="141413"/>
                </a:solidFill>
              </a:defRPr>
            </a:pPr>
            <a:r>
              <a:t>• name: Skill identifier</a:t>
            </a:r>
          </a:p>
          <a:p>
            <a:pPr>
              <a:defRPr sz="1400">
                <a:solidFill>
                  <a:srgbClr val="141413"/>
                </a:solidFill>
              </a:defRPr>
            </a:pPr>
            <a:r>
              <a:t>• description: When Claude should use this skill</a:t>
            </a:r>
          </a:p>
          <a:p>
            <a:pPr>
              <a:defRPr sz="1400">
                <a:solidFill>
                  <a:srgbClr val="141413"/>
                </a:solidFill>
              </a:defRPr>
            </a:pPr>
            <a:r>
              <a:t>• disable-model-invocation: true (for commands only)</a:t>
            </a:r>
          </a:p>
        </p:txBody>
      </p:sp>
      <p:sp>
        <p:nvSpPr>
          <p:cNvPr id="9" name="Rounded Rectangle 8"/>
          <p:cNvSpPr/>
          <p:nvPr/>
        </p:nvSpPr>
        <p:spPr>
          <a:xfrm>
            <a:off x="5832764" y="3891741"/>
            <a:ext cx="2396836" cy="731520"/>
          </a:xfrm>
          <a:prstGeom prst="roundRect">
            <a:avLst/>
          </a:prstGeom>
          <a:solidFill>
            <a:srgbClr val="D97757"/>
          </a:solidFill>
          <a:ln w="25400">
            <a:solidFill>
              <a:srgbClr val="D97757"/>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141413"/>
                </a:solidFill>
              </a:defRPr>
            </a:pPr>
            <a:r>
              <a:rPr lang="en-US" dirty="0">
                <a:solidFill>
                  <a:schemeClr val="bg1"/>
                </a:solidFill>
              </a:rPr>
              <a:t>⚠️  </a:t>
            </a:r>
            <a:r>
              <a:rPr dirty="0">
                <a:solidFill>
                  <a:schemeClr val="bg1"/>
                </a:solidFill>
              </a:rPr>
              <a:t>After adding skills, restart Claude Code to load them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Testing Plugins Locally</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The --plugin-dir Flag</a:t>
            </a:r>
          </a:p>
        </p:txBody>
      </p:sp>
      <p:sp>
        <p:nvSpPr>
          <p:cNvPr id="4" name="TextBox 3"/>
          <p:cNvSpPr txBox="1"/>
          <p:nvPr/>
        </p:nvSpPr>
        <p:spPr>
          <a:xfrm>
            <a:off x="731520" y="1645920"/>
            <a:ext cx="5793971" cy="523220"/>
          </a:xfrm>
          <a:prstGeom prst="rect">
            <a:avLst/>
          </a:prstGeom>
          <a:noFill/>
        </p:spPr>
        <p:txBody>
          <a:bodyPr wrap="square">
            <a:spAutoFit/>
          </a:bodyPr>
          <a:lstStyle/>
          <a:p>
            <a:pPr>
              <a:defRPr sz="1400">
                <a:solidFill>
                  <a:srgbClr val="141413"/>
                </a:solidFill>
              </a:defRPr>
            </a:pPr>
            <a:r>
              <a:rPr dirty="0"/>
              <a:t>Load plugins directly from your development directory without installing. Perfect for rapid iteration during development.</a:t>
            </a:r>
          </a:p>
        </p:txBody>
      </p:sp>
      <p:sp>
        <p:nvSpPr>
          <p:cNvPr id="5" name="Rectangle 4"/>
          <p:cNvSpPr/>
          <p:nvPr/>
        </p:nvSpPr>
        <p:spPr>
          <a:xfrm>
            <a:off x="914400" y="2259676"/>
            <a:ext cx="5174673" cy="4572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400">
                <a:solidFill>
                  <a:srgbClr val="FFFFFF"/>
                </a:solidFill>
                <a:latin typeface="Consolas"/>
              </a:defRPr>
            </a:pPr>
            <a:r>
              <a:t>claude --plugin-dir ./my-plugin</a:t>
            </a:r>
          </a:p>
        </p:txBody>
      </p:sp>
      <p:sp>
        <p:nvSpPr>
          <p:cNvPr id="6" name="TextBox 5"/>
          <p:cNvSpPr txBox="1"/>
          <p:nvPr/>
        </p:nvSpPr>
        <p:spPr>
          <a:xfrm>
            <a:off x="731520" y="2892830"/>
            <a:ext cx="7680960" cy="365760"/>
          </a:xfrm>
          <a:prstGeom prst="rect">
            <a:avLst/>
          </a:prstGeom>
          <a:noFill/>
        </p:spPr>
        <p:txBody>
          <a:bodyPr wrap="none">
            <a:spAutoFit/>
          </a:bodyPr>
          <a:lstStyle/>
          <a:p>
            <a:pPr>
              <a:defRPr sz="2000" b="1">
                <a:solidFill>
                  <a:srgbClr val="141413"/>
                </a:solidFill>
              </a:defRPr>
            </a:pPr>
            <a:r>
              <a:rPr dirty="0"/>
              <a:t>Development Workflow</a:t>
            </a:r>
          </a:p>
        </p:txBody>
      </p:sp>
      <p:sp>
        <p:nvSpPr>
          <p:cNvPr id="7" name="TextBox 6"/>
          <p:cNvSpPr txBox="1"/>
          <p:nvPr/>
        </p:nvSpPr>
        <p:spPr>
          <a:xfrm>
            <a:off x="1097280" y="3350030"/>
            <a:ext cx="6949440" cy="274320"/>
          </a:xfrm>
          <a:prstGeom prst="rect">
            <a:avLst/>
          </a:prstGeom>
          <a:noFill/>
        </p:spPr>
        <p:txBody>
          <a:bodyPr wrap="none">
            <a:spAutoFit/>
          </a:bodyPr>
          <a:lstStyle/>
          <a:p>
            <a:pPr>
              <a:defRPr sz="1300">
                <a:solidFill>
                  <a:srgbClr val="141413"/>
                </a:solidFill>
              </a:defRPr>
            </a:pPr>
            <a:r>
              <a:t>1. Make changes to plugin files</a:t>
            </a:r>
          </a:p>
        </p:txBody>
      </p:sp>
      <p:sp>
        <p:nvSpPr>
          <p:cNvPr id="8" name="TextBox 7"/>
          <p:cNvSpPr txBox="1"/>
          <p:nvPr/>
        </p:nvSpPr>
        <p:spPr>
          <a:xfrm>
            <a:off x="1097280" y="3624349"/>
            <a:ext cx="6949440" cy="274320"/>
          </a:xfrm>
          <a:prstGeom prst="rect">
            <a:avLst/>
          </a:prstGeom>
          <a:noFill/>
        </p:spPr>
        <p:txBody>
          <a:bodyPr wrap="none">
            <a:spAutoFit/>
          </a:bodyPr>
          <a:lstStyle/>
          <a:p>
            <a:pPr>
              <a:defRPr sz="1300">
                <a:solidFill>
                  <a:srgbClr val="141413"/>
                </a:solidFill>
              </a:defRPr>
            </a:pPr>
            <a:r>
              <a:t>2. Restart Claude Code with --plugin-dir flag</a:t>
            </a:r>
          </a:p>
        </p:txBody>
      </p:sp>
      <p:sp>
        <p:nvSpPr>
          <p:cNvPr id="9" name="TextBox 8"/>
          <p:cNvSpPr txBox="1"/>
          <p:nvPr/>
        </p:nvSpPr>
        <p:spPr>
          <a:xfrm>
            <a:off x="1097280" y="3898669"/>
            <a:ext cx="6949440" cy="274320"/>
          </a:xfrm>
          <a:prstGeom prst="rect">
            <a:avLst/>
          </a:prstGeom>
          <a:noFill/>
        </p:spPr>
        <p:txBody>
          <a:bodyPr wrap="none">
            <a:spAutoFit/>
          </a:bodyPr>
          <a:lstStyle/>
          <a:p>
            <a:pPr>
              <a:defRPr sz="1300">
                <a:solidFill>
                  <a:srgbClr val="141413"/>
                </a:solidFill>
              </a:defRPr>
            </a:pPr>
            <a:r>
              <a:t>3. Test your commands with /plugin-name:command</a:t>
            </a:r>
          </a:p>
        </p:txBody>
      </p:sp>
      <p:sp>
        <p:nvSpPr>
          <p:cNvPr id="10" name="TextBox 9"/>
          <p:cNvSpPr txBox="1"/>
          <p:nvPr/>
        </p:nvSpPr>
        <p:spPr>
          <a:xfrm>
            <a:off x="1097280" y="4172989"/>
            <a:ext cx="6949440" cy="274320"/>
          </a:xfrm>
          <a:prstGeom prst="rect">
            <a:avLst/>
          </a:prstGeom>
          <a:noFill/>
        </p:spPr>
        <p:txBody>
          <a:bodyPr wrap="none">
            <a:spAutoFit/>
          </a:bodyPr>
          <a:lstStyle/>
          <a:p>
            <a:pPr>
              <a:defRPr sz="1300">
                <a:solidFill>
                  <a:srgbClr val="141413"/>
                </a:solidFill>
              </a:defRPr>
            </a:pPr>
            <a:r>
              <a:t>4. Check /help to verify commands appear</a:t>
            </a:r>
          </a:p>
        </p:txBody>
      </p:sp>
      <p:sp>
        <p:nvSpPr>
          <p:cNvPr id="11" name="TextBox 10"/>
          <p:cNvSpPr txBox="1"/>
          <p:nvPr/>
        </p:nvSpPr>
        <p:spPr>
          <a:xfrm>
            <a:off x="1097280" y="4447309"/>
            <a:ext cx="6949440" cy="274320"/>
          </a:xfrm>
          <a:prstGeom prst="rect">
            <a:avLst/>
          </a:prstGeom>
          <a:noFill/>
        </p:spPr>
        <p:txBody>
          <a:bodyPr wrap="none">
            <a:spAutoFit/>
          </a:bodyPr>
          <a:lstStyle/>
          <a:p>
            <a:pPr>
              <a:defRPr sz="1300">
                <a:solidFill>
                  <a:srgbClr val="141413"/>
                </a:solidFill>
              </a:defRPr>
            </a:pPr>
            <a:r>
              <a:t>5. Verify hooks trigger correctly</a:t>
            </a:r>
          </a:p>
        </p:txBody>
      </p:sp>
      <p:sp>
        <p:nvSpPr>
          <p:cNvPr id="12" name="TextBox 11"/>
          <p:cNvSpPr txBox="1"/>
          <p:nvPr/>
        </p:nvSpPr>
        <p:spPr>
          <a:xfrm>
            <a:off x="1097280" y="4721629"/>
            <a:ext cx="6949440" cy="274320"/>
          </a:xfrm>
          <a:prstGeom prst="rect">
            <a:avLst/>
          </a:prstGeom>
          <a:noFill/>
        </p:spPr>
        <p:txBody>
          <a:bodyPr wrap="none">
            <a:spAutoFit/>
          </a:bodyPr>
          <a:lstStyle/>
          <a:p>
            <a:pPr>
              <a:defRPr sz="1300">
                <a:solidFill>
                  <a:srgbClr val="141413"/>
                </a:solidFill>
              </a:defRPr>
            </a:pPr>
            <a:r>
              <a:rPr dirty="0"/>
              <a:t>6. Repeat until ready to distribute</a:t>
            </a:r>
          </a:p>
        </p:txBody>
      </p:sp>
      <p:sp>
        <p:nvSpPr>
          <p:cNvPr id="16" name="Rectangle 15">
            <a:extLst>
              <a:ext uri="{FF2B5EF4-FFF2-40B4-BE49-F238E27FC236}">
                <a16:creationId xmlns:a16="http://schemas.microsoft.com/office/drawing/2014/main" id="{24694101-6F28-B7E8-C1CB-1AFB57011CB1}"/>
              </a:ext>
            </a:extLst>
          </p:cNvPr>
          <p:cNvSpPr/>
          <p:nvPr/>
        </p:nvSpPr>
        <p:spPr>
          <a:xfrm>
            <a:off x="6906491" y="1330036"/>
            <a:ext cx="1780308" cy="3059084"/>
          </a:xfrm>
          <a:prstGeom prst="rect">
            <a:avLst/>
          </a:prstGeom>
          <a:solidFill>
            <a:schemeClr val="bg1"/>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41413"/>
                </a:solidFill>
              </a:defRPr>
            </a:pPr>
            <a:r>
              <a:rPr lang="en-US" dirty="0"/>
              <a:t>💡 Tip: Load multiple plugins for testing: </a:t>
            </a:r>
            <a:r>
              <a:rPr lang="en-US" dirty="0" err="1"/>
              <a:t>claude</a:t>
            </a:r>
            <a:r>
              <a:rPr lang="en-US" dirty="0"/>
              <a:t> --plugin-</a:t>
            </a:r>
            <a:r>
              <a:rPr lang="en-US" dirty="0" err="1"/>
              <a:t>dir</a:t>
            </a:r>
            <a:r>
              <a:rPr lang="en-US" dirty="0"/>
              <a:t> ./plugin1 --plugin-</a:t>
            </a:r>
            <a:r>
              <a:rPr lang="en-US" dirty="0" err="1"/>
              <a:t>dir</a:t>
            </a:r>
            <a:r>
              <a:rPr lang="en-US" dirty="0"/>
              <a:t> ./plugin2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C16F2B-941A-0693-B9E0-D5BE68BC82C1}"/>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481420F-6704-30A7-00ED-E3484B6D036F}"/>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a:t>
            </a:r>
            <a:r>
              <a:rPr lang="en-US" dirty="0">
                <a:solidFill>
                  <a:schemeClr val="bg1"/>
                </a:solidFill>
              </a:rPr>
              <a:t>6</a:t>
            </a:r>
            <a:r>
              <a:rPr dirty="0">
                <a:solidFill>
                  <a:schemeClr val="bg1"/>
                </a:solidFill>
              </a:rPr>
              <a:t>:</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18" name="Graphic 17" descr="Brain with solid fill">
            <a:extLst>
              <a:ext uri="{FF2B5EF4-FFF2-40B4-BE49-F238E27FC236}">
                <a16:creationId xmlns:a16="http://schemas.microsoft.com/office/drawing/2014/main" id="{AD27E9CD-5BF0-84BF-D81B-ABC73DC877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19" name="TextBox 18">
            <a:extLst>
              <a:ext uri="{FF2B5EF4-FFF2-40B4-BE49-F238E27FC236}">
                <a16:creationId xmlns:a16="http://schemas.microsoft.com/office/drawing/2014/main" id="{EE614B9E-8FF2-00A2-F7C3-D1475DB65612}"/>
              </a:ext>
            </a:extLst>
          </p:cNvPr>
          <p:cNvSpPr txBox="1"/>
          <p:nvPr/>
        </p:nvSpPr>
        <p:spPr>
          <a:xfrm>
            <a:off x="3129308" y="834391"/>
            <a:ext cx="5318907" cy="523220"/>
          </a:xfrm>
          <a:prstGeom prst="rect">
            <a:avLst/>
          </a:prstGeom>
          <a:noFill/>
        </p:spPr>
        <p:txBody>
          <a:bodyPr wrap="square">
            <a:spAutoFit/>
          </a:bodyPr>
          <a:lstStyle/>
          <a:p>
            <a:pPr>
              <a:defRPr sz="1400" b="1">
                <a:solidFill>
                  <a:srgbClr val="141413"/>
                </a:solidFill>
              </a:defRPr>
            </a:pPr>
            <a:r>
              <a:rPr lang="en-US" dirty="0"/>
              <a:t>Where should the commands/, agents/, and skills/ directories be located in a plugin?</a:t>
            </a:r>
          </a:p>
        </p:txBody>
      </p:sp>
      <p:sp>
        <p:nvSpPr>
          <p:cNvPr id="20" name="TextBox 19">
            <a:extLst>
              <a:ext uri="{FF2B5EF4-FFF2-40B4-BE49-F238E27FC236}">
                <a16:creationId xmlns:a16="http://schemas.microsoft.com/office/drawing/2014/main" id="{DAABE610-F3CC-D0DB-4BD1-26C7CA9F810C}"/>
              </a:ext>
            </a:extLst>
          </p:cNvPr>
          <p:cNvSpPr txBox="1"/>
          <p:nvPr/>
        </p:nvSpPr>
        <p:spPr>
          <a:xfrm>
            <a:off x="3129308" y="2571750"/>
            <a:ext cx="5318907" cy="307777"/>
          </a:xfrm>
          <a:prstGeom prst="rect">
            <a:avLst/>
          </a:prstGeom>
          <a:noFill/>
        </p:spPr>
        <p:txBody>
          <a:bodyPr wrap="square">
            <a:spAutoFit/>
          </a:bodyPr>
          <a:lstStyle/>
          <a:p>
            <a:pPr>
              <a:defRPr sz="1400" b="1">
                <a:solidFill>
                  <a:srgbClr val="141413"/>
                </a:solidFill>
              </a:defRPr>
            </a:pPr>
            <a:r>
              <a:rPr lang="en-US" dirty="0"/>
              <a:t>What flag allows you to test a plugin without installing it?</a:t>
            </a:r>
          </a:p>
        </p:txBody>
      </p:sp>
      <p:sp>
        <p:nvSpPr>
          <p:cNvPr id="29" name="TextBox 28">
            <a:extLst>
              <a:ext uri="{FF2B5EF4-FFF2-40B4-BE49-F238E27FC236}">
                <a16:creationId xmlns:a16="http://schemas.microsoft.com/office/drawing/2014/main" id="{93A5EE3A-40C3-8DB3-F85A-B5C5B1A9CC3B}"/>
              </a:ext>
            </a:extLst>
          </p:cNvPr>
          <p:cNvSpPr txBox="1"/>
          <p:nvPr/>
        </p:nvSpPr>
        <p:spPr>
          <a:xfrm>
            <a:off x="3312188" y="1292458"/>
            <a:ext cx="5136027" cy="261610"/>
          </a:xfrm>
          <a:prstGeom prst="rect">
            <a:avLst/>
          </a:prstGeom>
          <a:noFill/>
        </p:spPr>
        <p:txBody>
          <a:bodyPr wrap="square">
            <a:spAutoFit/>
          </a:bodyPr>
          <a:lstStyle/>
          <a:p>
            <a:pPr>
              <a:defRPr sz="1100" b="0">
                <a:solidFill>
                  <a:srgbClr val="36454F"/>
                </a:solidFill>
              </a:defRPr>
            </a:pPr>
            <a:r>
              <a:rPr dirty="0"/>
              <a:t>A) Inside .</a:t>
            </a:r>
            <a:r>
              <a:rPr dirty="0" err="1"/>
              <a:t>claude</a:t>
            </a:r>
            <a:r>
              <a:rPr dirty="0"/>
              <a:t>-plugin/ directory</a:t>
            </a:r>
          </a:p>
        </p:txBody>
      </p:sp>
      <p:sp>
        <p:nvSpPr>
          <p:cNvPr id="30" name="TextBox 29">
            <a:extLst>
              <a:ext uri="{FF2B5EF4-FFF2-40B4-BE49-F238E27FC236}">
                <a16:creationId xmlns:a16="http://schemas.microsoft.com/office/drawing/2014/main" id="{F75B10B3-6340-91A1-4406-1E0B6857C606}"/>
              </a:ext>
            </a:extLst>
          </p:cNvPr>
          <p:cNvSpPr txBox="1"/>
          <p:nvPr/>
        </p:nvSpPr>
        <p:spPr>
          <a:xfrm>
            <a:off x="3312188" y="1566778"/>
            <a:ext cx="5136027" cy="261610"/>
          </a:xfrm>
          <a:prstGeom prst="rect">
            <a:avLst/>
          </a:prstGeom>
          <a:noFill/>
        </p:spPr>
        <p:txBody>
          <a:bodyPr wrap="square">
            <a:spAutoFit/>
          </a:bodyPr>
          <a:lstStyle/>
          <a:p>
            <a:pPr>
              <a:defRPr sz="1100" b="1">
                <a:solidFill>
                  <a:srgbClr val="788C5D"/>
                </a:solidFill>
              </a:defRPr>
            </a:pPr>
            <a:r>
              <a:t>B) At the plugin root level</a:t>
            </a:r>
          </a:p>
        </p:txBody>
      </p:sp>
      <p:sp>
        <p:nvSpPr>
          <p:cNvPr id="31" name="TextBox 30">
            <a:extLst>
              <a:ext uri="{FF2B5EF4-FFF2-40B4-BE49-F238E27FC236}">
                <a16:creationId xmlns:a16="http://schemas.microsoft.com/office/drawing/2014/main" id="{D2B962EE-B0FD-6AE4-A233-1F9D333A9E19}"/>
              </a:ext>
            </a:extLst>
          </p:cNvPr>
          <p:cNvSpPr txBox="1"/>
          <p:nvPr/>
        </p:nvSpPr>
        <p:spPr>
          <a:xfrm>
            <a:off x="3312188" y="1841097"/>
            <a:ext cx="5136027" cy="261610"/>
          </a:xfrm>
          <a:prstGeom prst="rect">
            <a:avLst/>
          </a:prstGeom>
          <a:noFill/>
        </p:spPr>
        <p:txBody>
          <a:bodyPr wrap="square">
            <a:spAutoFit/>
          </a:bodyPr>
          <a:lstStyle/>
          <a:p>
            <a:pPr>
              <a:defRPr sz="1100" b="0">
                <a:solidFill>
                  <a:srgbClr val="36454F"/>
                </a:solidFill>
              </a:defRPr>
            </a:pPr>
            <a:r>
              <a:t>C) In a src/ directory</a:t>
            </a:r>
          </a:p>
        </p:txBody>
      </p:sp>
      <p:sp>
        <p:nvSpPr>
          <p:cNvPr id="32" name="TextBox 31">
            <a:extLst>
              <a:ext uri="{FF2B5EF4-FFF2-40B4-BE49-F238E27FC236}">
                <a16:creationId xmlns:a16="http://schemas.microsoft.com/office/drawing/2014/main" id="{81494124-A259-87DE-A16F-7B2ECC77181E}"/>
              </a:ext>
            </a:extLst>
          </p:cNvPr>
          <p:cNvSpPr txBox="1"/>
          <p:nvPr/>
        </p:nvSpPr>
        <p:spPr>
          <a:xfrm>
            <a:off x="3312188" y="2115417"/>
            <a:ext cx="5136027" cy="261610"/>
          </a:xfrm>
          <a:prstGeom prst="rect">
            <a:avLst/>
          </a:prstGeom>
          <a:noFill/>
        </p:spPr>
        <p:txBody>
          <a:bodyPr wrap="square">
            <a:spAutoFit/>
          </a:bodyPr>
          <a:lstStyle/>
          <a:p>
            <a:pPr>
              <a:defRPr sz="1100" b="0">
                <a:solidFill>
                  <a:srgbClr val="36454F"/>
                </a:solidFill>
              </a:defRPr>
            </a:pPr>
            <a:r>
              <a:t>D) Inside .claude/ directory</a:t>
            </a:r>
          </a:p>
        </p:txBody>
      </p:sp>
      <p:sp>
        <p:nvSpPr>
          <p:cNvPr id="33" name="TextBox 32">
            <a:extLst>
              <a:ext uri="{FF2B5EF4-FFF2-40B4-BE49-F238E27FC236}">
                <a16:creationId xmlns:a16="http://schemas.microsoft.com/office/drawing/2014/main" id="{ED544F35-054D-608F-AA08-2DD6C0D0CEAF}"/>
              </a:ext>
            </a:extLst>
          </p:cNvPr>
          <p:cNvSpPr txBox="1"/>
          <p:nvPr/>
        </p:nvSpPr>
        <p:spPr>
          <a:xfrm>
            <a:off x="3312188" y="3029817"/>
            <a:ext cx="5136027" cy="261610"/>
          </a:xfrm>
          <a:prstGeom prst="rect">
            <a:avLst/>
          </a:prstGeom>
          <a:noFill/>
        </p:spPr>
        <p:txBody>
          <a:bodyPr wrap="square">
            <a:spAutoFit/>
          </a:bodyPr>
          <a:lstStyle/>
          <a:p>
            <a:pPr>
              <a:defRPr sz="1100" b="0">
                <a:solidFill>
                  <a:srgbClr val="36454F"/>
                </a:solidFill>
              </a:defRPr>
            </a:pPr>
            <a:r>
              <a:t>A) --test-plugin</a:t>
            </a:r>
          </a:p>
        </p:txBody>
      </p:sp>
      <p:sp>
        <p:nvSpPr>
          <p:cNvPr id="34" name="TextBox 33">
            <a:extLst>
              <a:ext uri="{FF2B5EF4-FFF2-40B4-BE49-F238E27FC236}">
                <a16:creationId xmlns:a16="http://schemas.microsoft.com/office/drawing/2014/main" id="{54FA1BBA-19C8-4EF2-B3F9-F9452A7FB137}"/>
              </a:ext>
            </a:extLst>
          </p:cNvPr>
          <p:cNvSpPr txBox="1"/>
          <p:nvPr/>
        </p:nvSpPr>
        <p:spPr>
          <a:xfrm>
            <a:off x="3312188" y="3304137"/>
            <a:ext cx="5136027" cy="261610"/>
          </a:xfrm>
          <a:prstGeom prst="rect">
            <a:avLst/>
          </a:prstGeom>
          <a:noFill/>
        </p:spPr>
        <p:txBody>
          <a:bodyPr wrap="square">
            <a:spAutoFit/>
          </a:bodyPr>
          <a:lstStyle/>
          <a:p>
            <a:pPr>
              <a:defRPr sz="1100" b="0">
                <a:solidFill>
                  <a:srgbClr val="36454F"/>
                </a:solidFill>
              </a:defRPr>
            </a:pPr>
            <a:r>
              <a:t>B) --load-plugin</a:t>
            </a:r>
          </a:p>
        </p:txBody>
      </p:sp>
      <p:sp>
        <p:nvSpPr>
          <p:cNvPr id="35" name="TextBox 34">
            <a:extLst>
              <a:ext uri="{FF2B5EF4-FFF2-40B4-BE49-F238E27FC236}">
                <a16:creationId xmlns:a16="http://schemas.microsoft.com/office/drawing/2014/main" id="{994F5B43-F6BA-01E3-1C7E-B05D11A8184B}"/>
              </a:ext>
            </a:extLst>
          </p:cNvPr>
          <p:cNvSpPr txBox="1"/>
          <p:nvPr/>
        </p:nvSpPr>
        <p:spPr>
          <a:xfrm>
            <a:off x="3312188" y="3578457"/>
            <a:ext cx="5136027" cy="261610"/>
          </a:xfrm>
          <a:prstGeom prst="rect">
            <a:avLst/>
          </a:prstGeom>
          <a:noFill/>
        </p:spPr>
        <p:txBody>
          <a:bodyPr wrap="square">
            <a:spAutoFit/>
          </a:bodyPr>
          <a:lstStyle/>
          <a:p>
            <a:pPr>
              <a:defRPr sz="1100" b="1">
                <a:solidFill>
                  <a:srgbClr val="788C5D"/>
                </a:solidFill>
              </a:defRPr>
            </a:pPr>
            <a:r>
              <a:t>C) --plugin-dir</a:t>
            </a:r>
          </a:p>
        </p:txBody>
      </p:sp>
      <p:sp>
        <p:nvSpPr>
          <p:cNvPr id="36" name="TextBox 35">
            <a:extLst>
              <a:ext uri="{FF2B5EF4-FFF2-40B4-BE49-F238E27FC236}">
                <a16:creationId xmlns:a16="http://schemas.microsoft.com/office/drawing/2014/main" id="{6FB80F7A-A714-F765-C3C7-3AA413F340B3}"/>
              </a:ext>
            </a:extLst>
          </p:cNvPr>
          <p:cNvSpPr txBox="1"/>
          <p:nvPr/>
        </p:nvSpPr>
        <p:spPr>
          <a:xfrm>
            <a:off x="3312188" y="3852777"/>
            <a:ext cx="5136027" cy="261610"/>
          </a:xfrm>
          <a:prstGeom prst="rect">
            <a:avLst/>
          </a:prstGeom>
          <a:noFill/>
        </p:spPr>
        <p:txBody>
          <a:bodyPr wrap="square">
            <a:spAutoFit/>
          </a:bodyPr>
          <a:lstStyle/>
          <a:p>
            <a:pPr>
              <a:defRPr sz="1100" b="0">
                <a:solidFill>
                  <a:srgbClr val="36454F"/>
                </a:solidFill>
              </a:defRPr>
            </a:pPr>
            <a:r>
              <a:t>D) --dev-mode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DBDCED-08AB-E36B-2507-167408B03223}"/>
              </a:ext>
            </a:extLst>
          </p:cNvPr>
          <p:cNvSpPr txBox="1"/>
          <p:nvPr/>
        </p:nvSpPr>
        <p:spPr>
          <a:xfrm>
            <a:off x="457200" y="502920"/>
            <a:ext cx="3530325" cy="584775"/>
          </a:xfrm>
          <a:prstGeom prst="rect">
            <a:avLst/>
          </a:prstGeom>
          <a:noFill/>
        </p:spPr>
        <p:txBody>
          <a:bodyPr wrap="none">
            <a:spAutoFit/>
          </a:bodyPr>
          <a:lstStyle/>
          <a:p>
            <a:pPr>
              <a:defRPr sz="3200" b="1">
                <a:solidFill>
                  <a:srgbClr val="141413"/>
                </a:solidFill>
              </a:defRPr>
            </a:pPr>
            <a:r>
              <a:rPr dirty="0"/>
              <a:t>Module </a:t>
            </a:r>
            <a:r>
              <a:rPr lang="en-US" dirty="0"/>
              <a:t>6</a:t>
            </a:r>
            <a:r>
              <a:rPr dirty="0"/>
              <a:t> Summary</a:t>
            </a:r>
          </a:p>
        </p:txBody>
      </p:sp>
      <p:sp>
        <p:nvSpPr>
          <p:cNvPr id="8" name="TextBox 7">
            <a:extLst>
              <a:ext uri="{FF2B5EF4-FFF2-40B4-BE49-F238E27FC236}">
                <a16:creationId xmlns:a16="http://schemas.microsoft.com/office/drawing/2014/main" id="{80B8B5EC-E497-01E5-0712-264242270239}"/>
              </a:ext>
            </a:extLst>
          </p:cNvPr>
          <p:cNvSpPr txBox="1"/>
          <p:nvPr/>
        </p:nvSpPr>
        <p:spPr>
          <a:xfrm>
            <a:off x="457200" y="1051560"/>
            <a:ext cx="1702710" cy="369332"/>
          </a:xfrm>
          <a:prstGeom prst="rect">
            <a:avLst/>
          </a:prstGeom>
          <a:noFill/>
        </p:spPr>
        <p:txBody>
          <a:bodyPr wrap="none">
            <a:spAutoFit/>
          </a:bodyPr>
          <a:lstStyle/>
          <a:p>
            <a:pPr>
              <a:defRPr sz="1800" i="1">
                <a:solidFill>
                  <a:srgbClr val="36454F"/>
                </a:solidFill>
              </a:defRPr>
            </a:pPr>
            <a:r>
              <a:rPr lang="en-US" dirty="0"/>
              <a:t>Creating Plugins</a:t>
            </a:r>
            <a:endParaRPr dirty="0"/>
          </a:p>
        </p:txBody>
      </p:sp>
      <p:sp>
        <p:nvSpPr>
          <p:cNvPr id="9" name="TextBox 8">
            <a:extLst>
              <a:ext uri="{FF2B5EF4-FFF2-40B4-BE49-F238E27FC236}">
                <a16:creationId xmlns:a16="http://schemas.microsoft.com/office/drawing/2014/main" id="{665ACC24-7B81-FB6C-2477-F66D40586AEE}"/>
              </a:ext>
            </a:extLst>
          </p:cNvPr>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10" name="TextBox 9">
            <a:extLst>
              <a:ext uri="{FF2B5EF4-FFF2-40B4-BE49-F238E27FC236}">
                <a16:creationId xmlns:a16="http://schemas.microsoft.com/office/drawing/2014/main" id="{78CAA631-057F-A5EB-226C-2A86EE6DC2E4}"/>
              </a:ext>
            </a:extLst>
          </p:cNvPr>
          <p:cNvSpPr txBox="1"/>
          <p:nvPr/>
        </p:nvSpPr>
        <p:spPr>
          <a:xfrm>
            <a:off x="457200" y="2103120"/>
            <a:ext cx="5389418" cy="2718693"/>
          </a:xfrm>
          <a:prstGeom prst="rect">
            <a:avLst/>
          </a:prstGeom>
          <a:noFill/>
        </p:spPr>
        <p:txBody>
          <a:bodyPr wrap="square">
            <a:spAutoFit/>
          </a:bodyPr>
          <a:lstStyle/>
          <a:p>
            <a:pPr>
              <a:spcBef>
                <a:spcPts val="800"/>
              </a:spcBef>
              <a:defRPr sz="1600">
                <a:solidFill>
                  <a:srgbClr val="141413"/>
                </a:solidFill>
              </a:defRPr>
            </a:pPr>
            <a:r>
              <a:rPr lang="en-US" dirty="0"/>
              <a:t>• Plugin structure: .</a:t>
            </a:r>
            <a:r>
              <a:rPr lang="en-US" dirty="0" err="1"/>
              <a:t>claude</a:t>
            </a:r>
            <a:r>
              <a:rPr lang="en-US" dirty="0"/>
              <a:t>-plugin/ for manifest, other directories at root level</a:t>
            </a:r>
          </a:p>
          <a:p>
            <a:pPr>
              <a:spcBef>
                <a:spcPts val="800"/>
              </a:spcBef>
              <a:defRPr sz="1600">
                <a:solidFill>
                  <a:srgbClr val="141413"/>
                </a:solidFill>
              </a:defRPr>
            </a:pPr>
            <a:r>
              <a:rPr lang="en-US" dirty="0"/>
              <a:t>• Manifest requires: name, description, version; other fields optional</a:t>
            </a:r>
          </a:p>
          <a:p>
            <a:pPr>
              <a:spcBef>
                <a:spcPts val="800"/>
              </a:spcBef>
              <a:defRPr sz="1600">
                <a:solidFill>
                  <a:srgbClr val="141413"/>
                </a:solidFill>
              </a:defRPr>
            </a:pPr>
            <a:r>
              <a:rPr lang="en-US" dirty="0"/>
              <a:t>• commands/ for user-invoked skills, skills/ for auto-invoked agent skills</a:t>
            </a:r>
          </a:p>
          <a:p>
            <a:pPr>
              <a:spcBef>
                <a:spcPts val="800"/>
              </a:spcBef>
              <a:defRPr sz="1600">
                <a:solidFill>
                  <a:srgbClr val="141413"/>
                </a:solidFill>
              </a:defRPr>
            </a:pPr>
            <a:r>
              <a:rPr lang="en-US" dirty="0"/>
              <a:t>• Test with --plugin-</a:t>
            </a:r>
            <a:r>
              <a:rPr lang="en-US" dirty="0" err="1"/>
              <a:t>dir</a:t>
            </a:r>
            <a:r>
              <a:rPr lang="en-US" dirty="0"/>
              <a:t> flag for rapid iteration without installation</a:t>
            </a:r>
          </a:p>
          <a:p>
            <a:pPr>
              <a:spcBef>
                <a:spcPts val="800"/>
              </a:spcBef>
              <a:defRPr sz="1600">
                <a:solidFill>
                  <a:srgbClr val="141413"/>
                </a:solidFill>
              </a:defRPr>
            </a:pPr>
            <a:r>
              <a:rPr lang="en-US" dirty="0"/>
              <a:t>• Restart Claude Code after making changes to reload plugin</a:t>
            </a:r>
          </a:p>
        </p:txBody>
      </p:sp>
      <p:sp>
        <p:nvSpPr>
          <p:cNvPr id="11" name="Rectangle 10">
            <a:extLst>
              <a:ext uri="{FF2B5EF4-FFF2-40B4-BE49-F238E27FC236}">
                <a16:creationId xmlns:a16="http://schemas.microsoft.com/office/drawing/2014/main" id="{F0D492E4-4C02-2BD5-0DB4-13EABC37FA08}"/>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Graphic 11" descr="Key with solid fill">
            <a:extLst>
              <a:ext uri="{FF2B5EF4-FFF2-40B4-BE49-F238E27FC236}">
                <a16:creationId xmlns:a16="http://schemas.microsoft.com/office/drawing/2014/main" id="{FB9F6802-E943-8D0E-8982-21CF8FCB91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6A9BCC"/>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473E2E1-466D-41ED-7DD7-C79C0975C373}"/>
              </a:ext>
            </a:extLst>
          </p:cNvPr>
          <p:cNvSpPr txBox="1"/>
          <p:nvPr/>
        </p:nvSpPr>
        <p:spPr>
          <a:xfrm>
            <a:off x="609600" y="655320"/>
            <a:ext cx="8178906"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7</a:t>
            </a:r>
            <a:r>
              <a:rPr dirty="0">
                <a:solidFill>
                  <a:schemeClr val="bg1"/>
                </a:solidFill>
              </a:rPr>
              <a:t>: </a:t>
            </a:r>
            <a:r>
              <a:rPr lang="en-US" dirty="0">
                <a:solidFill>
                  <a:schemeClr val="bg1"/>
                </a:solidFill>
              </a:rPr>
              <a:t>Lab: Creating a Plugin with Custom Skill</a:t>
            </a:r>
          </a:p>
        </p:txBody>
      </p:sp>
      <p:sp>
        <p:nvSpPr>
          <p:cNvPr id="8" name="TextBox 7">
            <a:extLst>
              <a:ext uri="{FF2B5EF4-FFF2-40B4-BE49-F238E27FC236}">
                <a16:creationId xmlns:a16="http://schemas.microsoft.com/office/drawing/2014/main" id="{28C2E4B4-3BDA-1FB0-DCE2-C660009ADC92}"/>
              </a:ext>
            </a:extLst>
          </p:cNvPr>
          <p:cNvSpPr txBox="1"/>
          <p:nvPr/>
        </p:nvSpPr>
        <p:spPr>
          <a:xfrm>
            <a:off x="609600" y="1203960"/>
            <a:ext cx="2120196" cy="400110"/>
          </a:xfrm>
          <a:prstGeom prst="rect">
            <a:avLst/>
          </a:prstGeom>
          <a:noFill/>
        </p:spPr>
        <p:txBody>
          <a:bodyPr wrap="none">
            <a:spAutoFit/>
          </a:bodyPr>
          <a:lstStyle/>
          <a:p>
            <a:pPr>
              <a:defRPr sz="2000">
                <a:solidFill>
                  <a:srgbClr val="36454F"/>
                </a:solidFill>
              </a:defRPr>
            </a:pPr>
            <a:r>
              <a:rPr lang="en-US" dirty="0">
                <a:solidFill>
                  <a:schemeClr val="bg1"/>
                </a:solidFill>
              </a:rPr>
              <a:t>Hands-On Exercise</a:t>
            </a:r>
          </a:p>
        </p:txBody>
      </p:sp>
      <p:sp>
        <p:nvSpPr>
          <p:cNvPr id="9" name="TextBox 8">
            <a:extLst>
              <a:ext uri="{FF2B5EF4-FFF2-40B4-BE49-F238E27FC236}">
                <a16:creationId xmlns:a16="http://schemas.microsoft.com/office/drawing/2014/main" id="{B995C7F9-52B2-6C61-2D27-8C17E3E30AE6}"/>
              </a:ext>
            </a:extLst>
          </p:cNvPr>
          <p:cNvSpPr txBox="1"/>
          <p:nvPr/>
        </p:nvSpPr>
        <p:spPr>
          <a:xfrm>
            <a:off x="609600" y="1798320"/>
            <a:ext cx="3506281" cy="1323439"/>
          </a:xfrm>
          <a:prstGeom prst="rect">
            <a:avLst/>
          </a:prstGeom>
          <a:noFill/>
        </p:spPr>
        <p:txBody>
          <a:bodyPr wrap="none">
            <a:spAutoFit/>
          </a:bodyPr>
          <a:lstStyle/>
          <a:p>
            <a:pPr>
              <a:defRPr sz="1600">
                <a:solidFill>
                  <a:srgbClr val="141413"/>
                </a:solidFill>
              </a:defRPr>
            </a:pPr>
            <a:r>
              <a:rPr lang="en-US" dirty="0">
                <a:solidFill>
                  <a:schemeClr val="bg1"/>
                </a:solidFill>
              </a:rPr>
              <a:t>• Create plugin directory structure</a:t>
            </a:r>
          </a:p>
          <a:p>
            <a:pPr>
              <a:defRPr sz="1600">
                <a:solidFill>
                  <a:srgbClr val="141413"/>
                </a:solidFill>
              </a:defRPr>
            </a:pPr>
            <a:r>
              <a:rPr lang="en-US" dirty="0">
                <a:solidFill>
                  <a:schemeClr val="bg1"/>
                </a:solidFill>
              </a:rPr>
              <a:t>• Write a plugin manifest from scratch</a:t>
            </a:r>
          </a:p>
          <a:p>
            <a:pPr>
              <a:defRPr sz="1600">
                <a:solidFill>
                  <a:srgbClr val="141413"/>
                </a:solidFill>
              </a:defRPr>
            </a:pPr>
            <a:r>
              <a:rPr lang="en-US" dirty="0">
                <a:solidFill>
                  <a:schemeClr val="bg1"/>
                </a:solidFill>
              </a:rPr>
              <a:t>• Add a custom skill to the plugin</a:t>
            </a:r>
          </a:p>
          <a:p>
            <a:pPr>
              <a:defRPr sz="1600">
                <a:solidFill>
                  <a:srgbClr val="141413"/>
                </a:solidFill>
              </a:defRPr>
            </a:pPr>
            <a:r>
              <a:rPr lang="en-US" dirty="0">
                <a:solidFill>
                  <a:schemeClr val="bg1"/>
                </a:solidFill>
              </a:rPr>
              <a:t>• Test the plugin locally with --plugin-</a:t>
            </a:r>
            <a:r>
              <a:rPr lang="en-US" dirty="0" err="1">
                <a:solidFill>
                  <a:schemeClr val="bg1"/>
                </a:solidFill>
              </a:rPr>
              <a:t>dir</a:t>
            </a:r>
            <a:endParaRPr lang="en-US" dirty="0">
              <a:solidFill>
                <a:schemeClr val="bg1"/>
              </a:solidFill>
            </a:endParaRPr>
          </a:p>
          <a:p>
            <a:pPr>
              <a:defRPr sz="1600">
                <a:solidFill>
                  <a:srgbClr val="141413"/>
                </a:solidFill>
              </a:defRPr>
            </a:pPr>
            <a:r>
              <a:rPr lang="en-US" dirty="0">
                <a:solidFill>
                  <a:schemeClr val="bg1"/>
                </a:solidFill>
              </a:rPr>
              <a:t>• Verify skill invocation and behavior</a:t>
            </a:r>
          </a:p>
        </p:txBody>
      </p:sp>
      <p:sp>
        <p:nvSpPr>
          <p:cNvPr id="10" name="Rounded Rectangle 9">
            <a:extLst>
              <a:ext uri="{FF2B5EF4-FFF2-40B4-BE49-F238E27FC236}">
                <a16:creationId xmlns:a16="http://schemas.microsoft.com/office/drawing/2014/main" id="{10AA8443-8491-B9B2-A5BD-3B67274D9FA7}"/>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30</a:t>
            </a:r>
            <a:r>
              <a:rPr dirty="0">
                <a:solidFill>
                  <a:schemeClr val="tx1"/>
                </a:solidFill>
              </a:rPr>
              <a:t> minutes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Lab Steps: Build Your First Plugin</a:t>
            </a:r>
          </a:p>
        </p:txBody>
      </p:sp>
      <p:sp>
        <p:nvSpPr>
          <p:cNvPr id="3" name="TextBox 2"/>
          <p:cNvSpPr txBox="1"/>
          <p:nvPr/>
        </p:nvSpPr>
        <p:spPr>
          <a:xfrm>
            <a:off x="731520" y="1188720"/>
            <a:ext cx="2286000" cy="274320"/>
          </a:xfrm>
          <a:prstGeom prst="rect">
            <a:avLst/>
          </a:prstGeom>
          <a:noFill/>
        </p:spPr>
        <p:txBody>
          <a:bodyPr wrap="none">
            <a:spAutoFit/>
          </a:bodyPr>
          <a:lstStyle/>
          <a:p>
            <a:pPr>
              <a:defRPr sz="1300" b="1">
                <a:solidFill>
                  <a:srgbClr val="141413"/>
                </a:solidFill>
              </a:defRPr>
            </a:pPr>
            <a:r>
              <a:t>Step 1: Create plugin directory</a:t>
            </a:r>
          </a:p>
        </p:txBody>
      </p:sp>
      <p:sp>
        <p:nvSpPr>
          <p:cNvPr id="4" name="Rectangle 3"/>
          <p:cNvSpPr/>
          <p:nvPr/>
        </p:nvSpPr>
        <p:spPr>
          <a:xfrm>
            <a:off x="3108960" y="1188720"/>
            <a:ext cx="3657600"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latin typeface="Consolas"/>
              </a:defRPr>
            </a:pPr>
            <a:r>
              <a:t>mkdir my-first-plugin &amp;&amp; mkdir my-first-plugin/.claude-plugin</a:t>
            </a:r>
          </a:p>
        </p:txBody>
      </p:sp>
      <p:sp>
        <p:nvSpPr>
          <p:cNvPr id="5" name="TextBox 4"/>
          <p:cNvSpPr txBox="1"/>
          <p:nvPr/>
        </p:nvSpPr>
        <p:spPr>
          <a:xfrm>
            <a:off x="6858000" y="1188720"/>
            <a:ext cx="1554480" cy="274320"/>
          </a:xfrm>
          <a:prstGeom prst="rect">
            <a:avLst/>
          </a:prstGeom>
          <a:noFill/>
        </p:spPr>
        <p:txBody>
          <a:bodyPr wrap="square">
            <a:spAutoFit/>
          </a:bodyPr>
          <a:lstStyle/>
          <a:p>
            <a:pPr>
              <a:defRPr sz="900">
                <a:solidFill>
                  <a:srgbClr val="36454F"/>
                </a:solidFill>
              </a:defRPr>
            </a:pPr>
            <a:r>
              <a:t>Sets up basic structure</a:t>
            </a:r>
          </a:p>
        </p:txBody>
      </p:sp>
      <p:sp>
        <p:nvSpPr>
          <p:cNvPr id="6" name="TextBox 5"/>
          <p:cNvSpPr txBox="1"/>
          <p:nvPr/>
        </p:nvSpPr>
        <p:spPr>
          <a:xfrm>
            <a:off x="731520" y="1783080"/>
            <a:ext cx="2286000" cy="274320"/>
          </a:xfrm>
          <a:prstGeom prst="rect">
            <a:avLst/>
          </a:prstGeom>
          <a:noFill/>
        </p:spPr>
        <p:txBody>
          <a:bodyPr wrap="none">
            <a:spAutoFit/>
          </a:bodyPr>
          <a:lstStyle/>
          <a:p>
            <a:pPr>
              <a:defRPr sz="1300" b="1">
                <a:solidFill>
                  <a:srgbClr val="141413"/>
                </a:solidFill>
              </a:defRPr>
            </a:pPr>
            <a:r>
              <a:t>Step 2: Create manifest</a:t>
            </a:r>
          </a:p>
        </p:txBody>
      </p:sp>
      <p:sp>
        <p:nvSpPr>
          <p:cNvPr id="7" name="TextBox 6"/>
          <p:cNvSpPr txBox="1"/>
          <p:nvPr/>
        </p:nvSpPr>
        <p:spPr>
          <a:xfrm>
            <a:off x="3108960" y="1783080"/>
            <a:ext cx="3657600" cy="274320"/>
          </a:xfrm>
          <a:prstGeom prst="rect">
            <a:avLst/>
          </a:prstGeom>
          <a:noFill/>
        </p:spPr>
        <p:txBody>
          <a:bodyPr wrap="square">
            <a:spAutoFit/>
          </a:bodyPr>
          <a:lstStyle/>
          <a:p>
            <a:pPr>
              <a:defRPr sz="1100" i="1">
                <a:solidFill>
                  <a:srgbClr val="36454F"/>
                </a:solidFill>
              </a:defRPr>
            </a:pPr>
            <a:r>
              <a:t>Create plugin.json with name, description, version</a:t>
            </a:r>
          </a:p>
        </p:txBody>
      </p:sp>
      <p:sp>
        <p:nvSpPr>
          <p:cNvPr id="8" name="TextBox 7"/>
          <p:cNvSpPr txBox="1"/>
          <p:nvPr/>
        </p:nvSpPr>
        <p:spPr>
          <a:xfrm>
            <a:off x="6858000" y="1783080"/>
            <a:ext cx="1554480" cy="274320"/>
          </a:xfrm>
          <a:prstGeom prst="rect">
            <a:avLst/>
          </a:prstGeom>
          <a:noFill/>
        </p:spPr>
        <p:txBody>
          <a:bodyPr wrap="square">
            <a:spAutoFit/>
          </a:bodyPr>
          <a:lstStyle/>
          <a:p>
            <a:pPr>
              <a:defRPr sz="900">
                <a:solidFill>
                  <a:srgbClr val="36454F"/>
                </a:solidFill>
              </a:defRPr>
            </a:pPr>
            <a:r>
              <a:t>Define plugin identity</a:t>
            </a:r>
          </a:p>
        </p:txBody>
      </p:sp>
      <p:sp>
        <p:nvSpPr>
          <p:cNvPr id="9" name="TextBox 8"/>
          <p:cNvSpPr txBox="1"/>
          <p:nvPr/>
        </p:nvSpPr>
        <p:spPr>
          <a:xfrm>
            <a:off x="731520" y="2377440"/>
            <a:ext cx="2286000" cy="274320"/>
          </a:xfrm>
          <a:prstGeom prst="rect">
            <a:avLst/>
          </a:prstGeom>
          <a:noFill/>
        </p:spPr>
        <p:txBody>
          <a:bodyPr wrap="none">
            <a:spAutoFit/>
          </a:bodyPr>
          <a:lstStyle/>
          <a:p>
            <a:pPr>
              <a:defRPr sz="1300" b="1">
                <a:solidFill>
                  <a:srgbClr val="141413"/>
                </a:solidFill>
              </a:defRPr>
            </a:pPr>
            <a:r>
              <a:t>Step 3: Add skill directory</a:t>
            </a:r>
          </a:p>
        </p:txBody>
      </p:sp>
      <p:sp>
        <p:nvSpPr>
          <p:cNvPr id="10" name="Rectangle 9"/>
          <p:cNvSpPr/>
          <p:nvPr/>
        </p:nvSpPr>
        <p:spPr>
          <a:xfrm>
            <a:off x="3108960" y="2377440"/>
            <a:ext cx="3657600"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latin typeface="Consolas"/>
              </a:defRPr>
            </a:pPr>
            <a:r>
              <a:t>mkdir -p my-first-plugin/skills/hello</a:t>
            </a:r>
          </a:p>
        </p:txBody>
      </p:sp>
      <p:sp>
        <p:nvSpPr>
          <p:cNvPr id="11" name="TextBox 10"/>
          <p:cNvSpPr txBox="1"/>
          <p:nvPr/>
        </p:nvSpPr>
        <p:spPr>
          <a:xfrm>
            <a:off x="6858000" y="2377440"/>
            <a:ext cx="1554480" cy="274320"/>
          </a:xfrm>
          <a:prstGeom prst="rect">
            <a:avLst/>
          </a:prstGeom>
          <a:noFill/>
        </p:spPr>
        <p:txBody>
          <a:bodyPr wrap="square">
            <a:spAutoFit/>
          </a:bodyPr>
          <a:lstStyle/>
          <a:p>
            <a:pPr>
              <a:defRPr sz="900">
                <a:solidFill>
                  <a:srgbClr val="36454F"/>
                </a:solidFill>
              </a:defRPr>
            </a:pPr>
            <a:r>
              <a:t>Skills use directory/SKILL.md pattern</a:t>
            </a:r>
          </a:p>
        </p:txBody>
      </p:sp>
      <p:sp>
        <p:nvSpPr>
          <p:cNvPr id="12" name="TextBox 11"/>
          <p:cNvSpPr txBox="1"/>
          <p:nvPr/>
        </p:nvSpPr>
        <p:spPr>
          <a:xfrm>
            <a:off x="731520" y="2971800"/>
            <a:ext cx="2286000" cy="274320"/>
          </a:xfrm>
          <a:prstGeom prst="rect">
            <a:avLst/>
          </a:prstGeom>
          <a:noFill/>
        </p:spPr>
        <p:txBody>
          <a:bodyPr wrap="none">
            <a:spAutoFit/>
          </a:bodyPr>
          <a:lstStyle/>
          <a:p>
            <a:pPr>
              <a:defRPr sz="1300" b="1">
                <a:solidFill>
                  <a:srgbClr val="141413"/>
                </a:solidFill>
              </a:defRPr>
            </a:pPr>
            <a:r>
              <a:t>Step 4: Create SKILL.md</a:t>
            </a:r>
          </a:p>
        </p:txBody>
      </p:sp>
      <p:sp>
        <p:nvSpPr>
          <p:cNvPr id="13" name="TextBox 12"/>
          <p:cNvSpPr txBox="1"/>
          <p:nvPr/>
        </p:nvSpPr>
        <p:spPr>
          <a:xfrm>
            <a:off x="3108960" y="2971800"/>
            <a:ext cx="3657600" cy="274320"/>
          </a:xfrm>
          <a:prstGeom prst="rect">
            <a:avLst/>
          </a:prstGeom>
          <a:noFill/>
        </p:spPr>
        <p:txBody>
          <a:bodyPr wrap="square">
            <a:spAutoFit/>
          </a:bodyPr>
          <a:lstStyle/>
          <a:p>
            <a:pPr>
              <a:defRPr sz="1100" i="1">
                <a:solidFill>
                  <a:srgbClr val="36454F"/>
                </a:solidFill>
              </a:defRPr>
            </a:pPr>
            <a:r>
              <a:t>Add frontmatter + instructions</a:t>
            </a:r>
          </a:p>
        </p:txBody>
      </p:sp>
      <p:sp>
        <p:nvSpPr>
          <p:cNvPr id="14" name="TextBox 13"/>
          <p:cNvSpPr txBox="1"/>
          <p:nvPr/>
        </p:nvSpPr>
        <p:spPr>
          <a:xfrm>
            <a:off x="6858000" y="2971800"/>
            <a:ext cx="1554480" cy="274320"/>
          </a:xfrm>
          <a:prstGeom prst="rect">
            <a:avLst/>
          </a:prstGeom>
          <a:noFill/>
        </p:spPr>
        <p:txBody>
          <a:bodyPr wrap="square">
            <a:spAutoFit/>
          </a:bodyPr>
          <a:lstStyle/>
          <a:p>
            <a:pPr>
              <a:defRPr sz="900">
                <a:solidFill>
                  <a:srgbClr val="36454F"/>
                </a:solidFill>
              </a:defRPr>
            </a:pPr>
            <a:r>
              <a:t>description field + skill behavior</a:t>
            </a:r>
          </a:p>
        </p:txBody>
      </p:sp>
      <p:sp>
        <p:nvSpPr>
          <p:cNvPr id="15" name="TextBox 14"/>
          <p:cNvSpPr txBox="1"/>
          <p:nvPr/>
        </p:nvSpPr>
        <p:spPr>
          <a:xfrm>
            <a:off x="731520" y="3566160"/>
            <a:ext cx="2286000" cy="274320"/>
          </a:xfrm>
          <a:prstGeom prst="rect">
            <a:avLst/>
          </a:prstGeom>
          <a:noFill/>
        </p:spPr>
        <p:txBody>
          <a:bodyPr wrap="none">
            <a:spAutoFit/>
          </a:bodyPr>
          <a:lstStyle/>
          <a:p>
            <a:pPr>
              <a:defRPr sz="1300" b="1">
                <a:solidFill>
                  <a:srgbClr val="141413"/>
                </a:solidFill>
              </a:defRPr>
            </a:pPr>
            <a:r>
              <a:t>Step 5: Test with --plugin-dir</a:t>
            </a:r>
          </a:p>
        </p:txBody>
      </p:sp>
      <p:sp>
        <p:nvSpPr>
          <p:cNvPr id="16" name="Rectangle 15"/>
          <p:cNvSpPr/>
          <p:nvPr/>
        </p:nvSpPr>
        <p:spPr>
          <a:xfrm>
            <a:off x="3108960" y="3566160"/>
            <a:ext cx="3657600"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latin typeface="Consolas"/>
              </a:defRPr>
            </a:pPr>
            <a:r>
              <a:t>claude --plugin-dir ./my-first-plugin</a:t>
            </a:r>
          </a:p>
        </p:txBody>
      </p:sp>
      <p:sp>
        <p:nvSpPr>
          <p:cNvPr id="17" name="TextBox 16"/>
          <p:cNvSpPr txBox="1"/>
          <p:nvPr/>
        </p:nvSpPr>
        <p:spPr>
          <a:xfrm>
            <a:off x="6858000" y="3566160"/>
            <a:ext cx="1554480" cy="274320"/>
          </a:xfrm>
          <a:prstGeom prst="rect">
            <a:avLst/>
          </a:prstGeom>
          <a:noFill/>
        </p:spPr>
        <p:txBody>
          <a:bodyPr wrap="square">
            <a:spAutoFit/>
          </a:bodyPr>
          <a:lstStyle/>
          <a:p>
            <a:pPr>
              <a:defRPr sz="900">
                <a:solidFill>
                  <a:srgbClr val="36454F"/>
                </a:solidFill>
              </a:defRPr>
            </a:pPr>
            <a:r>
              <a:t>Load without installing</a:t>
            </a:r>
          </a:p>
        </p:txBody>
      </p:sp>
      <p:sp>
        <p:nvSpPr>
          <p:cNvPr id="18" name="TextBox 17"/>
          <p:cNvSpPr txBox="1"/>
          <p:nvPr/>
        </p:nvSpPr>
        <p:spPr>
          <a:xfrm>
            <a:off x="731520" y="4160520"/>
            <a:ext cx="2286000" cy="274320"/>
          </a:xfrm>
          <a:prstGeom prst="rect">
            <a:avLst/>
          </a:prstGeom>
          <a:noFill/>
        </p:spPr>
        <p:txBody>
          <a:bodyPr wrap="none">
            <a:spAutoFit/>
          </a:bodyPr>
          <a:lstStyle/>
          <a:p>
            <a:pPr>
              <a:defRPr sz="1300" b="1">
                <a:solidFill>
                  <a:srgbClr val="141413"/>
                </a:solidFill>
              </a:defRPr>
            </a:pPr>
            <a:r>
              <a:t>Step 6: Try your command</a:t>
            </a:r>
          </a:p>
        </p:txBody>
      </p:sp>
      <p:sp>
        <p:nvSpPr>
          <p:cNvPr id="19" name="Rectangle 18"/>
          <p:cNvSpPr/>
          <p:nvPr/>
        </p:nvSpPr>
        <p:spPr>
          <a:xfrm>
            <a:off x="3108960" y="4160520"/>
            <a:ext cx="3657600" cy="27432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000">
                <a:solidFill>
                  <a:srgbClr val="FFFFFF"/>
                </a:solidFill>
                <a:latin typeface="Consolas"/>
              </a:defRPr>
            </a:pPr>
            <a:r>
              <a:t>/my-first-plugin:hello</a:t>
            </a:r>
          </a:p>
        </p:txBody>
      </p:sp>
      <p:sp>
        <p:nvSpPr>
          <p:cNvPr id="20" name="TextBox 19"/>
          <p:cNvSpPr txBox="1"/>
          <p:nvPr/>
        </p:nvSpPr>
        <p:spPr>
          <a:xfrm>
            <a:off x="6858000" y="4160520"/>
            <a:ext cx="1554480" cy="274320"/>
          </a:xfrm>
          <a:prstGeom prst="rect">
            <a:avLst/>
          </a:prstGeom>
          <a:noFill/>
        </p:spPr>
        <p:txBody>
          <a:bodyPr wrap="square">
            <a:spAutoFit/>
          </a:bodyPr>
          <a:lstStyle/>
          <a:p>
            <a:pPr>
              <a:defRPr sz="900">
                <a:solidFill>
                  <a:srgbClr val="36454F"/>
                </a:solidFill>
              </a:defRPr>
            </a:pPr>
            <a:r>
              <a:t>Namespaced with plugin name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82F2008-E68C-BFB2-AC18-B8208885BABB}"/>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B8A0D5E-6766-7CCC-A93C-FD9454CE3424}"/>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a:t>
            </a:r>
            <a:r>
              <a:rPr lang="en-US" dirty="0">
                <a:solidFill>
                  <a:schemeClr val="bg1"/>
                </a:solidFill>
              </a:rPr>
              <a:t>7</a:t>
            </a:r>
            <a:r>
              <a:rPr dirty="0">
                <a:solidFill>
                  <a:schemeClr val="bg1"/>
                </a:solidFill>
              </a:rPr>
              <a:t>:</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12" name="Graphic 11" descr="Brain with solid fill">
            <a:extLst>
              <a:ext uri="{FF2B5EF4-FFF2-40B4-BE49-F238E27FC236}">
                <a16:creationId xmlns:a16="http://schemas.microsoft.com/office/drawing/2014/main" id="{D6D53A84-5DCE-3CCE-98C2-BD0BA12860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13" name="TextBox 12">
            <a:extLst>
              <a:ext uri="{FF2B5EF4-FFF2-40B4-BE49-F238E27FC236}">
                <a16:creationId xmlns:a16="http://schemas.microsoft.com/office/drawing/2014/main" id="{AD56E5FF-E816-EF0F-37B6-BE9EA7F4856D}"/>
              </a:ext>
            </a:extLst>
          </p:cNvPr>
          <p:cNvSpPr txBox="1"/>
          <p:nvPr/>
        </p:nvSpPr>
        <p:spPr>
          <a:xfrm>
            <a:off x="3129308" y="834391"/>
            <a:ext cx="5318907" cy="307777"/>
          </a:xfrm>
          <a:prstGeom prst="rect">
            <a:avLst/>
          </a:prstGeom>
          <a:noFill/>
        </p:spPr>
        <p:txBody>
          <a:bodyPr wrap="square">
            <a:spAutoFit/>
          </a:bodyPr>
          <a:lstStyle/>
          <a:p>
            <a:pPr>
              <a:defRPr sz="1400" b="1">
                <a:solidFill>
                  <a:srgbClr val="141413"/>
                </a:solidFill>
              </a:defRPr>
            </a:pPr>
            <a:r>
              <a:rPr lang="en-US" dirty="0"/>
              <a:t>What is the correct pattern for creating a skill in a plugin?</a:t>
            </a:r>
          </a:p>
        </p:txBody>
      </p:sp>
      <p:sp>
        <p:nvSpPr>
          <p:cNvPr id="18" name="TextBox 17">
            <a:extLst>
              <a:ext uri="{FF2B5EF4-FFF2-40B4-BE49-F238E27FC236}">
                <a16:creationId xmlns:a16="http://schemas.microsoft.com/office/drawing/2014/main" id="{F936ECB1-EAFE-8D6D-57D1-EB74A3BCEADB}"/>
              </a:ext>
            </a:extLst>
          </p:cNvPr>
          <p:cNvSpPr txBox="1"/>
          <p:nvPr/>
        </p:nvSpPr>
        <p:spPr>
          <a:xfrm>
            <a:off x="3312188" y="1291590"/>
            <a:ext cx="5136027" cy="261610"/>
          </a:xfrm>
          <a:prstGeom prst="rect">
            <a:avLst/>
          </a:prstGeom>
          <a:noFill/>
        </p:spPr>
        <p:txBody>
          <a:bodyPr wrap="square">
            <a:spAutoFit/>
          </a:bodyPr>
          <a:lstStyle/>
          <a:p>
            <a:pPr>
              <a:defRPr sz="1100" b="0">
                <a:solidFill>
                  <a:srgbClr val="36454F"/>
                </a:solidFill>
              </a:defRPr>
            </a:pPr>
            <a:r>
              <a:rPr dirty="0"/>
              <a:t>A) skills/</a:t>
            </a:r>
            <a:r>
              <a:rPr dirty="0" err="1"/>
              <a:t>SKILL.md</a:t>
            </a:r>
            <a:endParaRPr dirty="0"/>
          </a:p>
        </p:txBody>
      </p:sp>
      <p:sp>
        <p:nvSpPr>
          <p:cNvPr id="19" name="TextBox 18">
            <a:extLst>
              <a:ext uri="{FF2B5EF4-FFF2-40B4-BE49-F238E27FC236}">
                <a16:creationId xmlns:a16="http://schemas.microsoft.com/office/drawing/2014/main" id="{91F490DC-43E2-D57A-F705-0AEF6661CEC6}"/>
              </a:ext>
            </a:extLst>
          </p:cNvPr>
          <p:cNvSpPr txBox="1"/>
          <p:nvPr/>
        </p:nvSpPr>
        <p:spPr>
          <a:xfrm>
            <a:off x="3312188" y="1565910"/>
            <a:ext cx="5136027" cy="261610"/>
          </a:xfrm>
          <a:prstGeom prst="rect">
            <a:avLst/>
          </a:prstGeom>
          <a:noFill/>
        </p:spPr>
        <p:txBody>
          <a:bodyPr wrap="square">
            <a:spAutoFit/>
          </a:bodyPr>
          <a:lstStyle/>
          <a:p>
            <a:pPr>
              <a:defRPr sz="1100" b="1">
                <a:solidFill>
                  <a:srgbClr val="788C5D"/>
                </a:solidFill>
              </a:defRPr>
            </a:pPr>
            <a:r>
              <a:t>B) skills/skill-name/SKILL.md</a:t>
            </a:r>
          </a:p>
        </p:txBody>
      </p:sp>
      <p:sp>
        <p:nvSpPr>
          <p:cNvPr id="20" name="TextBox 19">
            <a:extLst>
              <a:ext uri="{FF2B5EF4-FFF2-40B4-BE49-F238E27FC236}">
                <a16:creationId xmlns:a16="http://schemas.microsoft.com/office/drawing/2014/main" id="{B9B96486-E208-2587-4DCF-215DFF5B6D67}"/>
              </a:ext>
            </a:extLst>
          </p:cNvPr>
          <p:cNvSpPr txBox="1"/>
          <p:nvPr/>
        </p:nvSpPr>
        <p:spPr>
          <a:xfrm>
            <a:off x="3312188" y="1840229"/>
            <a:ext cx="5136027" cy="261610"/>
          </a:xfrm>
          <a:prstGeom prst="rect">
            <a:avLst/>
          </a:prstGeom>
          <a:noFill/>
        </p:spPr>
        <p:txBody>
          <a:bodyPr wrap="square">
            <a:spAutoFit/>
          </a:bodyPr>
          <a:lstStyle/>
          <a:p>
            <a:pPr>
              <a:defRPr sz="1100" b="0">
                <a:solidFill>
                  <a:srgbClr val="36454F"/>
                </a:solidFill>
              </a:defRPr>
            </a:pPr>
            <a:r>
              <a:t>C) commands/skill-name.md</a:t>
            </a:r>
          </a:p>
        </p:txBody>
      </p:sp>
      <p:sp>
        <p:nvSpPr>
          <p:cNvPr id="21" name="TextBox 20">
            <a:extLst>
              <a:ext uri="{FF2B5EF4-FFF2-40B4-BE49-F238E27FC236}">
                <a16:creationId xmlns:a16="http://schemas.microsoft.com/office/drawing/2014/main" id="{CD1205C8-500D-9038-EB18-90B3A8AE3B2D}"/>
              </a:ext>
            </a:extLst>
          </p:cNvPr>
          <p:cNvSpPr txBox="1"/>
          <p:nvPr/>
        </p:nvSpPr>
        <p:spPr>
          <a:xfrm>
            <a:off x="3312188" y="2114549"/>
            <a:ext cx="5136027" cy="261610"/>
          </a:xfrm>
          <a:prstGeom prst="rect">
            <a:avLst/>
          </a:prstGeom>
          <a:noFill/>
        </p:spPr>
        <p:txBody>
          <a:bodyPr wrap="square">
            <a:spAutoFit/>
          </a:bodyPr>
          <a:lstStyle/>
          <a:p>
            <a:pPr>
              <a:defRPr sz="1100" b="0">
                <a:solidFill>
                  <a:srgbClr val="36454F"/>
                </a:solidFill>
              </a:defRPr>
            </a:pPr>
            <a:r>
              <a:t>D) .claude-plugin/skills/SKILL.md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5CCCF74-AE10-A392-7D4B-66A6ACD75277}"/>
              </a:ext>
            </a:extLst>
          </p:cNvPr>
          <p:cNvSpPr txBox="1"/>
          <p:nvPr/>
        </p:nvSpPr>
        <p:spPr>
          <a:xfrm>
            <a:off x="457200" y="502920"/>
            <a:ext cx="3530325" cy="584775"/>
          </a:xfrm>
          <a:prstGeom prst="rect">
            <a:avLst/>
          </a:prstGeom>
          <a:noFill/>
        </p:spPr>
        <p:txBody>
          <a:bodyPr wrap="none">
            <a:spAutoFit/>
          </a:bodyPr>
          <a:lstStyle/>
          <a:p>
            <a:pPr>
              <a:defRPr sz="3200" b="1">
                <a:solidFill>
                  <a:srgbClr val="141413"/>
                </a:solidFill>
              </a:defRPr>
            </a:pPr>
            <a:r>
              <a:rPr dirty="0"/>
              <a:t>Module </a:t>
            </a:r>
            <a:r>
              <a:rPr lang="en-US" dirty="0"/>
              <a:t>8</a:t>
            </a:r>
            <a:r>
              <a:rPr dirty="0"/>
              <a:t> Summary</a:t>
            </a:r>
          </a:p>
        </p:txBody>
      </p:sp>
      <p:sp>
        <p:nvSpPr>
          <p:cNvPr id="8" name="TextBox 7">
            <a:extLst>
              <a:ext uri="{FF2B5EF4-FFF2-40B4-BE49-F238E27FC236}">
                <a16:creationId xmlns:a16="http://schemas.microsoft.com/office/drawing/2014/main" id="{40FE499A-0EBE-3DFC-948B-20FD5D18D1B9}"/>
              </a:ext>
            </a:extLst>
          </p:cNvPr>
          <p:cNvSpPr txBox="1"/>
          <p:nvPr/>
        </p:nvSpPr>
        <p:spPr>
          <a:xfrm>
            <a:off x="457200" y="1051560"/>
            <a:ext cx="2063385" cy="369332"/>
          </a:xfrm>
          <a:prstGeom prst="rect">
            <a:avLst/>
          </a:prstGeom>
          <a:noFill/>
        </p:spPr>
        <p:txBody>
          <a:bodyPr wrap="none">
            <a:spAutoFit/>
          </a:bodyPr>
          <a:lstStyle/>
          <a:p>
            <a:pPr>
              <a:defRPr sz="1800" i="1">
                <a:solidFill>
                  <a:srgbClr val="36454F"/>
                </a:solidFill>
              </a:defRPr>
            </a:pPr>
            <a:r>
              <a:rPr lang="en-US" dirty="0"/>
              <a:t>Lab: Creating Plugin</a:t>
            </a:r>
          </a:p>
        </p:txBody>
      </p:sp>
      <p:sp>
        <p:nvSpPr>
          <p:cNvPr id="9" name="TextBox 8">
            <a:extLst>
              <a:ext uri="{FF2B5EF4-FFF2-40B4-BE49-F238E27FC236}">
                <a16:creationId xmlns:a16="http://schemas.microsoft.com/office/drawing/2014/main" id="{A5477C4D-F262-7876-6CC3-F6295B1D1A9B}"/>
              </a:ext>
            </a:extLst>
          </p:cNvPr>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10" name="TextBox 9">
            <a:extLst>
              <a:ext uri="{FF2B5EF4-FFF2-40B4-BE49-F238E27FC236}">
                <a16:creationId xmlns:a16="http://schemas.microsoft.com/office/drawing/2014/main" id="{05BCD05D-8A2A-C7D3-F723-D79D04E600D9}"/>
              </a:ext>
            </a:extLst>
          </p:cNvPr>
          <p:cNvSpPr txBox="1"/>
          <p:nvPr/>
        </p:nvSpPr>
        <p:spPr>
          <a:xfrm>
            <a:off x="457200" y="2103120"/>
            <a:ext cx="5389418" cy="2472472"/>
          </a:xfrm>
          <a:prstGeom prst="rect">
            <a:avLst/>
          </a:prstGeom>
          <a:noFill/>
        </p:spPr>
        <p:txBody>
          <a:bodyPr wrap="square">
            <a:spAutoFit/>
          </a:bodyPr>
          <a:lstStyle/>
          <a:p>
            <a:pPr>
              <a:spcBef>
                <a:spcPts val="800"/>
              </a:spcBef>
              <a:defRPr sz="1600">
                <a:solidFill>
                  <a:srgbClr val="141413"/>
                </a:solidFill>
              </a:defRPr>
            </a:pPr>
            <a:r>
              <a:rPr lang="en-US" dirty="0"/>
              <a:t>• Plugin creation workflow: directory → manifest → skills → test</a:t>
            </a:r>
          </a:p>
          <a:p>
            <a:pPr>
              <a:spcBef>
                <a:spcPts val="800"/>
              </a:spcBef>
              <a:defRPr sz="1600">
                <a:solidFill>
                  <a:srgbClr val="141413"/>
                </a:solidFill>
              </a:defRPr>
            </a:pPr>
            <a:r>
              <a:rPr lang="en-US" dirty="0"/>
              <a:t>• Skills follow directory/</a:t>
            </a:r>
            <a:r>
              <a:rPr lang="en-US" dirty="0" err="1"/>
              <a:t>SKILL.md</a:t>
            </a:r>
            <a:r>
              <a:rPr lang="en-US" dirty="0"/>
              <a:t> pattern where directory name = skill name</a:t>
            </a:r>
          </a:p>
          <a:p>
            <a:pPr>
              <a:spcBef>
                <a:spcPts val="800"/>
              </a:spcBef>
              <a:defRPr sz="1600">
                <a:solidFill>
                  <a:srgbClr val="141413"/>
                </a:solidFill>
              </a:defRPr>
            </a:pPr>
            <a:r>
              <a:rPr lang="en-US" dirty="0"/>
              <a:t>• Manifest minimum: name, description, version fields</a:t>
            </a:r>
          </a:p>
          <a:p>
            <a:pPr>
              <a:spcBef>
                <a:spcPts val="800"/>
              </a:spcBef>
              <a:defRPr sz="1600">
                <a:solidFill>
                  <a:srgbClr val="141413"/>
                </a:solidFill>
              </a:defRPr>
            </a:pPr>
            <a:r>
              <a:rPr lang="en-US" dirty="0"/>
              <a:t>• Test immediately with --plugin-</a:t>
            </a:r>
            <a:r>
              <a:rPr lang="en-US" dirty="0" err="1"/>
              <a:t>dir</a:t>
            </a:r>
            <a:r>
              <a:rPr lang="en-US" dirty="0"/>
              <a:t> before distributing</a:t>
            </a:r>
          </a:p>
          <a:p>
            <a:pPr>
              <a:spcBef>
                <a:spcPts val="800"/>
              </a:spcBef>
              <a:defRPr sz="1600">
                <a:solidFill>
                  <a:srgbClr val="141413"/>
                </a:solidFill>
              </a:defRPr>
            </a:pPr>
            <a:r>
              <a:rPr lang="en-US" dirty="0"/>
              <a:t>• </a:t>
            </a:r>
            <a:r>
              <a:rPr lang="en-US" dirty="0" err="1"/>
              <a:t>Namespaced</a:t>
            </a:r>
            <a:r>
              <a:rPr lang="en-US" dirty="0"/>
              <a:t> commands ensure no conflicts: /</a:t>
            </a:r>
            <a:r>
              <a:rPr lang="en-US" dirty="0" err="1"/>
              <a:t>plugin-name:command</a:t>
            </a:r>
            <a:endParaRPr lang="en-US" dirty="0"/>
          </a:p>
        </p:txBody>
      </p:sp>
      <p:sp>
        <p:nvSpPr>
          <p:cNvPr id="11" name="Rectangle 10">
            <a:extLst>
              <a:ext uri="{FF2B5EF4-FFF2-40B4-BE49-F238E27FC236}">
                <a16:creationId xmlns:a16="http://schemas.microsoft.com/office/drawing/2014/main" id="{49D0FCC7-D547-A39B-DA53-D38634596D77}"/>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Graphic 11" descr="Key with solid fill">
            <a:extLst>
              <a:ext uri="{FF2B5EF4-FFF2-40B4-BE49-F238E27FC236}">
                <a16:creationId xmlns:a16="http://schemas.microsoft.com/office/drawing/2014/main" id="{51539250-CF26-9F04-0E41-77A0ED0A27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D97757"/>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FBCE482-CA8A-6784-A0BF-AD977C77EDEC}"/>
              </a:ext>
            </a:extLst>
          </p:cNvPr>
          <p:cNvSpPr txBox="1"/>
          <p:nvPr/>
        </p:nvSpPr>
        <p:spPr>
          <a:xfrm>
            <a:off x="609600" y="655320"/>
            <a:ext cx="7712689"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8</a:t>
            </a:r>
            <a:r>
              <a:rPr dirty="0">
                <a:solidFill>
                  <a:schemeClr val="bg1"/>
                </a:solidFill>
              </a:rPr>
              <a:t>: </a:t>
            </a:r>
            <a:r>
              <a:rPr lang="en-US" dirty="0">
                <a:solidFill>
                  <a:schemeClr val="bg1"/>
                </a:solidFill>
              </a:rPr>
              <a:t>Converting Configurations to Plugins</a:t>
            </a:r>
          </a:p>
        </p:txBody>
      </p:sp>
      <p:sp>
        <p:nvSpPr>
          <p:cNvPr id="8" name="TextBox 7">
            <a:extLst>
              <a:ext uri="{FF2B5EF4-FFF2-40B4-BE49-F238E27FC236}">
                <a16:creationId xmlns:a16="http://schemas.microsoft.com/office/drawing/2014/main" id="{D696C948-CE9F-20BE-7FD1-2C1F9DD10B83}"/>
              </a:ext>
            </a:extLst>
          </p:cNvPr>
          <p:cNvSpPr txBox="1"/>
          <p:nvPr/>
        </p:nvSpPr>
        <p:spPr>
          <a:xfrm>
            <a:off x="609600" y="1203960"/>
            <a:ext cx="2230804" cy="400110"/>
          </a:xfrm>
          <a:prstGeom prst="rect">
            <a:avLst/>
          </a:prstGeom>
          <a:noFill/>
        </p:spPr>
        <p:txBody>
          <a:bodyPr wrap="none">
            <a:spAutoFit/>
          </a:bodyPr>
          <a:lstStyle/>
          <a:p>
            <a:pPr>
              <a:defRPr sz="2000">
                <a:solidFill>
                  <a:srgbClr val="36454F"/>
                </a:solidFill>
              </a:defRPr>
            </a:pPr>
            <a:r>
              <a:rPr>
                <a:solidFill>
                  <a:schemeClr val="bg1"/>
                </a:solidFill>
              </a:rPr>
              <a:t>Learning Objectives</a:t>
            </a:r>
          </a:p>
        </p:txBody>
      </p:sp>
      <p:sp>
        <p:nvSpPr>
          <p:cNvPr id="9" name="TextBox 8">
            <a:extLst>
              <a:ext uri="{FF2B5EF4-FFF2-40B4-BE49-F238E27FC236}">
                <a16:creationId xmlns:a16="http://schemas.microsoft.com/office/drawing/2014/main" id="{5AA9DB2C-34F9-6F98-9162-BBDF5FE762C0}"/>
              </a:ext>
            </a:extLst>
          </p:cNvPr>
          <p:cNvSpPr txBox="1"/>
          <p:nvPr/>
        </p:nvSpPr>
        <p:spPr>
          <a:xfrm>
            <a:off x="609600" y="1798320"/>
            <a:ext cx="5447069" cy="1308050"/>
          </a:xfrm>
          <a:prstGeom prst="rect">
            <a:avLst/>
          </a:prstGeom>
          <a:noFill/>
        </p:spPr>
        <p:txBody>
          <a:bodyPr wrap="none">
            <a:spAutoFit/>
          </a:bodyPr>
          <a:lstStyle/>
          <a:p>
            <a:pPr>
              <a:spcBef>
                <a:spcPts val="600"/>
              </a:spcBef>
              <a:defRPr sz="1600">
                <a:solidFill>
                  <a:srgbClr val="141413"/>
                </a:solidFill>
              </a:defRPr>
            </a:pPr>
            <a:r>
              <a:rPr lang="en-US" dirty="0">
                <a:solidFill>
                  <a:schemeClr val="bg1"/>
                </a:solidFill>
              </a:rPr>
              <a:t>• Identify when to convert standalone configurations to plugins</a:t>
            </a:r>
          </a:p>
          <a:p>
            <a:pPr>
              <a:spcBef>
                <a:spcPts val="600"/>
              </a:spcBef>
              <a:defRPr sz="1600">
                <a:solidFill>
                  <a:srgbClr val="141413"/>
                </a:solidFill>
              </a:defRPr>
            </a:pPr>
            <a:r>
              <a:rPr lang="en-US" dirty="0">
                <a:solidFill>
                  <a:schemeClr val="bg1"/>
                </a:solidFill>
              </a:rPr>
              <a:t>• Execute the migration workflow systematically</a:t>
            </a:r>
          </a:p>
          <a:p>
            <a:pPr>
              <a:spcBef>
                <a:spcPts val="600"/>
              </a:spcBef>
              <a:defRPr sz="1600">
                <a:solidFill>
                  <a:srgbClr val="141413"/>
                </a:solidFill>
              </a:defRPr>
            </a:pPr>
            <a:r>
              <a:rPr lang="en-US" dirty="0">
                <a:solidFill>
                  <a:schemeClr val="bg1"/>
                </a:solidFill>
              </a:rPr>
              <a:t>• Adapt hooks from </a:t>
            </a:r>
            <a:r>
              <a:rPr lang="en-US" dirty="0" err="1">
                <a:solidFill>
                  <a:schemeClr val="bg1"/>
                </a:solidFill>
              </a:rPr>
              <a:t>settings.json</a:t>
            </a:r>
            <a:r>
              <a:rPr lang="en-US" dirty="0">
                <a:solidFill>
                  <a:schemeClr val="bg1"/>
                </a:solidFill>
              </a:rPr>
              <a:t> format to </a:t>
            </a:r>
            <a:r>
              <a:rPr lang="en-US" dirty="0" err="1">
                <a:solidFill>
                  <a:schemeClr val="bg1"/>
                </a:solidFill>
              </a:rPr>
              <a:t>hooks.json</a:t>
            </a:r>
            <a:r>
              <a:rPr lang="en-US" dirty="0">
                <a:solidFill>
                  <a:schemeClr val="bg1"/>
                </a:solidFill>
              </a:rPr>
              <a:t> format</a:t>
            </a:r>
          </a:p>
          <a:p>
            <a:pPr>
              <a:spcBef>
                <a:spcPts val="600"/>
              </a:spcBef>
              <a:defRPr sz="1600">
                <a:solidFill>
                  <a:srgbClr val="141413"/>
                </a:solidFill>
              </a:defRPr>
            </a:pPr>
            <a:r>
              <a:rPr lang="en-US" dirty="0">
                <a:solidFill>
                  <a:schemeClr val="bg1"/>
                </a:solidFill>
              </a:rPr>
              <a:t>• Verify migrated plugins work correctly</a:t>
            </a:r>
          </a:p>
        </p:txBody>
      </p:sp>
      <p:sp>
        <p:nvSpPr>
          <p:cNvPr id="10" name="Rounded Rectangle 9">
            <a:extLst>
              <a:ext uri="{FF2B5EF4-FFF2-40B4-BE49-F238E27FC236}">
                <a16:creationId xmlns:a16="http://schemas.microsoft.com/office/drawing/2014/main" id="{E1BBA620-D171-F2B0-291B-78442C8E2350}"/>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30</a:t>
            </a:r>
            <a:r>
              <a:rPr dirty="0">
                <a:solidFill>
                  <a:schemeClr val="tx1"/>
                </a:solidFill>
              </a:rPr>
              <a:t> minutes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When to Convert to Plugins</a:t>
            </a:r>
          </a:p>
        </p:txBody>
      </p:sp>
      <p:sp>
        <p:nvSpPr>
          <p:cNvPr id="3" name="TextBox 2"/>
          <p:cNvSpPr txBox="1"/>
          <p:nvPr/>
        </p:nvSpPr>
        <p:spPr>
          <a:xfrm>
            <a:off x="731520" y="1188720"/>
            <a:ext cx="3657600" cy="365760"/>
          </a:xfrm>
          <a:prstGeom prst="rect">
            <a:avLst/>
          </a:prstGeom>
          <a:noFill/>
        </p:spPr>
        <p:txBody>
          <a:bodyPr wrap="none">
            <a:spAutoFit/>
          </a:bodyPr>
          <a:lstStyle/>
          <a:p>
            <a:pPr>
              <a:defRPr sz="2000" b="1">
                <a:solidFill>
                  <a:srgbClr val="141413"/>
                </a:solidFill>
              </a:defRPr>
            </a:pPr>
            <a:r>
              <a:t>Conversion Triggers</a:t>
            </a:r>
          </a:p>
        </p:txBody>
      </p:sp>
      <p:sp>
        <p:nvSpPr>
          <p:cNvPr id="4" name="TextBox 3"/>
          <p:cNvSpPr txBox="1"/>
          <p:nvPr/>
        </p:nvSpPr>
        <p:spPr>
          <a:xfrm>
            <a:off x="731520" y="1645920"/>
            <a:ext cx="3657600" cy="1828800"/>
          </a:xfrm>
          <a:prstGeom prst="rect">
            <a:avLst/>
          </a:prstGeom>
          <a:noFill/>
        </p:spPr>
        <p:txBody>
          <a:bodyPr wrap="none">
            <a:spAutoFit/>
          </a:bodyPr>
          <a:lstStyle/>
          <a:p>
            <a:pPr>
              <a:spcBef>
                <a:spcPts val="400"/>
              </a:spcBef>
              <a:defRPr sz="1400">
                <a:solidFill>
                  <a:srgbClr val="141413"/>
                </a:solidFill>
              </a:defRPr>
            </a:pPr>
            <a:r>
              <a:t>✓ Team members asking for your configs</a:t>
            </a:r>
          </a:p>
          <a:p>
            <a:pPr>
              <a:spcBef>
                <a:spcPts val="400"/>
              </a:spcBef>
              <a:defRPr sz="1400">
                <a:solidFill>
                  <a:srgbClr val="141413"/>
                </a:solidFill>
              </a:defRPr>
            </a:pPr>
            <a:r>
              <a:t>✓ Manually copying files to new projects</a:t>
            </a:r>
          </a:p>
          <a:p>
            <a:pPr>
              <a:spcBef>
                <a:spcPts val="400"/>
              </a:spcBef>
              <a:defRPr sz="1400">
                <a:solidFill>
                  <a:srgbClr val="141413"/>
                </a:solidFill>
              </a:defRPr>
            </a:pPr>
            <a:r>
              <a:t>✓ Want version control for your tools</a:t>
            </a:r>
          </a:p>
          <a:p>
            <a:pPr>
              <a:spcBef>
                <a:spcPts val="400"/>
              </a:spcBef>
              <a:defRPr sz="1400">
                <a:solidFill>
                  <a:srgbClr val="141413"/>
                </a:solidFill>
              </a:defRPr>
            </a:pPr>
            <a:r>
              <a:t>✓ Need to share across multiple repos</a:t>
            </a:r>
          </a:p>
          <a:p>
            <a:pPr>
              <a:spcBef>
                <a:spcPts val="400"/>
              </a:spcBef>
              <a:defRPr sz="1400">
                <a:solidFill>
                  <a:srgbClr val="141413"/>
                </a:solidFill>
              </a:defRPr>
            </a:pPr>
            <a:r>
              <a:t>✓ Configurations are stable and tested</a:t>
            </a:r>
          </a:p>
        </p:txBody>
      </p:sp>
      <p:sp>
        <p:nvSpPr>
          <p:cNvPr id="5" name="Rectangle 4"/>
          <p:cNvSpPr/>
          <p:nvPr/>
        </p:nvSpPr>
        <p:spPr>
          <a:xfrm>
            <a:off x="4754880" y="1188720"/>
            <a:ext cx="3931920" cy="3200400"/>
          </a:xfrm>
          <a:prstGeom prst="rect">
            <a:avLst/>
          </a:prstGeom>
          <a:solidFill>
            <a:srgbClr val="788C5D"/>
          </a:solidFill>
          <a:ln w="25400">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937760" y="1371600"/>
            <a:ext cx="3566160" cy="2139047"/>
          </a:xfrm>
          <a:prstGeom prst="rect">
            <a:avLst/>
          </a:prstGeom>
          <a:noFill/>
        </p:spPr>
        <p:txBody>
          <a:bodyPr wrap="square">
            <a:spAutoFit/>
          </a:bodyPr>
          <a:lstStyle/>
          <a:p>
            <a:pPr>
              <a:defRPr sz="1800" b="1">
                <a:solidFill>
                  <a:srgbClr val="141413"/>
                </a:solidFill>
              </a:defRPr>
            </a:pPr>
            <a:r>
              <a:rPr>
                <a:solidFill>
                  <a:schemeClr val="bg1"/>
                </a:solidFill>
              </a:rPr>
              <a:t>Real-World Scenario</a:t>
            </a:r>
          </a:p>
          <a:p>
            <a:pPr>
              <a:spcBef>
                <a:spcPts val="600"/>
              </a:spcBef>
              <a:defRPr sz="1200">
                <a:solidFill>
                  <a:srgbClr val="141413"/>
                </a:solidFill>
              </a:defRPr>
            </a:pPr>
            <a:r>
              <a:rPr>
                <a:solidFill>
                  <a:schemeClr val="bg1"/>
                </a:solidFill>
              </a:rPr>
              <a:t>Developer has powerful linter config in .claude/hooks that catches issues early. Three teammates ask for it via Slack.</a:t>
            </a:r>
          </a:p>
          <a:p>
            <a:pPr>
              <a:spcBef>
                <a:spcPts val="600"/>
              </a:spcBef>
              <a:defRPr sz="1100" i="1">
                <a:solidFill>
                  <a:srgbClr val="36454F"/>
                </a:solidFill>
              </a:defRPr>
            </a:pPr>
            <a:r>
              <a:rPr>
                <a:solidFill>
                  <a:schemeClr val="bg1"/>
                </a:solidFill>
              </a:rPr>
              <a:t>Instead of: Sending JSON snippets that break in copy-paste</a:t>
            </a:r>
          </a:p>
          <a:p>
            <a:pPr>
              <a:spcBef>
                <a:spcPts val="600"/>
              </a:spcBef>
              <a:defRPr sz="1200" b="1">
                <a:solidFill>
                  <a:srgbClr val="141413"/>
                </a:solidFill>
              </a:defRPr>
            </a:pPr>
            <a:r>
              <a:rPr>
                <a:solidFill>
                  <a:schemeClr val="bg1"/>
                </a:solidFill>
              </a:rPr>
              <a:t>Solution: Convert to plugin, publish to team marketplace, everyone installs with one command</a:t>
            </a:r>
          </a:p>
          <a:p>
            <a:pPr>
              <a:spcBef>
                <a:spcPts val="600"/>
              </a:spcBef>
              <a:defRPr sz="1200">
                <a:solidFill>
                  <a:srgbClr val="141413"/>
                </a:solidFill>
              </a:defRPr>
            </a:pPr>
            <a:r>
              <a:rPr>
                <a:solidFill>
                  <a:schemeClr val="bg1"/>
                </a:solidFill>
              </a:rPr>
              <a:t>Result: Team has identical config, updates push automatically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Migration Workflow</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Step-by-Step Conversion</a:t>
            </a:r>
          </a:p>
        </p:txBody>
      </p:sp>
      <p:sp>
        <p:nvSpPr>
          <p:cNvPr id="4" name="TextBox 3"/>
          <p:cNvSpPr txBox="1"/>
          <p:nvPr/>
        </p:nvSpPr>
        <p:spPr>
          <a:xfrm>
            <a:off x="731520" y="1645920"/>
            <a:ext cx="7680960" cy="2286000"/>
          </a:xfrm>
          <a:prstGeom prst="rect">
            <a:avLst/>
          </a:prstGeom>
          <a:noFill/>
        </p:spPr>
        <p:txBody>
          <a:bodyPr wrap="none">
            <a:spAutoFit/>
          </a:bodyPr>
          <a:lstStyle/>
          <a:p>
            <a:pPr>
              <a:defRPr sz="1400">
                <a:solidFill>
                  <a:srgbClr val="141413"/>
                </a:solidFill>
              </a:defRPr>
            </a:pPr>
            <a:r>
              <a:t>• 1. Create plugin structure (directory + .claude-plugin/plugin.json)</a:t>
            </a:r>
          </a:p>
          <a:p>
            <a:pPr>
              <a:defRPr sz="1400">
                <a:solidFill>
                  <a:srgbClr val="141413"/>
                </a:solidFill>
              </a:defRPr>
            </a:pPr>
            <a:r>
              <a:t>• 2. Copy existing files (commands, agents, skills)</a:t>
            </a:r>
          </a:p>
          <a:p>
            <a:pPr>
              <a:defRPr sz="1400">
                <a:solidFill>
                  <a:srgbClr val="141413"/>
                </a:solidFill>
              </a:defRPr>
            </a:pPr>
            <a:r>
              <a:t>• 3. Migrate hooks from settings.json to hooks/hooks.json</a:t>
            </a:r>
          </a:p>
          <a:p>
            <a:pPr>
              <a:defRPr sz="1400">
                <a:solidFill>
                  <a:srgbClr val="141413"/>
                </a:solidFill>
              </a:defRPr>
            </a:pPr>
            <a:r>
              <a:t>• 4. Test with --plugin-dir flag</a:t>
            </a:r>
          </a:p>
          <a:p>
            <a:pPr>
              <a:defRPr sz="1400">
                <a:solidFill>
                  <a:srgbClr val="141413"/>
                </a:solidFill>
              </a:defRPr>
            </a:pPr>
            <a:r>
              <a:t>• 5. Remove original .claude/ files to avoid duplicates</a:t>
            </a:r>
          </a:p>
        </p:txBody>
      </p:sp>
      <p:sp>
        <p:nvSpPr>
          <p:cNvPr id="5" name="TextBox 4"/>
          <p:cNvSpPr txBox="1"/>
          <p:nvPr/>
        </p:nvSpPr>
        <p:spPr>
          <a:xfrm>
            <a:off x="731520" y="2948940"/>
            <a:ext cx="7680960" cy="365760"/>
          </a:xfrm>
          <a:prstGeom prst="rect">
            <a:avLst/>
          </a:prstGeom>
          <a:noFill/>
        </p:spPr>
        <p:txBody>
          <a:bodyPr wrap="none">
            <a:spAutoFit/>
          </a:bodyPr>
          <a:lstStyle/>
          <a:p>
            <a:pPr>
              <a:defRPr sz="2000" b="1">
                <a:solidFill>
                  <a:srgbClr val="141413"/>
                </a:solidFill>
              </a:defRPr>
            </a:pPr>
            <a:r>
              <a:rPr dirty="0"/>
              <a:t>What Changes</a:t>
            </a:r>
          </a:p>
        </p:txBody>
      </p:sp>
      <p:sp>
        <p:nvSpPr>
          <p:cNvPr id="6" name="TextBox 5"/>
          <p:cNvSpPr txBox="1"/>
          <p:nvPr/>
        </p:nvSpPr>
        <p:spPr>
          <a:xfrm>
            <a:off x="731520" y="3406140"/>
            <a:ext cx="7680960" cy="365760"/>
          </a:xfrm>
          <a:prstGeom prst="rect">
            <a:avLst/>
          </a:prstGeom>
          <a:noFill/>
        </p:spPr>
        <p:txBody>
          <a:bodyPr wrap="none">
            <a:spAutoFit/>
          </a:bodyPr>
          <a:lstStyle/>
          <a:p>
            <a:pPr>
              <a:defRPr sz="1200">
                <a:solidFill>
                  <a:srgbClr val="36454F"/>
                </a:solidFill>
              </a:defRPr>
            </a:pPr>
            <a:r>
              <a:t>.claude/commands/ → plugin-name/commands/</a:t>
            </a:r>
          </a:p>
        </p:txBody>
      </p:sp>
      <p:sp>
        <p:nvSpPr>
          <p:cNvPr id="7" name="TextBox 6"/>
          <p:cNvSpPr txBox="1"/>
          <p:nvPr/>
        </p:nvSpPr>
        <p:spPr>
          <a:xfrm>
            <a:off x="731520" y="3863340"/>
            <a:ext cx="7680960" cy="365760"/>
          </a:xfrm>
          <a:prstGeom prst="rect">
            <a:avLst/>
          </a:prstGeom>
          <a:noFill/>
        </p:spPr>
        <p:txBody>
          <a:bodyPr wrap="none">
            <a:spAutoFit/>
          </a:bodyPr>
          <a:lstStyle/>
          <a:p>
            <a:pPr>
              <a:defRPr sz="1200">
                <a:solidFill>
                  <a:srgbClr val="36454F"/>
                </a:solidFill>
              </a:defRPr>
            </a:pPr>
            <a:r>
              <a:t>settings.json hooks → hooks/hooks.json</a:t>
            </a:r>
          </a:p>
        </p:txBody>
      </p:sp>
      <p:sp>
        <p:nvSpPr>
          <p:cNvPr id="8" name="TextBox 7"/>
          <p:cNvSpPr txBox="1"/>
          <p:nvPr/>
        </p:nvSpPr>
        <p:spPr>
          <a:xfrm>
            <a:off x="731520" y="4320540"/>
            <a:ext cx="7680960" cy="365760"/>
          </a:xfrm>
          <a:prstGeom prst="rect">
            <a:avLst/>
          </a:prstGeom>
          <a:noFill/>
        </p:spPr>
        <p:txBody>
          <a:bodyPr wrap="none">
            <a:spAutoFit/>
          </a:bodyPr>
          <a:lstStyle/>
          <a:p>
            <a:pPr>
              <a:defRPr sz="1200">
                <a:solidFill>
                  <a:srgbClr val="36454F"/>
                </a:solidFill>
              </a:defRPr>
            </a:pPr>
            <a:r>
              <a:t>/command → /plugin-name:command</a:t>
            </a:r>
          </a:p>
        </p:txBody>
      </p:sp>
      <p:sp>
        <p:nvSpPr>
          <p:cNvPr id="10" name="Rectangle 9">
            <a:extLst>
              <a:ext uri="{FF2B5EF4-FFF2-40B4-BE49-F238E27FC236}">
                <a16:creationId xmlns:a16="http://schemas.microsoft.com/office/drawing/2014/main" id="{C4F5C879-C5A6-993F-A18A-763525C25643}"/>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Hook format stays the same—just move from </a:t>
            </a:r>
            <a:r>
              <a:rPr lang="en-US" dirty="0" err="1">
                <a:solidFill>
                  <a:schemeClr val="bg1"/>
                </a:solidFill>
              </a:rPr>
              <a:t>settings.json</a:t>
            </a:r>
            <a:r>
              <a:rPr lang="en-US" dirty="0">
                <a:solidFill>
                  <a:schemeClr val="bg1"/>
                </a:solidFill>
              </a:rPr>
              <a:t> to </a:t>
            </a:r>
            <a:r>
              <a:rPr lang="en-US" dirty="0" err="1">
                <a:solidFill>
                  <a:schemeClr val="bg1"/>
                </a:solidFill>
              </a:rPr>
              <a:t>hooks.json</a:t>
            </a:r>
            <a:endParaRPr lang="en-US" dirty="0">
              <a:solidFill>
                <a:schemeClr val="bg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DD5DB4A-A33A-A96A-B0A8-5FEEA0E5F951}"/>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B37D139-9711-F050-58CC-BFBD97CB661E}"/>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a:t>
            </a:r>
            <a:r>
              <a:rPr lang="en-US" dirty="0">
                <a:solidFill>
                  <a:schemeClr val="bg1"/>
                </a:solidFill>
              </a:rPr>
              <a:t>6</a:t>
            </a:r>
            <a:r>
              <a:rPr dirty="0">
                <a:solidFill>
                  <a:schemeClr val="bg1"/>
                </a:solidFill>
              </a:rPr>
              <a:t>:</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18" name="Graphic 17" descr="Brain with solid fill">
            <a:extLst>
              <a:ext uri="{FF2B5EF4-FFF2-40B4-BE49-F238E27FC236}">
                <a16:creationId xmlns:a16="http://schemas.microsoft.com/office/drawing/2014/main" id="{797186E7-E675-5596-800E-990F9DAD13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19" name="TextBox 18">
            <a:extLst>
              <a:ext uri="{FF2B5EF4-FFF2-40B4-BE49-F238E27FC236}">
                <a16:creationId xmlns:a16="http://schemas.microsoft.com/office/drawing/2014/main" id="{1403D453-E198-8022-EAEE-080CA696AD0C}"/>
              </a:ext>
            </a:extLst>
          </p:cNvPr>
          <p:cNvSpPr txBox="1"/>
          <p:nvPr/>
        </p:nvSpPr>
        <p:spPr>
          <a:xfrm>
            <a:off x="3129308" y="834391"/>
            <a:ext cx="5318907" cy="523220"/>
          </a:xfrm>
          <a:prstGeom prst="rect">
            <a:avLst/>
          </a:prstGeom>
          <a:noFill/>
        </p:spPr>
        <p:txBody>
          <a:bodyPr wrap="square">
            <a:spAutoFit/>
          </a:bodyPr>
          <a:lstStyle/>
          <a:p>
            <a:pPr>
              <a:defRPr sz="1400" b="1">
                <a:solidFill>
                  <a:srgbClr val="141413"/>
                </a:solidFill>
              </a:defRPr>
            </a:pPr>
            <a:r>
              <a:rPr lang="en-US" dirty="0"/>
              <a:t>What is the primary difference in hooks configuration between standalone and plugin formats?</a:t>
            </a:r>
          </a:p>
        </p:txBody>
      </p:sp>
      <p:sp>
        <p:nvSpPr>
          <p:cNvPr id="20" name="TextBox 19">
            <a:extLst>
              <a:ext uri="{FF2B5EF4-FFF2-40B4-BE49-F238E27FC236}">
                <a16:creationId xmlns:a16="http://schemas.microsoft.com/office/drawing/2014/main" id="{6CD9DAE6-438D-03F6-86ED-40B9B8FD615F}"/>
              </a:ext>
            </a:extLst>
          </p:cNvPr>
          <p:cNvSpPr txBox="1"/>
          <p:nvPr/>
        </p:nvSpPr>
        <p:spPr>
          <a:xfrm>
            <a:off x="3129308" y="2571750"/>
            <a:ext cx="5318907" cy="523220"/>
          </a:xfrm>
          <a:prstGeom prst="rect">
            <a:avLst/>
          </a:prstGeom>
          <a:noFill/>
        </p:spPr>
        <p:txBody>
          <a:bodyPr wrap="square">
            <a:spAutoFit/>
          </a:bodyPr>
          <a:lstStyle/>
          <a:p>
            <a:pPr>
              <a:defRPr sz="1400" b="1">
                <a:solidFill>
                  <a:srgbClr val="141413"/>
                </a:solidFill>
              </a:defRPr>
            </a:pPr>
            <a:r>
              <a:rPr lang="en-US" dirty="0"/>
              <a:t>After converting configs to a plugin, what should you do with original .</a:t>
            </a:r>
            <a:r>
              <a:rPr lang="en-US" dirty="0" err="1"/>
              <a:t>claude</a:t>
            </a:r>
            <a:r>
              <a:rPr lang="en-US" dirty="0"/>
              <a:t>/ files?</a:t>
            </a:r>
          </a:p>
        </p:txBody>
      </p:sp>
      <p:sp>
        <p:nvSpPr>
          <p:cNvPr id="29" name="TextBox 28">
            <a:extLst>
              <a:ext uri="{FF2B5EF4-FFF2-40B4-BE49-F238E27FC236}">
                <a16:creationId xmlns:a16="http://schemas.microsoft.com/office/drawing/2014/main" id="{100F231A-6A96-5E42-0F4C-FD89291300C5}"/>
              </a:ext>
            </a:extLst>
          </p:cNvPr>
          <p:cNvSpPr txBox="1"/>
          <p:nvPr/>
        </p:nvSpPr>
        <p:spPr>
          <a:xfrm>
            <a:off x="3312188" y="1292458"/>
            <a:ext cx="5318907" cy="261610"/>
          </a:xfrm>
          <a:prstGeom prst="rect">
            <a:avLst/>
          </a:prstGeom>
          <a:noFill/>
        </p:spPr>
        <p:txBody>
          <a:bodyPr wrap="square">
            <a:spAutoFit/>
          </a:bodyPr>
          <a:lstStyle/>
          <a:p>
            <a:pPr>
              <a:defRPr sz="1100" b="0">
                <a:solidFill>
                  <a:srgbClr val="36454F"/>
                </a:solidFill>
              </a:defRPr>
            </a:pPr>
            <a:r>
              <a:t>A) Plugins use YAML instead of JSON</a:t>
            </a:r>
          </a:p>
        </p:txBody>
      </p:sp>
      <p:sp>
        <p:nvSpPr>
          <p:cNvPr id="30" name="TextBox 29">
            <a:extLst>
              <a:ext uri="{FF2B5EF4-FFF2-40B4-BE49-F238E27FC236}">
                <a16:creationId xmlns:a16="http://schemas.microsoft.com/office/drawing/2014/main" id="{6E54D6D1-3025-781F-861A-9C65FDAA2F62}"/>
              </a:ext>
            </a:extLst>
          </p:cNvPr>
          <p:cNvSpPr txBox="1"/>
          <p:nvPr/>
        </p:nvSpPr>
        <p:spPr>
          <a:xfrm>
            <a:off x="3312188" y="1566778"/>
            <a:ext cx="5318907" cy="261610"/>
          </a:xfrm>
          <a:prstGeom prst="rect">
            <a:avLst/>
          </a:prstGeom>
          <a:noFill/>
        </p:spPr>
        <p:txBody>
          <a:bodyPr wrap="square">
            <a:spAutoFit/>
          </a:bodyPr>
          <a:lstStyle/>
          <a:p>
            <a:pPr>
              <a:defRPr sz="1100" b="1">
                <a:solidFill>
                  <a:srgbClr val="788C5D"/>
                </a:solidFill>
              </a:defRPr>
            </a:pPr>
            <a:r>
              <a:t>B) Standalone uses settings.json, plugins use hooks/hooks.json</a:t>
            </a:r>
          </a:p>
        </p:txBody>
      </p:sp>
      <p:sp>
        <p:nvSpPr>
          <p:cNvPr id="31" name="TextBox 30">
            <a:extLst>
              <a:ext uri="{FF2B5EF4-FFF2-40B4-BE49-F238E27FC236}">
                <a16:creationId xmlns:a16="http://schemas.microsoft.com/office/drawing/2014/main" id="{354E4391-3D08-60A6-4014-9B66DBCC04E5}"/>
              </a:ext>
            </a:extLst>
          </p:cNvPr>
          <p:cNvSpPr txBox="1"/>
          <p:nvPr/>
        </p:nvSpPr>
        <p:spPr>
          <a:xfrm>
            <a:off x="3312188" y="1841097"/>
            <a:ext cx="5318907" cy="261610"/>
          </a:xfrm>
          <a:prstGeom prst="rect">
            <a:avLst/>
          </a:prstGeom>
          <a:noFill/>
        </p:spPr>
        <p:txBody>
          <a:bodyPr wrap="square">
            <a:spAutoFit/>
          </a:bodyPr>
          <a:lstStyle/>
          <a:p>
            <a:pPr>
              <a:defRPr sz="1100" b="0">
                <a:solidFill>
                  <a:srgbClr val="36454F"/>
                </a:solidFill>
              </a:defRPr>
            </a:pPr>
            <a:r>
              <a:t>C) Plugins require different hook event names</a:t>
            </a:r>
          </a:p>
        </p:txBody>
      </p:sp>
      <p:sp>
        <p:nvSpPr>
          <p:cNvPr id="32" name="TextBox 31">
            <a:extLst>
              <a:ext uri="{FF2B5EF4-FFF2-40B4-BE49-F238E27FC236}">
                <a16:creationId xmlns:a16="http://schemas.microsoft.com/office/drawing/2014/main" id="{288475A5-4A00-FA48-6277-F968958AA93D}"/>
              </a:ext>
            </a:extLst>
          </p:cNvPr>
          <p:cNvSpPr txBox="1"/>
          <p:nvPr/>
        </p:nvSpPr>
        <p:spPr>
          <a:xfrm>
            <a:off x="3312188" y="2115417"/>
            <a:ext cx="5318907" cy="261610"/>
          </a:xfrm>
          <a:prstGeom prst="rect">
            <a:avLst/>
          </a:prstGeom>
          <a:noFill/>
        </p:spPr>
        <p:txBody>
          <a:bodyPr wrap="square">
            <a:spAutoFit/>
          </a:bodyPr>
          <a:lstStyle/>
          <a:p>
            <a:pPr>
              <a:defRPr sz="1100" b="0">
                <a:solidFill>
                  <a:srgbClr val="36454F"/>
                </a:solidFill>
              </a:defRPr>
            </a:pPr>
            <a:r>
              <a:t>D) Standalone hooks are more powerful</a:t>
            </a:r>
          </a:p>
        </p:txBody>
      </p:sp>
      <p:sp>
        <p:nvSpPr>
          <p:cNvPr id="33" name="TextBox 32">
            <a:extLst>
              <a:ext uri="{FF2B5EF4-FFF2-40B4-BE49-F238E27FC236}">
                <a16:creationId xmlns:a16="http://schemas.microsoft.com/office/drawing/2014/main" id="{A739F8AE-363E-B50C-3BFD-0909A5A00F9C}"/>
              </a:ext>
            </a:extLst>
          </p:cNvPr>
          <p:cNvSpPr txBox="1"/>
          <p:nvPr/>
        </p:nvSpPr>
        <p:spPr>
          <a:xfrm>
            <a:off x="3312188" y="3029817"/>
            <a:ext cx="5318907" cy="261610"/>
          </a:xfrm>
          <a:prstGeom prst="rect">
            <a:avLst/>
          </a:prstGeom>
          <a:noFill/>
        </p:spPr>
        <p:txBody>
          <a:bodyPr wrap="square">
            <a:spAutoFit/>
          </a:bodyPr>
          <a:lstStyle/>
          <a:p>
            <a:pPr>
              <a:defRPr sz="1100" b="0">
                <a:solidFill>
                  <a:srgbClr val="36454F"/>
                </a:solidFill>
              </a:defRPr>
            </a:pPr>
            <a:r>
              <a:t>A) Leave them as backup</a:t>
            </a:r>
          </a:p>
        </p:txBody>
      </p:sp>
      <p:sp>
        <p:nvSpPr>
          <p:cNvPr id="34" name="TextBox 33">
            <a:extLst>
              <a:ext uri="{FF2B5EF4-FFF2-40B4-BE49-F238E27FC236}">
                <a16:creationId xmlns:a16="http://schemas.microsoft.com/office/drawing/2014/main" id="{86777DBF-C3E3-0AC2-B236-82A07874CDBE}"/>
              </a:ext>
            </a:extLst>
          </p:cNvPr>
          <p:cNvSpPr txBox="1"/>
          <p:nvPr/>
        </p:nvSpPr>
        <p:spPr>
          <a:xfrm>
            <a:off x="3312188" y="3304137"/>
            <a:ext cx="5318907" cy="261610"/>
          </a:xfrm>
          <a:prstGeom prst="rect">
            <a:avLst/>
          </a:prstGeom>
          <a:noFill/>
        </p:spPr>
        <p:txBody>
          <a:bodyPr wrap="square">
            <a:spAutoFit/>
          </a:bodyPr>
          <a:lstStyle/>
          <a:p>
            <a:pPr>
              <a:defRPr sz="1100" b="0">
                <a:solidFill>
                  <a:srgbClr val="36454F"/>
                </a:solidFill>
              </a:defRPr>
            </a:pPr>
            <a:r>
              <a:t>B) Delete them immediately</a:t>
            </a:r>
          </a:p>
        </p:txBody>
      </p:sp>
      <p:sp>
        <p:nvSpPr>
          <p:cNvPr id="35" name="TextBox 34">
            <a:extLst>
              <a:ext uri="{FF2B5EF4-FFF2-40B4-BE49-F238E27FC236}">
                <a16:creationId xmlns:a16="http://schemas.microsoft.com/office/drawing/2014/main" id="{834EB027-29B8-B0A9-9F45-4CC6A63F1267}"/>
              </a:ext>
            </a:extLst>
          </p:cNvPr>
          <p:cNvSpPr txBox="1"/>
          <p:nvPr/>
        </p:nvSpPr>
        <p:spPr>
          <a:xfrm>
            <a:off x="3312188" y="3578457"/>
            <a:ext cx="5318907" cy="261610"/>
          </a:xfrm>
          <a:prstGeom prst="rect">
            <a:avLst/>
          </a:prstGeom>
          <a:noFill/>
        </p:spPr>
        <p:txBody>
          <a:bodyPr wrap="square">
            <a:spAutoFit/>
          </a:bodyPr>
          <a:lstStyle/>
          <a:p>
            <a:pPr>
              <a:defRPr sz="1100" b="1">
                <a:solidFill>
                  <a:srgbClr val="788C5D"/>
                </a:solidFill>
              </a:defRPr>
            </a:pPr>
            <a:r>
              <a:t>C) Remove them to avoid duplicates</a:t>
            </a:r>
          </a:p>
        </p:txBody>
      </p:sp>
      <p:sp>
        <p:nvSpPr>
          <p:cNvPr id="36" name="TextBox 35">
            <a:extLst>
              <a:ext uri="{FF2B5EF4-FFF2-40B4-BE49-F238E27FC236}">
                <a16:creationId xmlns:a16="http://schemas.microsoft.com/office/drawing/2014/main" id="{E5E867BE-E2AB-AC88-C005-167A902A92F1}"/>
              </a:ext>
            </a:extLst>
          </p:cNvPr>
          <p:cNvSpPr txBox="1"/>
          <p:nvPr/>
        </p:nvSpPr>
        <p:spPr>
          <a:xfrm>
            <a:off x="3312188" y="3852777"/>
            <a:ext cx="5318907" cy="261610"/>
          </a:xfrm>
          <a:prstGeom prst="rect">
            <a:avLst/>
          </a:prstGeom>
          <a:noFill/>
        </p:spPr>
        <p:txBody>
          <a:bodyPr wrap="square">
            <a:spAutoFit/>
          </a:bodyPr>
          <a:lstStyle/>
          <a:p>
            <a:pPr>
              <a:defRPr sz="1100" b="0">
                <a:solidFill>
                  <a:srgbClr val="36454F"/>
                </a:solidFill>
              </a:defRPr>
            </a:pPr>
            <a:r>
              <a:t>D) Keep both for flexibility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509C707-1D74-0B8E-EE5A-EF66FB234C99}"/>
              </a:ext>
            </a:extLst>
          </p:cNvPr>
          <p:cNvSpPr txBox="1"/>
          <p:nvPr/>
        </p:nvSpPr>
        <p:spPr>
          <a:xfrm>
            <a:off x="457200" y="502920"/>
            <a:ext cx="3530325" cy="584775"/>
          </a:xfrm>
          <a:prstGeom prst="rect">
            <a:avLst/>
          </a:prstGeom>
          <a:noFill/>
        </p:spPr>
        <p:txBody>
          <a:bodyPr wrap="none">
            <a:spAutoFit/>
          </a:bodyPr>
          <a:lstStyle/>
          <a:p>
            <a:pPr>
              <a:defRPr sz="3200" b="1">
                <a:solidFill>
                  <a:srgbClr val="141413"/>
                </a:solidFill>
              </a:defRPr>
            </a:pPr>
            <a:r>
              <a:rPr dirty="0"/>
              <a:t>Module </a:t>
            </a:r>
            <a:r>
              <a:rPr lang="en-US" dirty="0"/>
              <a:t>8</a:t>
            </a:r>
            <a:r>
              <a:rPr dirty="0"/>
              <a:t> Summary</a:t>
            </a:r>
          </a:p>
        </p:txBody>
      </p:sp>
      <p:sp>
        <p:nvSpPr>
          <p:cNvPr id="8" name="TextBox 7">
            <a:extLst>
              <a:ext uri="{FF2B5EF4-FFF2-40B4-BE49-F238E27FC236}">
                <a16:creationId xmlns:a16="http://schemas.microsoft.com/office/drawing/2014/main" id="{A2CE0075-2D0D-9C9A-94F0-A5988E49BE04}"/>
              </a:ext>
            </a:extLst>
          </p:cNvPr>
          <p:cNvSpPr txBox="1"/>
          <p:nvPr/>
        </p:nvSpPr>
        <p:spPr>
          <a:xfrm>
            <a:off x="457200" y="1051560"/>
            <a:ext cx="2622000" cy="369332"/>
          </a:xfrm>
          <a:prstGeom prst="rect">
            <a:avLst/>
          </a:prstGeom>
          <a:noFill/>
        </p:spPr>
        <p:txBody>
          <a:bodyPr wrap="none">
            <a:spAutoFit/>
          </a:bodyPr>
          <a:lstStyle/>
          <a:p>
            <a:pPr>
              <a:defRPr sz="1800" i="1">
                <a:solidFill>
                  <a:srgbClr val="36454F"/>
                </a:solidFill>
              </a:defRPr>
            </a:pPr>
            <a:r>
              <a:rPr lang="en-US" dirty="0"/>
              <a:t>Converting Configurations</a:t>
            </a:r>
          </a:p>
        </p:txBody>
      </p:sp>
      <p:sp>
        <p:nvSpPr>
          <p:cNvPr id="9" name="TextBox 8">
            <a:extLst>
              <a:ext uri="{FF2B5EF4-FFF2-40B4-BE49-F238E27FC236}">
                <a16:creationId xmlns:a16="http://schemas.microsoft.com/office/drawing/2014/main" id="{F12B840C-2B31-C59A-839F-65D004C02212}"/>
              </a:ext>
            </a:extLst>
          </p:cNvPr>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10" name="TextBox 9">
            <a:extLst>
              <a:ext uri="{FF2B5EF4-FFF2-40B4-BE49-F238E27FC236}">
                <a16:creationId xmlns:a16="http://schemas.microsoft.com/office/drawing/2014/main" id="{BCA32A49-3956-9915-88FD-06809EB268C6}"/>
              </a:ext>
            </a:extLst>
          </p:cNvPr>
          <p:cNvSpPr txBox="1"/>
          <p:nvPr/>
        </p:nvSpPr>
        <p:spPr>
          <a:xfrm>
            <a:off x="457200" y="2103120"/>
            <a:ext cx="5389418" cy="2964914"/>
          </a:xfrm>
          <a:prstGeom prst="rect">
            <a:avLst/>
          </a:prstGeom>
          <a:noFill/>
        </p:spPr>
        <p:txBody>
          <a:bodyPr wrap="square">
            <a:spAutoFit/>
          </a:bodyPr>
          <a:lstStyle/>
          <a:p>
            <a:pPr>
              <a:spcBef>
                <a:spcPts val="800"/>
              </a:spcBef>
              <a:defRPr sz="1600">
                <a:solidFill>
                  <a:srgbClr val="141413"/>
                </a:solidFill>
              </a:defRPr>
            </a:pPr>
            <a:r>
              <a:rPr lang="en-US" dirty="0"/>
              <a:t>• Convert when: team asks for configs, manually copying between projects, ready to share</a:t>
            </a:r>
          </a:p>
          <a:p>
            <a:pPr>
              <a:spcBef>
                <a:spcPts val="800"/>
              </a:spcBef>
              <a:defRPr sz="1600">
                <a:solidFill>
                  <a:srgbClr val="141413"/>
                </a:solidFill>
              </a:defRPr>
            </a:pPr>
            <a:r>
              <a:rPr lang="en-US" dirty="0"/>
              <a:t>• Migration: create structure → copy files → migrate hooks → test → clean up</a:t>
            </a:r>
          </a:p>
          <a:p>
            <a:pPr>
              <a:spcBef>
                <a:spcPts val="800"/>
              </a:spcBef>
              <a:defRPr sz="1600">
                <a:solidFill>
                  <a:srgbClr val="141413"/>
                </a:solidFill>
              </a:defRPr>
            </a:pPr>
            <a:r>
              <a:rPr lang="en-US" dirty="0"/>
              <a:t>• Hook format unchanged, just moves from </a:t>
            </a:r>
            <a:r>
              <a:rPr lang="en-US" dirty="0" err="1"/>
              <a:t>settings.json</a:t>
            </a:r>
            <a:r>
              <a:rPr lang="en-US" dirty="0"/>
              <a:t> to hooks/</a:t>
            </a:r>
            <a:r>
              <a:rPr lang="en-US" dirty="0" err="1"/>
              <a:t>hooks.json</a:t>
            </a:r>
            <a:endParaRPr lang="en-US" dirty="0"/>
          </a:p>
          <a:p>
            <a:pPr>
              <a:spcBef>
                <a:spcPts val="800"/>
              </a:spcBef>
              <a:defRPr sz="1600">
                <a:solidFill>
                  <a:srgbClr val="141413"/>
                </a:solidFill>
              </a:defRPr>
            </a:pPr>
            <a:r>
              <a:rPr lang="en-US" dirty="0"/>
              <a:t>• Remove original .</a:t>
            </a:r>
            <a:r>
              <a:rPr lang="en-US" dirty="0" err="1"/>
              <a:t>claude</a:t>
            </a:r>
            <a:r>
              <a:rPr lang="en-US" dirty="0"/>
              <a:t>/ files after successful migration to prevent duplicates</a:t>
            </a:r>
          </a:p>
          <a:p>
            <a:pPr>
              <a:spcBef>
                <a:spcPts val="800"/>
              </a:spcBef>
              <a:defRPr sz="1600">
                <a:solidFill>
                  <a:srgbClr val="141413"/>
                </a:solidFill>
              </a:defRPr>
            </a:pPr>
            <a:r>
              <a:rPr lang="en-US" dirty="0"/>
              <a:t>• Commands become </a:t>
            </a:r>
            <a:r>
              <a:rPr lang="en-US" dirty="0" err="1"/>
              <a:t>namespaced</a:t>
            </a:r>
            <a:r>
              <a:rPr lang="en-US" dirty="0"/>
              <a:t>: /</a:t>
            </a:r>
            <a:r>
              <a:rPr lang="en-US" dirty="0" err="1"/>
              <a:t>cmd</a:t>
            </a:r>
            <a:r>
              <a:rPr lang="en-US" dirty="0"/>
              <a:t> becomes /</a:t>
            </a:r>
            <a:r>
              <a:rPr lang="en-US" dirty="0" err="1"/>
              <a:t>plugin-name:cmd</a:t>
            </a:r>
            <a:endParaRPr lang="en-US" dirty="0"/>
          </a:p>
        </p:txBody>
      </p:sp>
      <p:sp>
        <p:nvSpPr>
          <p:cNvPr id="11" name="Rectangle 10">
            <a:extLst>
              <a:ext uri="{FF2B5EF4-FFF2-40B4-BE49-F238E27FC236}">
                <a16:creationId xmlns:a16="http://schemas.microsoft.com/office/drawing/2014/main" id="{ED4BF7E6-033C-7764-6AE3-4BFBEA3DED2D}"/>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Graphic 11" descr="Key with solid fill">
            <a:extLst>
              <a:ext uri="{FF2B5EF4-FFF2-40B4-BE49-F238E27FC236}">
                <a16:creationId xmlns:a16="http://schemas.microsoft.com/office/drawing/2014/main" id="{42812623-D9F6-FB68-F974-A2848AD43E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6A9BCC"/>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A376CC0-2219-6608-17AE-05D21568574F}"/>
              </a:ext>
            </a:extLst>
          </p:cNvPr>
          <p:cNvSpPr txBox="1"/>
          <p:nvPr/>
        </p:nvSpPr>
        <p:spPr>
          <a:xfrm>
            <a:off x="609600" y="655320"/>
            <a:ext cx="7120860" cy="553998"/>
          </a:xfrm>
          <a:prstGeom prst="rect">
            <a:avLst/>
          </a:prstGeom>
          <a:noFill/>
        </p:spPr>
        <p:txBody>
          <a:bodyPr wrap="none">
            <a:spAutoFit/>
          </a:bodyPr>
          <a:lstStyle/>
          <a:p>
            <a:pPr>
              <a:defRPr sz="3000" b="1">
                <a:solidFill>
                  <a:srgbClr val="141413"/>
                </a:solidFill>
              </a:defRPr>
            </a:pPr>
            <a:r>
              <a:rPr dirty="0">
                <a:solidFill>
                  <a:schemeClr val="bg1"/>
                </a:solidFill>
              </a:rPr>
              <a:t>Module </a:t>
            </a:r>
            <a:r>
              <a:rPr lang="en-US" dirty="0">
                <a:solidFill>
                  <a:schemeClr val="bg1"/>
                </a:solidFill>
              </a:rPr>
              <a:t>9</a:t>
            </a:r>
            <a:r>
              <a:rPr dirty="0">
                <a:solidFill>
                  <a:schemeClr val="bg1"/>
                </a:solidFill>
              </a:rPr>
              <a:t>: </a:t>
            </a:r>
            <a:r>
              <a:rPr lang="en-US" dirty="0">
                <a:solidFill>
                  <a:schemeClr val="bg1"/>
                </a:solidFill>
              </a:rPr>
              <a:t>Lab: Converting Hooks to Plugins</a:t>
            </a:r>
          </a:p>
        </p:txBody>
      </p:sp>
      <p:sp>
        <p:nvSpPr>
          <p:cNvPr id="8" name="TextBox 7">
            <a:extLst>
              <a:ext uri="{FF2B5EF4-FFF2-40B4-BE49-F238E27FC236}">
                <a16:creationId xmlns:a16="http://schemas.microsoft.com/office/drawing/2014/main" id="{BB56E2EA-1564-6B8A-AE83-2EEE8929B403}"/>
              </a:ext>
            </a:extLst>
          </p:cNvPr>
          <p:cNvSpPr txBox="1"/>
          <p:nvPr/>
        </p:nvSpPr>
        <p:spPr>
          <a:xfrm>
            <a:off x="609600" y="1203960"/>
            <a:ext cx="2120196" cy="400110"/>
          </a:xfrm>
          <a:prstGeom prst="rect">
            <a:avLst/>
          </a:prstGeom>
          <a:noFill/>
        </p:spPr>
        <p:txBody>
          <a:bodyPr wrap="none">
            <a:spAutoFit/>
          </a:bodyPr>
          <a:lstStyle/>
          <a:p>
            <a:pPr>
              <a:defRPr sz="2000">
                <a:solidFill>
                  <a:srgbClr val="36454F"/>
                </a:solidFill>
              </a:defRPr>
            </a:pPr>
            <a:r>
              <a:rPr lang="en-US" dirty="0">
                <a:solidFill>
                  <a:schemeClr val="bg1"/>
                </a:solidFill>
              </a:rPr>
              <a:t>Hands-On Exercise</a:t>
            </a:r>
          </a:p>
        </p:txBody>
      </p:sp>
      <p:sp>
        <p:nvSpPr>
          <p:cNvPr id="9" name="TextBox 8">
            <a:extLst>
              <a:ext uri="{FF2B5EF4-FFF2-40B4-BE49-F238E27FC236}">
                <a16:creationId xmlns:a16="http://schemas.microsoft.com/office/drawing/2014/main" id="{BCD6529E-D0D7-2B39-FA3A-E25011C82138}"/>
              </a:ext>
            </a:extLst>
          </p:cNvPr>
          <p:cNvSpPr txBox="1"/>
          <p:nvPr/>
        </p:nvSpPr>
        <p:spPr>
          <a:xfrm>
            <a:off x="609600" y="1798320"/>
            <a:ext cx="4845750" cy="1323439"/>
          </a:xfrm>
          <a:prstGeom prst="rect">
            <a:avLst/>
          </a:prstGeom>
          <a:noFill/>
        </p:spPr>
        <p:txBody>
          <a:bodyPr wrap="none">
            <a:spAutoFit/>
          </a:bodyPr>
          <a:lstStyle/>
          <a:p>
            <a:pPr>
              <a:defRPr sz="1600">
                <a:solidFill>
                  <a:srgbClr val="141413"/>
                </a:solidFill>
              </a:defRPr>
            </a:pPr>
            <a:r>
              <a:rPr lang="en-US" dirty="0">
                <a:solidFill>
                  <a:schemeClr val="bg1"/>
                </a:solidFill>
              </a:rPr>
              <a:t>• Create plugin structure from existing config</a:t>
            </a:r>
          </a:p>
          <a:p>
            <a:pPr>
              <a:defRPr sz="1600">
                <a:solidFill>
                  <a:srgbClr val="141413"/>
                </a:solidFill>
              </a:defRPr>
            </a:pPr>
            <a:r>
              <a:rPr lang="en-US" dirty="0">
                <a:solidFill>
                  <a:schemeClr val="bg1"/>
                </a:solidFill>
              </a:rPr>
              <a:t>• Copy commands and skills to plugin</a:t>
            </a:r>
          </a:p>
          <a:p>
            <a:pPr>
              <a:defRPr sz="1600">
                <a:solidFill>
                  <a:srgbClr val="141413"/>
                </a:solidFill>
              </a:defRPr>
            </a:pPr>
            <a:r>
              <a:rPr lang="en-US" dirty="0">
                <a:solidFill>
                  <a:schemeClr val="bg1"/>
                </a:solidFill>
              </a:rPr>
              <a:t>• Migrate hooks from </a:t>
            </a:r>
            <a:r>
              <a:rPr lang="en-US" dirty="0" err="1">
                <a:solidFill>
                  <a:schemeClr val="bg1"/>
                </a:solidFill>
              </a:rPr>
              <a:t>settings.json</a:t>
            </a:r>
            <a:r>
              <a:rPr lang="en-US" dirty="0">
                <a:solidFill>
                  <a:schemeClr val="bg1"/>
                </a:solidFill>
              </a:rPr>
              <a:t> to </a:t>
            </a:r>
            <a:r>
              <a:rPr lang="en-US" dirty="0" err="1">
                <a:solidFill>
                  <a:schemeClr val="bg1"/>
                </a:solidFill>
              </a:rPr>
              <a:t>hooks.json</a:t>
            </a:r>
            <a:r>
              <a:rPr lang="en-US" dirty="0">
                <a:solidFill>
                  <a:schemeClr val="bg1"/>
                </a:solidFill>
              </a:rPr>
              <a:t> format</a:t>
            </a:r>
          </a:p>
          <a:p>
            <a:pPr>
              <a:defRPr sz="1600">
                <a:solidFill>
                  <a:srgbClr val="141413"/>
                </a:solidFill>
              </a:defRPr>
            </a:pPr>
            <a:r>
              <a:rPr lang="en-US" dirty="0">
                <a:solidFill>
                  <a:schemeClr val="bg1"/>
                </a:solidFill>
              </a:rPr>
              <a:t>• Test migrated plugin to ensure functionality</a:t>
            </a:r>
          </a:p>
          <a:p>
            <a:pPr>
              <a:defRPr sz="1600">
                <a:solidFill>
                  <a:srgbClr val="141413"/>
                </a:solidFill>
              </a:defRPr>
            </a:pPr>
            <a:r>
              <a:rPr lang="en-US" dirty="0">
                <a:solidFill>
                  <a:schemeClr val="bg1"/>
                </a:solidFill>
              </a:rPr>
              <a:t>• Verify hooks trigger correctly</a:t>
            </a:r>
          </a:p>
        </p:txBody>
      </p:sp>
      <p:sp>
        <p:nvSpPr>
          <p:cNvPr id="10" name="Rounded Rectangle 9">
            <a:extLst>
              <a:ext uri="{FF2B5EF4-FFF2-40B4-BE49-F238E27FC236}">
                <a16:creationId xmlns:a16="http://schemas.microsoft.com/office/drawing/2014/main" id="{46B5D8E1-7662-0628-3C71-0CF7AF64B62B}"/>
              </a:ext>
            </a:extLst>
          </p:cNvPr>
          <p:cNvSpPr/>
          <p:nvPr/>
        </p:nvSpPr>
        <p:spPr>
          <a:xfrm>
            <a:off x="7467600" y="4541520"/>
            <a:ext cx="1371600" cy="457200"/>
          </a:xfrm>
          <a:prstGeom prst="round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41413"/>
                </a:solidFill>
              </a:defRPr>
            </a:pPr>
            <a:r>
              <a:rPr dirty="0">
                <a:solidFill>
                  <a:schemeClr val="tx1"/>
                </a:solidFill>
              </a:rPr>
              <a:t>⏱ </a:t>
            </a:r>
            <a:r>
              <a:rPr lang="en-US" dirty="0">
                <a:solidFill>
                  <a:schemeClr val="tx1"/>
                </a:solidFill>
              </a:rPr>
              <a:t>30</a:t>
            </a:r>
            <a:r>
              <a:rPr dirty="0">
                <a:solidFill>
                  <a:schemeClr val="tx1"/>
                </a:solidFill>
              </a:rPr>
              <a:t> minutes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Lab Steps: Hook Migration</a:t>
            </a:r>
          </a:p>
        </p:txBody>
      </p:sp>
      <p:sp>
        <p:nvSpPr>
          <p:cNvPr id="3" name="TextBox 2"/>
          <p:cNvSpPr txBox="1"/>
          <p:nvPr/>
        </p:nvSpPr>
        <p:spPr>
          <a:xfrm>
            <a:off x="731520" y="1188720"/>
            <a:ext cx="2103120" cy="228600"/>
          </a:xfrm>
          <a:prstGeom prst="rect">
            <a:avLst/>
          </a:prstGeom>
          <a:noFill/>
        </p:spPr>
        <p:txBody>
          <a:bodyPr wrap="none">
            <a:spAutoFit/>
          </a:bodyPr>
          <a:lstStyle/>
          <a:p>
            <a:pPr>
              <a:defRPr sz="1100" b="1">
                <a:solidFill>
                  <a:srgbClr val="141413"/>
                </a:solidFill>
              </a:defRPr>
            </a:pPr>
            <a:r>
              <a:t>Step 1: Create plugin structure</a:t>
            </a:r>
          </a:p>
        </p:txBody>
      </p:sp>
      <p:sp>
        <p:nvSpPr>
          <p:cNvPr id="4" name="Rectangle 3"/>
          <p:cNvSpPr/>
          <p:nvPr/>
        </p:nvSpPr>
        <p:spPr>
          <a:xfrm>
            <a:off x="2926080" y="1188720"/>
            <a:ext cx="3840480" cy="2286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900">
                <a:solidFill>
                  <a:srgbClr val="FFFFFF"/>
                </a:solidFill>
                <a:latin typeface="Consolas"/>
              </a:defRPr>
            </a:pPr>
            <a:r>
              <a:t>mkdir my-plugin &amp;&amp; mkdir my-plugin/.claude-plugin</a:t>
            </a:r>
          </a:p>
        </p:txBody>
      </p:sp>
      <p:sp>
        <p:nvSpPr>
          <p:cNvPr id="5" name="TextBox 4"/>
          <p:cNvSpPr txBox="1"/>
          <p:nvPr/>
        </p:nvSpPr>
        <p:spPr>
          <a:xfrm>
            <a:off x="6858000" y="1188720"/>
            <a:ext cx="1554480" cy="228600"/>
          </a:xfrm>
          <a:prstGeom prst="rect">
            <a:avLst/>
          </a:prstGeom>
          <a:noFill/>
        </p:spPr>
        <p:txBody>
          <a:bodyPr wrap="square">
            <a:spAutoFit/>
          </a:bodyPr>
          <a:lstStyle/>
          <a:p>
            <a:pPr>
              <a:defRPr sz="900">
                <a:solidFill>
                  <a:srgbClr val="36454F"/>
                </a:solidFill>
              </a:defRPr>
            </a:pPr>
            <a:r>
              <a:t>Basic plugin skeleton</a:t>
            </a:r>
          </a:p>
        </p:txBody>
      </p:sp>
      <p:sp>
        <p:nvSpPr>
          <p:cNvPr id="6" name="TextBox 5"/>
          <p:cNvSpPr txBox="1"/>
          <p:nvPr/>
        </p:nvSpPr>
        <p:spPr>
          <a:xfrm>
            <a:off x="731520" y="1645920"/>
            <a:ext cx="2103120" cy="228600"/>
          </a:xfrm>
          <a:prstGeom prst="rect">
            <a:avLst/>
          </a:prstGeom>
          <a:noFill/>
        </p:spPr>
        <p:txBody>
          <a:bodyPr wrap="none">
            <a:spAutoFit/>
          </a:bodyPr>
          <a:lstStyle/>
          <a:p>
            <a:pPr>
              <a:defRPr sz="1100" b="1">
                <a:solidFill>
                  <a:srgbClr val="141413"/>
                </a:solidFill>
              </a:defRPr>
            </a:pPr>
            <a:r>
              <a:t>Step 2: Write manifest</a:t>
            </a:r>
          </a:p>
        </p:txBody>
      </p:sp>
      <p:sp>
        <p:nvSpPr>
          <p:cNvPr id="7" name="TextBox 6"/>
          <p:cNvSpPr txBox="1"/>
          <p:nvPr/>
        </p:nvSpPr>
        <p:spPr>
          <a:xfrm>
            <a:off x="2926080" y="1645920"/>
            <a:ext cx="3840480" cy="228600"/>
          </a:xfrm>
          <a:prstGeom prst="rect">
            <a:avLst/>
          </a:prstGeom>
          <a:noFill/>
        </p:spPr>
        <p:txBody>
          <a:bodyPr wrap="square">
            <a:spAutoFit/>
          </a:bodyPr>
          <a:lstStyle/>
          <a:p>
            <a:pPr>
              <a:defRPr sz="1000" i="1">
                <a:solidFill>
                  <a:srgbClr val="36454F"/>
                </a:solidFill>
              </a:defRPr>
            </a:pPr>
            <a:r>
              <a:t>Create plugin.json with name, description, version</a:t>
            </a:r>
          </a:p>
        </p:txBody>
      </p:sp>
      <p:sp>
        <p:nvSpPr>
          <p:cNvPr id="8" name="TextBox 7"/>
          <p:cNvSpPr txBox="1"/>
          <p:nvPr/>
        </p:nvSpPr>
        <p:spPr>
          <a:xfrm>
            <a:off x="6858000" y="1645920"/>
            <a:ext cx="1554480" cy="228600"/>
          </a:xfrm>
          <a:prstGeom prst="rect">
            <a:avLst/>
          </a:prstGeom>
          <a:noFill/>
        </p:spPr>
        <p:txBody>
          <a:bodyPr wrap="square">
            <a:spAutoFit/>
          </a:bodyPr>
          <a:lstStyle/>
          <a:p>
            <a:pPr>
              <a:defRPr sz="900">
                <a:solidFill>
                  <a:srgbClr val="36454F"/>
                </a:solidFill>
              </a:defRPr>
            </a:pPr>
            <a:r>
              <a:t>Plugin identity</a:t>
            </a:r>
          </a:p>
        </p:txBody>
      </p:sp>
      <p:sp>
        <p:nvSpPr>
          <p:cNvPr id="9" name="TextBox 8"/>
          <p:cNvSpPr txBox="1"/>
          <p:nvPr/>
        </p:nvSpPr>
        <p:spPr>
          <a:xfrm>
            <a:off x="731520" y="2103120"/>
            <a:ext cx="2103120" cy="228600"/>
          </a:xfrm>
          <a:prstGeom prst="rect">
            <a:avLst/>
          </a:prstGeom>
          <a:noFill/>
        </p:spPr>
        <p:txBody>
          <a:bodyPr wrap="none">
            <a:spAutoFit/>
          </a:bodyPr>
          <a:lstStyle/>
          <a:p>
            <a:pPr>
              <a:defRPr sz="1100" b="1">
                <a:solidFill>
                  <a:srgbClr val="141413"/>
                </a:solidFill>
              </a:defRPr>
            </a:pPr>
            <a:r>
              <a:t>Step 3: Copy existing files</a:t>
            </a:r>
          </a:p>
        </p:txBody>
      </p:sp>
      <p:sp>
        <p:nvSpPr>
          <p:cNvPr id="10" name="Rectangle 9"/>
          <p:cNvSpPr/>
          <p:nvPr/>
        </p:nvSpPr>
        <p:spPr>
          <a:xfrm>
            <a:off x="2926080" y="2103120"/>
            <a:ext cx="3840480" cy="2286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900">
                <a:solidFill>
                  <a:srgbClr val="FFFFFF"/>
                </a:solidFill>
                <a:latin typeface="Consolas"/>
              </a:defRPr>
            </a:pPr>
            <a:r>
              <a:t>cp -r .claude/commands my-plugin/</a:t>
            </a:r>
          </a:p>
        </p:txBody>
      </p:sp>
      <p:sp>
        <p:nvSpPr>
          <p:cNvPr id="11" name="TextBox 10"/>
          <p:cNvSpPr txBox="1"/>
          <p:nvPr/>
        </p:nvSpPr>
        <p:spPr>
          <a:xfrm>
            <a:off x="6858000" y="2103120"/>
            <a:ext cx="1554480" cy="228600"/>
          </a:xfrm>
          <a:prstGeom prst="rect">
            <a:avLst/>
          </a:prstGeom>
          <a:noFill/>
        </p:spPr>
        <p:txBody>
          <a:bodyPr wrap="square">
            <a:spAutoFit/>
          </a:bodyPr>
          <a:lstStyle/>
          <a:p>
            <a:pPr>
              <a:defRPr sz="900">
                <a:solidFill>
                  <a:srgbClr val="36454F"/>
                </a:solidFill>
              </a:defRPr>
            </a:pPr>
            <a:r>
              <a:t>Migrate commands</a:t>
            </a:r>
          </a:p>
        </p:txBody>
      </p:sp>
      <p:sp>
        <p:nvSpPr>
          <p:cNvPr id="12" name="TextBox 11"/>
          <p:cNvSpPr txBox="1"/>
          <p:nvPr/>
        </p:nvSpPr>
        <p:spPr>
          <a:xfrm>
            <a:off x="731520" y="2560320"/>
            <a:ext cx="2103120" cy="228600"/>
          </a:xfrm>
          <a:prstGeom prst="rect">
            <a:avLst/>
          </a:prstGeom>
          <a:noFill/>
        </p:spPr>
        <p:txBody>
          <a:bodyPr wrap="none">
            <a:spAutoFit/>
          </a:bodyPr>
          <a:lstStyle/>
          <a:p>
            <a:pPr>
              <a:defRPr sz="1100" b="1">
                <a:solidFill>
                  <a:srgbClr val="141413"/>
                </a:solidFill>
              </a:defRPr>
            </a:pPr>
            <a:r>
              <a:t>Step 4: Create hooks directory</a:t>
            </a:r>
          </a:p>
        </p:txBody>
      </p:sp>
      <p:sp>
        <p:nvSpPr>
          <p:cNvPr id="13" name="Rectangle 12"/>
          <p:cNvSpPr/>
          <p:nvPr/>
        </p:nvSpPr>
        <p:spPr>
          <a:xfrm>
            <a:off x="2926080" y="2560320"/>
            <a:ext cx="3840480" cy="2286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900">
                <a:solidFill>
                  <a:srgbClr val="FFFFFF"/>
                </a:solidFill>
                <a:latin typeface="Consolas"/>
              </a:defRPr>
            </a:pPr>
            <a:r>
              <a:t>mkdir my-plugin/hooks</a:t>
            </a:r>
          </a:p>
        </p:txBody>
      </p:sp>
      <p:sp>
        <p:nvSpPr>
          <p:cNvPr id="14" name="TextBox 13"/>
          <p:cNvSpPr txBox="1"/>
          <p:nvPr/>
        </p:nvSpPr>
        <p:spPr>
          <a:xfrm>
            <a:off x="6858000" y="2560320"/>
            <a:ext cx="1554480" cy="228600"/>
          </a:xfrm>
          <a:prstGeom prst="rect">
            <a:avLst/>
          </a:prstGeom>
          <a:noFill/>
        </p:spPr>
        <p:txBody>
          <a:bodyPr wrap="square">
            <a:spAutoFit/>
          </a:bodyPr>
          <a:lstStyle/>
          <a:p>
            <a:pPr>
              <a:defRPr sz="900">
                <a:solidFill>
                  <a:srgbClr val="36454F"/>
                </a:solidFill>
              </a:defRPr>
            </a:pPr>
            <a:r>
              <a:t>Hooks go here</a:t>
            </a:r>
          </a:p>
        </p:txBody>
      </p:sp>
      <p:sp>
        <p:nvSpPr>
          <p:cNvPr id="15" name="TextBox 14"/>
          <p:cNvSpPr txBox="1"/>
          <p:nvPr/>
        </p:nvSpPr>
        <p:spPr>
          <a:xfrm>
            <a:off x="731520" y="3017520"/>
            <a:ext cx="2103120" cy="228600"/>
          </a:xfrm>
          <a:prstGeom prst="rect">
            <a:avLst/>
          </a:prstGeom>
          <a:noFill/>
        </p:spPr>
        <p:txBody>
          <a:bodyPr wrap="none">
            <a:spAutoFit/>
          </a:bodyPr>
          <a:lstStyle/>
          <a:p>
            <a:pPr>
              <a:defRPr sz="1100" b="1">
                <a:solidFill>
                  <a:srgbClr val="141413"/>
                </a:solidFill>
              </a:defRPr>
            </a:pPr>
            <a:r>
              <a:t>Step 5: Extract hooks config</a:t>
            </a:r>
          </a:p>
        </p:txBody>
      </p:sp>
      <p:sp>
        <p:nvSpPr>
          <p:cNvPr id="16" name="TextBox 15"/>
          <p:cNvSpPr txBox="1"/>
          <p:nvPr/>
        </p:nvSpPr>
        <p:spPr>
          <a:xfrm>
            <a:off x="2926080" y="3017520"/>
            <a:ext cx="3840480" cy="228600"/>
          </a:xfrm>
          <a:prstGeom prst="rect">
            <a:avLst/>
          </a:prstGeom>
          <a:noFill/>
        </p:spPr>
        <p:txBody>
          <a:bodyPr wrap="square">
            <a:spAutoFit/>
          </a:bodyPr>
          <a:lstStyle/>
          <a:p>
            <a:pPr>
              <a:defRPr sz="1000" i="1">
                <a:solidFill>
                  <a:srgbClr val="36454F"/>
                </a:solidFill>
              </a:defRPr>
            </a:pPr>
            <a:r>
              <a:t>Copy hooks object from settings.json</a:t>
            </a:r>
          </a:p>
        </p:txBody>
      </p:sp>
      <p:sp>
        <p:nvSpPr>
          <p:cNvPr id="17" name="TextBox 16"/>
          <p:cNvSpPr txBox="1"/>
          <p:nvPr/>
        </p:nvSpPr>
        <p:spPr>
          <a:xfrm>
            <a:off x="6858000" y="3017520"/>
            <a:ext cx="1554480" cy="228600"/>
          </a:xfrm>
          <a:prstGeom prst="rect">
            <a:avLst/>
          </a:prstGeom>
          <a:noFill/>
        </p:spPr>
        <p:txBody>
          <a:bodyPr wrap="square">
            <a:spAutoFit/>
          </a:bodyPr>
          <a:lstStyle/>
          <a:p>
            <a:pPr>
              <a:defRPr sz="900">
                <a:solidFill>
                  <a:srgbClr val="36454F"/>
                </a:solidFill>
              </a:defRPr>
            </a:pPr>
            <a:r>
              <a:t>Same format</a:t>
            </a:r>
          </a:p>
        </p:txBody>
      </p:sp>
      <p:sp>
        <p:nvSpPr>
          <p:cNvPr id="18" name="TextBox 17"/>
          <p:cNvSpPr txBox="1"/>
          <p:nvPr/>
        </p:nvSpPr>
        <p:spPr>
          <a:xfrm>
            <a:off x="731520" y="3474720"/>
            <a:ext cx="2103120" cy="228600"/>
          </a:xfrm>
          <a:prstGeom prst="rect">
            <a:avLst/>
          </a:prstGeom>
          <a:noFill/>
        </p:spPr>
        <p:txBody>
          <a:bodyPr wrap="none">
            <a:spAutoFit/>
          </a:bodyPr>
          <a:lstStyle/>
          <a:p>
            <a:pPr>
              <a:defRPr sz="1100" b="1">
                <a:solidFill>
                  <a:srgbClr val="141413"/>
                </a:solidFill>
              </a:defRPr>
            </a:pPr>
            <a:r>
              <a:t>Step 6: Create hooks.json</a:t>
            </a:r>
          </a:p>
        </p:txBody>
      </p:sp>
      <p:sp>
        <p:nvSpPr>
          <p:cNvPr id="19" name="TextBox 18"/>
          <p:cNvSpPr txBox="1"/>
          <p:nvPr/>
        </p:nvSpPr>
        <p:spPr>
          <a:xfrm>
            <a:off x="2926080" y="3474720"/>
            <a:ext cx="3840480" cy="228600"/>
          </a:xfrm>
          <a:prstGeom prst="rect">
            <a:avLst/>
          </a:prstGeom>
          <a:noFill/>
        </p:spPr>
        <p:txBody>
          <a:bodyPr wrap="square">
            <a:spAutoFit/>
          </a:bodyPr>
          <a:lstStyle/>
          <a:p>
            <a:pPr>
              <a:defRPr sz="1000" i="1">
                <a:solidFill>
                  <a:srgbClr val="36454F"/>
                </a:solidFill>
              </a:defRPr>
            </a:pPr>
            <a:r>
              <a:t>Paste into my-plugin/hooks/hooks.json</a:t>
            </a:r>
          </a:p>
        </p:txBody>
      </p:sp>
      <p:sp>
        <p:nvSpPr>
          <p:cNvPr id="20" name="TextBox 19"/>
          <p:cNvSpPr txBox="1"/>
          <p:nvPr/>
        </p:nvSpPr>
        <p:spPr>
          <a:xfrm>
            <a:off x="6858000" y="3474720"/>
            <a:ext cx="1554480" cy="228600"/>
          </a:xfrm>
          <a:prstGeom prst="rect">
            <a:avLst/>
          </a:prstGeom>
          <a:noFill/>
        </p:spPr>
        <p:txBody>
          <a:bodyPr wrap="square">
            <a:spAutoFit/>
          </a:bodyPr>
          <a:lstStyle/>
          <a:p>
            <a:pPr>
              <a:defRPr sz="900">
                <a:solidFill>
                  <a:srgbClr val="36454F"/>
                </a:solidFill>
              </a:defRPr>
            </a:pPr>
            <a:r>
              <a:t>Format unchanged</a:t>
            </a:r>
          </a:p>
        </p:txBody>
      </p:sp>
      <p:sp>
        <p:nvSpPr>
          <p:cNvPr id="21" name="TextBox 20"/>
          <p:cNvSpPr txBox="1"/>
          <p:nvPr/>
        </p:nvSpPr>
        <p:spPr>
          <a:xfrm>
            <a:off x="731520" y="3931920"/>
            <a:ext cx="2103120" cy="228600"/>
          </a:xfrm>
          <a:prstGeom prst="rect">
            <a:avLst/>
          </a:prstGeom>
          <a:noFill/>
        </p:spPr>
        <p:txBody>
          <a:bodyPr wrap="none">
            <a:spAutoFit/>
          </a:bodyPr>
          <a:lstStyle/>
          <a:p>
            <a:pPr>
              <a:defRPr sz="1100" b="1">
                <a:solidFill>
                  <a:srgbClr val="141413"/>
                </a:solidFill>
              </a:defRPr>
            </a:pPr>
            <a:r>
              <a:t>Step 7: Test migrated plugin</a:t>
            </a:r>
          </a:p>
        </p:txBody>
      </p:sp>
      <p:sp>
        <p:nvSpPr>
          <p:cNvPr id="22" name="Rectangle 21"/>
          <p:cNvSpPr/>
          <p:nvPr/>
        </p:nvSpPr>
        <p:spPr>
          <a:xfrm>
            <a:off x="2926080" y="3931920"/>
            <a:ext cx="3840480" cy="228600"/>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900">
                <a:solidFill>
                  <a:srgbClr val="FFFFFF"/>
                </a:solidFill>
                <a:latin typeface="Consolas"/>
              </a:defRPr>
            </a:pPr>
            <a:r>
              <a:t>claude --plugin-dir ./my-plugin</a:t>
            </a:r>
          </a:p>
        </p:txBody>
      </p:sp>
      <p:sp>
        <p:nvSpPr>
          <p:cNvPr id="23" name="TextBox 22"/>
          <p:cNvSpPr txBox="1"/>
          <p:nvPr/>
        </p:nvSpPr>
        <p:spPr>
          <a:xfrm>
            <a:off x="6858000" y="3931920"/>
            <a:ext cx="1554480" cy="228600"/>
          </a:xfrm>
          <a:prstGeom prst="rect">
            <a:avLst/>
          </a:prstGeom>
          <a:noFill/>
        </p:spPr>
        <p:txBody>
          <a:bodyPr wrap="square">
            <a:spAutoFit/>
          </a:bodyPr>
          <a:lstStyle/>
          <a:p>
            <a:pPr>
              <a:defRPr sz="900">
                <a:solidFill>
                  <a:srgbClr val="36454F"/>
                </a:solidFill>
              </a:defRPr>
            </a:pPr>
            <a:r>
              <a:t>Verify everything works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FC3BD49-6A91-1201-54A5-351796FA8048}"/>
              </a:ext>
            </a:extLst>
          </p:cNvPr>
          <p:cNvSpPr/>
          <p:nvPr/>
        </p:nvSpPr>
        <p:spPr>
          <a:xfrm>
            <a:off x="0" y="0"/>
            <a:ext cx="2632364" cy="5143500"/>
          </a:xfrm>
          <a:prstGeom prst="rect">
            <a:avLst/>
          </a:prstGeom>
          <a:solidFill>
            <a:srgbClr val="788C5D"/>
          </a:solidFill>
          <a:ln>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0DEF5AD-FD32-5EBE-9584-A7DACD50A6F3}"/>
              </a:ext>
            </a:extLst>
          </p:cNvPr>
          <p:cNvSpPr txBox="1"/>
          <p:nvPr/>
        </p:nvSpPr>
        <p:spPr>
          <a:xfrm>
            <a:off x="278911" y="3079865"/>
            <a:ext cx="2074542" cy="1569660"/>
          </a:xfrm>
          <a:prstGeom prst="rect">
            <a:avLst/>
          </a:prstGeom>
          <a:noFill/>
        </p:spPr>
        <p:txBody>
          <a:bodyPr wrap="none">
            <a:spAutoFit/>
          </a:bodyPr>
          <a:lstStyle/>
          <a:p>
            <a:pPr algn="ctr">
              <a:defRPr sz="3200" b="1">
                <a:solidFill>
                  <a:srgbClr val="141413"/>
                </a:solidFill>
              </a:defRPr>
            </a:pPr>
            <a:r>
              <a:rPr dirty="0">
                <a:solidFill>
                  <a:schemeClr val="bg1"/>
                </a:solidFill>
              </a:rPr>
              <a:t>Module </a:t>
            </a:r>
            <a:r>
              <a:rPr lang="en-US" dirty="0">
                <a:solidFill>
                  <a:schemeClr val="bg1"/>
                </a:solidFill>
              </a:rPr>
              <a:t>9</a:t>
            </a:r>
            <a:r>
              <a:rPr dirty="0">
                <a:solidFill>
                  <a:schemeClr val="bg1"/>
                </a:solidFill>
              </a:rPr>
              <a:t>:</a:t>
            </a:r>
            <a:endParaRPr lang="en-US" dirty="0">
              <a:solidFill>
                <a:schemeClr val="bg1"/>
              </a:solidFill>
            </a:endParaRPr>
          </a:p>
          <a:p>
            <a:pPr algn="ctr">
              <a:defRPr sz="3200" b="1">
                <a:solidFill>
                  <a:srgbClr val="141413"/>
                </a:solidFill>
              </a:defRPr>
            </a:pPr>
            <a:r>
              <a:rPr dirty="0">
                <a:solidFill>
                  <a:schemeClr val="bg1"/>
                </a:solidFill>
              </a:rPr>
              <a:t>Knowledge</a:t>
            </a:r>
            <a:endParaRPr lang="en-US" dirty="0">
              <a:solidFill>
                <a:schemeClr val="bg1"/>
              </a:solidFill>
            </a:endParaRPr>
          </a:p>
          <a:p>
            <a:pPr algn="ctr">
              <a:defRPr sz="3200" b="1">
                <a:solidFill>
                  <a:srgbClr val="141413"/>
                </a:solidFill>
              </a:defRPr>
            </a:pPr>
            <a:r>
              <a:rPr dirty="0">
                <a:solidFill>
                  <a:schemeClr val="bg1"/>
                </a:solidFill>
              </a:rPr>
              <a:t>Check</a:t>
            </a:r>
          </a:p>
        </p:txBody>
      </p:sp>
      <p:pic>
        <p:nvPicPr>
          <p:cNvPr id="12" name="Graphic 11" descr="Brain with solid fill">
            <a:extLst>
              <a:ext uri="{FF2B5EF4-FFF2-40B4-BE49-F238E27FC236}">
                <a16:creationId xmlns:a16="http://schemas.microsoft.com/office/drawing/2014/main" id="{0638F975-4E4F-72A6-2C13-3F4172CD69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818" y="2376055"/>
            <a:ext cx="703810" cy="703810"/>
          </a:xfrm>
          <a:prstGeom prst="rect">
            <a:avLst/>
          </a:prstGeom>
        </p:spPr>
      </p:pic>
      <p:sp>
        <p:nvSpPr>
          <p:cNvPr id="13" name="TextBox 12">
            <a:extLst>
              <a:ext uri="{FF2B5EF4-FFF2-40B4-BE49-F238E27FC236}">
                <a16:creationId xmlns:a16="http://schemas.microsoft.com/office/drawing/2014/main" id="{439FE189-67CD-0A02-014A-FEEA90ADEA56}"/>
              </a:ext>
            </a:extLst>
          </p:cNvPr>
          <p:cNvSpPr txBox="1"/>
          <p:nvPr/>
        </p:nvSpPr>
        <p:spPr>
          <a:xfrm>
            <a:off x="3129308" y="834391"/>
            <a:ext cx="5318907" cy="307777"/>
          </a:xfrm>
          <a:prstGeom prst="rect">
            <a:avLst/>
          </a:prstGeom>
          <a:noFill/>
        </p:spPr>
        <p:txBody>
          <a:bodyPr wrap="square">
            <a:spAutoFit/>
          </a:bodyPr>
          <a:lstStyle/>
          <a:p>
            <a:pPr>
              <a:defRPr sz="1400" b="1">
                <a:solidFill>
                  <a:srgbClr val="141413"/>
                </a:solidFill>
              </a:defRPr>
            </a:pPr>
            <a:r>
              <a:rPr lang="en-US" dirty="0"/>
              <a:t>What is the correct plugin structure for hooks?</a:t>
            </a:r>
          </a:p>
        </p:txBody>
      </p:sp>
      <p:sp>
        <p:nvSpPr>
          <p:cNvPr id="18" name="TextBox 17">
            <a:extLst>
              <a:ext uri="{FF2B5EF4-FFF2-40B4-BE49-F238E27FC236}">
                <a16:creationId xmlns:a16="http://schemas.microsoft.com/office/drawing/2014/main" id="{18C3CFC5-918F-7953-BF25-5BA280280F16}"/>
              </a:ext>
            </a:extLst>
          </p:cNvPr>
          <p:cNvSpPr txBox="1"/>
          <p:nvPr/>
        </p:nvSpPr>
        <p:spPr>
          <a:xfrm>
            <a:off x="3312188" y="1289443"/>
            <a:ext cx="5136027" cy="261610"/>
          </a:xfrm>
          <a:prstGeom prst="rect">
            <a:avLst/>
          </a:prstGeom>
          <a:noFill/>
        </p:spPr>
        <p:txBody>
          <a:bodyPr wrap="square">
            <a:spAutoFit/>
          </a:bodyPr>
          <a:lstStyle/>
          <a:p>
            <a:pPr>
              <a:defRPr sz="1100" b="0">
                <a:solidFill>
                  <a:srgbClr val="36454F"/>
                </a:solidFill>
              </a:defRPr>
            </a:pPr>
            <a:r>
              <a:rPr dirty="0"/>
              <a:t>A) </a:t>
            </a:r>
            <a:r>
              <a:rPr dirty="0" err="1"/>
              <a:t>hooks.json</a:t>
            </a:r>
            <a:r>
              <a:rPr dirty="0"/>
              <a:t> at plugin root</a:t>
            </a:r>
          </a:p>
        </p:txBody>
      </p:sp>
      <p:sp>
        <p:nvSpPr>
          <p:cNvPr id="19" name="TextBox 18">
            <a:extLst>
              <a:ext uri="{FF2B5EF4-FFF2-40B4-BE49-F238E27FC236}">
                <a16:creationId xmlns:a16="http://schemas.microsoft.com/office/drawing/2014/main" id="{C64319B1-46A5-2252-8387-D5C220CC7DDC}"/>
              </a:ext>
            </a:extLst>
          </p:cNvPr>
          <p:cNvSpPr txBox="1"/>
          <p:nvPr/>
        </p:nvSpPr>
        <p:spPr>
          <a:xfrm>
            <a:off x="3312188" y="1563763"/>
            <a:ext cx="5136027" cy="261610"/>
          </a:xfrm>
          <a:prstGeom prst="rect">
            <a:avLst/>
          </a:prstGeom>
          <a:noFill/>
        </p:spPr>
        <p:txBody>
          <a:bodyPr wrap="square">
            <a:spAutoFit/>
          </a:bodyPr>
          <a:lstStyle/>
          <a:p>
            <a:pPr>
              <a:defRPr sz="1100" b="0">
                <a:solidFill>
                  <a:srgbClr val="36454F"/>
                </a:solidFill>
              </a:defRPr>
            </a:pPr>
            <a:r>
              <a:t>B) .claude-plugin/hooks.json</a:t>
            </a:r>
          </a:p>
        </p:txBody>
      </p:sp>
      <p:sp>
        <p:nvSpPr>
          <p:cNvPr id="20" name="TextBox 19">
            <a:extLst>
              <a:ext uri="{FF2B5EF4-FFF2-40B4-BE49-F238E27FC236}">
                <a16:creationId xmlns:a16="http://schemas.microsoft.com/office/drawing/2014/main" id="{C0E8D6C0-60BF-E7A7-EA64-C64682C11C9C}"/>
              </a:ext>
            </a:extLst>
          </p:cNvPr>
          <p:cNvSpPr txBox="1"/>
          <p:nvPr/>
        </p:nvSpPr>
        <p:spPr>
          <a:xfrm>
            <a:off x="3312188" y="1838082"/>
            <a:ext cx="5136027" cy="261610"/>
          </a:xfrm>
          <a:prstGeom prst="rect">
            <a:avLst/>
          </a:prstGeom>
          <a:noFill/>
        </p:spPr>
        <p:txBody>
          <a:bodyPr wrap="square">
            <a:spAutoFit/>
          </a:bodyPr>
          <a:lstStyle/>
          <a:p>
            <a:pPr>
              <a:defRPr sz="1100" b="1">
                <a:solidFill>
                  <a:srgbClr val="788C5D"/>
                </a:solidFill>
              </a:defRPr>
            </a:pPr>
            <a:r>
              <a:t>C) hooks/hooks.json</a:t>
            </a:r>
          </a:p>
        </p:txBody>
      </p:sp>
      <p:sp>
        <p:nvSpPr>
          <p:cNvPr id="21" name="TextBox 20">
            <a:extLst>
              <a:ext uri="{FF2B5EF4-FFF2-40B4-BE49-F238E27FC236}">
                <a16:creationId xmlns:a16="http://schemas.microsoft.com/office/drawing/2014/main" id="{C578DC87-DCCD-0695-CBB8-FC99D64D5D67}"/>
              </a:ext>
            </a:extLst>
          </p:cNvPr>
          <p:cNvSpPr txBox="1"/>
          <p:nvPr/>
        </p:nvSpPr>
        <p:spPr>
          <a:xfrm>
            <a:off x="3312188" y="2112402"/>
            <a:ext cx="5136027" cy="261610"/>
          </a:xfrm>
          <a:prstGeom prst="rect">
            <a:avLst/>
          </a:prstGeom>
          <a:noFill/>
        </p:spPr>
        <p:txBody>
          <a:bodyPr wrap="square">
            <a:spAutoFit/>
          </a:bodyPr>
          <a:lstStyle/>
          <a:p>
            <a:pPr>
              <a:defRPr sz="1100" b="0">
                <a:solidFill>
                  <a:srgbClr val="36454F"/>
                </a:solidFill>
              </a:defRPr>
            </a:pPr>
            <a:r>
              <a:t>D) config/hooks.json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F86C69F-74A4-7563-D536-32584ABFD416}"/>
              </a:ext>
            </a:extLst>
          </p:cNvPr>
          <p:cNvSpPr txBox="1"/>
          <p:nvPr/>
        </p:nvSpPr>
        <p:spPr>
          <a:xfrm>
            <a:off x="457200" y="502920"/>
            <a:ext cx="3530325" cy="584775"/>
          </a:xfrm>
          <a:prstGeom prst="rect">
            <a:avLst/>
          </a:prstGeom>
          <a:noFill/>
        </p:spPr>
        <p:txBody>
          <a:bodyPr wrap="none">
            <a:spAutoFit/>
          </a:bodyPr>
          <a:lstStyle/>
          <a:p>
            <a:pPr>
              <a:defRPr sz="3200" b="1">
                <a:solidFill>
                  <a:srgbClr val="141413"/>
                </a:solidFill>
              </a:defRPr>
            </a:pPr>
            <a:r>
              <a:rPr dirty="0"/>
              <a:t>Module </a:t>
            </a:r>
            <a:r>
              <a:rPr lang="en-US" dirty="0"/>
              <a:t>9</a:t>
            </a:r>
            <a:r>
              <a:rPr dirty="0"/>
              <a:t> Summary</a:t>
            </a:r>
          </a:p>
        </p:txBody>
      </p:sp>
      <p:sp>
        <p:nvSpPr>
          <p:cNvPr id="8" name="TextBox 7">
            <a:extLst>
              <a:ext uri="{FF2B5EF4-FFF2-40B4-BE49-F238E27FC236}">
                <a16:creationId xmlns:a16="http://schemas.microsoft.com/office/drawing/2014/main" id="{67A40AEA-51B4-40C2-E859-AB3BD10E9C70}"/>
              </a:ext>
            </a:extLst>
          </p:cNvPr>
          <p:cNvSpPr txBox="1"/>
          <p:nvPr/>
        </p:nvSpPr>
        <p:spPr>
          <a:xfrm>
            <a:off x="457200" y="1051560"/>
            <a:ext cx="2326534" cy="369332"/>
          </a:xfrm>
          <a:prstGeom prst="rect">
            <a:avLst/>
          </a:prstGeom>
          <a:noFill/>
        </p:spPr>
        <p:txBody>
          <a:bodyPr wrap="none">
            <a:spAutoFit/>
          </a:bodyPr>
          <a:lstStyle/>
          <a:p>
            <a:pPr>
              <a:defRPr sz="1800" i="1">
                <a:solidFill>
                  <a:srgbClr val="36454F"/>
                </a:solidFill>
              </a:defRPr>
            </a:pPr>
            <a:r>
              <a:rPr lang="en-US" dirty="0"/>
              <a:t>Lab: Converting Hooks </a:t>
            </a:r>
          </a:p>
        </p:txBody>
      </p:sp>
      <p:sp>
        <p:nvSpPr>
          <p:cNvPr id="9" name="TextBox 8">
            <a:extLst>
              <a:ext uri="{FF2B5EF4-FFF2-40B4-BE49-F238E27FC236}">
                <a16:creationId xmlns:a16="http://schemas.microsoft.com/office/drawing/2014/main" id="{F0B52356-58F3-F3BE-59B7-2E55155132DE}"/>
              </a:ext>
            </a:extLst>
          </p:cNvPr>
          <p:cNvSpPr txBox="1"/>
          <p:nvPr/>
        </p:nvSpPr>
        <p:spPr>
          <a:xfrm>
            <a:off x="457200" y="1645920"/>
            <a:ext cx="7680960" cy="365760"/>
          </a:xfrm>
          <a:prstGeom prst="rect">
            <a:avLst/>
          </a:prstGeom>
          <a:noFill/>
        </p:spPr>
        <p:txBody>
          <a:bodyPr wrap="none">
            <a:spAutoFit/>
          </a:bodyPr>
          <a:lstStyle/>
          <a:p>
            <a:pPr>
              <a:defRPr sz="2000" b="1">
                <a:solidFill>
                  <a:srgbClr val="141413"/>
                </a:solidFill>
              </a:defRPr>
            </a:pPr>
            <a:r>
              <a:t>Key Takeaways</a:t>
            </a:r>
          </a:p>
        </p:txBody>
      </p:sp>
      <p:sp>
        <p:nvSpPr>
          <p:cNvPr id="10" name="TextBox 9">
            <a:extLst>
              <a:ext uri="{FF2B5EF4-FFF2-40B4-BE49-F238E27FC236}">
                <a16:creationId xmlns:a16="http://schemas.microsoft.com/office/drawing/2014/main" id="{857B58A6-83C7-656A-C16B-E60E9E15C92A}"/>
              </a:ext>
            </a:extLst>
          </p:cNvPr>
          <p:cNvSpPr txBox="1"/>
          <p:nvPr/>
        </p:nvSpPr>
        <p:spPr>
          <a:xfrm>
            <a:off x="457200" y="2103120"/>
            <a:ext cx="5389418" cy="2718693"/>
          </a:xfrm>
          <a:prstGeom prst="rect">
            <a:avLst/>
          </a:prstGeom>
          <a:noFill/>
        </p:spPr>
        <p:txBody>
          <a:bodyPr wrap="square">
            <a:spAutoFit/>
          </a:bodyPr>
          <a:lstStyle/>
          <a:p>
            <a:pPr>
              <a:spcBef>
                <a:spcPts val="800"/>
              </a:spcBef>
              <a:defRPr sz="1600">
                <a:solidFill>
                  <a:srgbClr val="141413"/>
                </a:solidFill>
              </a:defRPr>
            </a:pPr>
            <a:r>
              <a:rPr lang="en-US" dirty="0"/>
              <a:t>• Migration preserves hook functionality while enabling sharing</a:t>
            </a:r>
          </a:p>
          <a:p>
            <a:pPr>
              <a:spcBef>
                <a:spcPts val="800"/>
              </a:spcBef>
              <a:defRPr sz="1600">
                <a:solidFill>
                  <a:srgbClr val="141413"/>
                </a:solidFill>
              </a:defRPr>
            </a:pPr>
            <a:r>
              <a:rPr lang="en-US" dirty="0"/>
              <a:t>• Hook JSON format remains identical—just changes location</a:t>
            </a:r>
          </a:p>
          <a:p>
            <a:pPr>
              <a:spcBef>
                <a:spcPts val="800"/>
              </a:spcBef>
              <a:defRPr sz="1600">
                <a:solidFill>
                  <a:srgbClr val="141413"/>
                </a:solidFill>
              </a:defRPr>
            </a:pPr>
            <a:r>
              <a:rPr lang="en-US" dirty="0"/>
              <a:t>• Test thoroughly with --plugin-</a:t>
            </a:r>
            <a:r>
              <a:rPr lang="en-US" dirty="0" err="1"/>
              <a:t>dir</a:t>
            </a:r>
            <a:r>
              <a:rPr lang="en-US" dirty="0"/>
              <a:t> before removing original files</a:t>
            </a:r>
          </a:p>
          <a:p>
            <a:pPr>
              <a:spcBef>
                <a:spcPts val="800"/>
              </a:spcBef>
              <a:defRPr sz="1600">
                <a:solidFill>
                  <a:srgbClr val="141413"/>
                </a:solidFill>
              </a:defRPr>
            </a:pPr>
            <a:r>
              <a:rPr lang="en-US" dirty="0"/>
              <a:t>• After successful migration, remove .</a:t>
            </a:r>
            <a:r>
              <a:rPr lang="en-US" dirty="0" err="1"/>
              <a:t>claude</a:t>
            </a:r>
            <a:r>
              <a:rPr lang="en-US" dirty="0"/>
              <a:t>/ files to prevent duplicates</a:t>
            </a:r>
          </a:p>
          <a:p>
            <a:pPr>
              <a:spcBef>
                <a:spcPts val="800"/>
              </a:spcBef>
              <a:defRPr sz="1600">
                <a:solidFill>
                  <a:srgbClr val="141413"/>
                </a:solidFill>
              </a:defRPr>
            </a:pPr>
            <a:r>
              <a:rPr lang="en-US" dirty="0"/>
              <a:t>• Converted plugins can be shared via marketplaces immediately</a:t>
            </a:r>
          </a:p>
        </p:txBody>
      </p:sp>
      <p:sp>
        <p:nvSpPr>
          <p:cNvPr id="11" name="Rectangle 10">
            <a:extLst>
              <a:ext uri="{FF2B5EF4-FFF2-40B4-BE49-F238E27FC236}">
                <a16:creationId xmlns:a16="http://schemas.microsoft.com/office/drawing/2014/main" id="{D9D5F931-C844-758E-E3C4-DCF568DF997D}"/>
              </a:ext>
            </a:extLst>
          </p:cNvPr>
          <p:cNvSpPr/>
          <p:nvPr/>
        </p:nvSpPr>
        <p:spPr>
          <a:xfrm>
            <a:off x="6511636" y="0"/>
            <a:ext cx="2632364" cy="5143500"/>
          </a:xfrm>
          <a:prstGeom prst="rect">
            <a:avLst/>
          </a:prstGeom>
          <a:solidFill>
            <a:srgbClr val="D97757"/>
          </a:solidFill>
          <a:ln>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Graphic 11" descr="Key with solid fill">
            <a:extLst>
              <a:ext uri="{FF2B5EF4-FFF2-40B4-BE49-F238E27FC236}">
                <a16:creationId xmlns:a16="http://schemas.microsoft.com/office/drawing/2014/main" id="{21BE9875-3F1B-57B3-7DA9-B0C527B1E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70618" y="502920"/>
            <a:ext cx="914400" cy="9144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36454F"/>
        </a:solidFill>
        <a:effectLst/>
      </p:bgPr>
    </p:bg>
    <p:spTree>
      <p:nvGrpSpPr>
        <p:cNvPr id="1" name=""/>
        <p:cNvGrpSpPr/>
        <p:nvPr/>
      </p:nvGrpSpPr>
      <p:grpSpPr>
        <a:xfrm>
          <a:off x="0" y="0"/>
          <a:ext cx="0" cy="0"/>
          <a:chOff x="0" y="0"/>
          <a:chExt cx="0" cy="0"/>
        </a:xfrm>
      </p:grpSpPr>
      <p:sp>
        <p:nvSpPr>
          <p:cNvPr id="2" name="TextBox 1"/>
          <p:cNvSpPr txBox="1"/>
          <p:nvPr/>
        </p:nvSpPr>
        <p:spPr>
          <a:xfrm>
            <a:off x="3362374" y="2103120"/>
            <a:ext cx="2419252" cy="769441"/>
          </a:xfrm>
          <a:prstGeom prst="rect">
            <a:avLst/>
          </a:prstGeom>
          <a:noFill/>
        </p:spPr>
        <p:txBody>
          <a:bodyPr wrap="none">
            <a:spAutoFit/>
          </a:bodyPr>
          <a:lstStyle/>
          <a:p>
            <a:pPr algn="ctr">
              <a:defRPr sz="4400" b="1">
                <a:solidFill>
                  <a:srgbClr val="FFFFFF"/>
                </a:solidFill>
              </a:defRPr>
            </a:pPr>
            <a:r>
              <a:rPr dirty="0"/>
              <a:t>Appendix</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Plugin Development Best Practices</a:t>
            </a:r>
          </a:p>
        </p:txBody>
      </p:sp>
      <p:sp>
        <p:nvSpPr>
          <p:cNvPr id="3" name="Rectangle 2"/>
          <p:cNvSpPr/>
          <p:nvPr/>
        </p:nvSpPr>
        <p:spPr>
          <a:xfrm>
            <a:off x="731520" y="1280160"/>
            <a:ext cx="7680960" cy="640080"/>
          </a:xfrm>
          <a:prstGeom prst="rect">
            <a:avLst/>
          </a:prstGeom>
          <a:solidFill>
            <a:srgbClr val="FFFFFF"/>
          </a:solidFill>
          <a:ln w="12700">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25880"/>
            <a:ext cx="7315200" cy="274320"/>
          </a:xfrm>
          <a:prstGeom prst="rect">
            <a:avLst/>
          </a:prstGeom>
          <a:noFill/>
        </p:spPr>
        <p:txBody>
          <a:bodyPr wrap="none">
            <a:spAutoFit/>
          </a:bodyPr>
          <a:lstStyle/>
          <a:p>
            <a:pPr>
              <a:defRPr sz="1400" b="1">
                <a:solidFill>
                  <a:srgbClr val="141413"/>
                </a:solidFill>
              </a:defRPr>
            </a:pPr>
            <a:r>
              <a:t>Start with standalone, convert later</a:t>
            </a:r>
          </a:p>
        </p:txBody>
      </p:sp>
      <p:sp>
        <p:nvSpPr>
          <p:cNvPr id="5" name="TextBox 4"/>
          <p:cNvSpPr txBox="1"/>
          <p:nvPr/>
        </p:nvSpPr>
        <p:spPr>
          <a:xfrm>
            <a:off x="914400" y="1600200"/>
            <a:ext cx="7315200" cy="274320"/>
          </a:xfrm>
          <a:prstGeom prst="rect">
            <a:avLst/>
          </a:prstGeom>
          <a:noFill/>
        </p:spPr>
        <p:txBody>
          <a:bodyPr wrap="square">
            <a:spAutoFit/>
          </a:bodyPr>
          <a:lstStyle/>
          <a:p>
            <a:pPr>
              <a:defRPr sz="1100" i="1">
                <a:solidFill>
                  <a:srgbClr val="36454F"/>
                </a:solidFill>
              </a:defRPr>
            </a:pPr>
            <a:r>
              <a:t>WHY: Faster iteration without packaging overhead, easy to test and refine</a:t>
            </a:r>
          </a:p>
        </p:txBody>
      </p:sp>
      <p:sp>
        <p:nvSpPr>
          <p:cNvPr id="6" name="Rectangle 5"/>
          <p:cNvSpPr/>
          <p:nvPr/>
        </p:nvSpPr>
        <p:spPr>
          <a:xfrm>
            <a:off x="731520" y="2011680"/>
            <a:ext cx="7680960" cy="640080"/>
          </a:xfrm>
          <a:prstGeom prst="rect">
            <a:avLst/>
          </a:prstGeom>
          <a:solidFill>
            <a:srgbClr val="FFFFFF"/>
          </a:solidFill>
          <a:ln w="12700">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57400"/>
            <a:ext cx="7315200" cy="274320"/>
          </a:xfrm>
          <a:prstGeom prst="rect">
            <a:avLst/>
          </a:prstGeom>
          <a:noFill/>
        </p:spPr>
        <p:txBody>
          <a:bodyPr wrap="none">
            <a:spAutoFit/>
          </a:bodyPr>
          <a:lstStyle/>
          <a:p>
            <a:pPr>
              <a:defRPr sz="1400" b="1">
                <a:solidFill>
                  <a:srgbClr val="141413"/>
                </a:solidFill>
              </a:defRPr>
            </a:pPr>
            <a:r>
              <a:t>Use semantic versioning</a:t>
            </a:r>
          </a:p>
        </p:txBody>
      </p:sp>
      <p:sp>
        <p:nvSpPr>
          <p:cNvPr id="8" name="TextBox 7"/>
          <p:cNvSpPr txBox="1"/>
          <p:nvPr/>
        </p:nvSpPr>
        <p:spPr>
          <a:xfrm>
            <a:off x="914400" y="2331720"/>
            <a:ext cx="7315200" cy="274320"/>
          </a:xfrm>
          <a:prstGeom prst="rect">
            <a:avLst/>
          </a:prstGeom>
          <a:noFill/>
        </p:spPr>
        <p:txBody>
          <a:bodyPr wrap="square">
            <a:spAutoFit/>
          </a:bodyPr>
          <a:lstStyle/>
          <a:p>
            <a:pPr>
              <a:defRPr sz="1100" i="1">
                <a:solidFill>
                  <a:srgbClr val="36454F"/>
                </a:solidFill>
              </a:defRPr>
            </a:pPr>
            <a:r>
              <a:t>WHY: Users can track breaking changes and updates reliably</a:t>
            </a:r>
          </a:p>
        </p:txBody>
      </p:sp>
      <p:sp>
        <p:nvSpPr>
          <p:cNvPr id="9" name="Rectangle 8"/>
          <p:cNvSpPr/>
          <p:nvPr/>
        </p:nvSpPr>
        <p:spPr>
          <a:xfrm>
            <a:off x="731520" y="2743200"/>
            <a:ext cx="7680960" cy="640080"/>
          </a:xfrm>
          <a:prstGeom prst="rect">
            <a:avLst/>
          </a:prstGeom>
          <a:solidFill>
            <a:srgbClr val="FFFFFF"/>
          </a:solidFill>
          <a:ln w="12700">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788920"/>
            <a:ext cx="7315200" cy="274320"/>
          </a:xfrm>
          <a:prstGeom prst="rect">
            <a:avLst/>
          </a:prstGeom>
          <a:noFill/>
        </p:spPr>
        <p:txBody>
          <a:bodyPr wrap="none">
            <a:spAutoFit/>
          </a:bodyPr>
          <a:lstStyle/>
          <a:p>
            <a:pPr>
              <a:defRPr sz="1400" b="1">
                <a:solidFill>
                  <a:srgbClr val="141413"/>
                </a:solidFill>
              </a:defRPr>
            </a:pPr>
            <a:r>
              <a:t>Include a README.md</a:t>
            </a:r>
          </a:p>
        </p:txBody>
      </p:sp>
      <p:sp>
        <p:nvSpPr>
          <p:cNvPr id="11" name="TextBox 10"/>
          <p:cNvSpPr txBox="1"/>
          <p:nvPr/>
        </p:nvSpPr>
        <p:spPr>
          <a:xfrm>
            <a:off x="914400" y="3063240"/>
            <a:ext cx="7315200" cy="274320"/>
          </a:xfrm>
          <a:prstGeom prst="rect">
            <a:avLst/>
          </a:prstGeom>
          <a:noFill/>
        </p:spPr>
        <p:txBody>
          <a:bodyPr wrap="square">
            <a:spAutoFit/>
          </a:bodyPr>
          <a:lstStyle/>
          <a:p>
            <a:pPr>
              <a:defRPr sz="1100" i="1">
                <a:solidFill>
                  <a:srgbClr val="36454F"/>
                </a:solidFill>
              </a:defRPr>
            </a:pPr>
            <a:r>
              <a:t>WHY: Others need to understand installation and usage without guessing</a:t>
            </a:r>
          </a:p>
        </p:txBody>
      </p:sp>
      <p:sp>
        <p:nvSpPr>
          <p:cNvPr id="12" name="Rectangle 11"/>
          <p:cNvSpPr/>
          <p:nvPr/>
        </p:nvSpPr>
        <p:spPr>
          <a:xfrm>
            <a:off x="731520" y="3474720"/>
            <a:ext cx="7680960" cy="640080"/>
          </a:xfrm>
          <a:prstGeom prst="rect">
            <a:avLst/>
          </a:prstGeom>
          <a:solidFill>
            <a:srgbClr val="FFFFFF"/>
          </a:solidFill>
          <a:ln w="12700">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520439"/>
            <a:ext cx="7315200" cy="274320"/>
          </a:xfrm>
          <a:prstGeom prst="rect">
            <a:avLst/>
          </a:prstGeom>
          <a:noFill/>
        </p:spPr>
        <p:txBody>
          <a:bodyPr wrap="none">
            <a:spAutoFit/>
          </a:bodyPr>
          <a:lstStyle/>
          <a:p>
            <a:pPr>
              <a:defRPr sz="1400" b="1">
                <a:solidFill>
                  <a:srgbClr val="141413"/>
                </a:solidFill>
              </a:defRPr>
            </a:pPr>
            <a:r>
              <a:t>Test with --plugin-dir during development</a:t>
            </a:r>
          </a:p>
        </p:txBody>
      </p:sp>
      <p:sp>
        <p:nvSpPr>
          <p:cNvPr id="14" name="TextBox 13"/>
          <p:cNvSpPr txBox="1"/>
          <p:nvPr/>
        </p:nvSpPr>
        <p:spPr>
          <a:xfrm>
            <a:off x="914400" y="3794759"/>
            <a:ext cx="7315200" cy="274320"/>
          </a:xfrm>
          <a:prstGeom prst="rect">
            <a:avLst/>
          </a:prstGeom>
          <a:noFill/>
        </p:spPr>
        <p:txBody>
          <a:bodyPr wrap="square">
            <a:spAutoFit/>
          </a:bodyPr>
          <a:lstStyle/>
          <a:p>
            <a:pPr>
              <a:defRPr sz="1100" i="1">
                <a:solidFill>
                  <a:srgbClr val="36454F"/>
                </a:solidFill>
              </a:defRPr>
            </a:pPr>
            <a:r>
              <a:t>WHY: No installation needed, immediate feedback on changes</a:t>
            </a:r>
          </a:p>
        </p:txBody>
      </p:sp>
      <p:sp>
        <p:nvSpPr>
          <p:cNvPr id="15" name="Rectangle 14"/>
          <p:cNvSpPr/>
          <p:nvPr/>
        </p:nvSpPr>
        <p:spPr>
          <a:xfrm>
            <a:off x="731520" y="4206240"/>
            <a:ext cx="7680960" cy="640080"/>
          </a:xfrm>
          <a:prstGeom prst="rect">
            <a:avLst/>
          </a:prstGeom>
          <a:solidFill>
            <a:srgbClr val="FFFFFF"/>
          </a:solidFill>
          <a:ln w="12700">
            <a:solidFill>
              <a:srgbClr val="788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251959"/>
            <a:ext cx="7315200" cy="274320"/>
          </a:xfrm>
          <a:prstGeom prst="rect">
            <a:avLst/>
          </a:prstGeom>
          <a:noFill/>
        </p:spPr>
        <p:txBody>
          <a:bodyPr wrap="none">
            <a:spAutoFit/>
          </a:bodyPr>
          <a:lstStyle/>
          <a:p>
            <a:pPr>
              <a:defRPr sz="1400" b="1">
                <a:solidFill>
                  <a:srgbClr val="141413"/>
                </a:solidFill>
              </a:defRPr>
            </a:pPr>
            <a:r>
              <a:t>Keep plugin directories at root level</a:t>
            </a:r>
          </a:p>
        </p:txBody>
      </p:sp>
      <p:sp>
        <p:nvSpPr>
          <p:cNvPr id="17" name="TextBox 16"/>
          <p:cNvSpPr txBox="1"/>
          <p:nvPr/>
        </p:nvSpPr>
        <p:spPr>
          <a:xfrm>
            <a:off x="914400" y="4526279"/>
            <a:ext cx="7315200" cy="274320"/>
          </a:xfrm>
          <a:prstGeom prst="rect">
            <a:avLst/>
          </a:prstGeom>
          <a:noFill/>
        </p:spPr>
        <p:txBody>
          <a:bodyPr wrap="square">
            <a:spAutoFit/>
          </a:bodyPr>
          <a:lstStyle/>
          <a:p>
            <a:pPr>
              <a:defRPr sz="1100" i="1">
                <a:solidFill>
                  <a:srgbClr val="36454F"/>
                </a:solidFill>
              </a:defRPr>
            </a:pPr>
            <a:r>
              <a:t>WHY: Prevents common structure mistakes that break plugin loading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Distribution Best Practices</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Before Distributing</a:t>
            </a:r>
          </a:p>
        </p:txBody>
      </p:sp>
      <p:sp>
        <p:nvSpPr>
          <p:cNvPr id="4" name="TextBox 3"/>
          <p:cNvSpPr txBox="1"/>
          <p:nvPr/>
        </p:nvSpPr>
        <p:spPr>
          <a:xfrm>
            <a:off x="731520" y="1645920"/>
            <a:ext cx="7680960" cy="1828800"/>
          </a:xfrm>
          <a:prstGeom prst="rect">
            <a:avLst/>
          </a:prstGeom>
          <a:noFill/>
        </p:spPr>
        <p:txBody>
          <a:bodyPr wrap="none">
            <a:spAutoFit/>
          </a:bodyPr>
          <a:lstStyle/>
          <a:p>
            <a:pPr>
              <a:defRPr sz="1400">
                <a:solidFill>
                  <a:srgbClr val="141413"/>
                </a:solidFill>
              </a:defRPr>
            </a:pPr>
            <a:r>
              <a:t>• Document all dependencies and prerequisites clearly</a:t>
            </a:r>
          </a:p>
          <a:p>
            <a:pPr>
              <a:defRPr sz="1400">
                <a:solidFill>
                  <a:srgbClr val="141413"/>
                </a:solidFill>
              </a:defRPr>
            </a:pPr>
            <a:r>
              <a:t>• Test with multiple team members to catch environment issues</a:t>
            </a:r>
          </a:p>
          <a:p>
            <a:pPr>
              <a:defRPr sz="1400">
                <a:solidFill>
                  <a:srgbClr val="141413"/>
                </a:solidFill>
              </a:defRPr>
            </a:pPr>
            <a:r>
              <a:t>• Version your plugin using semantic versioning (1.0.0, 1.1.0, 2.0.0)</a:t>
            </a:r>
          </a:p>
          <a:p>
            <a:pPr>
              <a:defRPr sz="1400">
                <a:solidFill>
                  <a:srgbClr val="141413"/>
                </a:solidFill>
              </a:defRPr>
            </a:pPr>
            <a:r>
              <a:t>• Add license information to clarify usage rights</a:t>
            </a:r>
          </a:p>
        </p:txBody>
      </p:sp>
      <p:sp>
        <p:nvSpPr>
          <p:cNvPr id="5" name="TextBox 4"/>
          <p:cNvSpPr txBox="1"/>
          <p:nvPr/>
        </p:nvSpPr>
        <p:spPr>
          <a:xfrm>
            <a:off x="731520" y="2857500"/>
            <a:ext cx="7680960" cy="365760"/>
          </a:xfrm>
          <a:prstGeom prst="rect">
            <a:avLst/>
          </a:prstGeom>
          <a:noFill/>
        </p:spPr>
        <p:txBody>
          <a:bodyPr wrap="none">
            <a:spAutoFit/>
          </a:bodyPr>
          <a:lstStyle/>
          <a:p>
            <a:pPr>
              <a:defRPr sz="2000" b="1">
                <a:solidFill>
                  <a:srgbClr val="141413"/>
                </a:solidFill>
              </a:defRPr>
            </a:pPr>
            <a:r>
              <a:rPr dirty="0"/>
              <a:t>Marketplace Setup</a:t>
            </a:r>
          </a:p>
        </p:txBody>
      </p:sp>
      <p:sp>
        <p:nvSpPr>
          <p:cNvPr id="6" name="TextBox 5"/>
          <p:cNvSpPr txBox="1"/>
          <p:nvPr/>
        </p:nvSpPr>
        <p:spPr>
          <a:xfrm>
            <a:off x="731520" y="3314700"/>
            <a:ext cx="7680960" cy="1828800"/>
          </a:xfrm>
          <a:prstGeom prst="rect">
            <a:avLst/>
          </a:prstGeom>
          <a:noFill/>
        </p:spPr>
        <p:txBody>
          <a:bodyPr wrap="none">
            <a:spAutoFit/>
          </a:bodyPr>
          <a:lstStyle/>
          <a:p>
            <a:pPr>
              <a:defRPr sz="1400">
                <a:solidFill>
                  <a:srgbClr val="141413"/>
                </a:solidFill>
              </a:defRPr>
            </a:pPr>
            <a:r>
              <a:t>• Use clear, descriptive plugin names (avoid generic names like 'utils')</a:t>
            </a:r>
          </a:p>
          <a:p>
            <a:pPr>
              <a:defRPr sz="1400">
                <a:solidFill>
                  <a:srgbClr val="141413"/>
                </a:solidFill>
              </a:defRPr>
            </a:pPr>
            <a:r>
              <a:t>• Write concise descriptions that explain what the plugin does</a:t>
            </a:r>
          </a:p>
          <a:p>
            <a:pPr>
              <a:defRPr sz="1400">
                <a:solidFill>
                  <a:srgbClr val="141413"/>
                </a:solidFill>
              </a:defRPr>
            </a:pPr>
            <a:r>
              <a:t>• Link to homepage or repository for detailed documentation</a:t>
            </a:r>
          </a:p>
          <a:p>
            <a:pPr>
              <a:defRPr sz="1400">
                <a:solidFill>
                  <a:srgbClr val="141413"/>
                </a:solidFill>
              </a:defRPr>
            </a:pPr>
            <a:r>
              <a:t>• Keep marketplace.json metadata up to date</a:t>
            </a:r>
          </a:p>
        </p:txBody>
      </p:sp>
      <p:sp>
        <p:nvSpPr>
          <p:cNvPr id="8" name="Rectangle 7">
            <a:extLst>
              <a:ext uri="{FF2B5EF4-FFF2-40B4-BE49-F238E27FC236}">
                <a16:creationId xmlns:a16="http://schemas.microsoft.com/office/drawing/2014/main" id="{C04C800E-46E7-DAB1-98FF-00745DD566A8}"/>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Good documentation prevents support requests and helps users adopt your plugin successfully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Troubleshooting Common Issues</a:t>
            </a:r>
          </a:p>
        </p:txBody>
      </p:sp>
      <p:sp>
        <p:nvSpPr>
          <p:cNvPr id="3" name="Oval 2"/>
          <p:cNvSpPr/>
          <p:nvPr/>
        </p:nvSpPr>
        <p:spPr>
          <a:xfrm>
            <a:off x="731520" y="1280160"/>
            <a:ext cx="320040" cy="3200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1280160"/>
            <a:ext cx="3200400" cy="320040"/>
          </a:xfrm>
          <a:prstGeom prst="rect">
            <a:avLst/>
          </a:prstGeom>
          <a:noFill/>
        </p:spPr>
        <p:txBody>
          <a:bodyPr wrap="none" anchor="ctr">
            <a:spAutoFit/>
          </a:bodyPr>
          <a:lstStyle/>
          <a:p>
            <a:pPr>
              <a:defRPr sz="1400" b="1">
                <a:solidFill>
                  <a:srgbClr val="141413"/>
                </a:solidFill>
              </a:defRPr>
            </a:pPr>
            <a:r>
              <a:t>Plugin not loading</a:t>
            </a:r>
          </a:p>
        </p:txBody>
      </p:sp>
      <p:sp>
        <p:nvSpPr>
          <p:cNvPr id="5" name="TextBox 4"/>
          <p:cNvSpPr txBox="1"/>
          <p:nvPr/>
        </p:nvSpPr>
        <p:spPr>
          <a:xfrm>
            <a:off x="4572000" y="1280160"/>
            <a:ext cx="3840480" cy="320040"/>
          </a:xfrm>
          <a:prstGeom prst="rect">
            <a:avLst/>
          </a:prstGeom>
          <a:noFill/>
        </p:spPr>
        <p:txBody>
          <a:bodyPr wrap="square" anchor="ctr">
            <a:spAutoFit/>
          </a:bodyPr>
          <a:lstStyle/>
          <a:p>
            <a:pPr>
              <a:defRPr sz="1100">
                <a:solidFill>
                  <a:srgbClr val="36454F"/>
                </a:solidFill>
              </a:defRPr>
            </a:pPr>
            <a:r>
              <a:t>Check: Structure (directories at root, not inside .claude-plugin/)</a:t>
            </a:r>
          </a:p>
        </p:txBody>
      </p:sp>
      <p:sp>
        <p:nvSpPr>
          <p:cNvPr id="6" name="Oval 5"/>
          <p:cNvSpPr/>
          <p:nvPr/>
        </p:nvSpPr>
        <p:spPr>
          <a:xfrm>
            <a:off x="731520" y="1874519"/>
            <a:ext cx="320040" cy="3200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1874519"/>
            <a:ext cx="3200400" cy="320040"/>
          </a:xfrm>
          <a:prstGeom prst="rect">
            <a:avLst/>
          </a:prstGeom>
          <a:noFill/>
        </p:spPr>
        <p:txBody>
          <a:bodyPr wrap="none" anchor="ctr">
            <a:spAutoFit/>
          </a:bodyPr>
          <a:lstStyle/>
          <a:p>
            <a:pPr>
              <a:defRPr sz="1400" b="1">
                <a:solidFill>
                  <a:srgbClr val="141413"/>
                </a:solidFill>
              </a:defRPr>
            </a:pPr>
            <a:r>
              <a:t>Command not appearing</a:t>
            </a:r>
          </a:p>
        </p:txBody>
      </p:sp>
      <p:sp>
        <p:nvSpPr>
          <p:cNvPr id="8" name="TextBox 7"/>
          <p:cNvSpPr txBox="1"/>
          <p:nvPr/>
        </p:nvSpPr>
        <p:spPr>
          <a:xfrm>
            <a:off x="4572000" y="1874519"/>
            <a:ext cx="3840480" cy="320040"/>
          </a:xfrm>
          <a:prstGeom prst="rect">
            <a:avLst/>
          </a:prstGeom>
          <a:noFill/>
        </p:spPr>
        <p:txBody>
          <a:bodyPr wrap="square" anchor="ctr">
            <a:spAutoFit/>
          </a:bodyPr>
          <a:lstStyle/>
          <a:p>
            <a:pPr>
              <a:defRPr sz="1100">
                <a:solidFill>
                  <a:srgbClr val="36454F"/>
                </a:solidFill>
              </a:defRPr>
            </a:pPr>
            <a:r>
              <a:t>Check: Restart Claude Code, verify manifest name matches directory</a:t>
            </a:r>
          </a:p>
        </p:txBody>
      </p:sp>
      <p:sp>
        <p:nvSpPr>
          <p:cNvPr id="9" name="Oval 8"/>
          <p:cNvSpPr/>
          <p:nvPr/>
        </p:nvSpPr>
        <p:spPr>
          <a:xfrm>
            <a:off x="731520" y="2468879"/>
            <a:ext cx="320040" cy="3200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2468879"/>
            <a:ext cx="3200400" cy="320040"/>
          </a:xfrm>
          <a:prstGeom prst="rect">
            <a:avLst/>
          </a:prstGeom>
          <a:noFill/>
        </p:spPr>
        <p:txBody>
          <a:bodyPr wrap="none" anchor="ctr">
            <a:spAutoFit/>
          </a:bodyPr>
          <a:lstStyle/>
          <a:p>
            <a:pPr>
              <a:defRPr sz="1400" b="1">
                <a:solidFill>
                  <a:srgbClr val="141413"/>
                </a:solidFill>
              </a:defRPr>
            </a:pPr>
            <a:r>
              <a:t>Hooks not triggering</a:t>
            </a:r>
          </a:p>
        </p:txBody>
      </p:sp>
      <p:sp>
        <p:nvSpPr>
          <p:cNvPr id="11" name="TextBox 10"/>
          <p:cNvSpPr txBox="1"/>
          <p:nvPr/>
        </p:nvSpPr>
        <p:spPr>
          <a:xfrm>
            <a:off x="4572000" y="2468879"/>
            <a:ext cx="3840480" cy="320040"/>
          </a:xfrm>
          <a:prstGeom prst="rect">
            <a:avLst/>
          </a:prstGeom>
          <a:noFill/>
        </p:spPr>
        <p:txBody>
          <a:bodyPr wrap="square" anchor="ctr">
            <a:spAutoFit/>
          </a:bodyPr>
          <a:lstStyle/>
          <a:p>
            <a:pPr>
              <a:defRPr sz="1100">
                <a:solidFill>
                  <a:srgbClr val="36454F"/>
                </a:solidFill>
              </a:defRPr>
            </a:pPr>
            <a:r>
              <a:t>Check: hooks.json format, matcher patterns, hook type spelling</a:t>
            </a:r>
          </a:p>
        </p:txBody>
      </p:sp>
      <p:sp>
        <p:nvSpPr>
          <p:cNvPr id="12" name="Oval 11"/>
          <p:cNvSpPr/>
          <p:nvPr/>
        </p:nvSpPr>
        <p:spPr>
          <a:xfrm>
            <a:off x="731520" y="3063239"/>
            <a:ext cx="320040" cy="3200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063239"/>
            <a:ext cx="3200400" cy="320040"/>
          </a:xfrm>
          <a:prstGeom prst="rect">
            <a:avLst/>
          </a:prstGeom>
          <a:noFill/>
        </p:spPr>
        <p:txBody>
          <a:bodyPr wrap="none" anchor="ctr">
            <a:spAutoFit/>
          </a:bodyPr>
          <a:lstStyle/>
          <a:p>
            <a:pPr>
              <a:defRPr sz="1400" b="1">
                <a:solidFill>
                  <a:srgbClr val="141413"/>
                </a:solidFill>
              </a:defRPr>
            </a:pPr>
            <a:r>
              <a:t>Version conflicts</a:t>
            </a:r>
          </a:p>
        </p:txBody>
      </p:sp>
      <p:sp>
        <p:nvSpPr>
          <p:cNvPr id="14" name="TextBox 13"/>
          <p:cNvSpPr txBox="1"/>
          <p:nvPr/>
        </p:nvSpPr>
        <p:spPr>
          <a:xfrm>
            <a:off x="4572000" y="3063239"/>
            <a:ext cx="3840480" cy="320040"/>
          </a:xfrm>
          <a:prstGeom prst="rect">
            <a:avLst/>
          </a:prstGeom>
          <a:noFill/>
        </p:spPr>
        <p:txBody>
          <a:bodyPr wrap="square" anchor="ctr">
            <a:spAutoFit/>
          </a:bodyPr>
          <a:lstStyle/>
          <a:p>
            <a:pPr>
              <a:defRPr sz="1100">
                <a:solidFill>
                  <a:srgbClr val="36454F"/>
                </a:solidFill>
              </a:defRPr>
            </a:pPr>
            <a:r>
              <a:t>Check: /plugin → Errors tab for detailed error messages</a:t>
            </a:r>
          </a:p>
        </p:txBody>
      </p:sp>
      <p:sp>
        <p:nvSpPr>
          <p:cNvPr id="15" name="Oval 14"/>
          <p:cNvSpPr/>
          <p:nvPr/>
        </p:nvSpPr>
        <p:spPr>
          <a:xfrm>
            <a:off x="731520" y="3657599"/>
            <a:ext cx="320040" cy="3200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3657599"/>
            <a:ext cx="3200400" cy="320040"/>
          </a:xfrm>
          <a:prstGeom prst="rect">
            <a:avLst/>
          </a:prstGeom>
          <a:noFill/>
        </p:spPr>
        <p:txBody>
          <a:bodyPr wrap="none" anchor="ctr">
            <a:spAutoFit/>
          </a:bodyPr>
          <a:lstStyle/>
          <a:p>
            <a:pPr>
              <a:defRPr sz="1400" b="1">
                <a:solidFill>
                  <a:srgbClr val="141413"/>
                </a:solidFill>
              </a:defRPr>
            </a:pPr>
            <a:r>
              <a:t>Marketplace not found</a:t>
            </a:r>
          </a:p>
        </p:txBody>
      </p:sp>
      <p:sp>
        <p:nvSpPr>
          <p:cNvPr id="17" name="TextBox 16"/>
          <p:cNvSpPr txBox="1"/>
          <p:nvPr/>
        </p:nvSpPr>
        <p:spPr>
          <a:xfrm>
            <a:off x="4572000" y="3657599"/>
            <a:ext cx="3840480" cy="320040"/>
          </a:xfrm>
          <a:prstGeom prst="rect">
            <a:avLst/>
          </a:prstGeom>
          <a:noFill/>
        </p:spPr>
        <p:txBody>
          <a:bodyPr wrap="square" anchor="ctr">
            <a:spAutoFit/>
          </a:bodyPr>
          <a:lstStyle/>
          <a:p>
            <a:pPr>
              <a:defRPr sz="1100">
                <a:solidFill>
                  <a:srgbClr val="36454F"/>
                </a:solidFill>
              </a:defRPr>
            </a:pPr>
            <a:r>
              <a:t>Check: URL/path correctness, network access for remote marketplaces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Debugging Workflow</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Step-by-Step Debugging</a:t>
            </a:r>
          </a:p>
        </p:txBody>
      </p:sp>
      <p:sp>
        <p:nvSpPr>
          <p:cNvPr id="4" name="TextBox 3"/>
          <p:cNvSpPr txBox="1"/>
          <p:nvPr/>
        </p:nvSpPr>
        <p:spPr>
          <a:xfrm>
            <a:off x="731520" y="1645920"/>
            <a:ext cx="7680960" cy="2286000"/>
          </a:xfrm>
          <a:prstGeom prst="rect">
            <a:avLst/>
          </a:prstGeom>
          <a:noFill/>
        </p:spPr>
        <p:txBody>
          <a:bodyPr wrap="none">
            <a:spAutoFit/>
          </a:bodyPr>
          <a:lstStyle/>
          <a:p>
            <a:pPr>
              <a:defRPr sz="1400">
                <a:solidFill>
                  <a:srgbClr val="141413"/>
                </a:solidFill>
              </a:defRPr>
            </a:pPr>
            <a:r>
              <a:t>• 1. Check /plugin → Errors tab for specific error messages</a:t>
            </a:r>
          </a:p>
          <a:p>
            <a:pPr>
              <a:defRPr sz="1400">
                <a:solidFill>
                  <a:srgbClr val="141413"/>
                </a:solidFill>
              </a:defRPr>
            </a:pPr>
            <a:r>
              <a:t>• 2. Verify plugin structure: directories at root, plugin.json exists</a:t>
            </a:r>
          </a:p>
          <a:p>
            <a:pPr>
              <a:defRPr sz="1400">
                <a:solidFill>
                  <a:srgbClr val="141413"/>
                </a:solidFill>
              </a:defRPr>
            </a:pPr>
            <a:r>
              <a:t>• 3. Test with --plugin-dir flag to isolate issues</a:t>
            </a:r>
          </a:p>
          <a:p>
            <a:pPr>
              <a:defRPr sz="1400">
                <a:solidFill>
                  <a:srgbClr val="141413"/>
                </a:solidFill>
              </a:defRPr>
            </a:pPr>
            <a:r>
              <a:t>• 4. Disable other plugins to rule out conflicts</a:t>
            </a:r>
          </a:p>
          <a:p>
            <a:pPr>
              <a:defRPr sz="1400">
                <a:solidFill>
                  <a:srgbClr val="141413"/>
                </a:solidFill>
              </a:defRPr>
            </a:pPr>
            <a:r>
              <a:t>• 5. Check docs.claude.com/en/troubleshooting for known issues</a:t>
            </a:r>
          </a:p>
        </p:txBody>
      </p:sp>
      <p:sp>
        <p:nvSpPr>
          <p:cNvPr id="5" name="TextBox 4"/>
          <p:cNvSpPr txBox="1"/>
          <p:nvPr/>
        </p:nvSpPr>
        <p:spPr>
          <a:xfrm>
            <a:off x="731520" y="2912224"/>
            <a:ext cx="7680960" cy="365760"/>
          </a:xfrm>
          <a:prstGeom prst="rect">
            <a:avLst/>
          </a:prstGeom>
          <a:noFill/>
        </p:spPr>
        <p:txBody>
          <a:bodyPr wrap="none">
            <a:spAutoFit/>
          </a:bodyPr>
          <a:lstStyle/>
          <a:p>
            <a:pPr>
              <a:defRPr sz="2000" b="1">
                <a:solidFill>
                  <a:srgbClr val="141413"/>
                </a:solidFill>
              </a:defRPr>
            </a:pPr>
            <a:r>
              <a:rPr dirty="0"/>
              <a:t>Useful Commands for Debugging</a:t>
            </a:r>
          </a:p>
        </p:txBody>
      </p:sp>
      <p:sp>
        <p:nvSpPr>
          <p:cNvPr id="6" name="Rectangle 5"/>
          <p:cNvSpPr/>
          <p:nvPr/>
        </p:nvSpPr>
        <p:spPr>
          <a:xfrm>
            <a:off x="914400" y="3369424"/>
            <a:ext cx="5354782" cy="247996"/>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Consolas"/>
              </a:defRPr>
            </a:pPr>
            <a:r>
              <a:t>claude --plugin-dir ./my-plugin  # Test without installing</a:t>
            </a:r>
          </a:p>
        </p:txBody>
      </p:sp>
      <p:sp>
        <p:nvSpPr>
          <p:cNvPr id="7" name="Rectangle 6"/>
          <p:cNvSpPr/>
          <p:nvPr/>
        </p:nvSpPr>
        <p:spPr>
          <a:xfrm>
            <a:off x="914400" y="3833551"/>
            <a:ext cx="5354782" cy="247996"/>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Consolas"/>
              </a:defRPr>
            </a:pPr>
            <a:r>
              <a:t>/plugin  # Check Errors tab</a:t>
            </a:r>
          </a:p>
        </p:txBody>
      </p:sp>
      <p:sp>
        <p:nvSpPr>
          <p:cNvPr id="8" name="Rectangle 7"/>
          <p:cNvSpPr/>
          <p:nvPr/>
        </p:nvSpPr>
        <p:spPr>
          <a:xfrm>
            <a:off x="914400" y="4282440"/>
            <a:ext cx="5354782" cy="247996"/>
          </a:xfrm>
          <a:prstGeom prst="rect">
            <a:avLst/>
          </a:prstGeom>
          <a:solidFill>
            <a:srgbClr val="364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sz="1100">
                <a:solidFill>
                  <a:srgbClr val="FFFFFF"/>
                </a:solidFill>
                <a:latin typeface="Consolas"/>
              </a:defRPr>
            </a:pPr>
            <a:r>
              <a:rPr dirty="0"/>
              <a:t>/help  # Verify commands appear</a:t>
            </a:r>
          </a:p>
        </p:txBody>
      </p:sp>
      <p:sp>
        <p:nvSpPr>
          <p:cNvPr id="10" name="Rectangle 9">
            <a:extLst>
              <a:ext uri="{FF2B5EF4-FFF2-40B4-BE49-F238E27FC236}">
                <a16:creationId xmlns:a16="http://schemas.microsoft.com/office/drawing/2014/main" id="{9E97B515-8C98-C6AE-64FF-CFAC1371277E}"/>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When reporting issues: include plugin structure, error messages, and Claude Code version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Resources &amp; Next Steps</a:t>
            </a:r>
          </a:p>
        </p:txBody>
      </p:sp>
      <p:sp>
        <p:nvSpPr>
          <p:cNvPr id="3" name="TextBox 2"/>
          <p:cNvSpPr txBox="1"/>
          <p:nvPr/>
        </p:nvSpPr>
        <p:spPr>
          <a:xfrm>
            <a:off x="731520" y="1188720"/>
            <a:ext cx="3657600" cy="365760"/>
          </a:xfrm>
          <a:prstGeom prst="rect">
            <a:avLst/>
          </a:prstGeom>
          <a:noFill/>
        </p:spPr>
        <p:txBody>
          <a:bodyPr wrap="none">
            <a:spAutoFit/>
          </a:bodyPr>
          <a:lstStyle/>
          <a:p>
            <a:pPr>
              <a:defRPr sz="2000" b="1">
                <a:solidFill>
                  <a:srgbClr val="141413"/>
                </a:solidFill>
              </a:defRPr>
            </a:pPr>
            <a:r>
              <a:t>📚 Documentation</a:t>
            </a:r>
          </a:p>
        </p:txBody>
      </p:sp>
      <p:sp>
        <p:nvSpPr>
          <p:cNvPr id="4" name="TextBox 3"/>
          <p:cNvSpPr txBox="1"/>
          <p:nvPr/>
        </p:nvSpPr>
        <p:spPr>
          <a:xfrm>
            <a:off x="914400" y="1645920"/>
            <a:ext cx="3474720" cy="274320"/>
          </a:xfrm>
          <a:prstGeom prst="rect">
            <a:avLst/>
          </a:prstGeom>
          <a:noFill/>
        </p:spPr>
        <p:txBody>
          <a:bodyPr wrap="none">
            <a:spAutoFit/>
          </a:bodyPr>
          <a:lstStyle/>
          <a:p>
            <a:pPr>
              <a:defRPr sz="1200" u="sng">
                <a:solidFill>
                  <a:srgbClr val="6A9BCC"/>
                </a:solidFill>
              </a:defRPr>
            </a:pPr>
            <a:r>
              <a:t>• docs.claude.com/en/plugins</a:t>
            </a:r>
          </a:p>
        </p:txBody>
      </p:sp>
      <p:sp>
        <p:nvSpPr>
          <p:cNvPr id="5" name="TextBox 4"/>
          <p:cNvSpPr txBox="1"/>
          <p:nvPr/>
        </p:nvSpPr>
        <p:spPr>
          <a:xfrm>
            <a:off x="914400" y="1965960"/>
            <a:ext cx="3474720" cy="274320"/>
          </a:xfrm>
          <a:prstGeom prst="rect">
            <a:avLst/>
          </a:prstGeom>
          <a:noFill/>
        </p:spPr>
        <p:txBody>
          <a:bodyPr wrap="none">
            <a:spAutoFit/>
          </a:bodyPr>
          <a:lstStyle/>
          <a:p>
            <a:pPr>
              <a:defRPr sz="1200" u="sng">
                <a:solidFill>
                  <a:srgbClr val="6A9BCC"/>
                </a:solidFill>
              </a:defRPr>
            </a:pPr>
            <a:r>
              <a:t>• docs.claude.com/en/plugin-marketplaces</a:t>
            </a:r>
          </a:p>
        </p:txBody>
      </p:sp>
      <p:sp>
        <p:nvSpPr>
          <p:cNvPr id="6" name="TextBox 5"/>
          <p:cNvSpPr txBox="1"/>
          <p:nvPr/>
        </p:nvSpPr>
        <p:spPr>
          <a:xfrm>
            <a:off x="914400" y="2286000"/>
            <a:ext cx="3474720" cy="274320"/>
          </a:xfrm>
          <a:prstGeom prst="rect">
            <a:avLst/>
          </a:prstGeom>
          <a:noFill/>
        </p:spPr>
        <p:txBody>
          <a:bodyPr wrap="none">
            <a:spAutoFit/>
          </a:bodyPr>
          <a:lstStyle/>
          <a:p>
            <a:pPr>
              <a:defRPr sz="1200" u="sng">
                <a:solidFill>
                  <a:srgbClr val="6A9BCC"/>
                </a:solidFill>
              </a:defRPr>
            </a:pPr>
            <a:r>
              <a:t>• docs.claude.com/en/skills</a:t>
            </a:r>
          </a:p>
        </p:txBody>
      </p:sp>
      <p:sp>
        <p:nvSpPr>
          <p:cNvPr id="7" name="TextBox 6"/>
          <p:cNvSpPr txBox="1"/>
          <p:nvPr/>
        </p:nvSpPr>
        <p:spPr>
          <a:xfrm>
            <a:off x="914400" y="2606040"/>
            <a:ext cx="3474720" cy="274320"/>
          </a:xfrm>
          <a:prstGeom prst="rect">
            <a:avLst/>
          </a:prstGeom>
          <a:noFill/>
        </p:spPr>
        <p:txBody>
          <a:bodyPr wrap="none">
            <a:spAutoFit/>
          </a:bodyPr>
          <a:lstStyle/>
          <a:p>
            <a:pPr>
              <a:defRPr sz="1200" u="sng">
                <a:solidFill>
                  <a:srgbClr val="6A9BCC"/>
                </a:solidFill>
              </a:defRPr>
            </a:pPr>
            <a:r>
              <a:t>• docs.anthropic.com/mcp</a:t>
            </a:r>
          </a:p>
        </p:txBody>
      </p:sp>
      <p:sp>
        <p:nvSpPr>
          <p:cNvPr id="8" name="TextBox 7"/>
          <p:cNvSpPr txBox="1"/>
          <p:nvPr/>
        </p:nvSpPr>
        <p:spPr>
          <a:xfrm>
            <a:off x="4754880" y="1188720"/>
            <a:ext cx="3657600" cy="365760"/>
          </a:xfrm>
          <a:prstGeom prst="rect">
            <a:avLst/>
          </a:prstGeom>
          <a:noFill/>
        </p:spPr>
        <p:txBody>
          <a:bodyPr wrap="none">
            <a:spAutoFit/>
          </a:bodyPr>
          <a:lstStyle/>
          <a:p>
            <a:pPr>
              <a:defRPr sz="2000" b="1">
                <a:solidFill>
                  <a:srgbClr val="141413"/>
                </a:solidFill>
              </a:defRPr>
            </a:pPr>
            <a:r>
              <a:t>🚀 Next Steps</a:t>
            </a:r>
          </a:p>
        </p:txBody>
      </p:sp>
      <p:sp>
        <p:nvSpPr>
          <p:cNvPr id="9" name="TextBox 8"/>
          <p:cNvSpPr txBox="1"/>
          <p:nvPr/>
        </p:nvSpPr>
        <p:spPr>
          <a:xfrm>
            <a:off x="4937760" y="1645920"/>
            <a:ext cx="3474720" cy="274320"/>
          </a:xfrm>
          <a:prstGeom prst="rect">
            <a:avLst/>
          </a:prstGeom>
          <a:noFill/>
        </p:spPr>
        <p:txBody>
          <a:bodyPr wrap="none">
            <a:spAutoFit/>
          </a:bodyPr>
          <a:lstStyle/>
          <a:p>
            <a:pPr>
              <a:defRPr sz="1400">
                <a:solidFill>
                  <a:srgbClr val="141413"/>
                </a:solidFill>
              </a:defRPr>
            </a:pPr>
            <a:r>
              <a:t>✓ Explore the official marketplace</a:t>
            </a:r>
          </a:p>
        </p:txBody>
      </p:sp>
      <p:sp>
        <p:nvSpPr>
          <p:cNvPr id="10" name="TextBox 9"/>
          <p:cNvSpPr txBox="1"/>
          <p:nvPr/>
        </p:nvSpPr>
        <p:spPr>
          <a:xfrm>
            <a:off x="4937760" y="2011680"/>
            <a:ext cx="3474720" cy="274320"/>
          </a:xfrm>
          <a:prstGeom prst="rect">
            <a:avLst/>
          </a:prstGeom>
          <a:noFill/>
        </p:spPr>
        <p:txBody>
          <a:bodyPr wrap="none">
            <a:spAutoFit/>
          </a:bodyPr>
          <a:lstStyle/>
          <a:p>
            <a:pPr>
              <a:defRPr sz="1400">
                <a:solidFill>
                  <a:srgbClr val="141413"/>
                </a:solidFill>
              </a:defRPr>
            </a:pPr>
            <a:r>
              <a:t>✓ Create your first custom plugin</a:t>
            </a:r>
          </a:p>
        </p:txBody>
      </p:sp>
      <p:sp>
        <p:nvSpPr>
          <p:cNvPr id="11" name="TextBox 10"/>
          <p:cNvSpPr txBox="1"/>
          <p:nvPr/>
        </p:nvSpPr>
        <p:spPr>
          <a:xfrm>
            <a:off x="4937760" y="2377440"/>
            <a:ext cx="3474720" cy="274320"/>
          </a:xfrm>
          <a:prstGeom prst="rect">
            <a:avLst/>
          </a:prstGeom>
          <a:noFill/>
        </p:spPr>
        <p:txBody>
          <a:bodyPr wrap="none">
            <a:spAutoFit/>
          </a:bodyPr>
          <a:lstStyle/>
          <a:p>
            <a:pPr>
              <a:defRPr sz="1400">
                <a:solidFill>
                  <a:srgbClr val="141413"/>
                </a:solidFill>
              </a:defRPr>
            </a:pPr>
            <a:r>
              <a:t>✓ Convert existing configs to plugins</a:t>
            </a:r>
          </a:p>
        </p:txBody>
      </p:sp>
      <p:sp>
        <p:nvSpPr>
          <p:cNvPr id="12" name="TextBox 11"/>
          <p:cNvSpPr txBox="1"/>
          <p:nvPr/>
        </p:nvSpPr>
        <p:spPr>
          <a:xfrm>
            <a:off x="4937760" y="2743200"/>
            <a:ext cx="3474720" cy="274320"/>
          </a:xfrm>
          <a:prstGeom prst="rect">
            <a:avLst/>
          </a:prstGeom>
          <a:noFill/>
        </p:spPr>
        <p:txBody>
          <a:bodyPr wrap="none">
            <a:spAutoFit/>
          </a:bodyPr>
          <a:lstStyle/>
          <a:p>
            <a:pPr>
              <a:defRPr sz="1400">
                <a:solidFill>
                  <a:srgbClr val="141413"/>
                </a:solidFill>
              </a:defRPr>
            </a:pPr>
            <a:r>
              <a:t>✓ Set up a team marketplace</a:t>
            </a:r>
          </a:p>
        </p:txBody>
      </p:sp>
      <p:sp>
        <p:nvSpPr>
          <p:cNvPr id="13" name="TextBox 12"/>
          <p:cNvSpPr txBox="1"/>
          <p:nvPr/>
        </p:nvSpPr>
        <p:spPr>
          <a:xfrm>
            <a:off x="4937760" y="3108960"/>
            <a:ext cx="3474720" cy="274320"/>
          </a:xfrm>
          <a:prstGeom prst="rect">
            <a:avLst/>
          </a:prstGeom>
          <a:noFill/>
        </p:spPr>
        <p:txBody>
          <a:bodyPr wrap="none">
            <a:spAutoFit/>
          </a:bodyPr>
          <a:lstStyle/>
          <a:p>
            <a:pPr>
              <a:defRPr sz="1400">
                <a:solidFill>
                  <a:srgbClr val="141413"/>
                </a:solidFill>
              </a:defRPr>
            </a:pPr>
            <a:r>
              <a:t>✓ Contribute to the ecosystem</a:t>
            </a:r>
          </a:p>
        </p:txBody>
      </p:sp>
      <p:sp>
        <p:nvSpPr>
          <p:cNvPr id="14" name="Rounded Rectangle 13"/>
          <p:cNvSpPr/>
          <p:nvPr/>
        </p:nvSpPr>
        <p:spPr>
          <a:xfrm>
            <a:off x="914400" y="3840480"/>
            <a:ext cx="7315200" cy="731520"/>
          </a:xfrm>
          <a:prstGeom prst="roundRect">
            <a:avLst/>
          </a:prstGeom>
          <a:solidFill>
            <a:srgbClr val="D97757"/>
          </a:solidFill>
          <a:ln w="25400">
            <a:solidFill>
              <a:srgbClr val="D97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41413"/>
                </a:solidFill>
              </a:defRPr>
            </a:pPr>
            <a:r>
              <a:rPr>
                <a:solidFill>
                  <a:schemeClr val="bg1"/>
                </a:solidFill>
              </a:rPr>
              <a:t>Start building! The plugin ecosystem grows with your contributions.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Case Study: Anthropic Internal Team</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How Anthropic Uses Plugins Internally</a:t>
            </a:r>
          </a:p>
        </p:txBody>
      </p:sp>
      <p:sp>
        <p:nvSpPr>
          <p:cNvPr id="4" name="TextBox 3"/>
          <p:cNvSpPr txBox="1"/>
          <p:nvPr/>
        </p:nvSpPr>
        <p:spPr>
          <a:xfrm>
            <a:off x="731520" y="1645920"/>
            <a:ext cx="7680960" cy="1828800"/>
          </a:xfrm>
          <a:prstGeom prst="rect">
            <a:avLst/>
          </a:prstGeom>
          <a:noFill/>
        </p:spPr>
        <p:txBody>
          <a:bodyPr wrap="none">
            <a:spAutoFit/>
          </a:bodyPr>
          <a:lstStyle/>
          <a:p>
            <a:pPr>
              <a:defRPr sz="1400">
                <a:solidFill>
                  <a:srgbClr val="141413"/>
                </a:solidFill>
              </a:defRPr>
            </a:pPr>
            <a:r>
              <a:t>• Plugin-dev toolkit: Streamlines plugin development workflow</a:t>
            </a:r>
          </a:p>
          <a:p>
            <a:pPr>
              <a:defRPr sz="1400">
                <a:solidFill>
                  <a:srgbClr val="141413"/>
                </a:solidFill>
              </a:defRPr>
            </a:pPr>
            <a:r>
              <a:t>• PR review agents: Automated code review checklists and standards</a:t>
            </a:r>
          </a:p>
          <a:p>
            <a:pPr>
              <a:defRPr sz="1400">
                <a:solidFill>
                  <a:srgbClr val="141413"/>
                </a:solidFill>
              </a:defRPr>
            </a:pPr>
            <a:r>
              <a:t>• Feature-dev workflows: Templates for common development patterns</a:t>
            </a:r>
          </a:p>
          <a:p>
            <a:pPr>
              <a:defRPr sz="1400">
                <a:solidFill>
                  <a:srgbClr val="141413"/>
                </a:solidFill>
              </a:defRPr>
            </a:pPr>
            <a:r>
              <a:t>• Hookify: Automatically adds hooks to enforce team conventions</a:t>
            </a:r>
          </a:p>
        </p:txBody>
      </p:sp>
      <p:sp>
        <p:nvSpPr>
          <p:cNvPr id="7" name="Rectangle 6">
            <a:extLst>
              <a:ext uri="{FF2B5EF4-FFF2-40B4-BE49-F238E27FC236}">
                <a16:creationId xmlns:a16="http://schemas.microsoft.com/office/drawing/2014/main" id="{8A9FD7A9-EE93-996D-3814-CFD1E274F0BC}"/>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Key Takeaway</a:t>
            </a:r>
          </a:p>
          <a:p>
            <a:pPr algn="ctr">
              <a:defRPr sz="1300" b="1">
                <a:solidFill>
                  <a:srgbClr val="141413"/>
                </a:solidFill>
              </a:defRPr>
            </a:pPr>
            <a:endParaRPr lang="en-US" dirty="0">
              <a:solidFill>
                <a:schemeClr val="bg1"/>
              </a:solidFill>
            </a:endParaRPr>
          </a:p>
          <a:p>
            <a:pPr algn="ctr">
              <a:defRPr sz="1300" b="1">
                <a:solidFill>
                  <a:srgbClr val="141413"/>
                </a:solidFill>
              </a:defRPr>
            </a:pPr>
            <a:r>
              <a:rPr lang="en-US" dirty="0">
                <a:solidFill>
                  <a:schemeClr val="bg1"/>
                </a:solidFill>
              </a:rPr>
              <a:t>Anthropic eats its own dog food—internal teams rely on plugins daily for standardized workflows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Case Study: Converting 20 Configs to Plugins</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The Scenario</a:t>
            </a:r>
          </a:p>
        </p:txBody>
      </p:sp>
      <p:sp>
        <p:nvSpPr>
          <p:cNvPr id="4" name="TextBox 3"/>
          <p:cNvSpPr txBox="1"/>
          <p:nvPr/>
        </p:nvSpPr>
        <p:spPr>
          <a:xfrm>
            <a:off x="731520" y="1645920"/>
            <a:ext cx="5987935" cy="731520"/>
          </a:xfrm>
          <a:prstGeom prst="rect">
            <a:avLst/>
          </a:prstGeom>
          <a:noFill/>
        </p:spPr>
        <p:txBody>
          <a:bodyPr wrap="square">
            <a:spAutoFit/>
          </a:bodyPr>
          <a:lstStyle/>
          <a:p>
            <a:pPr>
              <a:defRPr sz="1400">
                <a:solidFill>
                  <a:srgbClr val="141413"/>
                </a:solidFill>
              </a:defRPr>
            </a:pPr>
            <a:r>
              <a:rPr dirty="0"/>
              <a:t>Development team had accumulated 20+ standalone configurations in individual .</a:t>
            </a:r>
            <a:r>
              <a:rPr dirty="0" err="1"/>
              <a:t>claude</a:t>
            </a:r>
            <a:r>
              <a:rPr dirty="0"/>
              <a:t>/ directories. Shared via Slack messages: 'Hey, here's my linter config...' Knowledge scattered, updates manual, new developers overwhelmed.</a:t>
            </a:r>
          </a:p>
        </p:txBody>
      </p:sp>
      <p:sp>
        <p:nvSpPr>
          <p:cNvPr id="5" name="TextBox 4"/>
          <p:cNvSpPr txBox="1"/>
          <p:nvPr/>
        </p:nvSpPr>
        <p:spPr>
          <a:xfrm>
            <a:off x="731520" y="2560320"/>
            <a:ext cx="7680960" cy="365760"/>
          </a:xfrm>
          <a:prstGeom prst="rect">
            <a:avLst/>
          </a:prstGeom>
          <a:noFill/>
        </p:spPr>
        <p:txBody>
          <a:bodyPr wrap="none">
            <a:spAutoFit/>
          </a:bodyPr>
          <a:lstStyle/>
          <a:p>
            <a:pPr>
              <a:defRPr sz="2000" b="1">
                <a:solidFill>
                  <a:srgbClr val="141413"/>
                </a:solidFill>
              </a:defRPr>
            </a:pPr>
            <a:r>
              <a:t>The Migration</a:t>
            </a:r>
          </a:p>
        </p:txBody>
      </p:sp>
      <p:sp>
        <p:nvSpPr>
          <p:cNvPr id="6" name="TextBox 5"/>
          <p:cNvSpPr txBox="1"/>
          <p:nvPr/>
        </p:nvSpPr>
        <p:spPr>
          <a:xfrm>
            <a:off x="731520" y="3017520"/>
            <a:ext cx="7680960" cy="914400"/>
          </a:xfrm>
          <a:prstGeom prst="rect">
            <a:avLst/>
          </a:prstGeom>
          <a:noFill/>
        </p:spPr>
        <p:txBody>
          <a:bodyPr wrap="none">
            <a:spAutoFit/>
          </a:bodyPr>
          <a:lstStyle/>
          <a:p>
            <a:pPr>
              <a:defRPr sz="1200">
                <a:solidFill>
                  <a:srgbClr val="141413"/>
                </a:solidFill>
              </a:defRPr>
            </a:pPr>
            <a:r>
              <a:t>1. Audited all .claude/ directories across team repos</a:t>
            </a:r>
          </a:p>
          <a:p>
            <a:pPr>
              <a:defRPr sz="1200">
                <a:solidFill>
                  <a:srgbClr val="141413"/>
                </a:solidFill>
              </a:defRPr>
            </a:pPr>
            <a:r>
              <a:t>2. Grouped related configs into logical plugins (dev-toolkit, code-quality, deploy-tools)</a:t>
            </a:r>
          </a:p>
          <a:p>
            <a:pPr>
              <a:defRPr sz="1200">
                <a:solidFill>
                  <a:srgbClr val="141413"/>
                </a:solidFill>
              </a:defRPr>
            </a:pPr>
            <a:r>
              <a:t>3. Created internal marketplace with 3 curated plugins</a:t>
            </a:r>
          </a:p>
          <a:p>
            <a:pPr>
              <a:defRPr sz="1200">
                <a:solidFill>
                  <a:srgbClr val="141413"/>
                </a:solidFill>
              </a:defRPr>
            </a:pPr>
            <a:r>
              <a:t>4. Onboarded team: everyone ran /plugin install dev-toolkit@company</a:t>
            </a:r>
          </a:p>
        </p:txBody>
      </p:sp>
      <p:sp>
        <p:nvSpPr>
          <p:cNvPr id="9" name="Rectangle 8">
            <a:extLst>
              <a:ext uri="{FF2B5EF4-FFF2-40B4-BE49-F238E27FC236}">
                <a16:creationId xmlns:a16="http://schemas.microsoft.com/office/drawing/2014/main" id="{1D71D466-6513-DD08-8F06-4917142528BF}"/>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The Result:</a:t>
            </a:r>
          </a:p>
          <a:p>
            <a:pPr algn="ctr">
              <a:defRPr sz="1300" b="1">
                <a:solidFill>
                  <a:srgbClr val="141413"/>
                </a:solidFill>
              </a:defRPr>
            </a:pPr>
            <a:endParaRPr lang="en-US" dirty="0">
              <a:solidFill>
                <a:schemeClr val="bg1"/>
              </a:solidFill>
            </a:endParaRPr>
          </a:p>
          <a:p>
            <a:pPr algn="ctr">
              <a:defRPr sz="1300" b="1">
                <a:solidFill>
                  <a:srgbClr val="141413"/>
                </a:solidFill>
              </a:defRPr>
            </a:pPr>
            <a:r>
              <a:rPr lang="en-US" dirty="0">
                <a:solidFill>
                  <a:schemeClr val="bg1"/>
                </a:solidFill>
              </a:rPr>
              <a:t>Single source of truth</a:t>
            </a:r>
            <a:br>
              <a:rPr lang="en-US" dirty="0">
                <a:solidFill>
                  <a:schemeClr val="bg1"/>
                </a:solidFill>
              </a:rPr>
            </a:br>
            <a:r>
              <a:rPr lang="en-US" dirty="0">
                <a:solidFill>
                  <a:schemeClr val="bg1"/>
                </a:solidFill>
              </a:rPr>
              <a:t>• Version-controlled updates</a:t>
            </a:r>
            <a:br>
              <a:rPr lang="en-US" dirty="0">
                <a:solidFill>
                  <a:schemeClr val="bg1"/>
                </a:solidFill>
              </a:rPr>
            </a:br>
            <a:r>
              <a:rPr lang="en-US" dirty="0">
                <a:solidFill>
                  <a:schemeClr val="bg1"/>
                </a:solidFill>
              </a:rPr>
              <a:t>• New </a:t>
            </a:r>
            <a:r>
              <a:rPr lang="en-US" dirty="0" err="1">
                <a:solidFill>
                  <a:schemeClr val="bg1"/>
                </a:solidFill>
              </a:rPr>
              <a:t>devs</a:t>
            </a:r>
            <a:r>
              <a:rPr lang="en-US" dirty="0">
                <a:solidFill>
                  <a:schemeClr val="bg1"/>
                </a:solidFill>
              </a:rPr>
              <a:t> onboard in 1 command</a:t>
            </a:r>
          </a:p>
          <a:p>
            <a:pPr algn="ctr">
              <a:defRPr sz="1300" b="1">
                <a:solidFill>
                  <a:srgbClr val="141413"/>
                </a:solidFill>
              </a:defRPr>
            </a:pPr>
            <a:endParaRPr lang="en-US" dirty="0">
              <a:solidFill>
                <a:schemeClr val="bg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8229600" cy="548640"/>
          </a:xfrm>
          <a:prstGeom prst="rect">
            <a:avLst/>
          </a:prstGeom>
          <a:noFill/>
        </p:spPr>
        <p:txBody>
          <a:bodyPr wrap="none">
            <a:spAutoFit/>
          </a:bodyPr>
          <a:lstStyle/>
          <a:p>
            <a:pPr>
              <a:defRPr sz="3200" b="1">
                <a:solidFill>
                  <a:srgbClr val="141413"/>
                </a:solidFill>
              </a:defRPr>
            </a:pPr>
            <a:r>
              <a:t>Case Study: Custom Enterprise Marketplace</a:t>
            </a:r>
          </a:p>
        </p:txBody>
      </p:sp>
      <p:sp>
        <p:nvSpPr>
          <p:cNvPr id="3" name="TextBox 2"/>
          <p:cNvSpPr txBox="1"/>
          <p:nvPr/>
        </p:nvSpPr>
        <p:spPr>
          <a:xfrm>
            <a:off x="731520" y="1188720"/>
            <a:ext cx="7680960" cy="365760"/>
          </a:xfrm>
          <a:prstGeom prst="rect">
            <a:avLst/>
          </a:prstGeom>
          <a:noFill/>
        </p:spPr>
        <p:txBody>
          <a:bodyPr wrap="none">
            <a:spAutoFit/>
          </a:bodyPr>
          <a:lstStyle/>
          <a:p>
            <a:pPr>
              <a:defRPr sz="2000" b="1">
                <a:solidFill>
                  <a:srgbClr val="141413"/>
                </a:solidFill>
              </a:defRPr>
            </a:pPr>
            <a:r>
              <a:t>Large Enterprise Deployment</a:t>
            </a:r>
          </a:p>
        </p:txBody>
      </p:sp>
      <p:sp>
        <p:nvSpPr>
          <p:cNvPr id="4" name="TextBox 3"/>
          <p:cNvSpPr txBox="1"/>
          <p:nvPr/>
        </p:nvSpPr>
        <p:spPr>
          <a:xfrm>
            <a:off x="731520" y="1645920"/>
            <a:ext cx="7680960" cy="2743200"/>
          </a:xfrm>
          <a:prstGeom prst="rect">
            <a:avLst/>
          </a:prstGeom>
          <a:noFill/>
        </p:spPr>
        <p:txBody>
          <a:bodyPr wrap="none">
            <a:spAutoFit/>
          </a:bodyPr>
          <a:lstStyle/>
          <a:p>
            <a:pPr>
              <a:defRPr sz="1400">
                <a:solidFill>
                  <a:srgbClr val="141413"/>
                </a:solidFill>
              </a:defRPr>
            </a:pPr>
            <a:r>
              <a:t>• Challenge: 500+ developers across multiple teams needed standardized tools</a:t>
            </a:r>
          </a:p>
          <a:p>
            <a:pPr>
              <a:defRPr sz="1400">
                <a:solidFill>
                  <a:srgbClr val="141413"/>
                </a:solidFill>
              </a:defRPr>
            </a:pPr>
            <a:r>
              <a:t>• Solution: Built internal marketplace with plugins for:</a:t>
            </a:r>
          </a:p>
          <a:p>
            <a:pPr>
              <a:defRPr sz="1400">
                <a:solidFill>
                  <a:srgbClr val="141413"/>
                </a:solidFill>
              </a:defRPr>
            </a:pPr>
            <a:r>
              <a:t>•   → Security scanning and compliance checks</a:t>
            </a:r>
          </a:p>
          <a:p>
            <a:pPr>
              <a:defRPr sz="1400">
                <a:solidFill>
                  <a:srgbClr val="141413"/>
                </a:solidFill>
              </a:defRPr>
            </a:pPr>
            <a:r>
              <a:t>•   → Company-specific API integrations</a:t>
            </a:r>
          </a:p>
          <a:p>
            <a:pPr>
              <a:defRPr sz="1400">
                <a:solidFill>
                  <a:srgbClr val="141413"/>
                </a:solidFill>
              </a:defRPr>
            </a:pPr>
            <a:r>
              <a:t>•   → Standardized documentation templates</a:t>
            </a:r>
          </a:p>
          <a:p>
            <a:pPr>
              <a:defRPr sz="1400">
                <a:solidFill>
                  <a:srgbClr val="141413"/>
                </a:solidFill>
              </a:defRPr>
            </a:pPr>
            <a:r>
              <a:t>•   → Internal code review workflows</a:t>
            </a:r>
          </a:p>
        </p:txBody>
      </p:sp>
      <p:sp>
        <p:nvSpPr>
          <p:cNvPr id="5" name="TextBox 4"/>
          <p:cNvSpPr txBox="1"/>
          <p:nvPr/>
        </p:nvSpPr>
        <p:spPr>
          <a:xfrm>
            <a:off x="731520" y="3200400"/>
            <a:ext cx="7680960" cy="365760"/>
          </a:xfrm>
          <a:prstGeom prst="rect">
            <a:avLst/>
          </a:prstGeom>
          <a:noFill/>
        </p:spPr>
        <p:txBody>
          <a:bodyPr wrap="none">
            <a:spAutoFit/>
          </a:bodyPr>
          <a:lstStyle/>
          <a:p>
            <a:pPr>
              <a:defRPr sz="2000" b="1">
                <a:solidFill>
                  <a:srgbClr val="141413"/>
                </a:solidFill>
              </a:defRPr>
            </a:pPr>
            <a:r>
              <a:rPr dirty="0"/>
              <a:t>Implementation</a:t>
            </a:r>
          </a:p>
        </p:txBody>
      </p:sp>
      <p:sp>
        <p:nvSpPr>
          <p:cNvPr id="6" name="TextBox 5"/>
          <p:cNvSpPr txBox="1"/>
          <p:nvPr/>
        </p:nvSpPr>
        <p:spPr>
          <a:xfrm>
            <a:off x="731520" y="3657600"/>
            <a:ext cx="7680960" cy="1371600"/>
          </a:xfrm>
          <a:prstGeom prst="rect">
            <a:avLst/>
          </a:prstGeom>
          <a:noFill/>
        </p:spPr>
        <p:txBody>
          <a:bodyPr wrap="none">
            <a:spAutoFit/>
          </a:bodyPr>
          <a:lstStyle/>
          <a:p>
            <a:pPr>
              <a:defRPr sz="1400">
                <a:solidFill>
                  <a:srgbClr val="141413"/>
                </a:solidFill>
              </a:defRPr>
            </a:pPr>
            <a:r>
              <a:t>• Used managed settings to pre-configure marketplace for all devs</a:t>
            </a:r>
          </a:p>
          <a:p>
            <a:pPr>
              <a:defRPr sz="1400">
                <a:solidFill>
                  <a:srgbClr val="141413"/>
                </a:solidFill>
              </a:defRPr>
            </a:pPr>
            <a:r>
              <a:t>• strictKnownMarketplaces ensured only approved plugins</a:t>
            </a:r>
          </a:p>
          <a:p>
            <a:pPr>
              <a:defRPr sz="1400">
                <a:solidFill>
                  <a:srgbClr val="141413"/>
                </a:solidFill>
              </a:defRPr>
            </a:pPr>
            <a:r>
              <a:t>• Central plugin team maintains and versions all plugins</a:t>
            </a:r>
          </a:p>
        </p:txBody>
      </p:sp>
      <p:sp>
        <p:nvSpPr>
          <p:cNvPr id="8" name="Rectangle 7">
            <a:extLst>
              <a:ext uri="{FF2B5EF4-FFF2-40B4-BE49-F238E27FC236}">
                <a16:creationId xmlns:a16="http://schemas.microsoft.com/office/drawing/2014/main" id="{AD79596B-2A7C-BB12-E0B6-859C0CB37FA2}"/>
              </a:ext>
            </a:extLst>
          </p:cNvPr>
          <p:cNvSpPr/>
          <p:nvPr/>
        </p:nvSpPr>
        <p:spPr>
          <a:xfrm>
            <a:off x="6906491" y="1330036"/>
            <a:ext cx="1780308" cy="3059084"/>
          </a:xfrm>
          <a:prstGeom prst="rect">
            <a:avLst/>
          </a:prstGeom>
          <a:solidFill>
            <a:srgbClr val="6A9BCC"/>
          </a:solidFill>
          <a:ln w="25400">
            <a:solidFill>
              <a:srgbClr val="6A9B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41413"/>
                </a:solidFill>
              </a:defRPr>
            </a:pPr>
            <a:r>
              <a:rPr lang="en-US" dirty="0">
                <a:solidFill>
                  <a:schemeClr val="bg1"/>
                </a:solidFill>
              </a:rPr>
              <a:t>Key Success Factor:</a:t>
            </a:r>
          </a:p>
          <a:p>
            <a:pPr algn="ctr">
              <a:defRPr sz="1300" b="1">
                <a:solidFill>
                  <a:srgbClr val="141413"/>
                </a:solidFill>
              </a:defRPr>
            </a:pPr>
            <a:endParaRPr lang="en-US" dirty="0">
              <a:solidFill>
                <a:schemeClr val="bg1"/>
              </a:solidFill>
            </a:endParaRPr>
          </a:p>
          <a:p>
            <a:pPr algn="ctr">
              <a:defRPr sz="1300" b="1">
                <a:solidFill>
                  <a:srgbClr val="141413"/>
                </a:solidFill>
              </a:defRPr>
            </a:pPr>
            <a:r>
              <a:rPr lang="en-US" dirty="0">
                <a:solidFill>
                  <a:schemeClr val="bg1"/>
                </a:solidFill>
              </a:rPr>
              <a:t>Treated plugins as infrastructure—maintained by central team with SLAs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p:cNvGrpSpPr/>
        <p:nvPr/>
      </p:nvGrpSpPr>
      <p:grpSpPr>
        <a:xfrm>
          <a:off x="0" y="0"/>
          <a:ext cx="0" cy="0"/>
          <a:chOff x="0" y="0"/>
          <a:chExt cx="0" cy="0"/>
        </a:xfrm>
      </p:grpSpPr>
      <p:sp>
        <p:nvSpPr>
          <p:cNvPr id="3" name="TextBox 2"/>
          <p:cNvSpPr txBox="1"/>
          <p:nvPr/>
        </p:nvSpPr>
        <p:spPr>
          <a:xfrm>
            <a:off x="457200" y="2103120"/>
            <a:ext cx="8229600" cy="731520"/>
          </a:xfrm>
          <a:prstGeom prst="rect">
            <a:avLst/>
          </a:prstGeom>
          <a:noFill/>
        </p:spPr>
        <p:txBody>
          <a:bodyPr wrap="none">
            <a:spAutoFit/>
          </a:bodyPr>
          <a:lstStyle/>
          <a:p>
            <a:pPr algn="ctr">
              <a:defRPr sz="4800" b="1">
                <a:solidFill>
                  <a:srgbClr val="FFFFFF"/>
                </a:solidFill>
              </a:defRPr>
            </a:pPr>
            <a:r>
              <a:t>Thank You!</a:t>
            </a:r>
          </a:p>
        </p:txBody>
      </p:sp>
      <p:sp>
        <p:nvSpPr>
          <p:cNvPr id="4" name="TextBox 3"/>
          <p:cNvSpPr txBox="1"/>
          <p:nvPr/>
        </p:nvSpPr>
        <p:spPr>
          <a:xfrm>
            <a:off x="457200" y="2926080"/>
            <a:ext cx="8229600" cy="457200"/>
          </a:xfrm>
          <a:prstGeom prst="rect">
            <a:avLst/>
          </a:prstGeom>
          <a:noFill/>
        </p:spPr>
        <p:txBody>
          <a:bodyPr wrap="none">
            <a:spAutoFit/>
          </a:bodyPr>
          <a:lstStyle/>
          <a:p>
            <a:pPr algn="ctr">
              <a:defRPr sz="2000">
                <a:solidFill>
                  <a:srgbClr val="D97757"/>
                </a:solidFill>
              </a:defRPr>
            </a:pPr>
            <a:r>
              <a:t>You're now ready to master Claude Code plugins</a:t>
            </a:r>
          </a:p>
        </p:txBody>
      </p:sp>
      <p:pic>
        <p:nvPicPr>
          <p:cNvPr id="7" name="Picture 6">
            <a:extLst>
              <a:ext uri="{FF2B5EF4-FFF2-40B4-BE49-F238E27FC236}">
                <a16:creationId xmlns:a16="http://schemas.microsoft.com/office/drawing/2014/main" id="{885C2976-C1B6-2C3C-5295-63C7F9D67AEA}"/>
              </a:ext>
            </a:extLst>
          </p:cNvPr>
          <p:cNvPicPr>
            <a:picLocks noChangeAspect="1"/>
          </p:cNvPicPr>
          <p:nvPr/>
        </p:nvPicPr>
        <p:blipFill>
          <a:blip r:embed="rId3"/>
          <a:stretch>
            <a:fillRect/>
          </a:stretch>
        </p:blipFill>
        <p:spPr>
          <a:xfrm>
            <a:off x="4167662" y="1295674"/>
            <a:ext cx="808676" cy="6555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42D840A-6544-064C-8508-3036E12A7AB1}">
  <we:reference id="7d570271-b346-45bb-9db7-9681a383d749" version="1.0.0.632" store="EXCatalog" storeType="EXCatalog"/>
  <we:alternateReferences>
    <we:reference id="WA200004074" version="1.0.0.632" store="en-US"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3</TotalTime>
  <Words>6839</Words>
  <Application>Microsoft Macintosh PowerPoint</Application>
  <PresentationFormat>On-screen Show (16:9)</PresentationFormat>
  <Paragraphs>680</Paragraphs>
  <Slides>59</Slides>
  <Notes>59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Myles Ferich (mferich)</cp:lastModifiedBy>
  <cp:revision>3</cp:revision>
  <dcterms:created xsi:type="dcterms:W3CDTF">2013-01-27T09:14:16Z</dcterms:created>
  <dcterms:modified xsi:type="dcterms:W3CDTF">2026-02-08T23:38:37Z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Cisco Confidential</vt:lpwstr>
  </property>
</Properties>
</file>